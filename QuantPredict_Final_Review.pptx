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rts/chart2.xml" ContentType="application/vnd.openxmlformats-officedocument.drawingml.chart+xml"/>
  <Override PartName="/ppt/notesSlides/notesSlide12.xml" ContentType="application/vnd.openxmlformats-officedocument.presentationml.notesSlide+xml"/>
  <Override PartName="/ppt/charts/chart3.xml" ContentType="application/vnd.openxmlformats-officedocument.drawingml.char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5.xml" ContentType="application/vnd.openxmlformats-officedocument.drawingml.chart+xml"/>
  <Override PartName="/ppt/notesSlides/notesSlide20.xml" ContentType="application/vnd.openxmlformats-officedocument.presentationml.notesSlide+xml"/>
  <Override PartName="/ppt/charts/chart6.xml" ContentType="application/vnd.openxmlformats-officedocument.drawingml.chart+xml"/>
  <Override PartName="/ppt/notesSlides/notesSlide21.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charts/chart9.xml" ContentType="application/vnd.openxmlformats-officedocument.drawingml.chart+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F0B673BA-6D7C-E1C3-9067-E163FD243B1D}">
          <p14:sldIdLst>
            <p14:sldId id="256"/>
            <p14:sldId id="257"/>
            <p14:sldId id="258"/>
            <p14:sldId id="259"/>
            <p14:sldId id="260"/>
          </p14:sldIdLst>
        </p14:section>
        <p14:section name="Literature" id="{154DD7B0-23B6-8771-389A-0D14EACB2FF5}">
          <p14:sldIdLst>
            <p14:sldId id="261"/>
            <p14:sldId id="262"/>
          </p14:sldIdLst>
        </p14:section>
        <p14:section name="System Design" id="{24CD4F61-58F9-8647-43B5-62C547D3FFE4}">
          <p14:sldIdLst>
            <p14:sldId id="263"/>
            <p14:sldId id="264"/>
            <p14:sldId id="265"/>
            <p14:sldId id="266"/>
            <p14:sldId id="267"/>
            <p14:sldId id="268"/>
          </p14:sldIdLst>
        </p14:section>
        <p14:section name="Models" id="{7FE99C30-BBFB-AAC5-8A6E-F0FE9377F509}">
          <p14:sldIdLst>
            <p14:sldId id="269"/>
            <p14:sldId id="270"/>
            <p14:sldId id="271"/>
            <p14:sldId id="272"/>
            <p14:sldId id="273"/>
          </p14:sldIdLst>
        </p14:section>
        <p14:section name="Results" id="{20CD03A9-5629-E4E8-017F-0A67B1481ECE}">
          <p14:sldIdLst>
            <p14:sldId id="274"/>
            <p14:sldId id="275"/>
            <p14:sldId id="276"/>
            <p14:sldId id="277"/>
            <p14:sldId id="278"/>
          </p14:sldIdLst>
        </p14:section>
        <p14:section name="Conclusion" id="{AC691267-4EE5-E471-E2B7-5038990547F1}">
          <p14:sldIdLst>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09" d="100"/>
          <a:sy n="109" d="100"/>
        </p:scale>
        <p:origin x="100" y="10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theme" Target="theme/theme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RELIANCE daily return (%), March–April 2021</a:t>
            </a:r>
          </a:p>
        </c:rich>
      </c:tx>
      <c:overlay val="0"/>
    </c:title>
    <c:autoTitleDeleted val="0"/>
    <c:plotArea>
      <c:layout/>
      <c:barChart>
        <c:barDir val="col"/>
        <c:grouping val="clustered"/>
        <c:varyColors val="0"/>
        <c:ser>
          <c:idx val="0"/>
          <c:order val="0"/>
          <c:tx>
            <c:strRef>
              <c:f>Sheet1!$B$1</c:f>
              <c:strCache>
                <c:ptCount val="1"/>
                <c:pt idx="0">
                  <c:v>Daily return (%)</c:v>
                </c:pt>
              </c:strCache>
            </c:strRef>
          </c:tx>
          <c:spPr>
            <a:solidFill>
              <a:srgbClr val="0E9F6E"/>
            </a:solidFill>
            <a:effectLst/>
          </c:spPr>
          <c:invertIfNegative val="0"/>
          <c:dPt>
            <c:idx val="0"/>
            <c:invertIfNegative val="0"/>
            <c:bubble3D val="0"/>
            <c:extLst>
              <c:ext xmlns:c16="http://schemas.microsoft.com/office/drawing/2014/chart" uri="{C3380CC4-5D6E-409C-BE32-E72D297353CC}">
                <c16:uniqueId val="{00000001-1059-49DD-AF74-4368EFE2738E}"/>
              </c:ext>
            </c:extLst>
          </c:dPt>
          <c:dPt>
            <c:idx val="1"/>
            <c:invertIfNegative val="0"/>
            <c:bubble3D val="0"/>
            <c:extLst>
              <c:ext xmlns:c16="http://schemas.microsoft.com/office/drawing/2014/chart" uri="{C3380CC4-5D6E-409C-BE32-E72D297353CC}">
                <c16:uniqueId val="{00000003-1059-49DD-AF74-4368EFE2738E}"/>
              </c:ext>
            </c:extLst>
          </c:dPt>
          <c:dPt>
            <c:idx val="2"/>
            <c:invertIfNegative val="0"/>
            <c:bubble3D val="0"/>
            <c:extLst>
              <c:ext xmlns:c16="http://schemas.microsoft.com/office/drawing/2014/chart" uri="{C3380CC4-5D6E-409C-BE32-E72D297353CC}">
                <c16:uniqueId val="{00000005-1059-49DD-AF74-4368EFE2738E}"/>
              </c:ext>
            </c:extLst>
          </c:dPt>
          <c:dPt>
            <c:idx val="3"/>
            <c:invertIfNegative val="0"/>
            <c:bubble3D val="0"/>
            <c:spPr>
              <a:solidFill>
                <a:srgbClr val="E5484D"/>
              </a:solidFill>
              <a:effectLst/>
            </c:spPr>
            <c:extLst>
              <c:ext xmlns:c16="http://schemas.microsoft.com/office/drawing/2014/chart" uri="{C3380CC4-5D6E-409C-BE32-E72D297353CC}">
                <c16:uniqueId val="{00000007-1059-49DD-AF74-4368EFE2738E}"/>
              </c:ext>
            </c:extLst>
          </c:dPt>
          <c:dPt>
            <c:idx val="4"/>
            <c:invertIfNegative val="0"/>
            <c:bubble3D val="0"/>
            <c:extLst>
              <c:ext xmlns:c16="http://schemas.microsoft.com/office/drawing/2014/chart" uri="{C3380CC4-5D6E-409C-BE32-E72D297353CC}">
                <c16:uniqueId val="{00000009-1059-49DD-AF74-4368EFE2738E}"/>
              </c:ext>
            </c:extLst>
          </c:dPt>
          <c:dPt>
            <c:idx val="5"/>
            <c:invertIfNegative val="0"/>
            <c:bubble3D val="0"/>
            <c:extLst>
              <c:ext xmlns:c16="http://schemas.microsoft.com/office/drawing/2014/chart" uri="{C3380CC4-5D6E-409C-BE32-E72D297353CC}">
                <c16:uniqueId val="{0000000B-1059-49DD-AF74-4368EFE2738E}"/>
              </c:ext>
            </c:extLst>
          </c:dPt>
          <c:dPt>
            <c:idx val="6"/>
            <c:invertIfNegative val="0"/>
            <c:bubble3D val="0"/>
            <c:extLst>
              <c:ext xmlns:c16="http://schemas.microsoft.com/office/drawing/2014/chart" uri="{C3380CC4-5D6E-409C-BE32-E72D297353CC}">
                <c16:uniqueId val="{0000000D-1059-49DD-AF74-4368EFE2738E}"/>
              </c:ext>
            </c:extLst>
          </c:dPt>
          <c:dPt>
            <c:idx val="7"/>
            <c:invertIfNegative val="0"/>
            <c:bubble3D val="0"/>
            <c:spPr>
              <a:solidFill>
                <a:srgbClr val="E5484D"/>
              </a:solidFill>
              <a:effectLst/>
            </c:spPr>
            <c:extLst>
              <c:ext xmlns:c16="http://schemas.microsoft.com/office/drawing/2014/chart" uri="{C3380CC4-5D6E-409C-BE32-E72D297353CC}">
                <c16:uniqueId val="{0000000F-1059-49DD-AF74-4368EFE2738E}"/>
              </c:ext>
            </c:extLst>
          </c:dPt>
          <c:dPt>
            <c:idx val="8"/>
            <c:invertIfNegative val="0"/>
            <c:bubble3D val="0"/>
            <c:spPr>
              <a:solidFill>
                <a:srgbClr val="E5484D"/>
              </a:solidFill>
              <a:effectLst/>
            </c:spPr>
            <c:extLst>
              <c:ext xmlns:c16="http://schemas.microsoft.com/office/drawing/2014/chart" uri="{C3380CC4-5D6E-409C-BE32-E72D297353CC}">
                <c16:uniqueId val="{00000011-1059-49DD-AF74-4368EFE2738E}"/>
              </c:ext>
            </c:extLst>
          </c:dPt>
          <c:dPt>
            <c:idx val="9"/>
            <c:invertIfNegative val="0"/>
            <c:bubble3D val="0"/>
            <c:spPr>
              <a:solidFill>
                <a:srgbClr val="E5484D"/>
              </a:solidFill>
              <a:effectLst/>
            </c:spPr>
            <c:extLst>
              <c:ext xmlns:c16="http://schemas.microsoft.com/office/drawing/2014/chart" uri="{C3380CC4-5D6E-409C-BE32-E72D297353CC}">
                <c16:uniqueId val="{00000013-1059-49DD-AF74-4368EFE2738E}"/>
              </c:ext>
            </c:extLst>
          </c:dPt>
          <c:dPt>
            <c:idx val="10"/>
            <c:invertIfNegative val="0"/>
            <c:bubble3D val="0"/>
            <c:spPr>
              <a:solidFill>
                <a:srgbClr val="E5484D"/>
              </a:solidFill>
              <a:effectLst/>
            </c:spPr>
            <c:extLst>
              <c:ext xmlns:c16="http://schemas.microsoft.com/office/drawing/2014/chart" uri="{C3380CC4-5D6E-409C-BE32-E72D297353CC}">
                <c16:uniqueId val="{00000015-1059-49DD-AF74-4368EFE2738E}"/>
              </c:ext>
            </c:extLst>
          </c:dPt>
          <c:dPt>
            <c:idx val="11"/>
            <c:invertIfNegative val="0"/>
            <c:bubble3D val="0"/>
            <c:spPr>
              <a:solidFill>
                <a:srgbClr val="E5484D"/>
              </a:solidFill>
              <a:effectLst/>
            </c:spPr>
            <c:extLst>
              <c:ext xmlns:c16="http://schemas.microsoft.com/office/drawing/2014/chart" uri="{C3380CC4-5D6E-409C-BE32-E72D297353CC}">
                <c16:uniqueId val="{00000017-1059-49DD-AF74-4368EFE2738E}"/>
              </c:ext>
            </c:extLst>
          </c:dPt>
          <c:dPt>
            <c:idx val="12"/>
            <c:invertIfNegative val="0"/>
            <c:bubble3D val="0"/>
            <c:spPr>
              <a:solidFill>
                <a:srgbClr val="E5484D"/>
              </a:solidFill>
              <a:effectLst/>
            </c:spPr>
            <c:extLst>
              <c:ext xmlns:c16="http://schemas.microsoft.com/office/drawing/2014/chart" uri="{C3380CC4-5D6E-409C-BE32-E72D297353CC}">
                <c16:uniqueId val="{00000019-1059-49DD-AF74-4368EFE2738E}"/>
              </c:ext>
            </c:extLst>
          </c:dPt>
          <c:dPt>
            <c:idx val="13"/>
            <c:invertIfNegative val="0"/>
            <c:bubble3D val="0"/>
            <c:extLst>
              <c:ext xmlns:c16="http://schemas.microsoft.com/office/drawing/2014/chart" uri="{C3380CC4-5D6E-409C-BE32-E72D297353CC}">
                <c16:uniqueId val="{0000001B-1059-49DD-AF74-4368EFE2738E}"/>
              </c:ext>
            </c:extLst>
          </c:dPt>
          <c:dPt>
            <c:idx val="14"/>
            <c:invertIfNegative val="0"/>
            <c:bubble3D val="0"/>
            <c:spPr>
              <a:solidFill>
                <a:srgbClr val="E5484D"/>
              </a:solidFill>
              <a:effectLst/>
            </c:spPr>
            <c:extLst>
              <c:ext xmlns:c16="http://schemas.microsoft.com/office/drawing/2014/chart" uri="{C3380CC4-5D6E-409C-BE32-E72D297353CC}">
                <c16:uniqueId val="{0000001D-1059-49DD-AF74-4368EFE2738E}"/>
              </c:ext>
            </c:extLst>
          </c:dPt>
          <c:dPt>
            <c:idx val="15"/>
            <c:invertIfNegative val="0"/>
            <c:bubble3D val="0"/>
            <c:extLst>
              <c:ext xmlns:c16="http://schemas.microsoft.com/office/drawing/2014/chart" uri="{C3380CC4-5D6E-409C-BE32-E72D297353CC}">
                <c16:uniqueId val="{0000001F-1059-49DD-AF74-4368EFE2738E}"/>
              </c:ext>
            </c:extLst>
          </c:dPt>
          <c:dPt>
            <c:idx val="16"/>
            <c:invertIfNegative val="0"/>
            <c:bubble3D val="0"/>
            <c:spPr>
              <a:solidFill>
                <a:srgbClr val="E5484D"/>
              </a:solidFill>
              <a:effectLst/>
            </c:spPr>
            <c:extLst>
              <c:ext xmlns:c16="http://schemas.microsoft.com/office/drawing/2014/chart" uri="{C3380CC4-5D6E-409C-BE32-E72D297353CC}">
                <c16:uniqueId val="{00000021-1059-49DD-AF74-4368EFE2738E}"/>
              </c:ext>
            </c:extLst>
          </c:dPt>
          <c:dPt>
            <c:idx val="17"/>
            <c:invertIfNegative val="0"/>
            <c:bubble3D val="0"/>
            <c:spPr>
              <a:solidFill>
                <a:srgbClr val="E5484D"/>
              </a:solidFill>
              <a:effectLst/>
            </c:spPr>
            <c:extLst>
              <c:ext xmlns:c16="http://schemas.microsoft.com/office/drawing/2014/chart" uri="{C3380CC4-5D6E-409C-BE32-E72D297353CC}">
                <c16:uniqueId val="{00000023-1059-49DD-AF74-4368EFE2738E}"/>
              </c:ext>
            </c:extLst>
          </c:dPt>
          <c:dPt>
            <c:idx val="18"/>
            <c:invertIfNegative val="0"/>
            <c:bubble3D val="0"/>
            <c:extLst>
              <c:ext xmlns:c16="http://schemas.microsoft.com/office/drawing/2014/chart" uri="{C3380CC4-5D6E-409C-BE32-E72D297353CC}">
                <c16:uniqueId val="{00000025-1059-49DD-AF74-4368EFE2738E}"/>
              </c:ext>
            </c:extLst>
          </c:dPt>
          <c:dPt>
            <c:idx val="19"/>
            <c:invertIfNegative val="0"/>
            <c:bubble3D val="0"/>
            <c:extLst>
              <c:ext xmlns:c16="http://schemas.microsoft.com/office/drawing/2014/chart" uri="{C3380CC4-5D6E-409C-BE32-E72D297353CC}">
                <c16:uniqueId val="{00000027-1059-49DD-AF74-4368EFE2738E}"/>
              </c:ext>
            </c:extLst>
          </c:dPt>
          <c:dPt>
            <c:idx val="20"/>
            <c:invertIfNegative val="0"/>
            <c:bubble3D val="0"/>
            <c:spPr>
              <a:solidFill>
                <a:srgbClr val="E5484D"/>
              </a:solidFill>
              <a:effectLst/>
            </c:spPr>
            <c:extLst>
              <c:ext xmlns:c16="http://schemas.microsoft.com/office/drawing/2014/chart" uri="{C3380CC4-5D6E-409C-BE32-E72D297353CC}">
                <c16:uniqueId val="{00000029-1059-49DD-AF74-4368EFE2738E}"/>
              </c:ext>
            </c:extLst>
          </c:dPt>
          <c:dPt>
            <c:idx val="21"/>
            <c:invertIfNegative val="0"/>
            <c:bubble3D val="0"/>
            <c:extLst>
              <c:ext xmlns:c16="http://schemas.microsoft.com/office/drawing/2014/chart" uri="{C3380CC4-5D6E-409C-BE32-E72D297353CC}">
                <c16:uniqueId val="{0000002B-1059-49DD-AF74-4368EFE2738E}"/>
              </c:ext>
            </c:extLst>
          </c:dPt>
          <c:dPt>
            <c:idx val="22"/>
            <c:invertIfNegative val="0"/>
            <c:bubble3D val="0"/>
            <c:spPr>
              <a:solidFill>
                <a:srgbClr val="E5484D"/>
              </a:solidFill>
              <a:effectLst/>
            </c:spPr>
            <c:extLst>
              <c:ext xmlns:c16="http://schemas.microsoft.com/office/drawing/2014/chart" uri="{C3380CC4-5D6E-409C-BE32-E72D297353CC}">
                <c16:uniqueId val="{0000002D-1059-49DD-AF74-4368EFE2738E}"/>
              </c:ext>
            </c:extLst>
          </c:dPt>
          <c:dPt>
            <c:idx val="23"/>
            <c:invertIfNegative val="0"/>
            <c:bubble3D val="0"/>
            <c:spPr>
              <a:solidFill>
                <a:srgbClr val="E5484D"/>
              </a:solidFill>
              <a:effectLst/>
            </c:spPr>
            <c:extLst>
              <c:ext xmlns:c16="http://schemas.microsoft.com/office/drawing/2014/chart" uri="{C3380CC4-5D6E-409C-BE32-E72D297353CC}">
                <c16:uniqueId val="{0000002F-1059-49DD-AF74-4368EFE2738E}"/>
              </c:ext>
            </c:extLst>
          </c:dPt>
          <c:dPt>
            <c:idx val="24"/>
            <c:invertIfNegative val="0"/>
            <c:bubble3D val="0"/>
            <c:extLst>
              <c:ext xmlns:c16="http://schemas.microsoft.com/office/drawing/2014/chart" uri="{C3380CC4-5D6E-409C-BE32-E72D297353CC}">
                <c16:uniqueId val="{00000031-1059-49DD-AF74-4368EFE2738E}"/>
              </c:ext>
            </c:extLst>
          </c:dPt>
          <c:dPt>
            <c:idx val="25"/>
            <c:invertIfNegative val="0"/>
            <c:bubble3D val="0"/>
            <c:extLst>
              <c:ext xmlns:c16="http://schemas.microsoft.com/office/drawing/2014/chart" uri="{C3380CC4-5D6E-409C-BE32-E72D297353CC}">
                <c16:uniqueId val="{00000033-1059-49DD-AF74-4368EFE2738E}"/>
              </c:ext>
            </c:extLst>
          </c:dPt>
          <c:dPt>
            <c:idx val="26"/>
            <c:invertIfNegative val="0"/>
            <c:bubble3D val="0"/>
            <c:spPr>
              <a:solidFill>
                <a:srgbClr val="E5484D"/>
              </a:solidFill>
              <a:effectLst/>
            </c:spPr>
            <c:extLst>
              <c:ext xmlns:c16="http://schemas.microsoft.com/office/drawing/2014/chart" uri="{C3380CC4-5D6E-409C-BE32-E72D297353CC}">
                <c16:uniqueId val="{00000035-1059-49DD-AF74-4368EFE2738E}"/>
              </c:ext>
            </c:extLst>
          </c:dPt>
          <c:dPt>
            <c:idx val="27"/>
            <c:invertIfNegative val="0"/>
            <c:bubble3D val="0"/>
            <c:spPr>
              <a:solidFill>
                <a:srgbClr val="E5484D"/>
              </a:solidFill>
              <a:effectLst/>
            </c:spPr>
            <c:extLst>
              <c:ext xmlns:c16="http://schemas.microsoft.com/office/drawing/2014/chart" uri="{C3380CC4-5D6E-409C-BE32-E72D297353CC}">
                <c16:uniqueId val="{00000037-1059-49DD-AF74-4368EFE2738E}"/>
              </c:ext>
            </c:extLst>
          </c:dPt>
          <c:dPt>
            <c:idx val="28"/>
            <c:invertIfNegative val="0"/>
            <c:bubble3D val="0"/>
            <c:extLst>
              <c:ext xmlns:c16="http://schemas.microsoft.com/office/drawing/2014/chart" uri="{C3380CC4-5D6E-409C-BE32-E72D297353CC}">
                <c16:uniqueId val="{00000039-1059-49DD-AF74-4368EFE2738E}"/>
              </c:ext>
            </c:extLst>
          </c:dPt>
          <c:dPt>
            <c:idx val="29"/>
            <c:invertIfNegative val="0"/>
            <c:bubble3D val="0"/>
            <c:extLst>
              <c:ext xmlns:c16="http://schemas.microsoft.com/office/drawing/2014/chart" uri="{C3380CC4-5D6E-409C-BE32-E72D297353CC}">
                <c16:uniqueId val="{0000003B-1059-49DD-AF74-4368EFE2738E}"/>
              </c:ext>
            </c:extLst>
          </c:dPt>
          <c:dPt>
            <c:idx val="30"/>
            <c:invertIfNegative val="0"/>
            <c:bubble3D val="0"/>
            <c:spPr>
              <a:solidFill>
                <a:srgbClr val="E5484D"/>
              </a:solidFill>
              <a:effectLst/>
            </c:spPr>
            <c:extLst>
              <c:ext xmlns:c16="http://schemas.microsoft.com/office/drawing/2014/chart" uri="{C3380CC4-5D6E-409C-BE32-E72D297353CC}">
                <c16:uniqueId val="{0000003D-1059-49DD-AF74-4368EFE2738E}"/>
              </c:ext>
            </c:extLst>
          </c:dPt>
          <c:dPt>
            <c:idx val="31"/>
            <c:invertIfNegative val="0"/>
            <c:bubble3D val="0"/>
            <c:spPr>
              <a:solidFill>
                <a:srgbClr val="E5484D"/>
              </a:solidFill>
              <a:effectLst/>
            </c:spPr>
            <c:extLst>
              <c:ext xmlns:c16="http://schemas.microsoft.com/office/drawing/2014/chart" uri="{C3380CC4-5D6E-409C-BE32-E72D297353CC}">
                <c16:uniqueId val="{0000003F-1059-49DD-AF74-4368EFE2738E}"/>
              </c:ext>
            </c:extLst>
          </c:dPt>
          <c:dPt>
            <c:idx val="32"/>
            <c:invertIfNegative val="0"/>
            <c:bubble3D val="0"/>
            <c:spPr>
              <a:solidFill>
                <a:srgbClr val="E5484D"/>
              </a:solidFill>
              <a:effectLst/>
            </c:spPr>
            <c:extLst>
              <c:ext xmlns:c16="http://schemas.microsoft.com/office/drawing/2014/chart" uri="{C3380CC4-5D6E-409C-BE32-E72D297353CC}">
                <c16:uniqueId val="{00000041-1059-49DD-AF74-4368EFE2738E}"/>
              </c:ext>
            </c:extLst>
          </c:dPt>
          <c:dPt>
            <c:idx val="33"/>
            <c:invertIfNegative val="0"/>
            <c:bubble3D val="0"/>
            <c:extLst>
              <c:ext xmlns:c16="http://schemas.microsoft.com/office/drawing/2014/chart" uri="{C3380CC4-5D6E-409C-BE32-E72D297353CC}">
                <c16:uniqueId val="{00000043-1059-49DD-AF74-4368EFE2738E}"/>
              </c:ext>
            </c:extLst>
          </c:dPt>
          <c:dPt>
            <c:idx val="34"/>
            <c:invertIfNegative val="0"/>
            <c:bubble3D val="0"/>
            <c:spPr>
              <a:solidFill>
                <a:srgbClr val="E5484D"/>
              </a:solidFill>
              <a:effectLst/>
            </c:spPr>
            <c:extLst>
              <c:ext xmlns:c16="http://schemas.microsoft.com/office/drawing/2014/chart" uri="{C3380CC4-5D6E-409C-BE32-E72D297353CC}">
                <c16:uniqueId val="{00000045-1059-49DD-AF74-4368EFE2738E}"/>
              </c:ext>
            </c:extLst>
          </c:dPt>
          <c:dPt>
            <c:idx val="35"/>
            <c:invertIfNegative val="0"/>
            <c:bubble3D val="0"/>
            <c:extLst>
              <c:ext xmlns:c16="http://schemas.microsoft.com/office/drawing/2014/chart" uri="{C3380CC4-5D6E-409C-BE32-E72D297353CC}">
                <c16:uniqueId val="{00000047-1059-49DD-AF74-4368EFE2738E}"/>
              </c:ext>
            </c:extLst>
          </c:dPt>
          <c:dPt>
            <c:idx val="36"/>
            <c:invertIfNegative val="0"/>
            <c:bubble3D val="0"/>
            <c:extLst>
              <c:ext xmlns:c16="http://schemas.microsoft.com/office/drawing/2014/chart" uri="{C3380CC4-5D6E-409C-BE32-E72D297353CC}">
                <c16:uniqueId val="{00000049-1059-49DD-AF74-4368EFE2738E}"/>
              </c:ext>
            </c:extLst>
          </c:dPt>
          <c:dPt>
            <c:idx val="37"/>
            <c:invertIfNegative val="0"/>
            <c:bubble3D val="0"/>
            <c:extLst>
              <c:ext xmlns:c16="http://schemas.microsoft.com/office/drawing/2014/chart" uri="{C3380CC4-5D6E-409C-BE32-E72D297353CC}">
                <c16:uniqueId val="{0000004B-1059-49DD-AF74-4368EFE2738E}"/>
              </c:ext>
            </c:extLst>
          </c:dPt>
          <c:dPt>
            <c:idx val="38"/>
            <c:invertIfNegative val="0"/>
            <c:bubble3D val="0"/>
            <c:extLst>
              <c:ext xmlns:c16="http://schemas.microsoft.com/office/drawing/2014/chart" uri="{C3380CC4-5D6E-409C-BE32-E72D297353CC}">
                <c16:uniqueId val="{0000004D-1059-49DD-AF74-4368EFE2738E}"/>
              </c:ext>
            </c:extLst>
          </c:dPt>
          <c:dPt>
            <c:idx val="39"/>
            <c:invertIfNegative val="0"/>
            <c:bubble3D val="0"/>
            <c:spPr>
              <a:solidFill>
                <a:srgbClr val="E5484D"/>
              </a:solidFill>
              <a:effectLst/>
            </c:spPr>
            <c:extLst>
              <c:ext xmlns:c16="http://schemas.microsoft.com/office/drawing/2014/chart" uri="{C3380CC4-5D6E-409C-BE32-E72D297353CC}">
                <c16:uniqueId val="{0000004F-1059-49DD-AF74-4368EFE2738E}"/>
              </c:ext>
            </c:extLst>
          </c:dPt>
          <c:cat>
            <c:strRef>
              <c:f>Sheet1!$A$2:$A$41</c:f>
              <c:strCache>
                <c:ptCount val="40"/>
                <c:pt idx="0">
                  <c:v>01 Mar</c:v>
                </c:pt>
                <c:pt idx="1">
                  <c:v>02 Mar</c:v>
                </c:pt>
                <c:pt idx="2">
                  <c:v>03 Mar</c:v>
                </c:pt>
                <c:pt idx="3">
                  <c:v>04 Mar</c:v>
                </c:pt>
                <c:pt idx="4">
                  <c:v>05 Mar</c:v>
                </c:pt>
                <c:pt idx="5">
                  <c:v>08 Mar</c:v>
                </c:pt>
                <c:pt idx="6">
                  <c:v>09 Mar</c:v>
                </c:pt>
                <c:pt idx="7">
                  <c:v>10 Mar</c:v>
                </c:pt>
                <c:pt idx="8">
                  <c:v>12 Mar</c:v>
                </c:pt>
                <c:pt idx="9">
                  <c:v>15 Mar</c:v>
                </c:pt>
                <c:pt idx="10">
                  <c:v>16 Mar</c:v>
                </c:pt>
                <c:pt idx="11">
                  <c:v>17 Mar</c:v>
                </c:pt>
                <c:pt idx="12">
                  <c:v>18 Mar</c:v>
                </c:pt>
                <c:pt idx="13">
                  <c:v>19 Mar</c:v>
                </c:pt>
                <c:pt idx="14">
                  <c:v>22 Mar</c:v>
                </c:pt>
                <c:pt idx="15">
                  <c:v>23 Mar</c:v>
                </c:pt>
                <c:pt idx="16">
                  <c:v>24 Mar</c:v>
                </c:pt>
                <c:pt idx="17">
                  <c:v>25 Mar</c:v>
                </c:pt>
                <c:pt idx="18">
                  <c:v>26 Mar</c:v>
                </c:pt>
                <c:pt idx="19">
                  <c:v>30 Mar</c:v>
                </c:pt>
                <c:pt idx="20">
                  <c:v>31 Mar</c:v>
                </c:pt>
                <c:pt idx="21">
                  <c:v>01 Apr</c:v>
                </c:pt>
                <c:pt idx="22">
                  <c:v>05 Apr</c:v>
                </c:pt>
                <c:pt idx="23">
                  <c:v>06 Apr</c:v>
                </c:pt>
                <c:pt idx="24">
                  <c:v>07 Apr</c:v>
                </c:pt>
                <c:pt idx="25">
                  <c:v>08 Apr</c:v>
                </c:pt>
                <c:pt idx="26">
                  <c:v>09 Apr</c:v>
                </c:pt>
                <c:pt idx="27">
                  <c:v>12 Apr</c:v>
                </c:pt>
                <c:pt idx="28">
                  <c:v>13 Apr</c:v>
                </c:pt>
                <c:pt idx="29">
                  <c:v>15 Apr</c:v>
                </c:pt>
                <c:pt idx="30">
                  <c:v>16 Apr</c:v>
                </c:pt>
                <c:pt idx="31">
                  <c:v>19 Apr</c:v>
                </c:pt>
                <c:pt idx="32">
                  <c:v>20 Apr</c:v>
                </c:pt>
                <c:pt idx="33">
                  <c:v>22 Apr</c:v>
                </c:pt>
                <c:pt idx="34">
                  <c:v>23 Apr</c:v>
                </c:pt>
                <c:pt idx="35">
                  <c:v>26 Apr</c:v>
                </c:pt>
                <c:pt idx="36">
                  <c:v>27 Apr</c:v>
                </c:pt>
                <c:pt idx="37">
                  <c:v>28 Apr</c:v>
                </c:pt>
                <c:pt idx="38">
                  <c:v>29 Apr</c:v>
                </c:pt>
                <c:pt idx="39">
                  <c:v>30 Apr</c:v>
                </c:pt>
              </c:strCache>
            </c:strRef>
          </c:cat>
          <c:val>
            <c:numRef>
              <c:f>Sheet1!$B$2:$B$41</c:f>
              <c:numCache>
                <c:formatCode>General</c:formatCode>
                <c:ptCount val="40"/>
                <c:pt idx="0">
                  <c:v>0.76</c:v>
                </c:pt>
                <c:pt idx="1">
                  <c:v>0.2</c:v>
                </c:pt>
                <c:pt idx="2">
                  <c:v>4.5599999999999996</c:v>
                </c:pt>
                <c:pt idx="3">
                  <c:v>-1.19</c:v>
                </c:pt>
                <c:pt idx="4">
                  <c:v>0.13</c:v>
                </c:pt>
                <c:pt idx="5">
                  <c:v>0.56999999999999995</c:v>
                </c:pt>
                <c:pt idx="6">
                  <c:v>0</c:v>
                </c:pt>
                <c:pt idx="7">
                  <c:v>-0.42</c:v>
                </c:pt>
                <c:pt idx="8">
                  <c:v>-2.0299999999999998</c:v>
                </c:pt>
                <c:pt idx="9">
                  <c:v>-1.34</c:v>
                </c:pt>
                <c:pt idx="10">
                  <c:v>-0.39</c:v>
                </c:pt>
                <c:pt idx="11">
                  <c:v>-2.15</c:v>
                </c:pt>
                <c:pt idx="12">
                  <c:v>-2.25</c:v>
                </c:pt>
                <c:pt idx="13">
                  <c:v>3.63</c:v>
                </c:pt>
                <c:pt idx="14">
                  <c:v>-0.94</c:v>
                </c:pt>
                <c:pt idx="15">
                  <c:v>1.22</c:v>
                </c:pt>
                <c:pt idx="16">
                  <c:v>-1.93</c:v>
                </c:pt>
                <c:pt idx="17">
                  <c:v>-2.73</c:v>
                </c:pt>
                <c:pt idx="18">
                  <c:v>0.16</c:v>
                </c:pt>
                <c:pt idx="19">
                  <c:v>1.74</c:v>
                </c:pt>
                <c:pt idx="20">
                  <c:v>-1.29</c:v>
                </c:pt>
                <c:pt idx="21">
                  <c:v>0.94</c:v>
                </c:pt>
                <c:pt idx="22">
                  <c:v>-1.45</c:v>
                </c:pt>
                <c:pt idx="23">
                  <c:v>-0.42</c:v>
                </c:pt>
                <c:pt idx="24">
                  <c:v>0.93</c:v>
                </c:pt>
                <c:pt idx="25">
                  <c:v>0.12</c:v>
                </c:pt>
                <c:pt idx="26">
                  <c:v>-1.1599999999999999</c:v>
                </c:pt>
                <c:pt idx="27">
                  <c:v>-3.58</c:v>
                </c:pt>
                <c:pt idx="28">
                  <c:v>1.08</c:v>
                </c:pt>
                <c:pt idx="29">
                  <c:v>0.65</c:v>
                </c:pt>
                <c:pt idx="30">
                  <c:v>-0.63</c:v>
                </c:pt>
                <c:pt idx="31">
                  <c:v>-1.57</c:v>
                </c:pt>
                <c:pt idx="32">
                  <c:v>-0.03</c:v>
                </c:pt>
                <c:pt idx="33">
                  <c:v>0.28000000000000003</c:v>
                </c:pt>
                <c:pt idx="34">
                  <c:v>-0.11</c:v>
                </c:pt>
                <c:pt idx="35">
                  <c:v>1.76</c:v>
                </c:pt>
                <c:pt idx="36">
                  <c:v>2.62</c:v>
                </c:pt>
                <c:pt idx="37">
                  <c:v>0.43</c:v>
                </c:pt>
                <c:pt idx="38">
                  <c:v>1.34</c:v>
                </c:pt>
                <c:pt idx="39">
                  <c:v>-1.46</c:v>
                </c:pt>
              </c:numCache>
            </c:numRef>
          </c:val>
          <c:extLst>
            <c:ext xmlns:c16="http://schemas.microsoft.com/office/drawing/2014/chart" uri="{C3380CC4-5D6E-409C-BE32-E72D297353CC}">
              <c16:uniqueId val="{00000050-1059-49DD-AF74-4368EFE2738E}"/>
            </c:ext>
          </c:extLst>
        </c:ser>
        <c:dLbls>
          <c:showLegendKey val="0"/>
          <c:showVal val="0"/>
          <c:showCatName val="0"/>
          <c:showSerName val="0"/>
          <c:showPercent val="0"/>
          <c:showBubbleSize val="0"/>
        </c:dLbls>
        <c:gapWidth val="35"/>
        <c:axId val="2094734554"/>
        <c:axId val="2094734552"/>
      </c:bar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tickLblSkip val="5"/>
        <c:noMultiLvlLbl val="1"/>
      </c:catAx>
      <c:valAx>
        <c:axId val="2094734552"/>
        <c:scaling>
          <c:orientation val="minMax"/>
          <c:max val="6"/>
          <c:min val="-4"/>
        </c:scaling>
        <c:delete val="0"/>
        <c:axPos val="l"/>
        <c:majorGridlines>
          <c:spPr>
            <a:ln w="9525" cap="flat">
              <a:solidFill>
                <a:srgbClr val="E1E7EC"/>
              </a:solidFill>
              <a:prstDash val="solid"/>
              <a:round/>
            </a:ln>
          </c:spPr>
        </c:majorGridlines>
        <c:numFmt formatCode="0.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2"/>
      </c:valAx>
      <c:spPr>
        <a:noFill/>
        <a:ln>
          <a:noFill/>
        </a:ln>
        <a:effectLst/>
      </c:spPr>
    </c:plotArea>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RELIANCE close price (INR), weekly, 2000–2021</a:t>
            </a:r>
          </a:p>
        </c:rich>
      </c:tx>
      <c:overlay val="0"/>
    </c:title>
    <c:autoTitleDeleted val="0"/>
    <c:plotArea>
      <c:layout/>
      <c:lineChart>
        <c:grouping val="standard"/>
        <c:varyColors val="0"/>
        <c:ser>
          <c:idx val="0"/>
          <c:order val="0"/>
          <c:tx>
            <c:strRef>
              <c:f>Sheet1!$B$1</c:f>
              <c:strCache>
                <c:ptCount val="1"/>
                <c:pt idx="0">
                  <c:v>Raw close (as stored in the CSV)</c:v>
                </c:pt>
              </c:strCache>
            </c:strRef>
          </c:tx>
          <c:spPr>
            <a:ln w="19050" cap="flat">
              <a:solidFill>
                <a:schemeClr val="accent2"/>
              </a:solidFill>
              <a:prstDash val="solid"/>
              <a:round/>
            </a:ln>
            <a:effectLst/>
          </c:spPr>
          <c:marker>
            <c:symbol val="none"/>
          </c:marker>
          <c:cat>
            <c:strRef>
              <c:f>Sheet1!$A$2:$A$1063</c:f>
              <c:strCache>
                <c:ptCount val="1062"/>
                <c:pt idx="0">
                  <c:v>2000</c:v>
                </c:pt>
                <c:pt idx="1">
                  <c:v>2000</c:v>
                </c:pt>
                <c:pt idx="2">
                  <c:v>2000</c:v>
                </c:pt>
                <c:pt idx="3">
                  <c:v>2000</c:v>
                </c:pt>
                <c:pt idx="4">
                  <c:v>2000</c:v>
                </c:pt>
                <c:pt idx="5">
                  <c:v>2000</c:v>
                </c:pt>
                <c:pt idx="6">
                  <c:v>2000</c:v>
                </c:pt>
                <c:pt idx="7">
                  <c:v>2000</c:v>
                </c:pt>
                <c:pt idx="8">
                  <c:v>2000</c:v>
                </c:pt>
                <c:pt idx="9">
                  <c:v>2000</c:v>
                </c:pt>
                <c:pt idx="10">
                  <c:v>2000</c:v>
                </c:pt>
                <c:pt idx="11">
                  <c:v>2000</c:v>
                </c:pt>
                <c:pt idx="12">
                  <c:v>2000</c:v>
                </c:pt>
                <c:pt idx="13">
                  <c:v>2000</c:v>
                </c:pt>
                <c:pt idx="14">
                  <c:v>2000</c:v>
                </c:pt>
                <c:pt idx="15">
                  <c:v>2000</c:v>
                </c:pt>
                <c:pt idx="16">
                  <c:v>2000</c:v>
                </c:pt>
                <c:pt idx="17">
                  <c:v>2000</c:v>
                </c:pt>
                <c:pt idx="18">
                  <c:v>2000</c:v>
                </c:pt>
                <c:pt idx="19">
                  <c:v>2000</c:v>
                </c:pt>
                <c:pt idx="20">
                  <c:v>2000</c:v>
                </c:pt>
                <c:pt idx="21">
                  <c:v>2000</c:v>
                </c:pt>
                <c:pt idx="22">
                  <c:v>2000</c:v>
                </c:pt>
                <c:pt idx="23">
                  <c:v>2000</c:v>
                </c:pt>
                <c:pt idx="24">
                  <c:v>2000</c:v>
                </c:pt>
                <c:pt idx="25">
                  <c:v>2000</c:v>
                </c:pt>
                <c:pt idx="26">
                  <c:v>2000</c:v>
                </c:pt>
                <c:pt idx="27">
                  <c:v>2000</c:v>
                </c:pt>
                <c:pt idx="28">
                  <c:v>2000</c:v>
                </c:pt>
                <c:pt idx="29">
                  <c:v>2000</c:v>
                </c:pt>
                <c:pt idx="30">
                  <c:v>2000</c:v>
                </c:pt>
                <c:pt idx="31">
                  <c:v>2000</c:v>
                </c:pt>
                <c:pt idx="32">
                  <c:v>2000</c:v>
                </c:pt>
                <c:pt idx="33">
                  <c:v>2000</c:v>
                </c:pt>
                <c:pt idx="34">
                  <c:v>2000</c:v>
                </c:pt>
                <c:pt idx="35">
                  <c:v>2000</c:v>
                </c:pt>
                <c:pt idx="36">
                  <c:v>2000</c:v>
                </c:pt>
                <c:pt idx="37">
                  <c:v>2000</c:v>
                </c:pt>
                <c:pt idx="38">
                  <c:v>2000</c:v>
                </c:pt>
                <c:pt idx="39">
                  <c:v>2000</c:v>
                </c:pt>
                <c:pt idx="40">
                  <c:v>2000</c:v>
                </c:pt>
                <c:pt idx="41">
                  <c:v>2000</c:v>
                </c:pt>
                <c:pt idx="42">
                  <c:v>2000</c:v>
                </c:pt>
                <c:pt idx="43">
                  <c:v>2000</c:v>
                </c:pt>
                <c:pt idx="44">
                  <c:v>2000</c:v>
                </c:pt>
                <c:pt idx="45">
                  <c:v>2000</c:v>
                </c:pt>
                <c:pt idx="46">
                  <c:v>2000</c:v>
                </c:pt>
                <c:pt idx="47">
                  <c:v>2000</c:v>
                </c:pt>
                <c:pt idx="48">
                  <c:v>2000</c:v>
                </c:pt>
                <c:pt idx="49">
                  <c:v>2000</c:v>
                </c:pt>
                <c:pt idx="50">
                  <c:v>2001</c:v>
                </c:pt>
                <c:pt idx="51">
                  <c:v>2001</c:v>
                </c:pt>
                <c:pt idx="52">
                  <c:v>2001</c:v>
                </c:pt>
                <c:pt idx="53">
                  <c:v>2001</c:v>
                </c:pt>
                <c:pt idx="54">
                  <c:v>2001</c:v>
                </c:pt>
                <c:pt idx="55">
                  <c:v>2001</c:v>
                </c:pt>
                <c:pt idx="56">
                  <c:v>2001</c:v>
                </c:pt>
                <c:pt idx="57">
                  <c:v>2001</c:v>
                </c:pt>
                <c:pt idx="58">
                  <c:v>2001</c:v>
                </c:pt>
                <c:pt idx="59">
                  <c:v>2001</c:v>
                </c:pt>
                <c:pt idx="60">
                  <c:v>2001</c:v>
                </c:pt>
                <c:pt idx="61">
                  <c:v>2001</c:v>
                </c:pt>
                <c:pt idx="62">
                  <c:v>2001</c:v>
                </c:pt>
                <c:pt idx="63">
                  <c:v>2001</c:v>
                </c:pt>
                <c:pt idx="64">
                  <c:v>2001</c:v>
                </c:pt>
                <c:pt idx="65">
                  <c:v>2001</c:v>
                </c:pt>
                <c:pt idx="66">
                  <c:v>2001</c:v>
                </c:pt>
                <c:pt idx="67">
                  <c:v>2001</c:v>
                </c:pt>
                <c:pt idx="68">
                  <c:v>2001</c:v>
                </c:pt>
                <c:pt idx="69">
                  <c:v>2001</c:v>
                </c:pt>
                <c:pt idx="70">
                  <c:v>2001</c:v>
                </c:pt>
                <c:pt idx="71">
                  <c:v>2001</c:v>
                </c:pt>
                <c:pt idx="72">
                  <c:v>2001</c:v>
                </c:pt>
                <c:pt idx="73">
                  <c:v>2001</c:v>
                </c:pt>
                <c:pt idx="74">
                  <c:v>2001</c:v>
                </c:pt>
                <c:pt idx="75">
                  <c:v>2001</c:v>
                </c:pt>
                <c:pt idx="76">
                  <c:v>2001</c:v>
                </c:pt>
                <c:pt idx="77">
                  <c:v>2001</c:v>
                </c:pt>
                <c:pt idx="78">
                  <c:v>2001</c:v>
                </c:pt>
                <c:pt idx="79">
                  <c:v>2001</c:v>
                </c:pt>
                <c:pt idx="80">
                  <c:v>2001</c:v>
                </c:pt>
                <c:pt idx="81">
                  <c:v>2001</c:v>
                </c:pt>
                <c:pt idx="82">
                  <c:v>2001</c:v>
                </c:pt>
                <c:pt idx="83">
                  <c:v>2001</c:v>
                </c:pt>
                <c:pt idx="84">
                  <c:v>2001</c:v>
                </c:pt>
                <c:pt idx="85">
                  <c:v>2001</c:v>
                </c:pt>
                <c:pt idx="86">
                  <c:v>2001</c:v>
                </c:pt>
                <c:pt idx="87">
                  <c:v>2001</c:v>
                </c:pt>
                <c:pt idx="88">
                  <c:v>2001</c:v>
                </c:pt>
                <c:pt idx="89">
                  <c:v>2001</c:v>
                </c:pt>
                <c:pt idx="90">
                  <c:v>2001</c:v>
                </c:pt>
                <c:pt idx="91">
                  <c:v>2001</c:v>
                </c:pt>
                <c:pt idx="92">
                  <c:v>2001</c:v>
                </c:pt>
                <c:pt idx="93">
                  <c:v>2001</c:v>
                </c:pt>
                <c:pt idx="94">
                  <c:v>2001</c:v>
                </c:pt>
                <c:pt idx="95">
                  <c:v>2001</c:v>
                </c:pt>
                <c:pt idx="96">
                  <c:v>2001</c:v>
                </c:pt>
                <c:pt idx="97">
                  <c:v>2001</c:v>
                </c:pt>
                <c:pt idx="98">
                  <c:v>2001</c:v>
                </c:pt>
                <c:pt idx="99">
                  <c:v>2001</c:v>
                </c:pt>
                <c:pt idx="100">
                  <c:v>2002</c:v>
                </c:pt>
                <c:pt idx="101">
                  <c:v>2002</c:v>
                </c:pt>
                <c:pt idx="102">
                  <c:v>2002</c:v>
                </c:pt>
                <c:pt idx="103">
                  <c:v>2002</c:v>
                </c:pt>
                <c:pt idx="104">
                  <c:v>2002</c:v>
                </c:pt>
                <c:pt idx="105">
                  <c:v>2002</c:v>
                </c:pt>
                <c:pt idx="106">
                  <c:v>2002</c:v>
                </c:pt>
                <c:pt idx="107">
                  <c:v>2002</c:v>
                </c:pt>
                <c:pt idx="108">
                  <c:v>2002</c:v>
                </c:pt>
                <c:pt idx="109">
                  <c:v>2002</c:v>
                </c:pt>
                <c:pt idx="110">
                  <c:v>2002</c:v>
                </c:pt>
                <c:pt idx="111">
                  <c:v>2002</c:v>
                </c:pt>
                <c:pt idx="112">
                  <c:v>2002</c:v>
                </c:pt>
                <c:pt idx="113">
                  <c:v>2002</c:v>
                </c:pt>
                <c:pt idx="114">
                  <c:v>2002</c:v>
                </c:pt>
                <c:pt idx="115">
                  <c:v>2002</c:v>
                </c:pt>
                <c:pt idx="116">
                  <c:v>2002</c:v>
                </c:pt>
                <c:pt idx="117">
                  <c:v>2002</c:v>
                </c:pt>
                <c:pt idx="118">
                  <c:v>2002</c:v>
                </c:pt>
                <c:pt idx="119">
                  <c:v>2002</c:v>
                </c:pt>
                <c:pt idx="120">
                  <c:v>2002</c:v>
                </c:pt>
                <c:pt idx="121">
                  <c:v>2002</c:v>
                </c:pt>
                <c:pt idx="122">
                  <c:v>2002</c:v>
                </c:pt>
                <c:pt idx="123">
                  <c:v>2002</c:v>
                </c:pt>
                <c:pt idx="124">
                  <c:v>2002</c:v>
                </c:pt>
                <c:pt idx="125">
                  <c:v>2002</c:v>
                </c:pt>
                <c:pt idx="126">
                  <c:v>2002</c:v>
                </c:pt>
                <c:pt idx="127">
                  <c:v>2002</c:v>
                </c:pt>
                <c:pt idx="128">
                  <c:v>2002</c:v>
                </c:pt>
                <c:pt idx="129">
                  <c:v>2002</c:v>
                </c:pt>
                <c:pt idx="130">
                  <c:v>2002</c:v>
                </c:pt>
                <c:pt idx="131">
                  <c:v>2002</c:v>
                </c:pt>
                <c:pt idx="132">
                  <c:v>2002</c:v>
                </c:pt>
                <c:pt idx="133">
                  <c:v>2002</c:v>
                </c:pt>
                <c:pt idx="134">
                  <c:v>2002</c:v>
                </c:pt>
                <c:pt idx="135">
                  <c:v>2002</c:v>
                </c:pt>
                <c:pt idx="136">
                  <c:v>2002</c:v>
                </c:pt>
                <c:pt idx="137">
                  <c:v>2002</c:v>
                </c:pt>
                <c:pt idx="138">
                  <c:v>2002</c:v>
                </c:pt>
                <c:pt idx="139">
                  <c:v>2002</c:v>
                </c:pt>
                <c:pt idx="140">
                  <c:v>2002</c:v>
                </c:pt>
                <c:pt idx="141">
                  <c:v>2002</c:v>
                </c:pt>
                <c:pt idx="142">
                  <c:v>2002</c:v>
                </c:pt>
                <c:pt idx="143">
                  <c:v>2002</c:v>
                </c:pt>
                <c:pt idx="144">
                  <c:v>2002</c:v>
                </c:pt>
                <c:pt idx="145">
                  <c:v>2002</c:v>
                </c:pt>
                <c:pt idx="146">
                  <c:v>2002</c:v>
                </c:pt>
                <c:pt idx="147">
                  <c:v>2002</c:v>
                </c:pt>
                <c:pt idx="148">
                  <c:v>2002</c:v>
                </c:pt>
                <c:pt idx="149">
                  <c:v>2002</c:v>
                </c:pt>
                <c:pt idx="150">
                  <c:v>2003</c:v>
                </c:pt>
                <c:pt idx="151">
                  <c:v>2003</c:v>
                </c:pt>
                <c:pt idx="152">
                  <c:v>2003</c:v>
                </c:pt>
                <c:pt idx="153">
                  <c:v>2003</c:v>
                </c:pt>
                <c:pt idx="154">
                  <c:v>2003</c:v>
                </c:pt>
                <c:pt idx="155">
                  <c:v>2003</c:v>
                </c:pt>
                <c:pt idx="156">
                  <c:v>2003</c:v>
                </c:pt>
                <c:pt idx="157">
                  <c:v>2003</c:v>
                </c:pt>
                <c:pt idx="158">
                  <c:v>2003</c:v>
                </c:pt>
                <c:pt idx="159">
                  <c:v>2003</c:v>
                </c:pt>
                <c:pt idx="160">
                  <c:v>2003</c:v>
                </c:pt>
                <c:pt idx="161">
                  <c:v>2003</c:v>
                </c:pt>
                <c:pt idx="162">
                  <c:v>2003</c:v>
                </c:pt>
                <c:pt idx="163">
                  <c:v>2003</c:v>
                </c:pt>
                <c:pt idx="164">
                  <c:v>2003</c:v>
                </c:pt>
                <c:pt idx="165">
                  <c:v>2003</c:v>
                </c:pt>
                <c:pt idx="166">
                  <c:v>2003</c:v>
                </c:pt>
                <c:pt idx="167">
                  <c:v>2003</c:v>
                </c:pt>
                <c:pt idx="168">
                  <c:v>2003</c:v>
                </c:pt>
                <c:pt idx="169">
                  <c:v>2003</c:v>
                </c:pt>
                <c:pt idx="170">
                  <c:v>2003</c:v>
                </c:pt>
                <c:pt idx="171">
                  <c:v>2003</c:v>
                </c:pt>
                <c:pt idx="172">
                  <c:v>2003</c:v>
                </c:pt>
                <c:pt idx="173">
                  <c:v>2003</c:v>
                </c:pt>
                <c:pt idx="174">
                  <c:v>2003</c:v>
                </c:pt>
                <c:pt idx="175">
                  <c:v>2003</c:v>
                </c:pt>
                <c:pt idx="176">
                  <c:v>2003</c:v>
                </c:pt>
                <c:pt idx="177">
                  <c:v>2003</c:v>
                </c:pt>
                <c:pt idx="178">
                  <c:v>2003</c:v>
                </c:pt>
                <c:pt idx="179">
                  <c:v>2003</c:v>
                </c:pt>
                <c:pt idx="180">
                  <c:v>2003</c:v>
                </c:pt>
                <c:pt idx="181">
                  <c:v>2003</c:v>
                </c:pt>
                <c:pt idx="182">
                  <c:v>2003</c:v>
                </c:pt>
                <c:pt idx="183">
                  <c:v>2003</c:v>
                </c:pt>
                <c:pt idx="184">
                  <c:v>2003</c:v>
                </c:pt>
                <c:pt idx="185">
                  <c:v>2003</c:v>
                </c:pt>
                <c:pt idx="186">
                  <c:v>2003</c:v>
                </c:pt>
                <c:pt idx="187">
                  <c:v>2003</c:v>
                </c:pt>
                <c:pt idx="188">
                  <c:v>2003</c:v>
                </c:pt>
                <c:pt idx="189">
                  <c:v>2003</c:v>
                </c:pt>
                <c:pt idx="190">
                  <c:v>2003</c:v>
                </c:pt>
                <c:pt idx="191">
                  <c:v>2003</c:v>
                </c:pt>
                <c:pt idx="192">
                  <c:v>2003</c:v>
                </c:pt>
                <c:pt idx="193">
                  <c:v>2003</c:v>
                </c:pt>
                <c:pt idx="194">
                  <c:v>2003</c:v>
                </c:pt>
                <c:pt idx="195">
                  <c:v>2003</c:v>
                </c:pt>
                <c:pt idx="196">
                  <c:v>2003</c:v>
                </c:pt>
                <c:pt idx="197">
                  <c:v>2003</c:v>
                </c:pt>
                <c:pt idx="198">
                  <c:v>2003</c:v>
                </c:pt>
                <c:pt idx="199">
                  <c:v>2003</c:v>
                </c:pt>
                <c:pt idx="200">
                  <c:v>2003</c:v>
                </c:pt>
                <c:pt idx="201">
                  <c:v>2004</c:v>
                </c:pt>
                <c:pt idx="202">
                  <c:v>2004</c:v>
                </c:pt>
                <c:pt idx="203">
                  <c:v>2004</c:v>
                </c:pt>
                <c:pt idx="204">
                  <c:v>2004</c:v>
                </c:pt>
                <c:pt idx="205">
                  <c:v>2004</c:v>
                </c:pt>
                <c:pt idx="206">
                  <c:v>2004</c:v>
                </c:pt>
                <c:pt idx="207">
                  <c:v>2004</c:v>
                </c:pt>
                <c:pt idx="208">
                  <c:v>2004</c:v>
                </c:pt>
                <c:pt idx="209">
                  <c:v>2004</c:v>
                </c:pt>
                <c:pt idx="210">
                  <c:v>2004</c:v>
                </c:pt>
                <c:pt idx="211">
                  <c:v>2004</c:v>
                </c:pt>
                <c:pt idx="212">
                  <c:v>2004</c:v>
                </c:pt>
                <c:pt idx="213">
                  <c:v>2004</c:v>
                </c:pt>
                <c:pt idx="214">
                  <c:v>2004</c:v>
                </c:pt>
                <c:pt idx="215">
                  <c:v>2004</c:v>
                </c:pt>
                <c:pt idx="216">
                  <c:v>2004</c:v>
                </c:pt>
                <c:pt idx="217">
                  <c:v>2004</c:v>
                </c:pt>
                <c:pt idx="218">
                  <c:v>2004</c:v>
                </c:pt>
                <c:pt idx="219">
                  <c:v>2004</c:v>
                </c:pt>
                <c:pt idx="220">
                  <c:v>2004</c:v>
                </c:pt>
                <c:pt idx="221">
                  <c:v>2004</c:v>
                </c:pt>
                <c:pt idx="222">
                  <c:v>2004</c:v>
                </c:pt>
                <c:pt idx="223">
                  <c:v>2004</c:v>
                </c:pt>
                <c:pt idx="224">
                  <c:v>2004</c:v>
                </c:pt>
                <c:pt idx="225">
                  <c:v>2004</c:v>
                </c:pt>
                <c:pt idx="226">
                  <c:v>2004</c:v>
                </c:pt>
                <c:pt idx="227">
                  <c:v>2004</c:v>
                </c:pt>
                <c:pt idx="228">
                  <c:v>2004</c:v>
                </c:pt>
                <c:pt idx="229">
                  <c:v>2004</c:v>
                </c:pt>
                <c:pt idx="230">
                  <c:v>2004</c:v>
                </c:pt>
                <c:pt idx="231">
                  <c:v>2004</c:v>
                </c:pt>
                <c:pt idx="232">
                  <c:v>2004</c:v>
                </c:pt>
                <c:pt idx="233">
                  <c:v>2004</c:v>
                </c:pt>
                <c:pt idx="234">
                  <c:v>2004</c:v>
                </c:pt>
                <c:pt idx="235">
                  <c:v>2004</c:v>
                </c:pt>
                <c:pt idx="236">
                  <c:v>2004</c:v>
                </c:pt>
                <c:pt idx="237">
                  <c:v>2004</c:v>
                </c:pt>
                <c:pt idx="238">
                  <c:v>2004</c:v>
                </c:pt>
                <c:pt idx="239">
                  <c:v>2004</c:v>
                </c:pt>
                <c:pt idx="240">
                  <c:v>2004</c:v>
                </c:pt>
                <c:pt idx="241">
                  <c:v>2004</c:v>
                </c:pt>
                <c:pt idx="242">
                  <c:v>2004</c:v>
                </c:pt>
                <c:pt idx="243">
                  <c:v>2004</c:v>
                </c:pt>
                <c:pt idx="244">
                  <c:v>2004</c:v>
                </c:pt>
                <c:pt idx="245">
                  <c:v>2004</c:v>
                </c:pt>
                <c:pt idx="246">
                  <c:v>2004</c:v>
                </c:pt>
                <c:pt idx="247">
                  <c:v>2004</c:v>
                </c:pt>
                <c:pt idx="248">
                  <c:v>2004</c:v>
                </c:pt>
                <c:pt idx="249">
                  <c:v>2004</c:v>
                </c:pt>
                <c:pt idx="250">
                  <c:v>2004</c:v>
                </c:pt>
                <c:pt idx="251">
                  <c:v>2004</c:v>
                </c:pt>
                <c:pt idx="252">
                  <c:v>2005</c:v>
                </c:pt>
                <c:pt idx="253">
                  <c:v>2005</c:v>
                </c:pt>
                <c:pt idx="254">
                  <c:v>2005</c:v>
                </c:pt>
                <c:pt idx="255">
                  <c:v>2005</c:v>
                </c:pt>
                <c:pt idx="256">
                  <c:v>2005</c:v>
                </c:pt>
                <c:pt idx="257">
                  <c:v>2005</c:v>
                </c:pt>
                <c:pt idx="258">
                  <c:v>2005</c:v>
                </c:pt>
                <c:pt idx="259">
                  <c:v>2005</c:v>
                </c:pt>
                <c:pt idx="260">
                  <c:v>2005</c:v>
                </c:pt>
                <c:pt idx="261">
                  <c:v>2005</c:v>
                </c:pt>
                <c:pt idx="262">
                  <c:v>2005</c:v>
                </c:pt>
                <c:pt idx="263">
                  <c:v>2005</c:v>
                </c:pt>
                <c:pt idx="264">
                  <c:v>2005</c:v>
                </c:pt>
                <c:pt idx="265">
                  <c:v>2005</c:v>
                </c:pt>
                <c:pt idx="266">
                  <c:v>2005</c:v>
                </c:pt>
                <c:pt idx="267">
                  <c:v>2005</c:v>
                </c:pt>
                <c:pt idx="268">
                  <c:v>2005</c:v>
                </c:pt>
                <c:pt idx="269">
                  <c:v>2005</c:v>
                </c:pt>
                <c:pt idx="270">
                  <c:v>2005</c:v>
                </c:pt>
                <c:pt idx="271">
                  <c:v>2005</c:v>
                </c:pt>
                <c:pt idx="272">
                  <c:v>2005</c:v>
                </c:pt>
                <c:pt idx="273">
                  <c:v>2005</c:v>
                </c:pt>
                <c:pt idx="274">
                  <c:v>2005</c:v>
                </c:pt>
                <c:pt idx="275">
                  <c:v>2005</c:v>
                </c:pt>
                <c:pt idx="276">
                  <c:v>2005</c:v>
                </c:pt>
                <c:pt idx="277">
                  <c:v>2005</c:v>
                </c:pt>
                <c:pt idx="278">
                  <c:v>2005</c:v>
                </c:pt>
                <c:pt idx="279">
                  <c:v>2005</c:v>
                </c:pt>
                <c:pt idx="280">
                  <c:v>2005</c:v>
                </c:pt>
                <c:pt idx="281">
                  <c:v>2005</c:v>
                </c:pt>
                <c:pt idx="282">
                  <c:v>2005</c:v>
                </c:pt>
                <c:pt idx="283">
                  <c:v>2005</c:v>
                </c:pt>
                <c:pt idx="284">
                  <c:v>2005</c:v>
                </c:pt>
                <c:pt idx="285">
                  <c:v>2005</c:v>
                </c:pt>
                <c:pt idx="286">
                  <c:v>2005</c:v>
                </c:pt>
                <c:pt idx="287">
                  <c:v>2005</c:v>
                </c:pt>
                <c:pt idx="288">
                  <c:v>2005</c:v>
                </c:pt>
                <c:pt idx="289">
                  <c:v>2005</c:v>
                </c:pt>
                <c:pt idx="290">
                  <c:v>2005</c:v>
                </c:pt>
                <c:pt idx="291">
                  <c:v>2005</c:v>
                </c:pt>
                <c:pt idx="292">
                  <c:v>2005</c:v>
                </c:pt>
                <c:pt idx="293">
                  <c:v>2005</c:v>
                </c:pt>
                <c:pt idx="294">
                  <c:v>2005</c:v>
                </c:pt>
                <c:pt idx="295">
                  <c:v>2005</c:v>
                </c:pt>
                <c:pt idx="296">
                  <c:v>2005</c:v>
                </c:pt>
                <c:pt idx="297">
                  <c:v>2005</c:v>
                </c:pt>
                <c:pt idx="298">
                  <c:v>2005</c:v>
                </c:pt>
                <c:pt idx="299">
                  <c:v>2005</c:v>
                </c:pt>
                <c:pt idx="300">
                  <c:v>2005</c:v>
                </c:pt>
                <c:pt idx="301">
                  <c:v>2005</c:v>
                </c:pt>
                <c:pt idx="302">
                  <c:v>2006</c:v>
                </c:pt>
                <c:pt idx="303">
                  <c:v>2006</c:v>
                </c:pt>
                <c:pt idx="304">
                  <c:v>2006</c:v>
                </c:pt>
                <c:pt idx="305">
                  <c:v>2006</c:v>
                </c:pt>
                <c:pt idx="306">
                  <c:v>2006</c:v>
                </c:pt>
                <c:pt idx="307">
                  <c:v>2006</c:v>
                </c:pt>
                <c:pt idx="308">
                  <c:v>2006</c:v>
                </c:pt>
                <c:pt idx="309">
                  <c:v>2006</c:v>
                </c:pt>
                <c:pt idx="310">
                  <c:v>2006</c:v>
                </c:pt>
                <c:pt idx="311">
                  <c:v>2006</c:v>
                </c:pt>
                <c:pt idx="312">
                  <c:v>2006</c:v>
                </c:pt>
                <c:pt idx="313">
                  <c:v>2006</c:v>
                </c:pt>
                <c:pt idx="314">
                  <c:v>2006</c:v>
                </c:pt>
                <c:pt idx="315">
                  <c:v>2006</c:v>
                </c:pt>
                <c:pt idx="316">
                  <c:v>2006</c:v>
                </c:pt>
                <c:pt idx="317">
                  <c:v>2006</c:v>
                </c:pt>
                <c:pt idx="318">
                  <c:v>2006</c:v>
                </c:pt>
                <c:pt idx="319">
                  <c:v>2006</c:v>
                </c:pt>
                <c:pt idx="320">
                  <c:v>2006</c:v>
                </c:pt>
                <c:pt idx="321">
                  <c:v>2006</c:v>
                </c:pt>
                <c:pt idx="322">
                  <c:v>2006</c:v>
                </c:pt>
                <c:pt idx="323">
                  <c:v>2006</c:v>
                </c:pt>
                <c:pt idx="324">
                  <c:v>2006</c:v>
                </c:pt>
                <c:pt idx="325">
                  <c:v>2006</c:v>
                </c:pt>
                <c:pt idx="326">
                  <c:v>2006</c:v>
                </c:pt>
                <c:pt idx="327">
                  <c:v>2006</c:v>
                </c:pt>
                <c:pt idx="328">
                  <c:v>2006</c:v>
                </c:pt>
                <c:pt idx="329">
                  <c:v>2006</c:v>
                </c:pt>
                <c:pt idx="330">
                  <c:v>2006</c:v>
                </c:pt>
                <c:pt idx="331">
                  <c:v>2006</c:v>
                </c:pt>
                <c:pt idx="332">
                  <c:v>2006</c:v>
                </c:pt>
                <c:pt idx="333">
                  <c:v>2006</c:v>
                </c:pt>
                <c:pt idx="334">
                  <c:v>2006</c:v>
                </c:pt>
                <c:pt idx="335">
                  <c:v>2006</c:v>
                </c:pt>
                <c:pt idx="336">
                  <c:v>2006</c:v>
                </c:pt>
                <c:pt idx="337">
                  <c:v>2006</c:v>
                </c:pt>
                <c:pt idx="338">
                  <c:v>2006</c:v>
                </c:pt>
                <c:pt idx="339">
                  <c:v>2006</c:v>
                </c:pt>
                <c:pt idx="340">
                  <c:v>2006</c:v>
                </c:pt>
                <c:pt idx="341">
                  <c:v>2006</c:v>
                </c:pt>
                <c:pt idx="342">
                  <c:v>2006</c:v>
                </c:pt>
                <c:pt idx="343">
                  <c:v>2006</c:v>
                </c:pt>
                <c:pt idx="344">
                  <c:v>2006</c:v>
                </c:pt>
                <c:pt idx="345">
                  <c:v>2006</c:v>
                </c:pt>
                <c:pt idx="346">
                  <c:v>2006</c:v>
                </c:pt>
                <c:pt idx="347">
                  <c:v>2006</c:v>
                </c:pt>
                <c:pt idx="348">
                  <c:v>2006</c:v>
                </c:pt>
                <c:pt idx="349">
                  <c:v>2006</c:v>
                </c:pt>
                <c:pt idx="350">
                  <c:v>2006</c:v>
                </c:pt>
                <c:pt idx="351">
                  <c:v>2006</c:v>
                </c:pt>
                <c:pt idx="352">
                  <c:v>2007</c:v>
                </c:pt>
                <c:pt idx="353">
                  <c:v>2007</c:v>
                </c:pt>
                <c:pt idx="354">
                  <c:v>2007</c:v>
                </c:pt>
                <c:pt idx="355">
                  <c:v>2007</c:v>
                </c:pt>
                <c:pt idx="356">
                  <c:v>2007</c:v>
                </c:pt>
                <c:pt idx="357">
                  <c:v>2007</c:v>
                </c:pt>
                <c:pt idx="358">
                  <c:v>2007</c:v>
                </c:pt>
                <c:pt idx="359">
                  <c:v>2007</c:v>
                </c:pt>
                <c:pt idx="360">
                  <c:v>2007</c:v>
                </c:pt>
                <c:pt idx="361">
                  <c:v>2007</c:v>
                </c:pt>
                <c:pt idx="362">
                  <c:v>2007</c:v>
                </c:pt>
                <c:pt idx="363">
                  <c:v>2007</c:v>
                </c:pt>
                <c:pt idx="364">
                  <c:v>2007</c:v>
                </c:pt>
                <c:pt idx="365">
                  <c:v>2007</c:v>
                </c:pt>
                <c:pt idx="366">
                  <c:v>2007</c:v>
                </c:pt>
                <c:pt idx="367">
                  <c:v>2007</c:v>
                </c:pt>
                <c:pt idx="368">
                  <c:v>2007</c:v>
                </c:pt>
                <c:pt idx="369">
                  <c:v>2007</c:v>
                </c:pt>
                <c:pt idx="370">
                  <c:v>2007</c:v>
                </c:pt>
                <c:pt idx="371">
                  <c:v>2007</c:v>
                </c:pt>
                <c:pt idx="372">
                  <c:v>2007</c:v>
                </c:pt>
                <c:pt idx="373">
                  <c:v>2007</c:v>
                </c:pt>
                <c:pt idx="374">
                  <c:v>2007</c:v>
                </c:pt>
                <c:pt idx="375">
                  <c:v>2007</c:v>
                </c:pt>
                <c:pt idx="376">
                  <c:v>2007</c:v>
                </c:pt>
                <c:pt idx="377">
                  <c:v>2007</c:v>
                </c:pt>
                <c:pt idx="378">
                  <c:v>2007</c:v>
                </c:pt>
                <c:pt idx="379">
                  <c:v>2007</c:v>
                </c:pt>
                <c:pt idx="380">
                  <c:v>2007</c:v>
                </c:pt>
                <c:pt idx="381">
                  <c:v>2007</c:v>
                </c:pt>
                <c:pt idx="382">
                  <c:v>2007</c:v>
                </c:pt>
                <c:pt idx="383">
                  <c:v>2007</c:v>
                </c:pt>
                <c:pt idx="384">
                  <c:v>2007</c:v>
                </c:pt>
                <c:pt idx="385">
                  <c:v>2007</c:v>
                </c:pt>
                <c:pt idx="386">
                  <c:v>2007</c:v>
                </c:pt>
                <c:pt idx="387">
                  <c:v>2007</c:v>
                </c:pt>
                <c:pt idx="388">
                  <c:v>2007</c:v>
                </c:pt>
                <c:pt idx="389">
                  <c:v>2007</c:v>
                </c:pt>
                <c:pt idx="390">
                  <c:v>2007</c:v>
                </c:pt>
                <c:pt idx="391">
                  <c:v>2007</c:v>
                </c:pt>
                <c:pt idx="392">
                  <c:v>2007</c:v>
                </c:pt>
                <c:pt idx="393">
                  <c:v>2007</c:v>
                </c:pt>
                <c:pt idx="394">
                  <c:v>2007</c:v>
                </c:pt>
                <c:pt idx="395">
                  <c:v>2007</c:v>
                </c:pt>
                <c:pt idx="396">
                  <c:v>2007</c:v>
                </c:pt>
                <c:pt idx="397">
                  <c:v>2007</c:v>
                </c:pt>
                <c:pt idx="398">
                  <c:v>2007</c:v>
                </c:pt>
                <c:pt idx="399">
                  <c:v>2007</c:v>
                </c:pt>
                <c:pt idx="400">
                  <c:v>2007</c:v>
                </c:pt>
                <c:pt idx="401">
                  <c:v>2007</c:v>
                </c:pt>
                <c:pt idx="402">
                  <c:v>2008</c:v>
                </c:pt>
                <c:pt idx="403">
                  <c:v>2008</c:v>
                </c:pt>
                <c:pt idx="404">
                  <c:v>2008</c:v>
                </c:pt>
                <c:pt idx="405">
                  <c:v>2008</c:v>
                </c:pt>
                <c:pt idx="406">
                  <c:v>2008</c:v>
                </c:pt>
                <c:pt idx="407">
                  <c:v>2008</c:v>
                </c:pt>
                <c:pt idx="408">
                  <c:v>2008</c:v>
                </c:pt>
                <c:pt idx="409">
                  <c:v>2008</c:v>
                </c:pt>
                <c:pt idx="410">
                  <c:v>2008</c:v>
                </c:pt>
                <c:pt idx="411">
                  <c:v>2008</c:v>
                </c:pt>
                <c:pt idx="412">
                  <c:v>2008</c:v>
                </c:pt>
                <c:pt idx="413">
                  <c:v>2008</c:v>
                </c:pt>
                <c:pt idx="414">
                  <c:v>2008</c:v>
                </c:pt>
                <c:pt idx="415">
                  <c:v>2008</c:v>
                </c:pt>
                <c:pt idx="416">
                  <c:v>2008</c:v>
                </c:pt>
                <c:pt idx="417">
                  <c:v>2008</c:v>
                </c:pt>
                <c:pt idx="418">
                  <c:v>2008</c:v>
                </c:pt>
                <c:pt idx="419">
                  <c:v>2008</c:v>
                </c:pt>
                <c:pt idx="420">
                  <c:v>2008</c:v>
                </c:pt>
                <c:pt idx="421">
                  <c:v>2008</c:v>
                </c:pt>
                <c:pt idx="422">
                  <c:v>2008</c:v>
                </c:pt>
                <c:pt idx="423">
                  <c:v>2008</c:v>
                </c:pt>
                <c:pt idx="424">
                  <c:v>2008</c:v>
                </c:pt>
                <c:pt idx="425">
                  <c:v>2008</c:v>
                </c:pt>
                <c:pt idx="426">
                  <c:v>2008</c:v>
                </c:pt>
                <c:pt idx="427">
                  <c:v>2008</c:v>
                </c:pt>
                <c:pt idx="428">
                  <c:v>2008</c:v>
                </c:pt>
                <c:pt idx="429">
                  <c:v>2008</c:v>
                </c:pt>
                <c:pt idx="430">
                  <c:v>2008</c:v>
                </c:pt>
                <c:pt idx="431">
                  <c:v>2008</c:v>
                </c:pt>
                <c:pt idx="432">
                  <c:v>2008</c:v>
                </c:pt>
                <c:pt idx="433">
                  <c:v>2008</c:v>
                </c:pt>
                <c:pt idx="434">
                  <c:v>2008</c:v>
                </c:pt>
                <c:pt idx="435">
                  <c:v>2008</c:v>
                </c:pt>
                <c:pt idx="436">
                  <c:v>2008</c:v>
                </c:pt>
                <c:pt idx="437">
                  <c:v>2008</c:v>
                </c:pt>
                <c:pt idx="438">
                  <c:v>2008</c:v>
                </c:pt>
                <c:pt idx="439">
                  <c:v>2008</c:v>
                </c:pt>
                <c:pt idx="440">
                  <c:v>2008</c:v>
                </c:pt>
                <c:pt idx="441">
                  <c:v>2008</c:v>
                </c:pt>
                <c:pt idx="442">
                  <c:v>2008</c:v>
                </c:pt>
                <c:pt idx="443">
                  <c:v>2008</c:v>
                </c:pt>
                <c:pt idx="444">
                  <c:v>2008</c:v>
                </c:pt>
                <c:pt idx="445">
                  <c:v>2008</c:v>
                </c:pt>
                <c:pt idx="446">
                  <c:v>2008</c:v>
                </c:pt>
                <c:pt idx="447">
                  <c:v>2008</c:v>
                </c:pt>
                <c:pt idx="448">
                  <c:v>2008</c:v>
                </c:pt>
                <c:pt idx="449">
                  <c:v>2008</c:v>
                </c:pt>
                <c:pt idx="450">
                  <c:v>2008</c:v>
                </c:pt>
                <c:pt idx="451">
                  <c:v>2009</c:v>
                </c:pt>
                <c:pt idx="452">
                  <c:v>2009</c:v>
                </c:pt>
                <c:pt idx="453">
                  <c:v>2009</c:v>
                </c:pt>
                <c:pt idx="454">
                  <c:v>2009</c:v>
                </c:pt>
                <c:pt idx="455">
                  <c:v>2009</c:v>
                </c:pt>
                <c:pt idx="456">
                  <c:v>2009</c:v>
                </c:pt>
                <c:pt idx="457">
                  <c:v>2009</c:v>
                </c:pt>
                <c:pt idx="458">
                  <c:v>2009</c:v>
                </c:pt>
                <c:pt idx="459">
                  <c:v>2009</c:v>
                </c:pt>
                <c:pt idx="460">
                  <c:v>2009</c:v>
                </c:pt>
                <c:pt idx="461">
                  <c:v>2009</c:v>
                </c:pt>
                <c:pt idx="462">
                  <c:v>2009</c:v>
                </c:pt>
                <c:pt idx="463">
                  <c:v>2009</c:v>
                </c:pt>
                <c:pt idx="464">
                  <c:v>2009</c:v>
                </c:pt>
                <c:pt idx="465">
                  <c:v>2009</c:v>
                </c:pt>
                <c:pt idx="466">
                  <c:v>2009</c:v>
                </c:pt>
                <c:pt idx="467">
                  <c:v>2009</c:v>
                </c:pt>
                <c:pt idx="468">
                  <c:v>2009</c:v>
                </c:pt>
                <c:pt idx="469">
                  <c:v>2009</c:v>
                </c:pt>
                <c:pt idx="470">
                  <c:v>2009</c:v>
                </c:pt>
                <c:pt idx="471">
                  <c:v>2009</c:v>
                </c:pt>
                <c:pt idx="472">
                  <c:v>2009</c:v>
                </c:pt>
                <c:pt idx="473">
                  <c:v>2009</c:v>
                </c:pt>
                <c:pt idx="474">
                  <c:v>2009</c:v>
                </c:pt>
                <c:pt idx="475">
                  <c:v>2009</c:v>
                </c:pt>
                <c:pt idx="476">
                  <c:v>2009</c:v>
                </c:pt>
                <c:pt idx="477">
                  <c:v>2009</c:v>
                </c:pt>
                <c:pt idx="478">
                  <c:v>2009</c:v>
                </c:pt>
                <c:pt idx="479">
                  <c:v>2009</c:v>
                </c:pt>
                <c:pt idx="480">
                  <c:v>2009</c:v>
                </c:pt>
                <c:pt idx="481">
                  <c:v>2009</c:v>
                </c:pt>
                <c:pt idx="482">
                  <c:v>2009</c:v>
                </c:pt>
                <c:pt idx="483">
                  <c:v>2009</c:v>
                </c:pt>
                <c:pt idx="484">
                  <c:v>2009</c:v>
                </c:pt>
                <c:pt idx="485">
                  <c:v>2009</c:v>
                </c:pt>
                <c:pt idx="486">
                  <c:v>2009</c:v>
                </c:pt>
                <c:pt idx="487">
                  <c:v>2009</c:v>
                </c:pt>
                <c:pt idx="488">
                  <c:v>2009</c:v>
                </c:pt>
                <c:pt idx="489">
                  <c:v>2009</c:v>
                </c:pt>
                <c:pt idx="490">
                  <c:v>2009</c:v>
                </c:pt>
                <c:pt idx="491">
                  <c:v>2009</c:v>
                </c:pt>
                <c:pt idx="492">
                  <c:v>2009</c:v>
                </c:pt>
                <c:pt idx="493">
                  <c:v>2009</c:v>
                </c:pt>
                <c:pt idx="494">
                  <c:v>2009</c:v>
                </c:pt>
                <c:pt idx="495">
                  <c:v>2009</c:v>
                </c:pt>
                <c:pt idx="496">
                  <c:v>2009</c:v>
                </c:pt>
                <c:pt idx="497">
                  <c:v>2009</c:v>
                </c:pt>
                <c:pt idx="498">
                  <c:v>2009</c:v>
                </c:pt>
                <c:pt idx="499">
                  <c:v>2009</c:v>
                </c:pt>
                <c:pt idx="500">
                  <c:v>2010</c:v>
                </c:pt>
                <c:pt idx="501">
                  <c:v>2010</c:v>
                </c:pt>
                <c:pt idx="502">
                  <c:v>2010</c:v>
                </c:pt>
                <c:pt idx="503">
                  <c:v>2010</c:v>
                </c:pt>
                <c:pt idx="504">
                  <c:v>2010</c:v>
                </c:pt>
                <c:pt idx="505">
                  <c:v>2010</c:v>
                </c:pt>
                <c:pt idx="506">
                  <c:v>2010</c:v>
                </c:pt>
                <c:pt idx="507">
                  <c:v>2010</c:v>
                </c:pt>
                <c:pt idx="508">
                  <c:v>2010</c:v>
                </c:pt>
                <c:pt idx="509">
                  <c:v>2010</c:v>
                </c:pt>
                <c:pt idx="510">
                  <c:v>2010</c:v>
                </c:pt>
                <c:pt idx="511">
                  <c:v>2010</c:v>
                </c:pt>
                <c:pt idx="512">
                  <c:v>2010</c:v>
                </c:pt>
                <c:pt idx="513">
                  <c:v>2010</c:v>
                </c:pt>
                <c:pt idx="514">
                  <c:v>2010</c:v>
                </c:pt>
                <c:pt idx="515">
                  <c:v>2010</c:v>
                </c:pt>
                <c:pt idx="516">
                  <c:v>2010</c:v>
                </c:pt>
                <c:pt idx="517">
                  <c:v>2010</c:v>
                </c:pt>
                <c:pt idx="518">
                  <c:v>2010</c:v>
                </c:pt>
                <c:pt idx="519">
                  <c:v>2010</c:v>
                </c:pt>
                <c:pt idx="520">
                  <c:v>2010</c:v>
                </c:pt>
                <c:pt idx="521">
                  <c:v>2010</c:v>
                </c:pt>
                <c:pt idx="522">
                  <c:v>2010</c:v>
                </c:pt>
                <c:pt idx="523">
                  <c:v>2010</c:v>
                </c:pt>
                <c:pt idx="524">
                  <c:v>2010</c:v>
                </c:pt>
                <c:pt idx="525">
                  <c:v>2010</c:v>
                </c:pt>
                <c:pt idx="526">
                  <c:v>2010</c:v>
                </c:pt>
                <c:pt idx="527">
                  <c:v>2010</c:v>
                </c:pt>
                <c:pt idx="528">
                  <c:v>2010</c:v>
                </c:pt>
                <c:pt idx="529">
                  <c:v>2010</c:v>
                </c:pt>
                <c:pt idx="530">
                  <c:v>2010</c:v>
                </c:pt>
                <c:pt idx="531">
                  <c:v>2010</c:v>
                </c:pt>
                <c:pt idx="532">
                  <c:v>2010</c:v>
                </c:pt>
                <c:pt idx="533">
                  <c:v>2010</c:v>
                </c:pt>
                <c:pt idx="534">
                  <c:v>2010</c:v>
                </c:pt>
                <c:pt idx="535">
                  <c:v>2010</c:v>
                </c:pt>
                <c:pt idx="536">
                  <c:v>2010</c:v>
                </c:pt>
                <c:pt idx="537">
                  <c:v>2010</c:v>
                </c:pt>
                <c:pt idx="538">
                  <c:v>2010</c:v>
                </c:pt>
                <c:pt idx="539">
                  <c:v>2010</c:v>
                </c:pt>
                <c:pt idx="540">
                  <c:v>2010</c:v>
                </c:pt>
                <c:pt idx="541">
                  <c:v>2010</c:v>
                </c:pt>
                <c:pt idx="542">
                  <c:v>2010</c:v>
                </c:pt>
                <c:pt idx="543">
                  <c:v>2010</c:v>
                </c:pt>
                <c:pt idx="544">
                  <c:v>2010</c:v>
                </c:pt>
                <c:pt idx="545">
                  <c:v>2010</c:v>
                </c:pt>
                <c:pt idx="546">
                  <c:v>2010</c:v>
                </c:pt>
                <c:pt idx="547">
                  <c:v>2010</c:v>
                </c:pt>
                <c:pt idx="548">
                  <c:v>2010</c:v>
                </c:pt>
                <c:pt idx="549">
                  <c:v>2010</c:v>
                </c:pt>
                <c:pt idx="550">
                  <c:v>2011</c:v>
                </c:pt>
                <c:pt idx="551">
                  <c:v>2011</c:v>
                </c:pt>
                <c:pt idx="552">
                  <c:v>2011</c:v>
                </c:pt>
                <c:pt idx="553">
                  <c:v>2011</c:v>
                </c:pt>
                <c:pt idx="554">
                  <c:v>2011</c:v>
                </c:pt>
                <c:pt idx="555">
                  <c:v>2011</c:v>
                </c:pt>
                <c:pt idx="556">
                  <c:v>2011</c:v>
                </c:pt>
                <c:pt idx="557">
                  <c:v>2011</c:v>
                </c:pt>
                <c:pt idx="558">
                  <c:v>2011</c:v>
                </c:pt>
                <c:pt idx="559">
                  <c:v>2011</c:v>
                </c:pt>
                <c:pt idx="560">
                  <c:v>2011</c:v>
                </c:pt>
                <c:pt idx="561">
                  <c:v>2011</c:v>
                </c:pt>
                <c:pt idx="562">
                  <c:v>2011</c:v>
                </c:pt>
                <c:pt idx="563">
                  <c:v>2011</c:v>
                </c:pt>
                <c:pt idx="564">
                  <c:v>2011</c:v>
                </c:pt>
                <c:pt idx="565">
                  <c:v>2011</c:v>
                </c:pt>
                <c:pt idx="566">
                  <c:v>2011</c:v>
                </c:pt>
                <c:pt idx="567">
                  <c:v>2011</c:v>
                </c:pt>
                <c:pt idx="568">
                  <c:v>2011</c:v>
                </c:pt>
                <c:pt idx="569">
                  <c:v>2011</c:v>
                </c:pt>
                <c:pt idx="570">
                  <c:v>2011</c:v>
                </c:pt>
                <c:pt idx="571">
                  <c:v>2011</c:v>
                </c:pt>
                <c:pt idx="572">
                  <c:v>2011</c:v>
                </c:pt>
                <c:pt idx="573">
                  <c:v>2011</c:v>
                </c:pt>
                <c:pt idx="574">
                  <c:v>2011</c:v>
                </c:pt>
                <c:pt idx="575">
                  <c:v>2011</c:v>
                </c:pt>
                <c:pt idx="576">
                  <c:v>2011</c:v>
                </c:pt>
                <c:pt idx="577">
                  <c:v>2011</c:v>
                </c:pt>
                <c:pt idx="578">
                  <c:v>2011</c:v>
                </c:pt>
                <c:pt idx="579">
                  <c:v>2011</c:v>
                </c:pt>
                <c:pt idx="580">
                  <c:v>2011</c:v>
                </c:pt>
                <c:pt idx="581">
                  <c:v>2011</c:v>
                </c:pt>
                <c:pt idx="582">
                  <c:v>2011</c:v>
                </c:pt>
                <c:pt idx="583">
                  <c:v>2011</c:v>
                </c:pt>
                <c:pt idx="584">
                  <c:v>2011</c:v>
                </c:pt>
                <c:pt idx="585">
                  <c:v>2011</c:v>
                </c:pt>
                <c:pt idx="586">
                  <c:v>2011</c:v>
                </c:pt>
                <c:pt idx="587">
                  <c:v>2011</c:v>
                </c:pt>
                <c:pt idx="588">
                  <c:v>2011</c:v>
                </c:pt>
                <c:pt idx="589">
                  <c:v>2011</c:v>
                </c:pt>
                <c:pt idx="590">
                  <c:v>2011</c:v>
                </c:pt>
                <c:pt idx="591">
                  <c:v>2011</c:v>
                </c:pt>
                <c:pt idx="592">
                  <c:v>2011</c:v>
                </c:pt>
                <c:pt idx="593">
                  <c:v>2011</c:v>
                </c:pt>
                <c:pt idx="594">
                  <c:v>2011</c:v>
                </c:pt>
                <c:pt idx="595">
                  <c:v>2011</c:v>
                </c:pt>
                <c:pt idx="596">
                  <c:v>2011</c:v>
                </c:pt>
                <c:pt idx="597">
                  <c:v>2011</c:v>
                </c:pt>
                <c:pt idx="598">
                  <c:v>2011</c:v>
                </c:pt>
                <c:pt idx="599">
                  <c:v>2012</c:v>
                </c:pt>
                <c:pt idx="600">
                  <c:v>2012</c:v>
                </c:pt>
                <c:pt idx="601">
                  <c:v>2012</c:v>
                </c:pt>
                <c:pt idx="602">
                  <c:v>2012</c:v>
                </c:pt>
                <c:pt idx="603">
                  <c:v>2012</c:v>
                </c:pt>
                <c:pt idx="604">
                  <c:v>2012</c:v>
                </c:pt>
                <c:pt idx="605">
                  <c:v>2012</c:v>
                </c:pt>
                <c:pt idx="606">
                  <c:v>2012</c:v>
                </c:pt>
                <c:pt idx="607">
                  <c:v>2012</c:v>
                </c:pt>
                <c:pt idx="608">
                  <c:v>2012</c:v>
                </c:pt>
                <c:pt idx="609">
                  <c:v>2012</c:v>
                </c:pt>
                <c:pt idx="610">
                  <c:v>2012</c:v>
                </c:pt>
                <c:pt idx="611">
                  <c:v>2012</c:v>
                </c:pt>
                <c:pt idx="612">
                  <c:v>2012</c:v>
                </c:pt>
                <c:pt idx="613">
                  <c:v>2012</c:v>
                </c:pt>
                <c:pt idx="614">
                  <c:v>2012</c:v>
                </c:pt>
                <c:pt idx="615">
                  <c:v>2012</c:v>
                </c:pt>
                <c:pt idx="616">
                  <c:v>2012</c:v>
                </c:pt>
                <c:pt idx="617">
                  <c:v>2012</c:v>
                </c:pt>
                <c:pt idx="618">
                  <c:v>2012</c:v>
                </c:pt>
                <c:pt idx="619">
                  <c:v>2012</c:v>
                </c:pt>
                <c:pt idx="620">
                  <c:v>2012</c:v>
                </c:pt>
                <c:pt idx="621">
                  <c:v>2012</c:v>
                </c:pt>
                <c:pt idx="622">
                  <c:v>2012</c:v>
                </c:pt>
                <c:pt idx="623">
                  <c:v>2012</c:v>
                </c:pt>
                <c:pt idx="624">
                  <c:v>2012</c:v>
                </c:pt>
                <c:pt idx="625">
                  <c:v>2012</c:v>
                </c:pt>
                <c:pt idx="626">
                  <c:v>2012</c:v>
                </c:pt>
                <c:pt idx="627">
                  <c:v>2012</c:v>
                </c:pt>
                <c:pt idx="628">
                  <c:v>2012</c:v>
                </c:pt>
                <c:pt idx="629">
                  <c:v>2012</c:v>
                </c:pt>
                <c:pt idx="630">
                  <c:v>2012</c:v>
                </c:pt>
                <c:pt idx="631">
                  <c:v>2012</c:v>
                </c:pt>
                <c:pt idx="632">
                  <c:v>2012</c:v>
                </c:pt>
                <c:pt idx="633">
                  <c:v>2012</c:v>
                </c:pt>
                <c:pt idx="634">
                  <c:v>2012</c:v>
                </c:pt>
                <c:pt idx="635">
                  <c:v>2012</c:v>
                </c:pt>
                <c:pt idx="636">
                  <c:v>2012</c:v>
                </c:pt>
                <c:pt idx="637">
                  <c:v>2012</c:v>
                </c:pt>
                <c:pt idx="638">
                  <c:v>2012</c:v>
                </c:pt>
                <c:pt idx="639">
                  <c:v>2012</c:v>
                </c:pt>
                <c:pt idx="640">
                  <c:v>2012</c:v>
                </c:pt>
                <c:pt idx="641">
                  <c:v>2012</c:v>
                </c:pt>
                <c:pt idx="642">
                  <c:v>2012</c:v>
                </c:pt>
                <c:pt idx="643">
                  <c:v>2012</c:v>
                </c:pt>
                <c:pt idx="644">
                  <c:v>2012</c:v>
                </c:pt>
                <c:pt idx="645">
                  <c:v>2012</c:v>
                </c:pt>
                <c:pt idx="646">
                  <c:v>2012</c:v>
                </c:pt>
                <c:pt idx="647">
                  <c:v>2012</c:v>
                </c:pt>
                <c:pt idx="648">
                  <c:v>2012</c:v>
                </c:pt>
                <c:pt idx="649">
                  <c:v>2012</c:v>
                </c:pt>
                <c:pt idx="650">
                  <c:v>2013</c:v>
                </c:pt>
                <c:pt idx="651">
                  <c:v>2013</c:v>
                </c:pt>
                <c:pt idx="652">
                  <c:v>2013</c:v>
                </c:pt>
                <c:pt idx="653">
                  <c:v>2013</c:v>
                </c:pt>
                <c:pt idx="654">
                  <c:v>2013</c:v>
                </c:pt>
                <c:pt idx="655">
                  <c:v>2013</c:v>
                </c:pt>
                <c:pt idx="656">
                  <c:v>2013</c:v>
                </c:pt>
                <c:pt idx="657">
                  <c:v>2013</c:v>
                </c:pt>
                <c:pt idx="658">
                  <c:v>2013</c:v>
                </c:pt>
                <c:pt idx="659">
                  <c:v>2013</c:v>
                </c:pt>
                <c:pt idx="660">
                  <c:v>2013</c:v>
                </c:pt>
                <c:pt idx="661">
                  <c:v>2013</c:v>
                </c:pt>
                <c:pt idx="662">
                  <c:v>2013</c:v>
                </c:pt>
                <c:pt idx="663">
                  <c:v>2013</c:v>
                </c:pt>
                <c:pt idx="664">
                  <c:v>2013</c:v>
                </c:pt>
                <c:pt idx="665">
                  <c:v>2013</c:v>
                </c:pt>
                <c:pt idx="666">
                  <c:v>2013</c:v>
                </c:pt>
                <c:pt idx="667">
                  <c:v>2013</c:v>
                </c:pt>
                <c:pt idx="668">
                  <c:v>2013</c:v>
                </c:pt>
                <c:pt idx="669">
                  <c:v>2013</c:v>
                </c:pt>
                <c:pt idx="670">
                  <c:v>2013</c:v>
                </c:pt>
                <c:pt idx="671">
                  <c:v>2013</c:v>
                </c:pt>
                <c:pt idx="672">
                  <c:v>2013</c:v>
                </c:pt>
                <c:pt idx="673">
                  <c:v>2013</c:v>
                </c:pt>
                <c:pt idx="674">
                  <c:v>2013</c:v>
                </c:pt>
                <c:pt idx="675">
                  <c:v>2013</c:v>
                </c:pt>
                <c:pt idx="676">
                  <c:v>2013</c:v>
                </c:pt>
                <c:pt idx="677">
                  <c:v>2013</c:v>
                </c:pt>
                <c:pt idx="678">
                  <c:v>2013</c:v>
                </c:pt>
                <c:pt idx="679">
                  <c:v>2013</c:v>
                </c:pt>
                <c:pt idx="680">
                  <c:v>2013</c:v>
                </c:pt>
                <c:pt idx="681">
                  <c:v>2013</c:v>
                </c:pt>
                <c:pt idx="682">
                  <c:v>2013</c:v>
                </c:pt>
                <c:pt idx="683">
                  <c:v>2013</c:v>
                </c:pt>
                <c:pt idx="684">
                  <c:v>2013</c:v>
                </c:pt>
                <c:pt idx="685">
                  <c:v>2013</c:v>
                </c:pt>
                <c:pt idx="686">
                  <c:v>2013</c:v>
                </c:pt>
                <c:pt idx="687">
                  <c:v>2013</c:v>
                </c:pt>
                <c:pt idx="688">
                  <c:v>2013</c:v>
                </c:pt>
                <c:pt idx="689">
                  <c:v>2013</c:v>
                </c:pt>
                <c:pt idx="690">
                  <c:v>2013</c:v>
                </c:pt>
                <c:pt idx="691">
                  <c:v>2013</c:v>
                </c:pt>
                <c:pt idx="692">
                  <c:v>2013</c:v>
                </c:pt>
                <c:pt idx="693">
                  <c:v>2013</c:v>
                </c:pt>
                <c:pt idx="694">
                  <c:v>2013</c:v>
                </c:pt>
                <c:pt idx="695">
                  <c:v>2013</c:v>
                </c:pt>
                <c:pt idx="696">
                  <c:v>2013</c:v>
                </c:pt>
                <c:pt idx="697">
                  <c:v>2013</c:v>
                </c:pt>
                <c:pt idx="698">
                  <c:v>2013</c:v>
                </c:pt>
                <c:pt idx="699">
                  <c:v>2013</c:v>
                </c:pt>
                <c:pt idx="700">
                  <c:v>2014</c:v>
                </c:pt>
                <c:pt idx="701">
                  <c:v>2014</c:v>
                </c:pt>
                <c:pt idx="702">
                  <c:v>2014</c:v>
                </c:pt>
                <c:pt idx="703">
                  <c:v>2014</c:v>
                </c:pt>
                <c:pt idx="704">
                  <c:v>2014</c:v>
                </c:pt>
                <c:pt idx="705">
                  <c:v>2014</c:v>
                </c:pt>
                <c:pt idx="706">
                  <c:v>2014</c:v>
                </c:pt>
                <c:pt idx="707">
                  <c:v>2014</c:v>
                </c:pt>
                <c:pt idx="708">
                  <c:v>2014</c:v>
                </c:pt>
                <c:pt idx="709">
                  <c:v>2014</c:v>
                </c:pt>
                <c:pt idx="710">
                  <c:v>2014</c:v>
                </c:pt>
                <c:pt idx="711">
                  <c:v>2014</c:v>
                </c:pt>
                <c:pt idx="712">
                  <c:v>2014</c:v>
                </c:pt>
                <c:pt idx="713">
                  <c:v>2014</c:v>
                </c:pt>
                <c:pt idx="714">
                  <c:v>2014</c:v>
                </c:pt>
                <c:pt idx="715">
                  <c:v>2014</c:v>
                </c:pt>
                <c:pt idx="716">
                  <c:v>2014</c:v>
                </c:pt>
                <c:pt idx="717">
                  <c:v>2014</c:v>
                </c:pt>
                <c:pt idx="718">
                  <c:v>2014</c:v>
                </c:pt>
                <c:pt idx="719">
                  <c:v>2014</c:v>
                </c:pt>
                <c:pt idx="720">
                  <c:v>2014</c:v>
                </c:pt>
                <c:pt idx="721">
                  <c:v>2014</c:v>
                </c:pt>
                <c:pt idx="722">
                  <c:v>2014</c:v>
                </c:pt>
                <c:pt idx="723">
                  <c:v>2014</c:v>
                </c:pt>
                <c:pt idx="724">
                  <c:v>2014</c:v>
                </c:pt>
                <c:pt idx="725">
                  <c:v>2014</c:v>
                </c:pt>
                <c:pt idx="726">
                  <c:v>2014</c:v>
                </c:pt>
                <c:pt idx="727">
                  <c:v>2014</c:v>
                </c:pt>
                <c:pt idx="728">
                  <c:v>2014</c:v>
                </c:pt>
                <c:pt idx="729">
                  <c:v>2014</c:v>
                </c:pt>
                <c:pt idx="730">
                  <c:v>2014</c:v>
                </c:pt>
                <c:pt idx="731">
                  <c:v>2014</c:v>
                </c:pt>
                <c:pt idx="732">
                  <c:v>2014</c:v>
                </c:pt>
                <c:pt idx="733">
                  <c:v>2014</c:v>
                </c:pt>
                <c:pt idx="734">
                  <c:v>2014</c:v>
                </c:pt>
                <c:pt idx="735">
                  <c:v>2014</c:v>
                </c:pt>
                <c:pt idx="736">
                  <c:v>2014</c:v>
                </c:pt>
                <c:pt idx="737">
                  <c:v>2014</c:v>
                </c:pt>
                <c:pt idx="738">
                  <c:v>2014</c:v>
                </c:pt>
                <c:pt idx="739">
                  <c:v>2014</c:v>
                </c:pt>
                <c:pt idx="740">
                  <c:v>2014</c:v>
                </c:pt>
                <c:pt idx="741">
                  <c:v>2014</c:v>
                </c:pt>
                <c:pt idx="742">
                  <c:v>2014</c:v>
                </c:pt>
                <c:pt idx="743">
                  <c:v>2014</c:v>
                </c:pt>
                <c:pt idx="744">
                  <c:v>2014</c:v>
                </c:pt>
                <c:pt idx="745">
                  <c:v>2014</c:v>
                </c:pt>
                <c:pt idx="746">
                  <c:v>2014</c:v>
                </c:pt>
                <c:pt idx="747">
                  <c:v>2014</c:v>
                </c:pt>
                <c:pt idx="748">
                  <c:v>2015</c:v>
                </c:pt>
                <c:pt idx="749">
                  <c:v>2015</c:v>
                </c:pt>
                <c:pt idx="750">
                  <c:v>2015</c:v>
                </c:pt>
                <c:pt idx="751">
                  <c:v>2015</c:v>
                </c:pt>
                <c:pt idx="752">
                  <c:v>2015</c:v>
                </c:pt>
                <c:pt idx="753">
                  <c:v>2015</c:v>
                </c:pt>
                <c:pt idx="754">
                  <c:v>2015</c:v>
                </c:pt>
                <c:pt idx="755">
                  <c:v>2015</c:v>
                </c:pt>
                <c:pt idx="756">
                  <c:v>2015</c:v>
                </c:pt>
                <c:pt idx="757">
                  <c:v>2015</c:v>
                </c:pt>
                <c:pt idx="758">
                  <c:v>2015</c:v>
                </c:pt>
                <c:pt idx="759">
                  <c:v>2015</c:v>
                </c:pt>
                <c:pt idx="760">
                  <c:v>2015</c:v>
                </c:pt>
                <c:pt idx="761">
                  <c:v>2015</c:v>
                </c:pt>
                <c:pt idx="762">
                  <c:v>2015</c:v>
                </c:pt>
                <c:pt idx="763">
                  <c:v>2015</c:v>
                </c:pt>
                <c:pt idx="764">
                  <c:v>2015</c:v>
                </c:pt>
                <c:pt idx="765">
                  <c:v>2015</c:v>
                </c:pt>
                <c:pt idx="766">
                  <c:v>2015</c:v>
                </c:pt>
                <c:pt idx="767">
                  <c:v>2015</c:v>
                </c:pt>
                <c:pt idx="768">
                  <c:v>2015</c:v>
                </c:pt>
                <c:pt idx="769">
                  <c:v>2015</c:v>
                </c:pt>
                <c:pt idx="770">
                  <c:v>2015</c:v>
                </c:pt>
                <c:pt idx="771">
                  <c:v>2015</c:v>
                </c:pt>
                <c:pt idx="772">
                  <c:v>2015</c:v>
                </c:pt>
                <c:pt idx="773">
                  <c:v>2015</c:v>
                </c:pt>
                <c:pt idx="774">
                  <c:v>2015</c:v>
                </c:pt>
                <c:pt idx="775">
                  <c:v>2015</c:v>
                </c:pt>
                <c:pt idx="776">
                  <c:v>2015</c:v>
                </c:pt>
                <c:pt idx="777">
                  <c:v>2015</c:v>
                </c:pt>
                <c:pt idx="778">
                  <c:v>2015</c:v>
                </c:pt>
                <c:pt idx="779">
                  <c:v>2015</c:v>
                </c:pt>
                <c:pt idx="780">
                  <c:v>2015</c:v>
                </c:pt>
                <c:pt idx="781">
                  <c:v>2015</c:v>
                </c:pt>
                <c:pt idx="782">
                  <c:v>2015</c:v>
                </c:pt>
                <c:pt idx="783">
                  <c:v>2015</c:v>
                </c:pt>
                <c:pt idx="784">
                  <c:v>2015</c:v>
                </c:pt>
                <c:pt idx="785">
                  <c:v>2015</c:v>
                </c:pt>
                <c:pt idx="786">
                  <c:v>2015</c:v>
                </c:pt>
                <c:pt idx="787">
                  <c:v>2015</c:v>
                </c:pt>
                <c:pt idx="788">
                  <c:v>2015</c:v>
                </c:pt>
                <c:pt idx="789">
                  <c:v>2015</c:v>
                </c:pt>
                <c:pt idx="790">
                  <c:v>2015</c:v>
                </c:pt>
                <c:pt idx="791">
                  <c:v>2015</c:v>
                </c:pt>
                <c:pt idx="792">
                  <c:v>2015</c:v>
                </c:pt>
                <c:pt idx="793">
                  <c:v>2015</c:v>
                </c:pt>
                <c:pt idx="794">
                  <c:v>2015</c:v>
                </c:pt>
                <c:pt idx="795">
                  <c:v>2015</c:v>
                </c:pt>
                <c:pt idx="796">
                  <c:v>2015</c:v>
                </c:pt>
                <c:pt idx="797">
                  <c:v>2015</c:v>
                </c:pt>
                <c:pt idx="798">
                  <c:v>2016</c:v>
                </c:pt>
                <c:pt idx="799">
                  <c:v>2016</c:v>
                </c:pt>
                <c:pt idx="800">
                  <c:v>2016</c:v>
                </c:pt>
                <c:pt idx="801">
                  <c:v>2016</c:v>
                </c:pt>
                <c:pt idx="802">
                  <c:v>2016</c:v>
                </c:pt>
                <c:pt idx="803">
                  <c:v>2016</c:v>
                </c:pt>
                <c:pt idx="804">
                  <c:v>2016</c:v>
                </c:pt>
                <c:pt idx="805">
                  <c:v>2016</c:v>
                </c:pt>
                <c:pt idx="806">
                  <c:v>2016</c:v>
                </c:pt>
                <c:pt idx="807">
                  <c:v>2016</c:v>
                </c:pt>
                <c:pt idx="808">
                  <c:v>2016</c:v>
                </c:pt>
                <c:pt idx="809">
                  <c:v>2016</c:v>
                </c:pt>
                <c:pt idx="810">
                  <c:v>2016</c:v>
                </c:pt>
                <c:pt idx="811">
                  <c:v>2016</c:v>
                </c:pt>
                <c:pt idx="812">
                  <c:v>2016</c:v>
                </c:pt>
                <c:pt idx="813">
                  <c:v>2016</c:v>
                </c:pt>
                <c:pt idx="814">
                  <c:v>2016</c:v>
                </c:pt>
                <c:pt idx="815">
                  <c:v>2016</c:v>
                </c:pt>
                <c:pt idx="816">
                  <c:v>2016</c:v>
                </c:pt>
                <c:pt idx="817">
                  <c:v>2016</c:v>
                </c:pt>
                <c:pt idx="818">
                  <c:v>2016</c:v>
                </c:pt>
                <c:pt idx="819">
                  <c:v>2016</c:v>
                </c:pt>
                <c:pt idx="820">
                  <c:v>2016</c:v>
                </c:pt>
                <c:pt idx="821">
                  <c:v>2016</c:v>
                </c:pt>
                <c:pt idx="822">
                  <c:v>2016</c:v>
                </c:pt>
                <c:pt idx="823">
                  <c:v>2016</c:v>
                </c:pt>
                <c:pt idx="824">
                  <c:v>2016</c:v>
                </c:pt>
                <c:pt idx="825">
                  <c:v>2016</c:v>
                </c:pt>
                <c:pt idx="826">
                  <c:v>2016</c:v>
                </c:pt>
                <c:pt idx="827">
                  <c:v>2016</c:v>
                </c:pt>
                <c:pt idx="828">
                  <c:v>2016</c:v>
                </c:pt>
                <c:pt idx="829">
                  <c:v>2016</c:v>
                </c:pt>
                <c:pt idx="830">
                  <c:v>2016</c:v>
                </c:pt>
                <c:pt idx="831">
                  <c:v>2016</c:v>
                </c:pt>
                <c:pt idx="832">
                  <c:v>2016</c:v>
                </c:pt>
                <c:pt idx="833">
                  <c:v>2016</c:v>
                </c:pt>
                <c:pt idx="834">
                  <c:v>2016</c:v>
                </c:pt>
                <c:pt idx="835">
                  <c:v>2016</c:v>
                </c:pt>
                <c:pt idx="836">
                  <c:v>2016</c:v>
                </c:pt>
                <c:pt idx="837">
                  <c:v>2016</c:v>
                </c:pt>
                <c:pt idx="838">
                  <c:v>2016</c:v>
                </c:pt>
                <c:pt idx="839">
                  <c:v>2016</c:v>
                </c:pt>
                <c:pt idx="840">
                  <c:v>2016</c:v>
                </c:pt>
                <c:pt idx="841">
                  <c:v>2016</c:v>
                </c:pt>
                <c:pt idx="842">
                  <c:v>2016</c:v>
                </c:pt>
                <c:pt idx="843">
                  <c:v>2016</c:v>
                </c:pt>
                <c:pt idx="844">
                  <c:v>2016</c:v>
                </c:pt>
                <c:pt idx="845">
                  <c:v>2016</c:v>
                </c:pt>
                <c:pt idx="846">
                  <c:v>2016</c:v>
                </c:pt>
                <c:pt idx="847">
                  <c:v>2017</c:v>
                </c:pt>
                <c:pt idx="848">
                  <c:v>2017</c:v>
                </c:pt>
                <c:pt idx="849">
                  <c:v>2017</c:v>
                </c:pt>
                <c:pt idx="850">
                  <c:v>2017</c:v>
                </c:pt>
                <c:pt idx="851">
                  <c:v>2017</c:v>
                </c:pt>
                <c:pt idx="852">
                  <c:v>2017</c:v>
                </c:pt>
                <c:pt idx="853">
                  <c:v>2017</c:v>
                </c:pt>
                <c:pt idx="854">
                  <c:v>2017</c:v>
                </c:pt>
                <c:pt idx="855">
                  <c:v>2017</c:v>
                </c:pt>
                <c:pt idx="856">
                  <c:v>2017</c:v>
                </c:pt>
                <c:pt idx="857">
                  <c:v>2017</c:v>
                </c:pt>
                <c:pt idx="858">
                  <c:v>2017</c:v>
                </c:pt>
                <c:pt idx="859">
                  <c:v>2017</c:v>
                </c:pt>
                <c:pt idx="860">
                  <c:v>2017</c:v>
                </c:pt>
                <c:pt idx="861">
                  <c:v>2017</c:v>
                </c:pt>
                <c:pt idx="862">
                  <c:v>2017</c:v>
                </c:pt>
                <c:pt idx="863">
                  <c:v>2017</c:v>
                </c:pt>
                <c:pt idx="864">
                  <c:v>2017</c:v>
                </c:pt>
                <c:pt idx="865">
                  <c:v>2017</c:v>
                </c:pt>
                <c:pt idx="866">
                  <c:v>2017</c:v>
                </c:pt>
                <c:pt idx="867">
                  <c:v>2017</c:v>
                </c:pt>
                <c:pt idx="868">
                  <c:v>2017</c:v>
                </c:pt>
                <c:pt idx="869">
                  <c:v>2017</c:v>
                </c:pt>
                <c:pt idx="870">
                  <c:v>2017</c:v>
                </c:pt>
                <c:pt idx="871">
                  <c:v>2017</c:v>
                </c:pt>
                <c:pt idx="872">
                  <c:v>2017</c:v>
                </c:pt>
                <c:pt idx="873">
                  <c:v>2017</c:v>
                </c:pt>
                <c:pt idx="874">
                  <c:v>2017</c:v>
                </c:pt>
                <c:pt idx="875">
                  <c:v>2017</c:v>
                </c:pt>
                <c:pt idx="876">
                  <c:v>2017</c:v>
                </c:pt>
                <c:pt idx="877">
                  <c:v>2017</c:v>
                </c:pt>
                <c:pt idx="878">
                  <c:v>2017</c:v>
                </c:pt>
                <c:pt idx="879">
                  <c:v>2017</c:v>
                </c:pt>
                <c:pt idx="880">
                  <c:v>2017</c:v>
                </c:pt>
                <c:pt idx="881">
                  <c:v>2017</c:v>
                </c:pt>
                <c:pt idx="882">
                  <c:v>2017</c:v>
                </c:pt>
                <c:pt idx="883">
                  <c:v>2017</c:v>
                </c:pt>
                <c:pt idx="884">
                  <c:v>2017</c:v>
                </c:pt>
                <c:pt idx="885">
                  <c:v>2017</c:v>
                </c:pt>
                <c:pt idx="886">
                  <c:v>2017</c:v>
                </c:pt>
                <c:pt idx="887">
                  <c:v>2017</c:v>
                </c:pt>
                <c:pt idx="888">
                  <c:v>2017</c:v>
                </c:pt>
                <c:pt idx="889">
                  <c:v>2017</c:v>
                </c:pt>
                <c:pt idx="890">
                  <c:v>2017</c:v>
                </c:pt>
                <c:pt idx="891">
                  <c:v>2017</c:v>
                </c:pt>
                <c:pt idx="892">
                  <c:v>2017</c:v>
                </c:pt>
                <c:pt idx="893">
                  <c:v>2017</c:v>
                </c:pt>
                <c:pt idx="894">
                  <c:v>2017</c:v>
                </c:pt>
                <c:pt idx="895">
                  <c:v>2017</c:v>
                </c:pt>
                <c:pt idx="896">
                  <c:v>2017</c:v>
                </c:pt>
                <c:pt idx="897">
                  <c:v>2018</c:v>
                </c:pt>
                <c:pt idx="898">
                  <c:v>2018</c:v>
                </c:pt>
                <c:pt idx="899">
                  <c:v>2018</c:v>
                </c:pt>
                <c:pt idx="900">
                  <c:v>2018</c:v>
                </c:pt>
                <c:pt idx="901">
                  <c:v>2018</c:v>
                </c:pt>
                <c:pt idx="902">
                  <c:v>2018</c:v>
                </c:pt>
                <c:pt idx="903">
                  <c:v>2018</c:v>
                </c:pt>
                <c:pt idx="904">
                  <c:v>2018</c:v>
                </c:pt>
                <c:pt idx="905">
                  <c:v>2018</c:v>
                </c:pt>
                <c:pt idx="906">
                  <c:v>2018</c:v>
                </c:pt>
                <c:pt idx="907">
                  <c:v>2018</c:v>
                </c:pt>
                <c:pt idx="908">
                  <c:v>2018</c:v>
                </c:pt>
                <c:pt idx="909">
                  <c:v>2018</c:v>
                </c:pt>
                <c:pt idx="910">
                  <c:v>2018</c:v>
                </c:pt>
                <c:pt idx="911">
                  <c:v>2018</c:v>
                </c:pt>
                <c:pt idx="912">
                  <c:v>2018</c:v>
                </c:pt>
                <c:pt idx="913">
                  <c:v>2018</c:v>
                </c:pt>
                <c:pt idx="914">
                  <c:v>2018</c:v>
                </c:pt>
                <c:pt idx="915">
                  <c:v>2018</c:v>
                </c:pt>
                <c:pt idx="916">
                  <c:v>2018</c:v>
                </c:pt>
                <c:pt idx="917">
                  <c:v>2018</c:v>
                </c:pt>
                <c:pt idx="918">
                  <c:v>2018</c:v>
                </c:pt>
                <c:pt idx="919">
                  <c:v>2018</c:v>
                </c:pt>
                <c:pt idx="920">
                  <c:v>2018</c:v>
                </c:pt>
                <c:pt idx="921">
                  <c:v>2018</c:v>
                </c:pt>
                <c:pt idx="922">
                  <c:v>2018</c:v>
                </c:pt>
                <c:pt idx="923">
                  <c:v>2018</c:v>
                </c:pt>
                <c:pt idx="924">
                  <c:v>2018</c:v>
                </c:pt>
                <c:pt idx="925">
                  <c:v>2018</c:v>
                </c:pt>
                <c:pt idx="926">
                  <c:v>2018</c:v>
                </c:pt>
                <c:pt idx="927">
                  <c:v>2018</c:v>
                </c:pt>
                <c:pt idx="928">
                  <c:v>2018</c:v>
                </c:pt>
                <c:pt idx="929">
                  <c:v>2018</c:v>
                </c:pt>
                <c:pt idx="930">
                  <c:v>2018</c:v>
                </c:pt>
                <c:pt idx="931">
                  <c:v>2018</c:v>
                </c:pt>
                <c:pt idx="932">
                  <c:v>2018</c:v>
                </c:pt>
                <c:pt idx="933">
                  <c:v>2018</c:v>
                </c:pt>
                <c:pt idx="934">
                  <c:v>2018</c:v>
                </c:pt>
                <c:pt idx="935">
                  <c:v>2018</c:v>
                </c:pt>
                <c:pt idx="936">
                  <c:v>2018</c:v>
                </c:pt>
                <c:pt idx="937">
                  <c:v>2018</c:v>
                </c:pt>
                <c:pt idx="938">
                  <c:v>2018</c:v>
                </c:pt>
                <c:pt idx="939">
                  <c:v>2018</c:v>
                </c:pt>
                <c:pt idx="940">
                  <c:v>2018</c:v>
                </c:pt>
                <c:pt idx="941">
                  <c:v>2018</c:v>
                </c:pt>
                <c:pt idx="942">
                  <c:v>2018</c:v>
                </c:pt>
                <c:pt idx="943">
                  <c:v>2018</c:v>
                </c:pt>
                <c:pt idx="944">
                  <c:v>2018</c:v>
                </c:pt>
                <c:pt idx="945">
                  <c:v>2018</c:v>
                </c:pt>
                <c:pt idx="946">
                  <c:v>2019</c:v>
                </c:pt>
                <c:pt idx="947">
                  <c:v>2019</c:v>
                </c:pt>
                <c:pt idx="948">
                  <c:v>2019</c:v>
                </c:pt>
                <c:pt idx="949">
                  <c:v>2019</c:v>
                </c:pt>
                <c:pt idx="950">
                  <c:v>2019</c:v>
                </c:pt>
                <c:pt idx="951">
                  <c:v>2019</c:v>
                </c:pt>
                <c:pt idx="952">
                  <c:v>2019</c:v>
                </c:pt>
                <c:pt idx="953">
                  <c:v>2019</c:v>
                </c:pt>
                <c:pt idx="954">
                  <c:v>2019</c:v>
                </c:pt>
                <c:pt idx="955">
                  <c:v>2019</c:v>
                </c:pt>
                <c:pt idx="956">
                  <c:v>2019</c:v>
                </c:pt>
                <c:pt idx="957">
                  <c:v>2019</c:v>
                </c:pt>
                <c:pt idx="958">
                  <c:v>2019</c:v>
                </c:pt>
                <c:pt idx="959">
                  <c:v>2019</c:v>
                </c:pt>
                <c:pt idx="960">
                  <c:v>2019</c:v>
                </c:pt>
                <c:pt idx="961">
                  <c:v>2019</c:v>
                </c:pt>
                <c:pt idx="962">
                  <c:v>2019</c:v>
                </c:pt>
                <c:pt idx="963">
                  <c:v>2019</c:v>
                </c:pt>
                <c:pt idx="964">
                  <c:v>2019</c:v>
                </c:pt>
                <c:pt idx="965">
                  <c:v>2019</c:v>
                </c:pt>
                <c:pt idx="966">
                  <c:v>2019</c:v>
                </c:pt>
                <c:pt idx="967">
                  <c:v>2019</c:v>
                </c:pt>
                <c:pt idx="968">
                  <c:v>2019</c:v>
                </c:pt>
                <c:pt idx="969">
                  <c:v>2019</c:v>
                </c:pt>
                <c:pt idx="970">
                  <c:v>2019</c:v>
                </c:pt>
                <c:pt idx="971">
                  <c:v>2019</c:v>
                </c:pt>
                <c:pt idx="972">
                  <c:v>2019</c:v>
                </c:pt>
                <c:pt idx="973">
                  <c:v>2019</c:v>
                </c:pt>
                <c:pt idx="974">
                  <c:v>2019</c:v>
                </c:pt>
                <c:pt idx="975">
                  <c:v>2019</c:v>
                </c:pt>
                <c:pt idx="976">
                  <c:v>2019</c:v>
                </c:pt>
                <c:pt idx="977">
                  <c:v>2019</c:v>
                </c:pt>
                <c:pt idx="978">
                  <c:v>2019</c:v>
                </c:pt>
                <c:pt idx="979">
                  <c:v>2019</c:v>
                </c:pt>
                <c:pt idx="980">
                  <c:v>2019</c:v>
                </c:pt>
                <c:pt idx="981">
                  <c:v>2019</c:v>
                </c:pt>
                <c:pt idx="982">
                  <c:v>2019</c:v>
                </c:pt>
                <c:pt idx="983">
                  <c:v>2019</c:v>
                </c:pt>
                <c:pt idx="984">
                  <c:v>2019</c:v>
                </c:pt>
                <c:pt idx="985">
                  <c:v>2019</c:v>
                </c:pt>
                <c:pt idx="986">
                  <c:v>2019</c:v>
                </c:pt>
                <c:pt idx="987">
                  <c:v>2019</c:v>
                </c:pt>
                <c:pt idx="988">
                  <c:v>2019</c:v>
                </c:pt>
                <c:pt idx="989">
                  <c:v>2019</c:v>
                </c:pt>
                <c:pt idx="990">
                  <c:v>2019</c:v>
                </c:pt>
                <c:pt idx="991">
                  <c:v>2019</c:v>
                </c:pt>
                <c:pt idx="992">
                  <c:v>2019</c:v>
                </c:pt>
                <c:pt idx="993">
                  <c:v>2019</c:v>
                </c:pt>
                <c:pt idx="994">
                  <c:v>2019</c:v>
                </c:pt>
                <c:pt idx="995">
                  <c:v>2020</c:v>
                </c:pt>
                <c:pt idx="996">
                  <c:v>2020</c:v>
                </c:pt>
                <c:pt idx="997">
                  <c:v>2020</c:v>
                </c:pt>
                <c:pt idx="998">
                  <c:v>2020</c:v>
                </c:pt>
                <c:pt idx="999">
                  <c:v>2020</c:v>
                </c:pt>
                <c:pt idx="1000">
                  <c:v>2020</c:v>
                </c:pt>
                <c:pt idx="1001">
                  <c:v>2020</c:v>
                </c:pt>
                <c:pt idx="1002">
                  <c:v>2020</c:v>
                </c:pt>
                <c:pt idx="1003">
                  <c:v>2020</c:v>
                </c:pt>
                <c:pt idx="1004">
                  <c:v>2020</c:v>
                </c:pt>
                <c:pt idx="1005">
                  <c:v>2020</c:v>
                </c:pt>
                <c:pt idx="1006">
                  <c:v>2020</c:v>
                </c:pt>
                <c:pt idx="1007">
                  <c:v>2020</c:v>
                </c:pt>
                <c:pt idx="1008">
                  <c:v>2020</c:v>
                </c:pt>
                <c:pt idx="1009">
                  <c:v>2020</c:v>
                </c:pt>
                <c:pt idx="1010">
                  <c:v>2020</c:v>
                </c:pt>
                <c:pt idx="1011">
                  <c:v>2020</c:v>
                </c:pt>
                <c:pt idx="1012">
                  <c:v>2020</c:v>
                </c:pt>
                <c:pt idx="1013">
                  <c:v>2020</c:v>
                </c:pt>
                <c:pt idx="1014">
                  <c:v>2020</c:v>
                </c:pt>
                <c:pt idx="1015">
                  <c:v>2020</c:v>
                </c:pt>
                <c:pt idx="1016">
                  <c:v>2020</c:v>
                </c:pt>
                <c:pt idx="1017">
                  <c:v>2020</c:v>
                </c:pt>
                <c:pt idx="1018">
                  <c:v>2020</c:v>
                </c:pt>
                <c:pt idx="1019">
                  <c:v>2020</c:v>
                </c:pt>
                <c:pt idx="1020">
                  <c:v>2020</c:v>
                </c:pt>
                <c:pt idx="1021">
                  <c:v>2020</c:v>
                </c:pt>
                <c:pt idx="1022">
                  <c:v>2020</c:v>
                </c:pt>
                <c:pt idx="1023">
                  <c:v>2020</c:v>
                </c:pt>
                <c:pt idx="1024">
                  <c:v>2020</c:v>
                </c:pt>
                <c:pt idx="1025">
                  <c:v>2020</c:v>
                </c:pt>
                <c:pt idx="1026">
                  <c:v>2020</c:v>
                </c:pt>
                <c:pt idx="1027">
                  <c:v>2020</c:v>
                </c:pt>
                <c:pt idx="1028">
                  <c:v>2020</c:v>
                </c:pt>
                <c:pt idx="1029">
                  <c:v>2020</c:v>
                </c:pt>
                <c:pt idx="1030">
                  <c:v>2020</c:v>
                </c:pt>
                <c:pt idx="1031">
                  <c:v>2020</c:v>
                </c:pt>
                <c:pt idx="1032">
                  <c:v>2020</c:v>
                </c:pt>
                <c:pt idx="1033">
                  <c:v>2020</c:v>
                </c:pt>
                <c:pt idx="1034">
                  <c:v>2020</c:v>
                </c:pt>
                <c:pt idx="1035">
                  <c:v>2020</c:v>
                </c:pt>
                <c:pt idx="1036">
                  <c:v>2020</c:v>
                </c:pt>
                <c:pt idx="1037">
                  <c:v>2020</c:v>
                </c:pt>
                <c:pt idx="1038">
                  <c:v>2020</c:v>
                </c:pt>
                <c:pt idx="1039">
                  <c:v>2020</c:v>
                </c:pt>
                <c:pt idx="1040">
                  <c:v>2020</c:v>
                </c:pt>
                <c:pt idx="1041">
                  <c:v>2020</c:v>
                </c:pt>
                <c:pt idx="1042">
                  <c:v>2020</c:v>
                </c:pt>
                <c:pt idx="1043">
                  <c:v>2020</c:v>
                </c:pt>
                <c:pt idx="1044">
                  <c:v>2020</c:v>
                </c:pt>
                <c:pt idx="1045">
                  <c:v>2020</c:v>
                </c:pt>
                <c:pt idx="1046">
                  <c:v>2021</c:v>
                </c:pt>
                <c:pt idx="1047">
                  <c:v>2021</c:v>
                </c:pt>
                <c:pt idx="1048">
                  <c:v>2021</c:v>
                </c:pt>
                <c:pt idx="1049">
                  <c:v>2021</c:v>
                </c:pt>
                <c:pt idx="1050">
                  <c:v>2021</c:v>
                </c:pt>
                <c:pt idx="1051">
                  <c:v>2021</c:v>
                </c:pt>
                <c:pt idx="1052">
                  <c:v>2021</c:v>
                </c:pt>
                <c:pt idx="1053">
                  <c:v>2021</c:v>
                </c:pt>
                <c:pt idx="1054">
                  <c:v>2021</c:v>
                </c:pt>
                <c:pt idx="1055">
                  <c:v>2021</c:v>
                </c:pt>
                <c:pt idx="1056">
                  <c:v>2021</c:v>
                </c:pt>
                <c:pt idx="1057">
                  <c:v>2021</c:v>
                </c:pt>
                <c:pt idx="1058">
                  <c:v>2021</c:v>
                </c:pt>
                <c:pt idx="1059">
                  <c:v>2021</c:v>
                </c:pt>
                <c:pt idx="1060">
                  <c:v>2021</c:v>
                </c:pt>
                <c:pt idx="1061">
                  <c:v>2021</c:v>
                </c:pt>
              </c:strCache>
            </c:strRef>
          </c:cat>
          <c:val>
            <c:numRef>
              <c:f>Sheet1!$B$2:$B$1063</c:f>
              <c:numCache>
                <c:formatCode>General</c:formatCode>
                <c:ptCount val="1062"/>
                <c:pt idx="0">
                  <c:v>251.7</c:v>
                </c:pt>
                <c:pt idx="1">
                  <c:v>308.5</c:v>
                </c:pt>
                <c:pt idx="2">
                  <c:v>308.75</c:v>
                </c:pt>
                <c:pt idx="3">
                  <c:v>326.14999999999998</c:v>
                </c:pt>
                <c:pt idx="4">
                  <c:v>334.05</c:v>
                </c:pt>
                <c:pt idx="5">
                  <c:v>342.4</c:v>
                </c:pt>
                <c:pt idx="6">
                  <c:v>344.35</c:v>
                </c:pt>
                <c:pt idx="7">
                  <c:v>334.35</c:v>
                </c:pt>
                <c:pt idx="8">
                  <c:v>310.85000000000002</c:v>
                </c:pt>
                <c:pt idx="9">
                  <c:v>242.3</c:v>
                </c:pt>
                <c:pt idx="10">
                  <c:v>219.2</c:v>
                </c:pt>
                <c:pt idx="11">
                  <c:v>240.95</c:v>
                </c:pt>
                <c:pt idx="12">
                  <c:v>293</c:v>
                </c:pt>
                <c:pt idx="13">
                  <c:v>326.14999999999998</c:v>
                </c:pt>
                <c:pt idx="14">
                  <c:v>310.95</c:v>
                </c:pt>
                <c:pt idx="15">
                  <c:v>336.95</c:v>
                </c:pt>
                <c:pt idx="16">
                  <c:v>329.15</c:v>
                </c:pt>
                <c:pt idx="17">
                  <c:v>328.35</c:v>
                </c:pt>
                <c:pt idx="18">
                  <c:v>317.39999999999998</c:v>
                </c:pt>
                <c:pt idx="19">
                  <c:v>314.75</c:v>
                </c:pt>
                <c:pt idx="20">
                  <c:v>343.8</c:v>
                </c:pt>
                <c:pt idx="21">
                  <c:v>338.8</c:v>
                </c:pt>
                <c:pt idx="22">
                  <c:v>338.5</c:v>
                </c:pt>
                <c:pt idx="23">
                  <c:v>330.3</c:v>
                </c:pt>
                <c:pt idx="24">
                  <c:v>334.5</c:v>
                </c:pt>
                <c:pt idx="25">
                  <c:v>345.4</c:v>
                </c:pt>
                <c:pt idx="26">
                  <c:v>375.95</c:v>
                </c:pt>
                <c:pt idx="27">
                  <c:v>358.15</c:v>
                </c:pt>
                <c:pt idx="28">
                  <c:v>333.9</c:v>
                </c:pt>
                <c:pt idx="29">
                  <c:v>338.5</c:v>
                </c:pt>
                <c:pt idx="30">
                  <c:v>330.85</c:v>
                </c:pt>
                <c:pt idx="31">
                  <c:v>337.4</c:v>
                </c:pt>
                <c:pt idx="32">
                  <c:v>339.55</c:v>
                </c:pt>
                <c:pt idx="33">
                  <c:v>336.9</c:v>
                </c:pt>
                <c:pt idx="34">
                  <c:v>361.85</c:v>
                </c:pt>
                <c:pt idx="35">
                  <c:v>375.7</c:v>
                </c:pt>
                <c:pt idx="36">
                  <c:v>347.9</c:v>
                </c:pt>
                <c:pt idx="37">
                  <c:v>345.6</c:v>
                </c:pt>
                <c:pt idx="38">
                  <c:v>340.4</c:v>
                </c:pt>
                <c:pt idx="39">
                  <c:v>318.3</c:v>
                </c:pt>
                <c:pt idx="40">
                  <c:v>298.10000000000002</c:v>
                </c:pt>
                <c:pt idx="41">
                  <c:v>302.95</c:v>
                </c:pt>
                <c:pt idx="42">
                  <c:v>315.64999999999998</c:v>
                </c:pt>
                <c:pt idx="43">
                  <c:v>311.14999999999998</c:v>
                </c:pt>
                <c:pt idx="44">
                  <c:v>310.85000000000002</c:v>
                </c:pt>
                <c:pt idx="45">
                  <c:v>313.35000000000002</c:v>
                </c:pt>
                <c:pt idx="46">
                  <c:v>328.1</c:v>
                </c:pt>
                <c:pt idx="47">
                  <c:v>339.4</c:v>
                </c:pt>
                <c:pt idx="48">
                  <c:v>337.95</c:v>
                </c:pt>
                <c:pt idx="49">
                  <c:v>338.2</c:v>
                </c:pt>
                <c:pt idx="50">
                  <c:v>341.75</c:v>
                </c:pt>
                <c:pt idx="51">
                  <c:v>360.2</c:v>
                </c:pt>
                <c:pt idx="52">
                  <c:v>355.55</c:v>
                </c:pt>
                <c:pt idx="53">
                  <c:v>374.5</c:v>
                </c:pt>
                <c:pt idx="54">
                  <c:v>389.65</c:v>
                </c:pt>
                <c:pt idx="55">
                  <c:v>397.85</c:v>
                </c:pt>
                <c:pt idx="56">
                  <c:v>410.05</c:v>
                </c:pt>
                <c:pt idx="57">
                  <c:v>422.8</c:v>
                </c:pt>
                <c:pt idx="58">
                  <c:v>402.1</c:v>
                </c:pt>
                <c:pt idx="59">
                  <c:v>412</c:v>
                </c:pt>
                <c:pt idx="60">
                  <c:v>399.4</c:v>
                </c:pt>
                <c:pt idx="61">
                  <c:v>401.3</c:v>
                </c:pt>
                <c:pt idx="62">
                  <c:v>402</c:v>
                </c:pt>
                <c:pt idx="63">
                  <c:v>383.1</c:v>
                </c:pt>
                <c:pt idx="64">
                  <c:v>297.35000000000002</c:v>
                </c:pt>
                <c:pt idx="65">
                  <c:v>358.85</c:v>
                </c:pt>
                <c:pt idx="66">
                  <c:v>345.35</c:v>
                </c:pt>
                <c:pt idx="67">
                  <c:v>340.9</c:v>
                </c:pt>
                <c:pt idx="68">
                  <c:v>359.8</c:v>
                </c:pt>
                <c:pt idx="69">
                  <c:v>376.65</c:v>
                </c:pt>
                <c:pt idx="70">
                  <c:v>398.8</c:v>
                </c:pt>
                <c:pt idx="71">
                  <c:v>374.75</c:v>
                </c:pt>
                <c:pt idx="72">
                  <c:v>370.7</c:v>
                </c:pt>
                <c:pt idx="73">
                  <c:v>340.6</c:v>
                </c:pt>
                <c:pt idx="74">
                  <c:v>341.45</c:v>
                </c:pt>
                <c:pt idx="75">
                  <c:v>358.65</c:v>
                </c:pt>
                <c:pt idx="76">
                  <c:v>327.2</c:v>
                </c:pt>
                <c:pt idx="77">
                  <c:v>332</c:v>
                </c:pt>
                <c:pt idx="78">
                  <c:v>313</c:v>
                </c:pt>
                <c:pt idx="79">
                  <c:v>312.85000000000002</c:v>
                </c:pt>
                <c:pt idx="80">
                  <c:v>323.2</c:v>
                </c:pt>
                <c:pt idx="81">
                  <c:v>326.55</c:v>
                </c:pt>
                <c:pt idx="82">
                  <c:v>318.89999999999998</c:v>
                </c:pt>
                <c:pt idx="83">
                  <c:v>318.39999999999998</c:v>
                </c:pt>
                <c:pt idx="84">
                  <c:v>311.14999999999998</c:v>
                </c:pt>
                <c:pt idx="85">
                  <c:v>297.89999999999998</c:v>
                </c:pt>
                <c:pt idx="86">
                  <c:v>246.9</c:v>
                </c:pt>
                <c:pt idx="87">
                  <c:v>227.15</c:v>
                </c:pt>
                <c:pt idx="88">
                  <c:v>249.45</c:v>
                </c:pt>
                <c:pt idx="89">
                  <c:v>265.39999999999998</c:v>
                </c:pt>
                <c:pt idx="90">
                  <c:v>275.95</c:v>
                </c:pt>
                <c:pt idx="91">
                  <c:v>263.89999999999998</c:v>
                </c:pt>
                <c:pt idx="92">
                  <c:v>262.95</c:v>
                </c:pt>
                <c:pt idx="93">
                  <c:v>264.05</c:v>
                </c:pt>
                <c:pt idx="94">
                  <c:v>305.25</c:v>
                </c:pt>
                <c:pt idx="95">
                  <c:v>298.60000000000002</c:v>
                </c:pt>
                <c:pt idx="96">
                  <c:v>298.5</c:v>
                </c:pt>
                <c:pt idx="97">
                  <c:v>310.45</c:v>
                </c:pt>
                <c:pt idx="98">
                  <c:v>308.7</c:v>
                </c:pt>
                <c:pt idx="99">
                  <c:v>302.25</c:v>
                </c:pt>
                <c:pt idx="100">
                  <c:v>296.45</c:v>
                </c:pt>
                <c:pt idx="101">
                  <c:v>324.64999999999998</c:v>
                </c:pt>
                <c:pt idx="102">
                  <c:v>318.7</c:v>
                </c:pt>
                <c:pt idx="103">
                  <c:v>313.55</c:v>
                </c:pt>
                <c:pt idx="104">
                  <c:v>300.10000000000002</c:v>
                </c:pt>
                <c:pt idx="105">
                  <c:v>307.95</c:v>
                </c:pt>
                <c:pt idx="106">
                  <c:v>311.55</c:v>
                </c:pt>
                <c:pt idx="107">
                  <c:v>314.39999999999998</c:v>
                </c:pt>
                <c:pt idx="108">
                  <c:v>307.85000000000002</c:v>
                </c:pt>
                <c:pt idx="109">
                  <c:v>311.3</c:v>
                </c:pt>
                <c:pt idx="110">
                  <c:v>297.5</c:v>
                </c:pt>
                <c:pt idx="111">
                  <c:v>303.55</c:v>
                </c:pt>
                <c:pt idx="112">
                  <c:v>302.14999999999998</c:v>
                </c:pt>
                <c:pt idx="113">
                  <c:v>303</c:v>
                </c:pt>
                <c:pt idx="114">
                  <c:v>294.45</c:v>
                </c:pt>
                <c:pt idx="115">
                  <c:v>287.25</c:v>
                </c:pt>
                <c:pt idx="116">
                  <c:v>275.3</c:v>
                </c:pt>
                <c:pt idx="117">
                  <c:v>293.14999999999998</c:v>
                </c:pt>
                <c:pt idx="118">
                  <c:v>283.7</c:v>
                </c:pt>
                <c:pt idx="119">
                  <c:v>262.25</c:v>
                </c:pt>
                <c:pt idx="120">
                  <c:v>260</c:v>
                </c:pt>
                <c:pt idx="121">
                  <c:v>273</c:v>
                </c:pt>
                <c:pt idx="122">
                  <c:v>289.2</c:v>
                </c:pt>
                <c:pt idx="123">
                  <c:v>283.35000000000002</c:v>
                </c:pt>
                <c:pt idx="124">
                  <c:v>272.8</c:v>
                </c:pt>
                <c:pt idx="125">
                  <c:v>267.10000000000002</c:v>
                </c:pt>
                <c:pt idx="126">
                  <c:v>276.89999999999998</c:v>
                </c:pt>
                <c:pt idx="127">
                  <c:v>257.89999999999998</c:v>
                </c:pt>
                <c:pt idx="128">
                  <c:v>256.75</c:v>
                </c:pt>
                <c:pt idx="129">
                  <c:v>246.8</c:v>
                </c:pt>
                <c:pt idx="130">
                  <c:v>241.55</c:v>
                </c:pt>
                <c:pt idx="131">
                  <c:v>242.55</c:v>
                </c:pt>
                <c:pt idx="132">
                  <c:v>245.2</c:v>
                </c:pt>
                <c:pt idx="133">
                  <c:v>245.7</c:v>
                </c:pt>
                <c:pt idx="134">
                  <c:v>269.3</c:v>
                </c:pt>
                <c:pt idx="135">
                  <c:v>260.5</c:v>
                </c:pt>
                <c:pt idx="136">
                  <c:v>258.10000000000002</c:v>
                </c:pt>
                <c:pt idx="137">
                  <c:v>255.7</c:v>
                </c:pt>
                <c:pt idx="138">
                  <c:v>236.15</c:v>
                </c:pt>
                <c:pt idx="139">
                  <c:v>239.6</c:v>
                </c:pt>
                <c:pt idx="140">
                  <c:v>242.15</c:v>
                </c:pt>
                <c:pt idx="141">
                  <c:v>219.8</c:v>
                </c:pt>
                <c:pt idx="142">
                  <c:v>263.25</c:v>
                </c:pt>
                <c:pt idx="143">
                  <c:v>260.8</c:v>
                </c:pt>
                <c:pt idx="144">
                  <c:v>273.45</c:v>
                </c:pt>
                <c:pt idx="145">
                  <c:v>287.3</c:v>
                </c:pt>
                <c:pt idx="146">
                  <c:v>292.5</c:v>
                </c:pt>
                <c:pt idx="147">
                  <c:v>292.64999999999998</c:v>
                </c:pt>
                <c:pt idx="148">
                  <c:v>289.89999999999998</c:v>
                </c:pt>
                <c:pt idx="149">
                  <c:v>300.5</c:v>
                </c:pt>
                <c:pt idx="150">
                  <c:v>293.5</c:v>
                </c:pt>
                <c:pt idx="151">
                  <c:v>296.35000000000002</c:v>
                </c:pt>
                <c:pt idx="152">
                  <c:v>291.45</c:v>
                </c:pt>
                <c:pt idx="153">
                  <c:v>292.7</c:v>
                </c:pt>
                <c:pt idx="154">
                  <c:v>268.39999999999998</c:v>
                </c:pt>
                <c:pt idx="155">
                  <c:v>285.05</c:v>
                </c:pt>
                <c:pt idx="156">
                  <c:v>284.10000000000002</c:v>
                </c:pt>
                <c:pt idx="157">
                  <c:v>294.89999999999998</c:v>
                </c:pt>
                <c:pt idx="158">
                  <c:v>294.75</c:v>
                </c:pt>
                <c:pt idx="159">
                  <c:v>281</c:v>
                </c:pt>
                <c:pt idx="160">
                  <c:v>279.55</c:v>
                </c:pt>
                <c:pt idx="161">
                  <c:v>282.85000000000002</c:v>
                </c:pt>
                <c:pt idx="162">
                  <c:v>278.10000000000002</c:v>
                </c:pt>
                <c:pt idx="163">
                  <c:v>300.14999999999998</c:v>
                </c:pt>
                <c:pt idx="164">
                  <c:v>282.3</c:v>
                </c:pt>
                <c:pt idx="165">
                  <c:v>271.2</c:v>
                </c:pt>
                <c:pt idx="166">
                  <c:v>274.45</c:v>
                </c:pt>
                <c:pt idx="167">
                  <c:v>259.55</c:v>
                </c:pt>
                <c:pt idx="168">
                  <c:v>267.35000000000002</c:v>
                </c:pt>
                <c:pt idx="169">
                  <c:v>274.60000000000002</c:v>
                </c:pt>
                <c:pt idx="170">
                  <c:v>293.60000000000002</c:v>
                </c:pt>
                <c:pt idx="171">
                  <c:v>312.5</c:v>
                </c:pt>
                <c:pt idx="172">
                  <c:v>308</c:v>
                </c:pt>
                <c:pt idx="173">
                  <c:v>324.89999999999998</c:v>
                </c:pt>
                <c:pt idx="174">
                  <c:v>325.14999999999998</c:v>
                </c:pt>
                <c:pt idx="175">
                  <c:v>330.75</c:v>
                </c:pt>
                <c:pt idx="176">
                  <c:v>334.1</c:v>
                </c:pt>
                <c:pt idx="177">
                  <c:v>338.8</c:v>
                </c:pt>
                <c:pt idx="178">
                  <c:v>341.8</c:v>
                </c:pt>
                <c:pt idx="179">
                  <c:v>357.9</c:v>
                </c:pt>
                <c:pt idx="180">
                  <c:v>355.55</c:v>
                </c:pt>
                <c:pt idx="181">
                  <c:v>358.6</c:v>
                </c:pt>
                <c:pt idx="182">
                  <c:v>381.7</c:v>
                </c:pt>
                <c:pt idx="183">
                  <c:v>400.7</c:v>
                </c:pt>
                <c:pt idx="184">
                  <c:v>419.85</c:v>
                </c:pt>
                <c:pt idx="185">
                  <c:v>419.15</c:v>
                </c:pt>
                <c:pt idx="186">
                  <c:v>404.05</c:v>
                </c:pt>
                <c:pt idx="187">
                  <c:v>426.3</c:v>
                </c:pt>
                <c:pt idx="188">
                  <c:v>457.5</c:v>
                </c:pt>
                <c:pt idx="189">
                  <c:v>481.05</c:v>
                </c:pt>
                <c:pt idx="190">
                  <c:v>481.8</c:v>
                </c:pt>
                <c:pt idx="191">
                  <c:v>475.4</c:v>
                </c:pt>
                <c:pt idx="192">
                  <c:v>486.45</c:v>
                </c:pt>
                <c:pt idx="193">
                  <c:v>482.15</c:v>
                </c:pt>
                <c:pt idx="194">
                  <c:v>464.9</c:v>
                </c:pt>
                <c:pt idx="195">
                  <c:v>450.8</c:v>
                </c:pt>
                <c:pt idx="196">
                  <c:v>487.05</c:v>
                </c:pt>
                <c:pt idx="197">
                  <c:v>493.05</c:v>
                </c:pt>
                <c:pt idx="198">
                  <c:v>491.3</c:v>
                </c:pt>
                <c:pt idx="199">
                  <c:v>520.70000000000005</c:v>
                </c:pt>
                <c:pt idx="200">
                  <c:v>537.25</c:v>
                </c:pt>
                <c:pt idx="201">
                  <c:v>580.04999999999995</c:v>
                </c:pt>
                <c:pt idx="202">
                  <c:v>571.25</c:v>
                </c:pt>
                <c:pt idx="203">
                  <c:v>584.75</c:v>
                </c:pt>
                <c:pt idx="204">
                  <c:v>580.65</c:v>
                </c:pt>
                <c:pt idx="205">
                  <c:v>571.4</c:v>
                </c:pt>
                <c:pt idx="206">
                  <c:v>587.29999999999995</c:v>
                </c:pt>
                <c:pt idx="207">
                  <c:v>604.85</c:v>
                </c:pt>
                <c:pt idx="208">
                  <c:v>555.20000000000005</c:v>
                </c:pt>
                <c:pt idx="209">
                  <c:v>573.65</c:v>
                </c:pt>
                <c:pt idx="210">
                  <c:v>565.85</c:v>
                </c:pt>
                <c:pt idx="211">
                  <c:v>519.1</c:v>
                </c:pt>
                <c:pt idx="212">
                  <c:v>514.04999999999995</c:v>
                </c:pt>
                <c:pt idx="213">
                  <c:v>555.85</c:v>
                </c:pt>
                <c:pt idx="214">
                  <c:v>572.95000000000005</c:v>
                </c:pt>
                <c:pt idx="215">
                  <c:v>564.85</c:v>
                </c:pt>
                <c:pt idx="216">
                  <c:v>567.29999999999995</c:v>
                </c:pt>
                <c:pt idx="217">
                  <c:v>528.45000000000005</c:v>
                </c:pt>
                <c:pt idx="218">
                  <c:v>519.20000000000005</c:v>
                </c:pt>
                <c:pt idx="219">
                  <c:v>404.3</c:v>
                </c:pt>
                <c:pt idx="220">
                  <c:v>453.85</c:v>
                </c:pt>
                <c:pt idx="221">
                  <c:v>429.8</c:v>
                </c:pt>
                <c:pt idx="222">
                  <c:v>444.8</c:v>
                </c:pt>
                <c:pt idx="223">
                  <c:v>434.9</c:v>
                </c:pt>
                <c:pt idx="224">
                  <c:v>434.5</c:v>
                </c:pt>
                <c:pt idx="225">
                  <c:v>441.7</c:v>
                </c:pt>
                <c:pt idx="226">
                  <c:v>430.45</c:v>
                </c:pt>
                <c:pt idx="227">
                  <c:v>436.75</c:v>
                </c:pt>
                <c:pt idx="228">
                  <c:v>423.8</c:v>
                </c:pt>
                <c:pt idx="229">
                  <c:v>477.3</c:v>
                </c:pt>
                <c:pt idx="230">
                  <c:v>494.1</c:v>
                </c:pt>
                <c:pt idx="231">
                  <c:v>492.2</c:v>
                </c:pt>
                <c:pt idx="232">
                  <c:v>478.85</c:v>
                </c:pt>
                <c:pt idx="233">
                  <c:v>451.25</c:v>
                </c:pt>
                <c:pt idx="234">
                  <c:v>467.2</c:v>
                </c:pt>
                <c:pt idx="235">
                  <c:v>477.1</c:v>
                </c:pt>
                <c:pt idx="236">
                  <c:v>490.95</c:v>
                </c:pt>
                <c:pt idx="237">
                  <c:v>502.05</c:v>
                </c:pt>
                <c:pt idx="238">
                  <c:v>495.4</c:v>
                </c:pt>
                <c:pt idx="239">
                  <c:v>546.20000000000005</c:v>
                </c:pt>
                <c:pt idx="240">
                  <c:v>553.75</c:v>
                </c:pt>
                <c:pt idx="241">
                  <c:v>550.70000000000005</c:v>
                </c:pt>
                <c:pt idx="242">
                  <c:v>551.75</c:v>
                </c:pt>
                <c:pt idx="243">
                  <c:v>543.4</c:v>
                </c:pt>
                <c:pt idx="244">
                  <c:v>540</c:v>
                </c:pt>
                <c:pt idx="245">
                  <c:v>543.75</c:v>
                </c:pt>
                <c:pt idx="246">
                  <c:v>515.15</c:v>
                </c:pt>
                <c:pt idx="247">
                  <c:v>542</c:v>
                </c:pt>
                <c:pt idx="248">
                  <c:v>512.20000000000005</c:v>
                </c:pt>
                <c:pt idx="249">
                  <c:v>491.1</c:v>
                </c:pt>
                <c:pt idx="250">
                  <c:v>506.3</c:v>
                </c:pt>
                <c:pt idx="251">
                  <c:v>523.1</c:v>
                </c:pt>
                <c:pt idx="252">
                  <c:v>526.20000000000005</c:v>
                </c:pt>
                <c:pt idx="253">
                  <c:v>520.1</c:v>
                </c:pt>
                <c:pt idx="254">
                  <c:v>511.5</c:v>
                </c:pt>
                <c:pt idx="255">
                  <c:v>532.29999999999995</c:v>
                </c:pt>
                <c:pt idx="256">
                  <c:v>530.35</c:v>
                </c:pt>
                <c:pt idx="257">
                  <c:v>543.54999999999995</c:v>
                </c:pt>
                <c:pt idx="258">
                  <c:v>534.5</c:v>
                </c:pt>
                <c:pt idx="259">
                  <c:v>556.25</c:v>
                </c:pt>
                <c:pt idx="260">
                  <c:v>586.9</c:v>
                </c:pt>
                <c:pt idx="261">
                  <c:v>579</c:v>
                </c:pt>
                <c:pt idx="262">
                  <c:v>559.70000000000005</c:v>
                </c:pt>
                <c:pt idx="263">
                  <c:v>549.15</c:v>
                </c:pt>
                <c:pt idx="264">
                  <c:v>556.04999999999995</c:v>
                </c:pt>
                <c:pt idx="265">
                  <c:v>548.70000000000005</c:v>
                </c:pt>
                <c:pt idx="266">
                  <c:v>530.04999999999995</c:v>
                </c:pt>
                <c:pt idx="267">
                  <c:v>539</c:v>
                </c:pt>
                <c:pt idx="268">
                  <c:v>541.35</c:v>
                </c:pt>
                <c:pt idx="269">
                  <c:v>542.5</c:v>
                </c:pt>
                <c:pt idx="270">
                  <c:v>529.6</c:v>
                </c:pt>
                <c:pt idx="271">
                  <c:v>530.65</c:v>
                </c:pt>
                <c:pt idx="272">
                  <c:v>541</c:v>
                </c:pt>
                <c:pt idx="273">
                  <c:v>547.85</c:v>
                </c:pt>
                <c:pt idx="274">
                  <c:v>574.04999999999995</c:v>
                </c:pt>
                <c:pt idx="275">
                  <c:v>646.15</c:v>
                </c:pt>
                <c:pt idx="276">
                  <c:v>629.54999999999995</c:v>
                </c:pt>
                <c:pt idx="277">
                  <c:v>638.04999999999995</c:v>
                </c:pt>
                <c:pt idx="278">
                  <c:v>638.29999999999995</c:v>
                </c:pt>
                <c:pt idx="279">
                  <c:v>664.65</c:v>
                </c:pt>
                <c:pt idx="280">
                  <c:v>691.15</c:v>
                </c:pt>
                <c:pt idx="281">
                  <c:v>714.5</c:v>
                </c:pt>
                <c:pt idx="282">
                  <c:v>719.45</c:v>
                </c:pt>
                <c:pt idx="283">
                  <c:v>708.35</c:v>
                </c:pt>
                <c:pt idx="284">
                  <c:v>696.35</c:v>
                </c:pt>
                <c:pt idx="285">
                  <c:v>726.7</c:v>
                </c:pt>
                <c:pt idx="286">
                  <c:v>741.65</c:v>
                </c:pt>
                <c:pt idx="287">
                  <c:v>764.05</c:v>
                </c:pt>
                <c:pt idx="288">
                  <c:v>747.75</c:v>
                </c:pt>
                <c:pt idx="289">
                  <c:v>793.55</c:v>
                </c:pt>
                <c:pt idx="290">
                  <c:v>788.4</c:v>
                </c:pt>
                <c:pt idx="291">
                  <c:v>771</c:v>
                </c:pt>
                <c:pt idx="292">
                  <c:v>757.1</c:v>
                </c:pt>
                <c:pt idx="293">
                  <c:v>762.5</c:v>
                </c:pt>
                <c:pt idx="294">
                  <c:v>791.15</c:v>
                </c:pt>
                <c:pt idx="295">
                  <c:v>829.3</c:v>
                </c:pt>
                <c:pt idx="296">
                  <c:v>844.1</c:v>
                </c:pt>
                <c:pt idx="297">
                  <c:v>832.7</c:v>
                </c:pt>
                <c:pt idx="298">
                  <c:v>843.45</c:v>
                </c:pt>
                <c:pt idx="299">
                  <c:v>861.95</c:v>
                </c:pt>
                <c:pt idx="300">
                  <c:v>860.15</c:v>
                </c:pt>
                <c:pt idx="301">
                  <c:v>872.5</c:v>
                </c:pt>
                <c:pt idx="302">
                  <c:v>929.85</c:v>
                </c:pt>
                <c:pt idx="303">
                  <c:v>886.85</c:v>
                </c:pt>
                <c:pt idx="304">
                  <c:v>704.5</c:v>
                </c:pt>
                <c:pt idx="305">
                  <c:v>698.65</c:v>
                </c:pt>
                <c:pt idx="306">
                  <c:v>696.6</c:v>
                </c:pt>
                <c:pt idx="307">
                  <c:v>716.8</c:v>
                </c:pt>
                <c:pt idx="308">
                  <c:v>702.05</c:v>
                </c:pt>
                <c:pt idx="309">
                  <c:v>700.1</c:v>
                </c:pt>
                <c:pt idx="310">
                  <c:v>732.2</c:v>
                </c:pt>
                <c:pt idx="311">
                  <c:v>735.35</c:v>
                </c:pt>
                <c:pt idx="312">
                  <c:v>780.45</c:v>
                </c:pt>
                <c:pt idx="313">
                  <c:v>790.85</c:v>
                </c:pt>
                <c:pt idx="314">
                  <c:v>836.75</c:v>
                </c:pt>
                <c:pt idx="315">
                  <c:v>846.5</c:v>
                </c:pt>
                <c:pt idx="316">
                  <c:v>974.95</c:v>
                </c:pt>
                <c:pt idx="317">
                  <c:v>1008.9</c:v>
                </c:pt>
                <c:pt idx="318">
                  <c:v>1099.25</c:v>
                </c:pt>
                <c:pt idx="319">
                  <c:v>1066.8499999999999</c:v>
                </c:pt>
                <c:pt idx="320">
                  <c:v>978.1</c:v>
                </c:pt>
                <c:pt idx="321">
                  <c:v>958.5</c:v>
                </c:pt>
                <c:pt idx="322">
                  <c:v>958.1</c:v>
                </c:pt>
                <c:pt idx="323">
                  <c:v>922.75</c:v>
                </c:pt>
                <c:pt idx="324">
                  <c:v>921.6</c:v>
                </c:pt>
                <c:pt idx="325">
                  <c:v>1011.9</c:v>
                </c:pt>
                <c:pt idx="326">
                  <c:v>1008.35</c:v>
                </c:pt>
                <c:pt idx="327">
                  <c:v>1083.25</c:v>
                </c:pt>
                <c:pt idx="328">
                  <c:v>1075.45</c:v>
                </c:pt>
                <c:pt idx="329">
                  <c:v>995.4</c:v>
                </c:pt>
                <c:pt idx="330">
                  <c:v>1000.1</c:v>
                </c:pt>
                <c:pt idx="331">
                  <c:v>988</c:v>
                </c:pt>
                <c:pt idx="332">
                  <c:v>978.95</c:v>
                </c:pt>
                <c:pt idx="333">
                  <c:v>1055.9000000000001</c:v>
                </c:pt>
                <c:pt idx="334">
                  <c:v>1110.6500000000001</c:v>
                </c:pt>
                <c:pt idx="335">
                  <c:v>1122.5</c:v>
                </c:pt>
                <c:pt idx="336">
                  <c:v>1130.8</c:v>
                </c:pt>
                <c:pt idx="337">
                  <c:v>1140.5999999999999</c:v>
                </c:pt>
                <c:pt idx="338">
                  <c:v>1156</c:v>
                </c:pt>
                <c:pt idx="339">
                  <c:v>1171.75</c:v>
                </c:pt>
                <c:pt idx="340">
                  <c:v>1153.45</c:v>
                </c:pt>
                <c:pt idx="341">
                  <c:v>1213.4000000000001</c:v>
                </c:pt>
                <c:pt idx="342">
                  <c:v>1201.2</c:v>
                </c:pt>
                <c:pt idx="343">
                  <c:v>1226</c:v>
                </c:pt>
                <c:pt idx="344">
                  <c:v>1291.3</c:v>
                </c:pt>
                <c:pt idx="345">
                  <c:v>1279.4000000000001</c:v>
                </c:pt>
                <c:pt idx="346">
                  <c:v>1274.05</c:v>
                </c:pt>
                <c:pt idx="347">
                  <c:v>1250.7</c:v>
                </c:pt>
                <c:pt idx="348">
                  <c:v>1279.55</c:v>
                </c:pt>
                <c:pt idx="349">
                  <c:v>1205.4000000000001</c:v>
                </c:pt>
                <c:pt idx="350">
                  <c:v>1253.55</c:v>
                </c:pt>
                <c:pt idx="351">
                  <c:v>1293.3499999999999</c:v>
                </c:pt>
                <c:pt idx="352">
                  <c:v>1280.5</c:v>
                </c:pt>
                <c:pt idx="353">
                  <c:v>1296.5</c:v>
                </c:pt>
                <c:pt idx="354">
                  <c:v>1367.4</c:v>
                </c:pt>
                <c:pt idx="355">
                  <c:v>1370.6</c:v>
                </c:pt>
                <c:pt idx="356">
                  <c:v>1387.35</c:v>
                </c:pt>
                <c:pt idx="357">
                  <c:v>1358.95</c:v>
                </c:pt>
                <c:pt idx="358">
                  <c:v>1414.6</c:v>
                </c:pt>
                <c:pt idx="359">
                  <c:v>1405.45</c:v>
                </c:pt>
                <c:pt idx="360">
                  <c:v>1297.8499999999999</c:v>
                </c:pt>
                <c:pt idx="361">
                  <c:v>1326.75</c:v>
                </c:pt>
                <c:pt idx="362">
                  <c:v>1322.95</c:v>
                </c:pt>
                <c:pt idx="363">
                  <c:v>1350</c:v>
                </c:pt>
                <c:pt idx="364">
                  <c:v>1363.25</c:v>
                </c:pt>
                <c:pt idx="365">
                  <c:v>1387.5</c:v>
                </c:pt>
                <c:pt idx="366">
                  <c:v>1492.35</c:v>
                </c:pt>
                <c:pt idx="367">
                  <c:v>1596.85</c:v>
                </c:pt>
                <c:pt idx="368">
                  <c:v>1606.5</c:v>
                </c:pt>
                <c:pt idx="369">
                  <c:v>1620.25</c:v>
                </c:pt>
                <c:pt idx="370">
                  <c:v>1760.95</c:v>
                </c:pt>
                <c:pt idx="371">
                  <c:v>1723.9</c:v>
                </c:pt>
                <c:pt idx="372">
                  <c:v>1741.95</c:v>
                </c:pt>
                <c:pt idx="373">
                  <c:v>1666.15</c:v>
                </c:pt>
                <c:pt idx="374">
                  <c:v>1671.6</c:v>
                </c:pt>
                <c:pt idx="375">
                  <c:v>1709.15</c:v>
                </c:pt>
                <c:pt idx="376">
                  <c:v>1684.3</c:v>
                </c:pt>
                <c:pt idx="377">
                  <c:v>1710.95</c:v>
                </c:pt>
                <c:pt idx="378">
                  <c:v>1776.7</c:v>
                </c:pt>
                <c:pt idx="379">
                  <c:v>1909.2</c:v>
                </c:pt>
                <c:pt idx="380">
                  <c:v>1848.75</c:v>
                </c:pt>
                <c:pt idx="381">
                  <c:v>1780.15</c:v>
                </c:pt>
                <c:pt idx="382">
                  <c:v>1829.2</c:v>
                </c:pt>
                <c:pt idx="383">
                  <c:v>1746.85</c:v>
                </c:pt>
                <c:pt idx="384">
                  <c:v>1882.5</c:v>
                </c:pt>
                <c:pt idx="385">
                  <c:v>1972.9</c:v>
                </c:pt>
                <c:pt idx="386">
                  <c:v>1990.1</c:v>
                </c:pt>
                <c:pt idx="387">
                  <c:v>2058.0500000000002</c:v>
                </c:pt>
                <c:pt idx="388">
                  <c:v>2399.6</c:v>
                </c:pt>
                <c:pt idx="389">
                  <c:v>2395.9</c:v>
                </c:pt>
                <c:pt idx="390">
                  <c:v>2618.4</c:v>
                </c:pt>
                <c:pt idx="391">
                  <c:v>2687.55</c:v>
                </c:pt>
                <c:pt idx="392">
                  <c:v>2615.0500000000002</c:v>
                </c:pt>
                <c:pt idx="393">
                  <c:v>2783.8</c:v>
                </c:pt>
                <c:pt idx="394">
                  <c:v>2770.9</c:v>
                </c:pt>
                <c:pt idx="395">
                  <c:v>2888.45</c:v>
                </c:pt>
                <c:pt idx="396">
                  <c:v>2709.5</c:v>
                </c:pt>
                <c:pt idx="397">
                  <c:v>2792.3</c:v>
                </c:pt>
                <c:pt idx="398">
                  <c:v>2901.4</c:v>
                </c:pt>
                <c:pt idx="399">
                  <c:v>2880.9</c:v>
                </c:pt>
                <c:pt idx="400">
                  <c:v>2703.8</c:v>
                </c:pt>
                <c:pt idx="401">
                  <c:v>2894.85</c:v>
                </c:pt>
                <c:pt idx="402">
                  <c:v>2993</c:v>
                </c:pt>
                <c:pt idx="403">
                  <c:v>3127.6</c:v>
                </c:pt>
                <c:pt idx="404">
                  <c:v>2799.6</c:v>
                </c:pt>
                <c:pt idx="405">
                  <c:v>2615.4</c:v>
                </c:pt>
                <c:pt idx="406">
                  <c:v>2542.75</c:v>
                </c:pt>
                <c:pt idx="407">
                  <c:v>2426.4</c:v>
                </c:pt>
                <c:pt idx="408">
                  <c:v>2593.9499999999998</c:v>
                </c:pt>
                <c:pt idx="409">
                  <c:v>2434.4499999999998</c:v>
                </c:pt>
                <c:pt idx="410">
                  <c:v>2463.4499999999998</c:v>
                </c:pt>
                <c:pt idx="411">
                  <c:v>2274.5500000000002</c:v>
                </c:pt>
                <c:pt idx="412">
                  <c:v>2180.1999999999998</c:v>
                </c:pt>
                <c:pt idx="413">
                  <c:v>2299.4499999999998</c:v>
                </c:pt>
                <c:pt idx="414">
                  <c:v>2343.5500000000002</c:v>
                </c:pt>
                <c:pt idx="415">
                  <c:v>2418.25</c:v>
                </c:pt>
                <c:pt idx="416">
                  <c:v>2640.05</c:v>
                </c:pt>
                <c:pt idx="417">
                  <c:v>2624.5</c:v>
                </c:pt>
                <c:pt idx="418">
                  <c:v>2669.2</c:v>
                </c:pt>
                <c:pt idx="419">
                  <c:v>2553.85</c:v>
                </c:pt>
                <c:pt idx="420">
                  <c:v>2602.9499999999998</c:v>
                </c:pt>
                <c:pt idx="421">
                  <c:v>2495.1</c:v>
                </c:pt>
                <c:pt idx="422">
                  <c:v>2406.65</c:v>
                </c:pt>
                <c:pt idx="423">
                  <c:v>2197.75</c:v>
                </c:pt>
                <c:pt idx="424">
                  <c:v>2332.9</c:v>
                </c:pt>
                <c:pt idx="425">
                  <c:v>2062.6999999999998</c:v>
                </c:pt>
                <c:pt idx="426">
                  <c:v>2044.15</c:v>
                </c:pt>
                <c:pt idx="427">
                  <c:v>1979.45</c:v>
                </c:pt>
                <c:pt idx="428">
                  <c:v>1977.4</c:v>
                </c:pt>
                <c:pt idx="429">
                  <c:v>2152.15</c:v>
                </c:pt>
                <c:pt idx="430">
                  <c:v>2083.1</c:v>
                </c:pt>
                <c:pt idx="431">
                  <c:v>2276.0500000000002</c:v>
                </c:pt>
                <c:pt idx="432">
                  <c:v>2347.25</c:v>
                </c:pt>
                <c:pt idx="433">
                  <c:v>2246.35</c:v>
                </c:pt>
                <c:pt idx="434">
                  <c:v>2148</c:v>
                </c:pt>
                <c:pt idx="435">
                  <c:v>2152.25</c:v>
                </c:pt>
                <c:pt idx="436">
                  <c:v>1997.4</c:v>
                </c:pt>
                <c:pt idx="437">
                  <c:v>1938.25</c:v>
                </c:pt>
                <c:pt idx="438">
                  <c:v>2025.7</c:v>
                </c:pt>
                <c:pt idx="439">
                  <c:v>1761.45</c:v>
                </c:pt>
                <c:pt idx="440">
                  <c:v>1571.4</c:v>
                </c:pt>
                <c:pt idx="441">
                  <c:v>1320.9</c:v>
                </c:pt>
                <c:pt idx="442">
                  <c:v>1077</c:v>
                </c:pt>
                <c:pt idx="443">
                  <c:v>1451.6</c:v>
                </c:pt>
                <c:pt idx="444">
                  <c:v>1207.7</c:v>
                </c:pt>
                <c:pt idx="445">
                  <c:v>1132.45</c:v>
                </c:pt>
                <c:pt idx="446">
                  <c:v>1138.9000000000001</c:v>
                </c:pt>
                <c:pt idx="447">
                  <c:v>1159.0999999999999</c:v>
                </c:pt>
                <c:pt idx="448">
                  <c:v>1307.0999999999999</c:v>
                </c:pt>
                <c:pt idx="449">
                  <c:v>1351.3</c:v>
                </c:pt>
                <c:pt idx="450">
                  <c:v>1246.3</c:v>
                </c:pt>
                <c:pt idx="451">
                  <c:v>1365.85</c:v>
                </c:pt>
                <c:pt idx="452">
                  <c:v>1077.55</c:v>
                </c:pt>
                <c:pt idx="453">
                  <c:v>1183.6500000000001</c:v>
                </c:pt>
                <c:pt idx="454">
                  <c:v>1274</c:v>
                </c:pt>
                <c:pt idx="455">
                  <c:v>1307.5</c:v>
                </c:pt>
                <c:pt idx="456">
                  <c:v>1381.25</c:v>
                </c:pt>
                <c:pt idx="457">
                  <c:v>1295.1500000000001</c:v>
                </c:pt>
                <c:pt idx="458">
                  <c:v>1290.8</c:v>
                </c:pt>
                <c:pt idx="459">
                  <c:v>1149.8</c:v>
                </c:pt>
                <c:pt idx="460">
                  <c:v>1327.6</c:v>
                </c:pt>
                <c:pt idx="461">
                  <c:v>1438.45</c:v>
                </c:pt>
                <c:pt idx="462">
                  <c:v>1516.45</c:v>
                </c:pt>
                <c:pt idx="463">
                  <c:v>1725.15</c:v>
                </c:pt>
                <c:pt idx="464">
                  <c:v>1716.95</c:v>
                </c:pt>
                <c:pt idx="465">
                  <c:v>1788.85</c:v>
                </c:pt>
                <c:pt idx="466">
                  <c:v>1883.65</c:v>
                </c:pt>
                <c:pt idx="467">
                  <c:v>1959.9</c:v>
                </c:pt>
                <c:pt idx="468">
                  <c:v>2230.9</c:v>
                </c:pt>
                <c:pt idx="469">
                  <c:v>2142.6999999999998</c:v>
                </c:pt>
                <c:pt idx="470">
                  <c:v>2279.1999999999998</c:v>
                </c:pt>
                <c:pt idx="471">
                  <c:v>2272.15</c:v>
                </c:pt>
                <c:pt idx="472">
                  <c:v>2143.35</c:v>
                </c:pt>
                <c:pt idx="473">
                  <c:v>2015.3</c:v>
                </c:pt>
                <c:pt idx="474">
                  <c:v>2023.4</c:v>
                </c:pt>
                <c:pt idx="475">
                  <c:v>1855.45</c:v>
                </c:pt>
                <c:pt idx="476">
                  <c:v>1814.05</c:v>
                </c:pt>
                <c:pt idx="477">
                  <c:v>2018.65</c:v>
                </c:pt>
                <c:pt idx="478">
                  <c:v>1907.6</c:v>
                </c:pt>
                <c:pt idx="479">
                  <c:v>2039.75</c:v>
                </c:pt>
                <c:pt idx="480">
                  <c:v>2000.4</c:v>
                </c:pt>
                <c:pt idx="481">
                  <c:v>1941.2</c:v>
                </c:pt>
                <c:pt idx="482">
                  <c:v>2025.65</c:v>
                </c:pt>
                <c:pt idx="483">
                  <c:v>1980.85</c:v>
                </c:pt>
                <c:pt idx="484">
                  <c:v>2075.6</c:v>
                </c:pt>
                <c:pt idx="485">
                  <c:v>2180.9</c:v>
                </c:pt>
                <c:pt idx="486">
                  <c:v>2101.6999999999998</c:v>
                </c:pt>
                <c:pt idx="487">
                  <c:v>2174.35</c:v>
                </c:pt>
                <c:pt idx="488">
                  <c:v>2099.75</c:v>
                </c:pt>
                <c:pt idx="489">
                  <c:v>2225.1999999999998</c:v>
                </c:pt>
                <c:pt idx="490">
                  <c:v>2015.35</c:v>
                </c:pt>
                <c:pt idx="491">
                  <c:v>1818.55</c:v>
                </c:pt>
                <c:pt idx="492">
                  <c:v>2054.5</c:v>
                </c:pt>
                <c:pt idx="493">
                  <c:v>2132.35</c:v>
                </c:pt>
                <c:pt idx="494">
                  <c:v>2177.1999999999998</c:v>
                </c:pt>
                <c:pt idx="495">
                  <c:v>1098</c:v>
                </c:pt>
                <c:pt idx="496">
                  <c:v>1080.3499999999999</c:v>
                </c:pt>
                <c:pt idx="497">
                  <c:v>1051.5999999999999</c:v>
                </c:pt>
                <c:pt idx="498">
                  <c:v>1019.2</c:v>
                </c:pt>
                <c:pt idx="499">
                  <c:v>1090.55</c:v>
                </c:pt>
                <c:pt idx="500">
                  <c:v>1103.1500000000001</c:v>
                </c:pt>
                <c:pt idx="501">
                  <c:v>1110.75</c:v>
                </c:pt>
                <c:pt idx="502">
                  <c:v>1053.8499999999999</c:v>
                </c:pt>
                <c:pt idx="503">
                  <c:v>1045.4000000000001</c:v>
                </c:pt>
                <c:pt idx="504">
                  <c:v>993.75</c:v>
                </c:pt>
                <c:pt idx="505">
                  <c:v>1010</c:v>
                </c:pt>
                <c:pt idx="506">
                  <c:v>977.95</c:v>
                </c:pt>
                <c:pt idx="507">
                  <c:v>983.2</c:v>
                </c:pt>
                <c:pt idx="508">
                  <c:v>990.35</c:v>
                </c:pt>
                <c:pt idx="509">
                  <c:v>1067.95</c:v>
                </c:pt>
                <c:pt idx="510">
                  <c:v>1091.4000000000001</c:v>
                </c:pt>
                <c:pt idx="511">
                  <c:v>1074.25</c:v>
                </c:pt>
                <c:pt idx="512">
                  <c:v>1106.55</c:v>
                </c:pt>
                <c:pt idx="513">
                  <c:v>1084.25</c:v>
                </c:pt>
                <c:pt idx="514">
                  <c:v>1088.2</c:v>
                </c:pt>
                <c:pt idx="515">
                  <c:v>1033.5999999999999</c:v>
                </c:pt>
                <c:pt idx="516">
                  <c:v>1032.8</c:v>
                </c:pt>
                <c:pt idx="517">
                  <c:v>1043.6500000000001</c:v>
                </c:pt>
                <c:pt idx="518">
                  <c:v>995.55</c:v>
                </c:pt>
                <c:pt idx="519">
                  <c:v>1036.6500000000001</c:v>
                </c:pt>
                <c:pt idx="520">
                  <c:v>1031.2</c:v>
                </c:pt>
                <c:pt idx="521">
                  <c:v>1046.4000000000001</c:v>
                </c:pt>
                <c:pt idx="522">
                  <c:v>1054.3499999999999</c:v>
                </c:pt>
                <c:pt idx="523">
                  <c:v>1062.95</c:v>
                </c:pt>
                <c:pt idx="524">
                  <c:v>1068.95</c:v>
                </c:pt>
                <c:pt idx="525">
                  <c:v>1057.6500000000001</c:v>
                </c:pt>
                <c:pt idx="526">
                  <c:v>1062.95</c:v>
                </c:pt>
                <c:pt idx="527">
                  <c:v>1060.45</c:v>
                </c:pt>
                <c:pt idx="528">
                  <c:v>1009.65</c:v>
                </c:pt>
                <c:pt idx="529">
                  <c:v>1000.1</c:v>
                </c:pt>
                <c:pt idx="530">
                  <c:v>979.1</c:v>
                </c:pt>
                <c:pt idx="531">
                  <c:v>988.65</c:v>
                </c:pt>
                <c:pt idx="532">
                  <c:v>949.6</c:v>
                </c:pt>
                <c:pt idx="533">
                  <c:v>925.7</c:v>
                </c:pt>
                <c:pt idx="534">
                  <c:v>992.5</c:v>
                </c:pt>
                <c:pt idx="535">
                  <c:v>1041.4000000000001</c:v>
                </c:pt>
                <c:pt idx="536">
                  <c:v>1010.2</c:v>
                </c:pt>
                <c:pt idx="537">
                  <c:v>1017.85</c:v>
                </c:pt>
                <c:pt idx="538">
                  <c:v>1069.2</c:v>
                </c:pt>
                <c:pt idx="539">
                  <c:v>1047.45</c:v>
                </c:pt>
                <c:pt idx="540">
                  <c:v>1090.3499999999999</c:v>
                </c:pt>
                <c:pt idx="541">
                  <c:v>1093.2</c:v>
                </c:pt>
                <c:pt idx="542">
                  <c:v>1111.8499999999999</c:v>
                </c:pt>
                <c:pt idx="543">
                  <c:v>1054.7</c:v>
                </c:pt>
                <c:pt idx="544">
                  <c:v>995.6</c:v>
                </c:pt>
                <c:pt idx="545">
                  <c:v>985.6</c:v>
                </c:pt>
                <c:pt idx="546">
                  <c:v>1030.75</c:v>
                </c:pt>
                <c:pt idx="547">
                  <c:v>1055.25</c:v>
                </c:pt>
                <c:pt idx="548">
                  <c:v>1056.05</c:v>
                </c:pt>
                <c:pt idx="549">
                  <c:v>1048.5999999999999</c:v>
                </c:pt>
                <c:pt idx="550">
                  <c:v>1075.8</c:v>
                </c:pt>
                <c:pt idx="551">
                  <c:v>1030.8</c:v>
                </c:pt>
                <c:pt idx="552">
                  <c:v>980.15</c:v>
                </c:pt>
                <c:pt idx="553">
                  <c:v>942.7</c:v>
                </c:pt>
                <c:pt idx="554">
                  <c:v>943.9</c:v>
                </c:pt>
                <c:pt idx="555">
                  <c:v>899.65</c:v>
                </c:pt>
                <c:pt idx="556">
                  <c:v>953.95</c:v>
                </c:pt>
                <c:pt idx="557">
                  <c:v>964.2</c:v>
                </c:pt>
                <c:pt idx="558">
                  <c:v>982.2</c:v>
                </c:pt>
                <c:pt idx="559">
                  <c:v>992.05</c:v>
                </c:pt>
                <c:pt idx="560">
                  <c:v>993</c:v>
                </c:pt>
                <c:pt idx="561">
                  <c:v>1026.5999999999999</c:v>
                </c:pt>
                <c:pt idx="562">
                  <c:v>1036.4000000000001</c:v>
                </c:pt>
                <c:pt idx="563">
                  <c:v>1023.9</c:v>
                </c:pt>
                <c:pt idx="564">
                  <c:v>1011.65</c:v>
                </c:pt>
                <c:pt idx="565">
                  <c:v>986.1</c:v>
                </c:pt>
                <c:pt idx="566">
                  <c:v>947.65</c:v>
                </c:pt>
                <c:pt idx="567">
                  <c:v>955.45</c:v>
                </c:pt>
                <c:pt idx="568">
                  <c:v>901.85</c:v>
                </c:pt>
                <c:pt idx="569">
                  <c:v>906</c:v>
                </c:pt>
                <c:pt idx="570">
                  <c:v>946.8</c:v>
                </c:pt>
                <c:pt idx="571">
                  <c:v>949.2</c:v>
                </c:pt>
                <c:pt idx="572">
                  <c:v>900.55</c:v>
                </c:pt>
                <c:pt idx="573">
                  <c:v>845.8</c:v>
                </c:pt>
                <c:pt idx="574">
                  <c:v>885.25</c:v>
                </c:pt>
                <c:pt idx="575">
                  <c:v>852.9</c:v>
                </c:pt>
                <c:pt idx="576">
                  <c:v>865.45</c:v>
                </c:pt>
                <c:pt idx="577">
                  <c:v>876.2</c:v>
                </c:pt>
                <c:pt idx="578">
                  <c:v>860.85</c:v>
                </c:pt>
                <c:pt idx="579">
                  <c:v>825.05</c:v>
                </c:pt>
                <c:pt idx="580">
                  <c:v>772.75</c:v>
                </c:pt>
                <c:pt idx="581">
                  <c:v>741.2</c:v>
                </c:pt>
                <c:pt idx="582">
                  <c:v>753.5</c:v>
                </c:pt>
                <c:pt idx="583">
                  <c:v>788.85</c:v>
                </c:pt>
                <c:pt idx="584">
                  <c:v>806.3</c:v>
                </c:pt>
                <c:pt idx="585">
                  <c:v>821.55</c:v>
                </c:pt>
                <c:pt idx="586">
                  <c:v>759.2</c:v>
                </c:pt>
                <c:pt idx="587">
                  <c:v>788.2</c:v>
                </c:pt>
                <c:pt idx="588">
                  <c:v>827</c:v>
                </c:pt>
                <c:pt idx="589">
                  <c:v>819.9</c:v>
                </c:pt>
                <c:pt idx="590">
                  <c:v>875.95</c:v>
                </c:pt>
                <c:pt idx="591">
                  <c:v>871.8</c:v>
                </c:pt>
                <c:pt idx="592">
                  <c:v>885.35</c:v>
                </c:pt>
                <c:pt idx="593">
                  <c:v>808.1</c:v>
                </c:pt>
                <c:pt idx="594">
                  <c:v>753.8</c:v>
                </c:pt>
                <c:pt idx="595">
                  <c:v>812.05</c:v>
                </c:pt>
                <c:pt idx="596">
                  <c:v>727.5</c:v>
                </c:pt>
                <c:pt idx="597">
                  <c:v>735.3</c:v>
                </c:pt>
                <c:pt idx="598">
                  <c:v>761</c:v>
                </c:pt>
                <c:pt idx="599">
                  <c:v>706.55</c:v>
                </c:pt>
                <c:pt idx="600">
                  <c:v>714.75</c:v>
                </c:pt>
                <c:pt idx="601">
                  <c:v>731.8</c:v>
                </c:pt>
                <c:pt idx="602">
                  <c:v>792.65</c:v>
                </c:pt>
                <c:pt idx="603">
                  <c:v>794.75</c:v>
                </c:pt>
                <c:pt idx="604">
                  <c:v>833</c:v>
                </c:pt>
                <c:pt idx="605">
                  <c:v>849.25</c:v>
                </c:pt>
                <c:pt idx="606">
                  <c:v>843.55</c:v>
                </c:pt>
                <c:pt idx="607">
                  <c:v>796.5</c:v>
                </c:pt>
                <c:pt idx="608">
                  <c:v>797.5</c:v>
                </c:pt>
                <c:pt idx="609">
                  <c:v>819.95</c:v>
                </c:pt>
                <c:pt idx="610">
                  <c:v>760.55</c:v>
                </c:pt>
                <c:pt idx="611">
                  <c:v>731.05</c:v>
                </c:pt>
                <c:pt idx="612">
                  <c:v>752.7</c:v>
                </c:pt>
                <c:pt idx="613">
                  <c:v>743.3</c:v>
                </c:pt>
                <c:pt idx="614">
                  <c:v>741.65</c:v>
                </c:pt>
                <c:pt idx="615">
                  <c:v>745.05</c:v>
                </c:pt>
                <c:pt idx="616">
                  <c:v>738.85</c:v>
                </c:pt>
                <c:pt idx="617">
                  <c:v>694.15</c:v>
                </c:pt>
                <c:pt idx="618">
                  <c:v>685.15</c:v>
                </c:pt>
                <c:pt idx="619">
                  <c:v>695.3</c:v>
                </c:pt>
                <c:pt idx="620">
                  <c:v>705.6</c:v>
                </c:pt>
                <c:pt idx="621">
                  <c:v>721.25</c:v>
                </c:pt>
                <c:pt idx="622">
                  <c:v>716.35</c:v>
                </c:pt>
                <c:pt idx="623">
                  <c:v>718.7</c:v>
                </c:pt>
                <c:pt idx="624">
                  <c:v>719.9</c:v>
                </c:pt>
                <c:pt idx="625">
                  <c:v>738.7</c:v>
                </c:pt>
                <c:pt idx="626">
                  <c:v>721.2</c:v>
                </c:pt>
                <c:pt idx="627">
                  <c:v>727.8</c:v>
                </c:pt>
                <c:pt idx="628">
                  <c:v>710.15</c:v>
                </c:pt>
                <c:pt idx="629">
                  <c:v>739.55</c:v>
                </c:pt>
                <c:pt idx="630">
                  <c:v>780.15</c:v>
                </c:pt>
                <c:pt idx="631">
                  <c:v>816.1</c:v>
                </c:pt>
                <c:pt idx="632">
                  <c:v>787.35</c:v>
                </c:pt>
                <c:pt idx="633">
                  <c:v>763.05</c:v>
                </c:pt>
                <c:pt idx="634">
                  <c:v>796</c:v>
                </c:pt>
                <c:pt idx="635">
                  <c:v>841.75</c:v>
                </c:pt>
                <c:pt idx="636">
                  <c:v>836.35</c:v>
                </c:pt>
                <c:pt idx="637">
                  <c:v>833.5</c:v>
                </c:pt>
                <c:pt idx="638">
                  <c:v>815.3</c:v>
                </c:pt>
                <c:pt idx="639">
                  <c:v>812.45</c:v>
                </c:pt>
                <c:pt idx="640">
                  <c:v>809.95</c:v>
                </c:pt>
                <c:pt idx="641">
                  <c:v>805.5</c:v>
                </c:pt>
                <c:pt idx="642">
                  <c:v>800.85</c:v>
                </c:pt>
                <c:pt idx="643">
                  <c:v>784.6</c:v>
                </c:pt>
                <c:pt idx="644">
                  <c:v>765.85</c:v>
                </c:pt>
                <c:pt idx="645">
                  <c:v>793.7</c:v>
                </c:pt>
                <c:pt idx="646">
                  <c:v>834.6</c:v>
                </c:pt>
                <c:pt idx="647">
                  <c:v>839.25</c:v>
                </c:pt>
                <c:pt idx="648">
                  <c:v>825.25</c:v>
                </c:pt>
                <c:pt idx="649">
                  <c:v>839.55</c:v>
                </c:pt>
                <c:pt idx="650">
                  <c:v>856.6</c:v>
                </c:pt>
                <c:pt idx="651">
                  <c:v>847.55</c:v>
                </c:pt>
                <c:pt idx="652">
                  <c:v>919.95</c:v>
                </c:pt>
                <c:pt idx="653">
                  <c:v>897.55</c:v>
                </c:pt>
                <c:pt idx="654">
                  <c:v>886.7</c:v>
                </c:pt>
                <c:pt idx="655">
                  <c:v>868.4</c:v>
                </c:pt>
                <c:pt idx="656">
                  <c:v>847.5</c:v>
                </c:pt>
                <c:pt idx="657">
                  <c:v>854.35</c:v>
                </c:pt>
                <c:pt idx="658">
                  <c:v>812.6</c:v>
                </c:pt>
                <c:pt idx="659">
                  <c:v>844.5</c:v>
                </c:pt>
                <c:pt idx="660">
                  <c:v>834.3</c:v>
                </c:pt>
                <c:pt idx="661">
                  <c:v>809.25</c:v>
                </c:pt>
                <c:pt idx="662">
                  <c:v>776.55</c:v>
                </c:pt>
                <c:pt idx="663">
                  <c:v>779.4</c:v>
                </c:pt>
                <c:pt idx="664">
                  <c:v>773.7</c:v>
                </c:pt>
                <c:pt idx="665">
                  <c:v>792.4</c:v>
                </c:pt>
                <c:pt idx="666">
                  <c:v>821.6</c:v>
                </c:pt>
                <c:pt idx="667">
                  <c:v>814.1</c:v>
                </c:pt>
                <c:pt idx="668">
                  <c:v>835.5</c:v>
                </c:pt>
                <c:pt idx="669">
                  <c:v>786.45</c:v>
                </c:pt>
                <c:pt idx="670">
                  <c:v>806.3</c:v>
                </c:pt>
                <c:pt idx="671">
                  <c:v>783.6</c:v>
                </c:pt>
                <c:pt idx="672">
                  <c:v>814.65</c:v>
                </c:pt>
                <c:pt idx="673">
                  <c:v>792.85</c:v>
                </c:pt>
                <c:pt idx="674">
                  <c:v>862.6</c:v>
                </c:pt>
                <c:pt idx="675">
                  <c:v>880.35</c:v>
                </c:pt>
                <c:pt idx="676">
                  <c:v>889.95</c:v>
                </c:pt>
                <c:pt idx="677">
                  <c:v>923.7</c:v>
                </c:pt>
                <c:pt idx="678">
                  <c:v>890.15</c:v>
                </c:pt>
                <c:pt idx="679">
                  <c:v>857.35</c:v>
                </c:pt>
                <c:pt idx="680">
                  <c:v>845.65</c:v>
                </c:pt>
                <c:pt idx="681">
                  <c:v>825.35</c:v>
                </c:pt>
                <c:pt idx="682">
                  <c:v>803.25</c:v>
                </c:pt>
                <c:pt idx="683">
                  <c:v>831</c:v>
                </c:pt>
                <c:pt idx="684">
                  <c:v>887.75</c:v>
                </c:pt>
                <c:pt idx="685">
                  <c:v>871.95</c:v>
                </c:pt>
                <c:pt idx="686">
                  <c:v>849.05</c:v>
                </c:pt>
                <c:pt idx="687">
                  <c:v>846.95</c:v>
                </c:pt>
                <c:pt idx="688">
                  <c:v>860</c:v>
                </c:pt>
                <c:pt idx="689">
                  <c:v>905.65</c:v>
                </c:pt>
                <c:pt idx="690">
                  <c:v>887</c:v>
                </c:pt>
                <c:pt idx="691">
                  <c:v>908.25</c:v>
                </c:pt>
                <c:pt idx="692">
                  <c:v>875.95</c:v>
                </c:pt>
                <c:pt idx="693">
                  <c:v>874.75</c:v>
                </c:pt>
                <c:pt idx="694">
                  <c:v>851.7</c:v>
                </c:pt>
                <c:pt idx="695">
                  <c:v>855.3</c:v>
                </c:pt>
                <c:pt idx="696">
                  <c:v>878.95</c:v>
                </c:pt>
                <c:pt idx="697">
                  <c:v>845.05</c:v>
                </c:pt>
                <c:pt idx="698">
                  <c:v>896.25</c:v>
                </c:pt>
                <c:pt idx="699">
                  <c:v>895.2</c:v>
                </c:pt>
                <c:pt idx="700">
                  <c:v>842.1</c:v>
                </c:pt>
                <c:pt idx="701">
                  <c:v>881.5</c:v>
                </c:pt>
                <c:pt idx="702">
                  <c:v>863.05</c:v>
                </c:pt>
                <c:pt idx="703">
                  <c:v>844.85</c:v>
                </c:pt>
                <c:pt idx="704">
                  <c:v>821.55</c:v>
                </c:pt>
                <c:pt idx="705">
                  <c:v>805.25</c:v>
                </c:pt>
                <c:pt idx="706">
                  <c:v>813.15</c:v>
                </c:pt>
                <c:pt idx="707">
                  <c:v>810.55</c:v>
                </c:pt>
                <c:pt idx="708">
                  <c:v>807</c:v>
                </c:pt>
                <c:pt idx="709">
                  <c:v>871.35</c:v>
                </c:pt>
                <c:pt idx="710">
                  <c:v>906</c:v>
                </c:pt>
                <c:pt idx="711">
                  <c:v>891.2</c:v>
                </c:pt>
                <c:pt idx="712">
                  <c:v>958.2</c:v>
                </c:pt>
                <c:pt idx="713">
                  <c:v>969.05</c:v>
                </c:pt>
                <c:pt idx="714">
                  <c:v>959.6</c:v>
                </c:pt>
                <c:pt idx="715">
                  <c:v>940.3</c:v>
                </c:pt>
                <c:pt idx="716">
                  <c:v>960.85</c:v>
                </c:pt>
                <c:pt idx="717">
                  <c:v>1045.5</c:v>
                </c:pt>
                <c:pt idx="718">
                  <c:v>1078.4000000000001</c:v>
                </c:pt>
                <c:pt idx="719">
                  <c:v>1088.9000000000001</c:v>
                </c:pt>
                <c:pt idx="720">
                  <c:v>1077.5</c:v>
                </c:pt>
                <c:pt idx="721">
                  <c:v>1102.0999999999999</c:v>
                </c:pt>
                <c:pt idx="722">
                  <c:v>1066.75</c:v>
                </c:pt>
                <c:pt idx="723">
                  <c:v>1051</c:v>
                </c:pt>
                <c:pt idx="724">
                  <c:v>1018.25</c:v>
                </c:pt>
                <c:pt idx="725">
                  <c:v>1000.95</c:v>
                </c:pt>
                <c:pt idx="726">
                  <c:v>989.7</c:v>
                </c:pt>
                <c:pt idx="727">
                  <c:v>1033.25</c:v>
                </c:pt>
                <c:pt idx="728">
                  <c:v>1006.45</c:v>
                </c:pt>
                <c:pt idx="729">
                  <c:v>989.3</c:v>
                </c:pt>
                <c:pt idx="730">
                  <c:v>1002.95</c:v>
                </c:pt>
                <c:pt idx="731">
                  <c:v>998.3</c:v>
                </c:pt>
                <c:pt idx="732">
                  <c:v>1014.1</c:v>
                </c:pt>
                <c:pt idx="733">
                  <c:v>1037.7</c:v>
                </c:pt>
                <c:pt idx="734">
                  <c:v>1002.75</c:v>
                </c:pt>
                <c:pt idx="735">
                  <c:v>991.55</c:v>
                </c:pt>
                <c:pt idx="736">
                  <c:v>933.15</c:v>
                </c:pt>
                <c:pt idx="737">
                  <c:v>954.65</c:v>
                </c:pt>
                <c:pt idx="738">
                  <c:v>937.9</c:v>
                </c:pt>
                <c:pt idx="739">
                  <c:v>941.35</c:v>
                </c:pt>
                <c:pt idx="740">
                  <c:v>1002.35</c:v>
                </c:pt>
                <c:pt idx="741">
                  <c:v>974.05</c:v>
                </c:pt>
                <c:pt idx="742">
                  <c:v>978.15</c:v>
                </c:pt>
                <c:pt idx="743">
                  <c:v>987.05</c:v>
                </c:pt>
                <c:pt idx="744">
                  <c:v>968.35</c:v>
                </c:pt>
                <c:pt idx="745">
                  <c:v>932.55</c:v>
                </c:pt>
                <c:pt idx="746">
                  <c:v>869.5</c:v>
                </c:pt>
                <c:pt idx="747">
                  <c:v>884.15</c:v>
                </c:pt>
                <c:pt idx="748">
                  <c:v>887.9</c:v>
                </c:pt>
                <c:pt idx="749">
                  <c:v>842.05</c:v>
                </c:pt>
                <c:pt idx="750">
                  <c:v>864.25</c:v>
                </c:pt>
                <c:pt idx="751">
                  <c:v>883.75</c:v>
                </c:pt>
                <c:pt idx="752">
                  <c:v>915.25</c:v>
                </c:pt>
                <c:pt idx="753">
                  <c:v>909.9</c:v>
                </c:pt>
                <c:pt idx="754">
                  <c:v>917.5</c:v>
                </c:pt>
                <c:pt idx="755">
                  <c:v>851.45</c:v>
                </c:pt>
                <c:pt idx="756">
                  <c:v>865.15</c:v>
                </c:pt>
                <c:pt idx="757">
                  <c:v>869.65</c:v>
                </c:pt>
                <c:pt idx="758">
                  <c:v>842.1</c:v>
                </c:pt>
                <c:pt idx="759">
                  <c:v>841.95</c:v>
                </c:pt>
                <c:pt idx="760">
                  <c:v>810.75</c:v>
                </c:pt>
                <c:pt idx="761">
                  <c:v>865.9</c:v>
                </c:pt>
                <c:pt idx="762">
                  <c:v>928.35</c:v>
                </c:pt>
                <c:pt idx="763">
                  <c:v>877.05</c:v>
                </c:pt>
                <c:pt idx="764">
                  <c:v>862.35</c:v>
                </c:pt>
                <c:pt idx="765">
                  <c:v>889.7</c:v>
                </c:pt>
                <c:pt idx="766">
                  <c:v>873.95</c:v>
                </c:pt>
                <c:pt idx="767">
                  <c:v>903.85</c:v>
                </c:pt>
                <c:pt idx="768">
                  <c:v>877</c:v>
                </c:pt>
                <c:pt idx="769">
                  <c:v>907.75</c:v>
                </c:pt>
                <c:pt idx="770">
                  <c:v>889.85</c:v>
                </c:pt>
                <c:pt idx="771">
                  <c:v>996.65</c:v>
                </c:pt>
                <c:pt idx="772">
                  <c:v>1000.7</c:v>
                </c:pt>
                <c:pt idx="773">
                  <c:v>1007.2</c:v>
                </c:pt>
                <c:pt idx="774">
                  <c:v>1001.8</c:v>
                </c:pt>
                <c:pt idx="775">
                  <c:v>1021.7</c:v>
                </c:pt>
                <c:pt idx="776">
                  <c:v>1025.05</c:v>
                </c:pt>
                <c:pt idx="777">
                  <c:v>1001.85</c:v>
                </c:pt>
                <c:pt idx="778">
                  <c:v>984.35</c:v>
                </c:pt>
                <c:pt idx="779">
                  <c:v>966.95</c:v>
                </c:pt>
                <c:pt idx="780">
                  <c:v>907.95</c:v>
                </c:pt>
                <c:pt idx="781">
                  <c:v>872.4</c:v>
                </c:pt>
                <c:pt idx="782">
                  <c:v>835.9</c:v>
                </c:pt>
                <c:pt idx="783">
                  <c:v>860.95</c:v>
                </c:pt>
                <c:pt idx="784">
                  <c:v>878.1</c:v>
                </c:pt>
                <c:pt idx="785">
                  <c:v>840.75</c:v>
                </c:pt>
                <c:pt idx="786">
                  <c:v>913.8</c:v>
                </c:pt>
                <c:pt idx="787">
                  <c:v>902.95</c:v>
                </c:pt>
                <c:pt idx="788">
                  <c:v>955</c:v>
                </c:pt>
                <c:pt idx="789">
                  <c:v>941</c:v>
                </c:pt>
                <c:pt idx="790">
                  <c:v>936.6</c:v>
                </c:pt>
                <c:pt idx="791">
                  <c:v>933.05</c:v>
                </c:pt>
                <c:pt idx="792">
                  <c:v>946.85</c:v>
                </c:pt>
                <c:pt idx="793">
                  <c:v>965.85</c:v>
                </c:pt>
                <c:pt idx="794">
                  <c:v>952.05</c:v>
                </c:pt>
                <c:pt idx="795">
                  <c:v>955.1</c:v>
                </c:pt>
                <c:pt idx="796">
                  <c:v>992.1</c:v>
                </c:pt>
                <c:pt idx="797">
                  <c:v>1015.4</c:v>
                </c:pt>
                <c:pt idx="798">
                  <c:v>1005.15</c:v>
                </c:pt>
                <c:pt idx="799">
                  <c:v>1045.45</c:v>
                </c:pt>
                <c:pt idx="800">
                  <c:v>1043.5999999999999</c:v>
                </c:pt>
                <c:pt idx="801">
                  <c:v>999.35</c:v>
                </c:pt>
                <c:pt idx="802">
                  <c:v>981.4</c:v>
                </c:pt>
                <c:pt idx="803">
                  <c:v>962.65</c:v>
                </c:pt>
                <c:pt idx="804">
                  <c:v>952.6</c:v>
                </c:pt>
                <c:pt idx="805">
                  <c:v>952.65</c:v>
                </c:pt>
                <c:pt idx="806">
                  <c:v>1001.5</c:v>
                </c:pt>
                <c:pt idx="807">
                  <c:v>1011.75</c:v>
                </c:pt>
                <c:pt idx="808">
                  <c:v>1016</c:v>
                </c:pt>
                <c:pt idx="809">
                  <c:v>1020.4</c:v>
                </c:pt>
                <c:pt idx="810">
                  <c:v>1035.05</c:v>
                </c:pt>
                <c:pt idx="811">
                  <c:v>1040.3</c:v>
                </c:pt>
                <c:pt idx="812">
                  <c:v>1041.1500000000001</c:v>
                </c:pt>
                <c:pt idx="813">
                  <c:v>996.7</c:v>
                </c:pt>
                <c:pt idx="814">
                  <c:v>975.25</c:v>
                </c:pt>
                <c:pt idx="815">
                  <c:v>992.8</c:v>
                </c:pt>
                <c:pt idx="816">
                  <c:v>951.2</c:v>
                </c:pt>
                <c:pt idx="817">
                  <c:v>946.85</c:v>
                </c:pt>
                <c:pt idx="818">
                  <c:v>956.25</c:v>
                </c:pt>
                <c:pt idx="819">
                  <c:v>971.15</c:v>
                </c:pt>
                <c:pt idx="820">
                  <c:v>976.3</c:v>
                </c:pt>
                <c:pt idx="821">
                  <c:v>980.45</c:v>
                </c:pt>
                <c:pt idx="822">
                  <c:v>969.15</c:v>
                </c:pt>
                <c:pt idx="823">
                  <c:v>978.4</c:v>
                </c:pt>
                <c:pt idx="824">
                  <c:v>1012.2</c:v>
                </c:pt>
                <c:pt idx="825">
                  <c:v>1014.85</c:v>
                </c:pt>
                <c:pt idx="826">
                  <c:v>1014.9</c:v>
                </c:pt>
                <c:pt idx="827">
                  <c:v>1016.25</c:v>
                </c:pt>
                <c:pt idx="828">
                  <c:v>1035.8</c:v>
                </c:pt>
                <c:pt idx="829">
                  <c:v>1011.85</c:v>
                </c:pt>
                <c:pt idx="830">
                  <c:v>1057.45</c:v>
                </c:pt>
                <c:pt idx="831">
                  <c:v>1019.9</c:v>
                </c:pt>
                <c:pt idx="832">
                  <c:v>1044.75</c:v>
                </c:pt>
                <c:pt idx="833">
                  <c:v>1072.25</c:v>
                </c:pt>
                <c:pt idx="834">
                  <c:v>1090.6500000000001</c:v>
                </c:pt>
                <c:pt idx="835">
                  <c:v>1089.4000000000001</c:v>
                </c:pt>
                <c:pt idx="836">
                  <c:v>1077.6500000000001</c:v>
                </c:pt>
                <c:pt idx="837">
                  <c:v>1064.2</c:v>
                </c:pt>
                <c:pt idx="838">
                  <c:v>1054.95</c:v>
                </c:pt>
                <c:pt idx="839">
                  <c:v>1005.55</c:v>
                </c:pt>
                <c:pt idx="840">
                  <c:v>1001.75</c:v>
                </c:pt>
                <c:pt idx="841">
                  <c:v>991.5</c:v>
                </c:pt>
                <c:pt idx="842">
                  <c:v>986.65</c:v>
                </c:pt>
                <c:pt idx="843">
                  <c:v>993.85</c:v>
                </c:pt>
                <c:pt idx="844">
                  <c:v>1027.2</c:v>
                </c:pt>
                <c:pt idx="845">
                  <c:v>1062.55</c:v>
                </c:pt>
                <c:pt idx="846">
                  <c:v>1047.45</c:v>
                </c:pt>
                <c:pt idx="847">
                  <c:v>1085.0999999999999</c:v>
                </c:pt>
                <c:pt idx="848">
                  <c:v>1077.7</c:v>
                </c:pt>
                <c:pt idx="849">
                  <c:v>1076.25</c:v>
                </c:pt>
                <c:pt idx="850">
                  <c:v>1015.9</c:v>
                </c:pt>
                <c:pt idx="851">
                  <c:v>1045.2</c:v>
                </c:pt>
                <c:pt idx="852">
                  <c:v>1030.9000000000001</c:v>
                </c:pt>
                <c:pt idx="853">
                  <c:v>1049.8</c:v>
                </c:pt>
                <c:pt idx="854">
                  <c:v>1088.2</c:v>
                </c:pt>
                <c:pt idx="855">
                  <c:v>1234.5</c:v>
                </c:pt>
                <c:pt idx="856">
                  <c:v>1291.2</c:v>
                </c:pt>
                <c:pt idx="857">
                  <c:v>1297.6500000000001</c:v>
                </c:pt>
                <c:pt idx="858">
                  <c:v>1273.3</c:v>
                </c:pt>
                <c:pt idx="859">
                  <c:v>1270.6500000000001</c:v>
                </c:pt>
                <c:pt idx="860">
                  <c:v>1406.6</c:v>
                </c:pt>
                <c:pt idx="861">
                  <c:v>1391.85</c:v>
                </c:pt>
                <c:pt idx="862">
                  <c:v>1417.4</c:v>
                </c:pt>
                <c:pt idx="863">
                  <c:v>1370.55</c:v>
                </c:pt>
                <c:pt idx="864">
                  <c:v>1330.35</c:v>
                </c:pt>
                <c:pt idx="865">
                  <c:v>1356.3</c:v>
                </c:pt>
                <c:pt idx="866">
                  <c:v>1305.55</c:v>
                </c:pt>
                <c:pt idx="867">
                  <c:v>1359.35</c:v>
                </c:pt>
                <c:pt idx="868">
                  <c:v>1312.8</c:v>
                </c:pt>
                <c:pt idx="869">
                  <c:v>1314.35</c:v>
                </c:pt>
                <c:pt idx="870">
                  <c:v>1412.35</c:v>
                </c:pt>
                <c:pt idx="871">
                  <c:v>1398.5</c:v>
                </c:pt>
                <c:pt idx="872">
                  <c:v>1442.65</c:v>
                </c:pt>
                <c:pt idx="873">
                  <c:v>1511.1</c:v>
                </c:pt>
                <c:pt idx="874">
                  <c:v>1532.95</c:v>
                </c:pt>
                <c:pt idx="875">
                  <c:v>1622.75</c:v>
                </c:pt>
                <c:pt idx="876">
                  <c:v>1629.2</c:v>
                </c:pt>
                <c:pt idx="877">
                  <c:v>1598.8</c:v>
                </c:pt>
                <c:pt idx="878">
                  <c:v>1567.1</c:v>
                </c:pt>
                <c:pt idx="879">
                  <c:v>1568.05</c:v>
                </c:pt>
                <c:pt idx="880">
                  <c:v>1610.1</c:v>
                </c:pt>
                <c:pt idx="881">
                  <c:v>816.9</c:v>
                </c:pt>
                <c:pt idx="882">
                  <c:v>841.8</c:v>
                </c:pt>
                <c:pt idx="883">
                  <c:v>817.4</c:v>
                </c:pt>
                <c:pt idx="884">
                  <c:v>780.9</c:v>
                </c:pt>
                <c:pt idx="885">
                  <c:v>830.65</c:v>
                </c:pt>
                <c:pt idx="886">
                  <c:v>876.8</c:v>
                </c:pt>
                <c:pt idx="887">
                  <c:v>934.25</c:v>
                </c:pt>
                <c:pt idx="888">
                  <c:v>940.85</c:v>
                </c:pt>
                <c:pt idx="889">
                  <c:v>906.7</c:v>
                </c:pt>
                <c:pt idx="890">
                  <c:v>886.7</c:v>
                </c:pt>
                <c:pt idx="891">
                  <c:v>932.55</c:v>
                </c:pt>
                <c:pt idx="892">
                  <c:v>943.35</c:v>
                </c:pt>
                <c:pt idx="893">
                  <c:v>913.7</c:v>
                </c:pt>
                <c:pt idx="894">
                  <c:v>915.6</c:v>
                </c:pt>
                <c:pt idx="895">
                  <c:v>925.95</c:v>
                </c:pt>
                <c:pt idx="896">
                  <c:v>923.75</c:v>
                </c:pt>
                <c:pt idx="897">
                  <c:v>914.8</c:v>
                </c:pt>
                <c:pt idx="898">
                  <c:v>942.35</c:v>
                </c:pt>
                <c:pt idx="899">
                  <c:v>924.5</c:v>
                </c:pt>
                <c:pt idx="900">
                  <c:v>966.35</c:v>
                </c:pt>
                <c:pt idx="901">
                  <c:v>943.85</c:v>
                </c:pt>
                <c:pt idx="902">
                  <c:v>904.55</c:v>
                </c:pt>
                <c:pt idx="903">
                  <c:v>921.3</c:v>
                </c:pt>
                <c:pt idx="904">
                  <c:v>934.25</c:v>
                </c:pt>
                <c:pt idx="905">
                  <c:v>924.1</c:v>
                </c:pt>
                <c:pt idx="906">
                  <c:v>930.3</c:v>
                </c:pt>
                <c:pt idx="907">
                  <c:v>895.5</c:v>
                </c:pt>
                <c:pt idx="908">
                  <c:v>901.1</c:v>
                </c:pt>
                <c:pt idx="909">
                  <c:v>894.9</c:v>
                </c:pt>
                <c:pt idx="910">
                  <c:v>930.85</c:v>
                </c:pt>
                <c:pt idx="911">
                  <c:v>938</c:v>
                </c:pt>
                <c:pt idx="912">
                  <c:v>970.5</c:v>
                </c:pt>
                <c:pt idx="913">
                  <c:v>961.6</c:v>
                </c:pt>
                <c:pt idx="914">
                  <c:v>981.15</c:v>
                </c:pt>
                <c:pt idx="915">
                  <c:v>945.35</c:v>
                </c:pt>
                <c:pt idx="916">
                  <c:v>915.85</c:v>
                </c:pt>
                <c:pt idx="917">
                  <c:v>921.35</c:v>
                </c:pt>
                <c:pt idx="918">
                  <c:v>971.35</c:v>
                </c:pt>
                <c:pt idx="919">
                  <c:v>1007.95</c:v>
                </c:pt>
                <c:pt idx="920">
                  <c:v>1031.95</c:v>
                </c:pt>
                <c:pt idx="921">
                  <c:v>944.95</c:v>
                </c:pt>
                <c:pt idx="922">
                  <c:v>964.5</c:v>
                </c:pt>
                <c:pt idx="923">
                  <c:v>1082.3499999999999</c:v>
                </c:pt>
                <c:pt idx="924">
                  <c:v>1104.8499999999999</c:v>
                </c:pt>
                <c:pt idx="925">
                  <c:v>1110.6500000000001</c:v>
                </c:pt>
                <c:pt idx="926">
                  <c:v>1168.3499999999999</c:v>
                </c:pt>
                <c:pt idx="927">
                  <c:v>1217.95</c:v>
                </c:pt>
                <c:pt idx="928">
                  <c:v>1203.75</c:v>
                </c:pt>
                <c:pt idx="929">
                  <c:v>1291.5</c:v>
                </c:pt>
                <c:pt idx="930">
                  <c:v>1229.1500000000001</c:v>
                </c:pt>
                <c:pt idx="931">
                  <c:v>1255.8499999999999</c:v>
                </c:pt>
                <c:pt idx="932">
                  <c:v>1217.1500000000001</c:v>
                </c:pt>
                <c:pt idx="933">
                  <c:v>1251.4000000000001</c:v>
                </c:pt>
                <c:pt idx="934">
                  <c:v>1122.25</c:v>
                </c:pt>
                <c:pt idx="935">
                  <c:v>1087.8</c:v>
                </c:pt>
                <c:pt idx="936">
                  <c:v>1101.3</c:v>
                </c:pt>
                <c:pt idx="937">
                  <c:v>1044.9000000000001</c:v>
                </c:pt>
                <c:pt idx="938">
                  <c:v>1074.9000000000001</c:v>
                </c:pt>
                <c:pt idx="939">
                  <c:v>1080</c:v>
                </c:pt>
                <c:pt idx="940">
                  <c:v>1150</c:v>
                </c:pt>
                <c:pt idx="941">
                  <c:v>1128.2</c:v>
                </c:pt>
                <c:pt idx="942">
                  <c:v>1152.3</c:v>
                </c:pt>
                <c:pt idx="943">
                  <c:v>1097.55</c:v>
                </c:pt>
                <c:pt idx="944">
                  <c:v>1136.4000000000001</c:v>
                </c:pt>
                <c:pt idx="945">
                  <c:v>1098.3499999999999</c:v>
                </c:pt>
                <c:pt idx="946">
                  <c:v>1106.4000000000001</c:v>
                </c:pt>
                <c:pt idx="947">
                  <c:v>1110.75</c:v>
                </c:pt>
                <c:pt idx="948">
                  <c:v>1135.9000000000001</c:v>
                </c:pt>
                <c:pt idx="949">
                  <c:v>1226.3</c:v>
                </c:pt>
                <c:pt idx="950">
                  <c:v>1195.7</c:v>
                </c:pt>
                <c:pt idx="951">
                  <c:v>1310.25</c:v>
                </c:pt>
                <c:pt idx="952">
                  <c:v>1245.95</c:v>
                </c:pt>
                <c:pt idx="953">
                  <c:v>1234.3499999999999</c:v>
                </c:pt>
                <c:pt idx="954">
                  <c:v>1223.5</c:v>
                </c:pt>
                <c:pt idx="955">
                  <c:v>1270.25</c:v>
                </c:pt>
                <c:pt idx="956">
                  <c:v>1341.55</c:v>
                </c:pt>
                <c:pt idx="957">
                  <c:v>1341.75</c:v>
                </c:pt>
                <c:pt idx="958">
                  <c:v>1363.25</c:v>
                </c:pt>
                <c:pt idx="959">
                  <c:v>1353.9</c:v>
                </c:pt>
                <c:pt idx="960">
                  <c:v>1343.1</c:v>
                </c:pt>
                <c:pt idx="961">
                  <c:v>1363.85</c:v>
                </c:pt>
                <c:pt idx="962">
                  <c:v>1405.05</c:v>
                </c:pt>
                <c:pt idx="963">
                  <c:v>1256.45</c:v>
                </c:pt>
                <c:pt idx="964">
                  <c:v>1265.3499999999999</c:v>
                </c:pt>
                <c:pt idx="965">
                  <c:v>1333.9</c:v>
                </c:pt>
                <c:pt idx="966">
                  <c:v>1329.75</c:v>
                </c:pt>
                <c:pt idx="967">
                  <c:v>1314.9</c:v>
                </c:pt>
                <c:pt idx="968">
                  <c:v>1317.55</c:v>
                </c:pt>
                <c:pt idx="969">
                  <c:v>1279.5</c:v>
                </c:pt>
                <c:pt idx="970">
                  <c:v>1253.0999999999999</c:v>
                </c:pt>
                <c:pt idx="971">
                  <c:v>1263.3499999999999</c:v>
                </c:pt>
                <c:pt idx="972">
                  <c:v>1280.5</c:v>
                </c:pt>
                <c:pt idx="973">
                  <c:v>1249</c:v>
                </c:pt>
                <c:pt idx="974">
                  <c:v>1213.8</c:v>
                </c:pt>
                <c:pt idx="975">
                  <c:v>1184.3499999999999</c:v>
                </c:pt>
                <c:pt idx="976">
                  <c:v>1162.0999999999999</c:v>
                </c:pt>
                <c:pt idx="977">
                  <c:v>1275.95</c:v>
                </c:pt>
                <c:pt idx="978">
                  <c:v>1274.8499999999999</c:v>
                </c:pt>
                <c:pt idx="979">
                  <c:v>1201.1500000000001</c:v>
                </c:pt>
                <c:pt idx="980">
                  <c:v>1210.3499999999999</c:v>
                </c:pt>
                <c:pt idx="981">
                  <c:v>1179.05</c:v>
                </c:pt>
                <c:pt idx="982">
                  <c:v>1296.8</c:v>
                </c:pt>
                <c:pt idx="983">
                  <c:v>1308.0999999999999</c:v>
                </c:pt>
                <c:pt idx="984">
                  <c:v>1358</c:v>
                </c:pt>
                <c:pt idx="985">
                  <c:v>1414.15</c:v>
                </c:pt>
                <c:pt idx="986">
                  <c:v>1467.05</c:v>
                </c:pt>
                <c:pt idx="987">
                  <c:v>1447.3</c:v>
                </c:pt>
                <c:pt idx="988">
                  <c:v>1472.3</c:v>
                </c:pt>
                <c:pt idx="989">
                  <c:v>1547.65</c:v>
                </c:pt>
                <c:pt idx="990">
                  <c:v>1569.85</c:v>
                </c:pt>
                <c:pt idx="991">
                  <c:v>1552.7</c:v>
                </c:pt>
                <c:pt idx="992">
                  <c:v>1562.4</c:v>
                </c:pt>
                <c:pt idx="993">
                  <c:v>1575.85</c:v>
                </c:pt>
                <c:pt idx="994">
                  <c:v>1515.4</c:v>
                </c:pt>
                <c:pt idx="995">
                  <c:v>1535.3</c:v>
                </c:pt>
                <c:pt idx="996">
                  <c:v>1548</c:v>
                </c:pt>
                <c:pt idx="997">
                  <c:v>1537.9</c:v>
                </c:pt>
                <c:pt idx="998">
                  <c:v>1526.85</c:v>
                </c:pt>
                <c:pt idx="999">
                  <c:v>1443.75</c:v>
                </c:pt>
                <c:pt idx="1000">
                  <c:v>1448.5</c:v>
                </c:pt>
                <c:pt idx="1001">
                  <c:v>1470.3</c:v>
                </c:pt>
                <c:pt idx="1002">
                  <c:v>1503.8</c:v>
                </c:pt>
                <c:pt idx="1003">
                  <c:v>1386.25</c:v>
                </c:pt>
                <c:pt idx="1004">
                  <c:v>1311.15</c:v>
                </c:pt>
                <c:pt idx="1005">
                  <c:v>1105.3</c:v>
                </c:pt>
                <c:pt idx="1006">
                  <c:v>1017.95</c:v>
                </c:pt>
                <c:pt idx="1007">
                  <c:v>1065.5999999999999</c:v>
                </c:pt>
                <c:pt idx="1008">
                  <c:v>1206.0999999999999</c:v>
                </c:pt>
                <c:pt idx="1009">
                  <c:v>1168.05</c:v>
                </c:pt>
                <c:pt idx="1010">
                  <c:v>1370.9</c:v>
                </c:pt>
                <c:pt idx="1011">
                  <c:v>1466</c:v>
                </c:pt>
                <c:pt idx="1012">
                  <c:v>1561.8</c:v>
                </c:pt>
                <c:pt idx="1013">
                  <c:v>1459.4</c:v>
                </c:pt>
                <c:pt idx="1014">
                  <c:v>1431.55</c:v>
                </c:pt>
                <c:pt idx="1015">
                  <c:v>1520.35</c:v>
                </c:pt>
                <c:pt idx="1016">
                  <c:v>1569.5</c:v>
                </c:pt>
                <c:pt idx="1017">
                  <c:v>1614.55</c:v>
                </c:pt>
                <c:pt idx="1018">
                  <c:v>1746.15</c:v>
                </c:pt>
                <c:pt idx="1019">
                  <c:v>1723.15</c:v>
                </c:pt>
                <c:pt idx="1020">
                  <c:v>1851.8</c:v>
                </c:pt>
                <c:pt idx="1021">
                  <c:v>1935</c:v>
                </c:pt>
                <c:pt idx="1022">
                  <c:v>1919.9</c:v>
                </c:pt>
                <c:pt idx="1023">
                  <c:v>2156.1999999999998</c:v>
                </c:pt>
                <c:pt idx="1024">
                  <c:v>2009</c:v>
                </c:pt>
                <c:pt idx="1025">
                  <c:v>2119.85</c:v>
                </c:pt>
                <c:pt idx="1026">
                  <c:v>2091.35</c:v>
                </c:pt>
                <c:pt idx="1027">
                  <c:v>2095.75</c:v>
                </c:pt>
                <c:pt idx="1028">
                  <c:v>2080.6999999999998</c:v>
                </c:pt>
                <c:pt idx="1029">
                  <c:v>2082.65</c:v>
                </c:pt>
                <c:pt idx="1030">
                  <c:v>2302.5500000000002</c:v>
                </c:pt>
                <c:pt idx="1031">
                  <c:v>2255.85</c:v>
                </c:pt>
                <c:pt idx="1032">
                  <c:v>2216.25</c:v>
                </c:pt>
                <c:pt idx="1033">
                  <c:v>2210.35</c:v>
                </c:pt>
                <c:pt idx="1034">
                  <c:v>2280.6999999999998</c:v>
                </c:pt>
                <c:pt idx="1035">
                  <c:v>2155.9</c:v>
                </c:pt>
                <c:pt idx="1036">
                  <c:v>2034.5</c:v>
                </c:pt>
                <c:pt idx="1037">
                  <c:v>1850.4</c:v>
                </c:pt>
                <c:pt idx="1038">
                  <c:v>2084.5500000000002</c:v>
                </c:pt>
                <c:pt idx="1039">
                  <c:v>1993.25</c:v>
                </c:pt>
                <c:pt idx="1040">
                  <c:v>1964.05</c:v>
                </c:pt>
                <c:pt idx="1041">
                  <c:v>1958.15</c:v>
                </c:pt>
                <c:pt idx="1042">
                  <c:v>2026.95</c:v>
                </c:pt>
                <c:pt idx="1043">
                  <c:v>1976.55</c:v>
                </c:pt>
                <c:pt idx="1044">
                  <c:v>1943.85</c:v>
                </c:pt>
                <c:pt idx="1045">
                  <c:v>1985.3</c:v>
                </c:pt>
                <c:pt idx="1046">
                  <c:v>1911.15</c:v>
                </c:pt>
                <c:pt idx="1047">
                  <c:v>1960.6</c:v>
                </c:pt>
                <c:pt idx="1048">
                  <c:v>2099.4</c:v>
                </c:pt>
                <c:pt idx="1049">
                  <c:v>1841.95</c:v>
                </c:pt>
                <c:pt idx="1050">
                  <c:v>1923.75</c:v>
                </c:pt>
                <c:pt idx="1051">
                  <c:v>2041.6</c:v>
                </c:pt>
                <c:pt idx="1052">
                  <c:v>2080.3000000000002</c:v>
                </c:pt>
                <c:pt idx="1053">
                  <c:v>2085.8000000000002</c:v>
                </c:pt>
                <c:pt idx="1054">
                  <c:v>2178.6999999999998</c:v>
                </c:pt>
                <c:pt idx="1055">
                  <c:v>2108.9</c:v>
                </c:pt>
                <c:pt idx="1056">
                  <c:v>2062.4</c:v>
                </c:pt>
                <c:pt idx="1057">
                  <c:v>2029.3</c:v>
                </c:pt>
                <c:pt idx="1058">
                  <c:v>2002.85</c:v>
                </c:pt>
                <c:pt idx="1059">
                  <c:v>1944.3</c:v>
                </c:pt>
                <c:pt idx="1060">
                  <c:v>1904.35</c:v>
                </c:pt>
                <c:pt idx="1061">
                  <c:v>1994.5</c:v>
                </c:pt>
              </c:numCache>
            </c:numRef>
          </c:val>
          <c:smooth val="0"/>
          <c:extLst>
            <c:ext xmlns:c16="http://schemas.microsoft.com/office/drawing/2014/chart" uri="{C3380CC4-5D6E-409C-BE32-E72D297353CC}">
              <c16:uniqueId val="{00000000-A013-4CAA-8E02-C5AC43333DA8}"/>
            </c:ext>
          </c:extLst>
        </c:ser>
        <c:ser>
          <c:idx val="1"/>
          <c:order val="1"/>
          <c:tx>
            <c:strRef>
              <c:f>Sheet1!$C$1</c:f>
              <c:strCache>
                <c:ptCount val="1"/>
                <c:pt idx="0">
                  <c:v>Adjusted close (after STEP 2a)</c:v>
                </c:pt>
              </c:strCache>
            </c:strRef>
          </c:tx>
          <c:spPr>
            <a:ln w="19050" cap="flat">
              <a:solidFill>
                <a:schemeClr val="accent1"/>
              </a:solidFill>
              <a:prstDash val="solid"/>
              <a:round/>
            </a:ln>
            <a:effectLst/>
          </c:spPr>
          <c:marker>
            <c:symbol val="none"/>
          </c:marker>
          <c:cat>
            <c:strRef>
              <c:f>Sheet1!$A$2:$A$1063</c:f>
              <c:strCache>
                <c:ptCount val="1062"/>
                <c:pt idx="0">
                  <c:v>2000</c:v>
                </c:pt>
                <c:pt idx="1">
                  <c:v>2000</c:v>
                </c:pt>
                <c:pt idx="2">
                  <c:v>2000</c:v>
                </c:pt>
                <c:pt idx="3">
                  <c:v>2000</c:v>
                </c:pt>
                <c:pt idx="4">
                  <c:v>2000</c:v>
                </c:pt>
                <c:pt idx="5">
                  <c:v>2000</c:v>
                </c:pt>
                <c:pt idx="6">
                  <c:v>2000</c:v>
                </c:pt>
                <c:pt idx="7">
                  <c:v>2000</c:v>
                </c:pt>
                <c:pt idx="8">
                  <c:v>2000</c:v>
                </c:pt>
                <c:pt idx="9">
                  <c:v>2000</c:v>
                </c:pt>
                <c:pt idx="10">
                  <c:v>2000</c:v>
                </c:pt>
                <c:pt idx="11">
                  <c:v>2000</c:v>
                </c:pt>
                <c:pt idx="12">
                  <c:v>2000</c:v>
                </c:pt>
                <c:pt idx="13">
                  <c:v>2000</c:v>
                </c:pt>
                <c:pt idx="14">
                  <c:v>2000</c:v>
                </c:pt>
                <c:pt idx="15">
                  <c:v>2000</c:v>
                </c:pt>
                <c:pt idx="16">
                  <c:v>2000</c:v>
                </c:pt>
                <c:pt idx="17">
                  <c:v>2000</c:v>
                </c:pt>
                <c:pt idx="18">
                  <c:v>2000</c:v>
                </c:pt>
                <c:pt idx="19">
                  <c:v>2000</c:v>
                </c:pt>
                <c:pt idx="20">
                  <c:v>2000</c:v>
                </c:pt>
                <c:pt idx="21">
                  <c:v>2000</c:v>
                </c:pt>
                <c:pt idx="22">
                  <c:v>2000</c:v>
                </c:pt>
                <c:pt idx="23">
                  <c:v>2000</c:v>
                </c:pt>
                <c:pt idx="24">
                  <c:v>2000</c:v>
                </c:pt>
                <c:pt idx="25">
                  <c:v>2000</c:v>
                </c:pt>
                <c:pt idx="26">
                  <c:v>2000</c:v>
                </c:pt>
                <c:pt idx="27">
                  <c:v>2000</c:v>
                </c:pt>
                <c:pt idx="28">
                  <c:v>2000</c:v>
                </c:pt>
                <c:pt idx="29">
                  <c:v>2000</c:v>
                </c:pt>
                <c:pt idx="30">
                  <c:v>2000</c:v>
                </c:pt>
                <c:pt idx="31">
                  <c:v>2000</c:v>
                </c:pt>
                <c:pt idx="32">
                  <c:v>2000</c:v>
                </c:pt>
                <c:pt idx="33">
                  <c:v>2000</c:v>
                </c:pt>
                <c:pt idx="34">
                  <c:v>2000</c:v>
                </c:pt>
                <c:pt idx="35">
                  <c:v>2000</c:v>
                </c:pt>
                <c:pt idx="36">
                  <c:v>2000</c:v>
                </c:pt>
                <c:pt idx="37">
                  <c:v>2000</c:v>
                </c:pt>
                <c:pt idx="38">
                  <c:v>2000</c:v>
                </c:pt>
                <c:pt idx="39">
                  <c:v>2000</c:v>
                </c:pt>
                <c:pt idx="40">
                  <c:v>2000</c:v>
                </c:pt>
                <c:pt idx="41">
                  <c:v>2000</c:v>
                </c:pt>
                <c:pt idx="42">
                  <c:v>2000</c:v>
                </c:pt>
                <c:pt idx="43">
                  <c:v>2000</c:v>
                </c:pt>
                <c:pt idx="44">
                  <c:v>2000</c:v>
                </c:pt>
                <c:pt idx="45">
                  <c:v>2000</c:v>
                </c:pt>
                <c:pt idx="46">
                  <c:v>2000</c:v>
                </c:pt>
                <c:pt idx="47">
                  <c:v>2000</c:v>
                </c:pt>
                <c:pt idx="48">
                  <c:v>2000</c:v>
                </c:pt>
                <c:pt idx="49">
                  <c:v>2000</c:v>
                </c:pt>
                <c:pt idx="50">
                  <c:v>2001</c:v>
                </c:pt>
                <c:pt idx="51">
                  <c:v>2001</c:v>
                </c:pt>
                <c:pt idx="52">
                  <c:v>2001</c:v>
                </c:pt>
                <c:pt idx="53">
                  <c:v>2001</c:v>
                </c:pt>
                <c:pt idx="54">
                  <c:v>2001</c:v>
                </c:pt>
                <c:pt idx="55">
                  <c:v>2001</c:v>
                </c:pt>
                <c:pt idx="56">
                  <c:v>2001</c:v>
                </c:pt>
                <c:pt idx="57">
                  <c:v>2001</c:v>
                </c:pt>
                <c:pt idx="58">
                  <c:v>2001</c:v>
                </c:pt>
                <c:pt idx="59">
                  <c:v>2001</c:v>
                </c:pt>
                <c:pt idx="60">
                  <c:v>2001</c:v>
                </c:pt>
                <c:pt idx="61">
                  <c:v>2001</c:v>
                </c:pt>
                <c:pt idx="62">
                  <c:v>2001</c:v>
                </c:pt>
                <c:pt idx="63">
                  <c:v>2001</c:v>
                </c:pt>
                <c:pt idx="64">
                  <c:v>2001</c:v>
                </c:pt>
                <c:pt idx="65">
                  <c:v>2001</c:v>
                </c:pt>
                <c:pt idx="66">
                  <c:v>2001</c:v>
                </c:pt>
                <c:pt idx="67">
                  <c:v>2001</c:v>
                </c:pt>
                <c:pt idx="68">
                  <c:v>2001</c:v>
                </c:pt>
                <c:pt idx="69">
                  <c:v>2001</c:v>
                </c:pt>
                <c:pt idx="70">
                  <c:v>2001</c:v>
                </c:pt>
                <c:pt idx="71">
                  <c:v>2001</c:v>
                </c:pt>
                <c:pt idx="72">
                  <c:v>2001</c:v>
                </c:pt>
                <c:pt idx="73">
                  <c:v>2001</c:v>
                </c:pt>
                <c:pt idx="74">
                  <c:v>2001</c:v>
                </c:pt>
                <c:pt idx="75">
                  <c:v>2001</c:v>
                </c:pt>
                <c:pt idx="76">
                  <c:v>2001</c:v>
                </c:pt>
                <c:pt idx="77">
                  <c:v>2001</c:v>
                </c:pt>
                <c:pt idx="78">
                  <c:v>2001</c:v>
                </c:pt>
                <c:pt idx="79">
                  <c:v>2001</c:v>
                </c:pt>
                <c:pt idx="80">
                  <c:v>2001</c:v>
                </c:pt>
                <c:pt idx="81">
                  <c:v>2001</c:v>
                </c:pt>
                <c:pt idx="82">
                  <c:v>2001</c:v>
                </c:pt>
                <c:pt idx="83">
                  <c:v>2001</c:v>
                </c:pt>
                <c:pt idx="84">
                  <c:v>2001</c:v>
                </c:pt>
                <c:pt idx="85">
                  <c:v>2001</c:v>
                </c:pt>
                <c:pt idx="86">
                  <c:v>2001</c:v>
                </c:pt>
                <c:pt idx="87">
                  <c:v>2001</c:v>
                </c:pt>
                <c:pt idx="88">
                  <c:v>2001</c:v>
                </c:pt>
                <c:pt idx="89">
                  <c:v>2001</c:v>
                </c:pt>
                <c:pt idx="90">
                  <c:v>2001</c:v>
                </c:pt>
                <c:pt idx="91">
                  <c:v>2001</c:v>
                </c:pt>
                <c:pt idx="92">
                  <c:v>2001</c:v>
                </c:pt>
                <c:pt idx="93">
                  <c:v>2001</c:v>
                </c:pt>
                <c:pt idx="94">
                  <c:v>2001</c:v>
                </c:pt>
                <c:pt idx="95">
                  <c:v>2001</c:v>
                </c:pt>
                <c:pt idx="96">
                  <c:v>2001</c:v>
                </c:pt>
                <c:pt idx="97">
                  <c:v>2001</c:v>
                </c:pt>
                <c:pt idx="98">
                  <c:v>2001</c:v>
                </c:pt>
                <c:pt idx="99">
                  <c:v>2001</c:v>
                </c:pt>
                <c:pt idx="100">
                  <c:v>2002</c:v>
                </c:pt>
                <c:pt idx="101">
                  <c:v>2002</c:v>
                </c:pt>
                <c:pt idx="102">
                  <c:v>2002</c:v>
                </c:pt>
                <c:pt idx="103">
                  <c:v>2002</c:v>
                </c:pt>
                <c:pt idx="104">
                  <c:v>2002</c:v>
                </c:pt>
                <c:pt idx="105">
                  <c:v>2002</c:v>
                </c:pt>
                <c:pt idx="106">
                  <c:v>2002</c:v>
                </c:pt>
                <c:pt idx="107">
                  <c:v>2002</c:v>
                </c:pt>
                <c:pt idx="108">
                  <c:v>2002</c:v>
                </c:pt>
                <c:pt idx="109">
                  <c:v>2002</c:v>
                </c:pt>
                <c:pt idx="110">
                  <c:v>2002</c:v>
                </c:pt>
                <c:pt idx="111">
                  <c:v>2002</c:v>
                </c:pt>
                <c:pt idx="112">
                  <c:v>2002</c:v>
                </c:pt>
                <c:pt idx="113">
                  <c:v>2002</c:v>
                </c:pt>
                <c:pt idx="114">
                  <c:v>2002</c:v>
                </c:pt>
                <c:pt idx="115">
                  <c:v>2002</c:v>
                </c:pt>
                <c:pt idx="116">
                  <c:v>2002</c:v>
                </c:pt>
                <c:pt idx="117">
                  <c:v>2002</c:v>
                </c:pt>
                <c:pt idx="118">
                  <c:v>2002</c:v>
                </c:pt>
                <c:pt idx="119">
                  <c:v>2002</c:v>
                </c:pt>
                <c:pt idx="120">
                  <c:v>2002</c:v>
                </c:pt>
                <c:pt idx="121">
                  <c:v>2002</c:v>
                </c:pt>
                <c:pt idx="122">
                  <c:v>2002</c:v>
                </c:pt>
                <c:pt idx="123">
                  <c:v>2002</c:v>
                </c:pt>
                <c:pt idx="124">
                  <c:v>2002</c:v>
                </c:pt>
                <c:pt idx="125">
                  <c:v>2002</c:v>
                </c:pt>
                <c:pt idx="126">
                  <c:v>2002</c:v>
                </c:pt>
                <c:pt idx="127">
                  <c:v>2002</c:v>
                </c:pt>
                <c:pt idx="128">
                  <c:v>2002</c:v>
                </c:pt>
                <c:pt idx="129">
                  <c:v>2002</c:v>
                </c:pt>
                <c:pt idx="130">
                  <c:v>2002</c:v>
                </c:pt>
                <c:pt idx="131">
                  <c:v>2002</c:v>
                </c:pt>
                <c:pt idx="132">
                  <c:v>2002</c:v>
                </c:pt>
                <c:pt idx="133">
                  <c:v>2002</c:v>
                </c:pt>
                <c:pt idx="134">
                  <c:v>2002</c:v>
                </c:pt>
                <c:pt idx="135">
                  <c:v>2002</c:v>
                </c:pt>
                <c:pt idx="136">
                  <c:v>2002</c:v>
                </c:pt>
                <c:pt idx="137">
                  <c:v>2002</c:v>
                </c:pt>
                <c:pt idx="138">
                  <c:v>2002</c:v>
                </c:pt>
                <c:pt idx="139">
                  <c:v>2002</c:v>
                </c:pt>
                <c:pt idx="140">
                  <c:v>2002</c:v>
                </c:pt>
                <c:pt idx="141">
                  <c:v>2002</c:v>
                </c:pt>
                <c:pt idx="142">
                  <c:v>2002</c:v>
                </c:pt>
                <c:pt idx="143">
                  <c:v>2002</c:v>
                </c:pt>
                <c:pt idx="144">
                  <c:v>2002</c:v>
                </c:pt>
                <c:pt idx="145">
                  <c:v>2002</c:v>
                </c:pt>
                <c:pt idx="146">
                  <c:v>2002</c:v>
                </c:pt>
                <c:pt idx="147">
                  <c:v>2002</c:v>
                </c:pt>
                <c:pt idx="148">
                  <c:v>2002</c:v>
                </c:pt>
                <c:pt idx="149">
                  <c:v>2002</c:v>
                </c:pt>
                <c:pt idx="150">
                  <c:v>2003</c:v>
                </c:pt>
                <c:pt idx="151">
                  <c:v>2003</c:v>
                </c:pt>
                <c:pt idx="152">
                  <c:v>2003</c:v>
                </c:pt>
                <c:pt idx="153">
                  <c:v>2003</c:v>
                </c:pt>
                <c:pt idx="154">
                  <c:v>2003</c:v>
                </c:pt>
                <c:pt idx="155">
                  <c:v>2003</c:v>
                </c:pt>
                <c:pt idx="156">
                  <c:v>2003</c:v>
                </c:pt>
                <c:pt idx="157">
                  <c:v>2003</c:v>
                </c:pt>
                <c:pt idx="158">
                  <c:v>2003</c:v>
                </c:pt>
                <c:pt idx="159">
                  <c:v>2003</c:v>
                </c:pt>
                <c:pt idx="160">
                  <c:v>2003</c:v>
                </c:pt>
                <c:pt idx="161">
                  <c:v>2003</c:v>
                </c:pt>
                <c:pt idx="162">
                  <c:v>2003</c:v>
                </c:pt>
                <c:pt idx="163">
                  <c:v>2003</c:v>
                </c:pt>
                <c:pt idx="164">
                  <c:v>2003</c:v>
                </c:pt>
                <c:pt idx="165">
                  <c:v>2003</c:v>
                </c:pt>
                <c:pt idx="166">
                  <c:v>2003</c:v>
                </c:pt>
                <c:pt idx="167">
                  <c:v>2003</c:v>
                </c:pt>
                <c:pt idx="168">
                  <c:v>2003</c:v>
                </c:pt>
                <c:pt idx="169">
                  <c:v>2003</c:v>
                </c:pt>
                <c:pt idx="170">
                  <c:v>2003</c:v>
                </c:pt>
                <c:pt idx="171">
                  <c:v>2003</c:v>
                </c:pt>
                <c:pt idx="172">
                  <c:v>2003</c:v>
                </c:pt>
                <c:pt idx="173">
                  <c:v>2003</c:v>
                </c:pt>
                <c:pt idx="174">
                  <c:v>2003</c:v>
                </c:pt>
                <c:pt idx="175">
                  <c:v>2003</c:v>
                </c:pt>
                <c:pt idx="176">
                  <c:v>2003</c:v>
                </c:pt>
                <c:pt idx="177">
                  <c:v>2003</c:v>
                </c:pt>
                <c:pt idx="178">
                  <c:v>2003</c:v>
                </c:pt>
                <c:pt idx="179">
                  <c:v>2003</c:v>
                </c:pt>
                <c:pt idx="180">
                  <c:v>2003</c:v>
                </c:pt>
                <c:pt idx="181">
                  <c:v>2003</c:v>
                </c:pt>
                <c:pt idx="182">
                  <c:v>2003</c:v>
                </c:pt>
                <c:pt idx="183">
                  <c:v>2003</c:v>
                </c:pt>
                <c:pt idx="184">
                  <c:v>2003</c:v>
                </c:pt>
                <c:pt idx="185">
                  <c:v>2003</c:v>
                </c:pt>
                <c:pt idx="186">
                  <c:v>2003</c:v>
                </c:pt>
                <c:pt idx="187">
                  <c:v>2003</c:v>
                </c:pt>
                <c:pt idx="188">
                  <c:v>2003</c:v>
                </c:pt>
                <c:pt idx="189">
                  <c:v>2003</c:v>
                </c:pt>
                <c:pt idx="190">
                  <c:v>2003</c:v>
                </c:pt>
                <c:pt idx="191">
                  <c:v>2003</c:v>
                </c:pt>
                <c:pt idx="192">
                  <c:v>2003</c:v>
                </c:pt>
                <c:pt idx="193">
                  <c:v>2003</c:v>
                </c:pt>
                <c:pt idx="194">
                  <c:v>2003</c:v>
                </c:pt>
                <c:pt idx="195">
                  <c:v>2003</c:v>
                </c:pt>
                <c:pt idx="196">
                  <c:v>2003</c:v>
                </c:pt>
                <c:pt idx="197">
                  <c:v>2003</c:v>
                </c:pt>
                <c:pt idx="198">
                  <c:v>2003</c:v>
                </c:pt>
                <c:pt idx="199">
                  <c:v>2003</c:v>
                </c:pt>
                <c:pt idx="200">
                  <c:v>2003</c:v>
                </c:pt>
                <c:pt idx="201">
                  <c:v>2004</c:v>
                </c:pt>
                <c:pt idx="202">
                  <c:v>2004</c:v>
                </c:pt>
                <c:pt idx="203">
                  <c:v>2004</c:v>
                </c:pt>
                <c:pt idx="204">
                  <c:v>2004</c:v>
                </c:pt>
                <c:pt idx="205">
                  <c:v>2004</c:v>
                </c:pt>
                <c:pt idx="206">
                  <c:v>2004</c:v>
                </c:pt>
                <c:pt idx="207">
                  <c:v>2004</c:v>
                </c:pt>
                <c:pt idx="208">
                  <c:v>2004</c:v>
                </c:pt>
                <c:pt idx="209">
                  <c:v>2004</c:v>
                </c:pt>
                <c:pt idx="210">
                  <c:v>2004</c:v>
                </c:pt>
                <c:pt idx="211">
                  <c:v>2004</c:v>
                </c:pt>
                <c:pt idx="212">
                  <c:v>2004</c:v>
                </c:pt>
                <c:pt idx="213">
                  <c:v>2004</c:v>
                </c:pt>
                <c:pt idx="214">
                  <c:v>2004</c:v>
                </c:pt>
                <c:pt idx="215">
                  <c:v>2004</c:v>
                </c:pt>
                <c:pt idx="216">
                  <c:v>2004</c:v>
                </c:pt>
                <c:pt idx="217">
                  <c:v>2004</c:v>
                </c:pt>
                <c:pt idx="218">
                  <c:v>2004</c:v>
                </c:pt>
                <c:pt idx="219">
                  <c:v>2004</c:v>
                </c:pt>
                <c:pt idx="220">
                  <c:v>2004</c:v>
                </c:pt>
                <c:pt idx="221">
                  <c:v>2004</c:v>
                </c:pt>
                <c:pt idx="222">
                  <c:v>2004</c:v>
                </c:pt>
                <c:pt idx="223">
                  <c:v>2004</c:v>
                </c:pt>
                <c:pt idx="224">
                  <c:v>2004</c:v>
                </c:pt>
                <c:pt idx="225">
                  <c:v>2004</c:v>
                </c:pt>
                <c:pt idx="226">
                  <c:v>2004</c:v>
                </c:pt>
                <c:pt idx="227">
                  <c:v>2004</c:v>
                </c:pt>
                <c:pt idx="228">
                  <c:v>2004</c:v>
                </c:pt>
                <c:pt idx="229">
                  <c:v>2004</c:v>
                </c:pt>
                <c:pt idx="230">
                  <c:v>2004</c:v>
                </c:pt>
                <c:pt idx="231">
                  <c:v>2004</c:v>
                </c:pt>
                <c:pt idx="232">
                  <c:v>2004</c:v>
                </c:pt>
                <c:pt idx="233">
                  <c:v>2004</c:v>
                </c:pt>
                <c:pt idx="234">
                  <c:v>2004</c:v>
                </c:pt>
                <c:pt idx="235">
                  <c:v>2004</c:v>
                </c:pt>
                <c:pt idx="236">
                  <c:v>2004</c:v>
                </c:pt>
                <c:pt idx="237">
                  <c:v>2004</c:v>
                </c:pt>
                <c:pt idx="238">
                  <c:v>2004</c:v>
                </c:pt>
                <c:pt idx="239">
                  <c:v>2004</c:v>
                </c:pt>
                <c:pt idx="240">
                  <c:v>2004</c:v>
                </c:pt>
                <c:pt idx="241">
                  <c:v>2004</c:v>
                </c:pt>
                <c:pt idx="242">
                  <c:v>2004</c:v>
                </c:pt>
                <c:pt idx="243">
                  <c:v>2004</c:v>
                </c:pt>
                <c:pt idx="244">
                  <c:v>2004</c:v>
                </c:pt>
                <c:pt idx="245">
                  <c:v>2004</c:v>
                </c:pt>
                <c:pt idx="246">
                  <c:v>2004</c:v>
                </c:pt>
                <c:pt idx="247">
                  <c:v>2004</c:v>
                </c:pt>
                <c:pt idx="248">
                  <c:v>2004</c:v>
                </c:pt>
                <c:pt idx="249">
                  <c:v>2004</c:v>
                </c:pt>
                <c:pt idx="250">
                  <c:v>2004</c:v>
                </c:pt>
                <c:pt idx="251">
                  <c:v>2004</c:v>
                </c:pt>
                <c:pt idx="252">
                  <c:v>2005</c:v>
                </c:pt>
                <c:pt idx="253">
                  <c:v>2005</c:v>
                </c:pt>
                <c:pt idx="254">
                  <c:v>2005</c:v>
                </c:pt>
                <c:pt idx="255">
                  <c:v>2005</c:v>
                </c:pt>
                <c:pt idx="256">
                  <c:v>2005</c:v>
                </c:pt>
                <c:pt idx="257">
                  <c:v>2005</c:v>
                </c:pt>
                <c:pt idx="258">
                  <c:v>2005</c:v>
                </c:pt>
                <c:pt idx="259">
                  <c:v>2005</c:v>
                </c:pt>
                <c:pt idx="260">
                  <c:v>2005</c:v>
                </c:pt>
                <c:pt idx="261">
                  <c:v>2005</c:v>
                </c:pt>
                <c:pt idx="262">
                  <c:v>2005</c:v>
                </c:pt>
                <c:pt idx="263">
                  <c:v>2005</c:v>
                </c:pt>
                <c:pt idx="264">
                  <c:v>2005</c:v>
                </c:pt>
                <c:pt idx="265">
                  <c:v>2005</c:v>
                </c:pt>
                <c:pt idx="266">
                  <c:v>2005</c:v>
                </c:pt>
                <c:pt idx="267">
                  <c:v>2005</c:v>
                </c:pt>
                <c:pt idx="268">
                  <c:v>2005</c:v>
                </c:pt>
                <c:pt idx="269">
                  <c:v>2005</c:v>
                </c:pt>
                <c:pt idx="270">
                  <c:v>2005</c:v>
                </c:pt>
                <c:pt idx="271">
                  <c:v>2005</c:v>
                </c:pt>
                <c:pt idx="272">
                  <c:v>2005</c:v>
                </c:pt>
                <c:pt idx="273">
                  <c:v>2005</c:v>
                </c:pt>
                <c:pt idx="274">
                  <c:v>2005</c:v>
                </c:pt>
                <c:pt idx="275">
                  <c:v>2005</c:v>
                </c:pt>
                <c:pt idx="276">
                  <c:v>2005</c:v>
                </c:pt>
                <c:pt idx="277">
                  <c:v>2005</c:v>
                </c:pt>
                <c:pt idx="278">
                  <c:v>2005</c:v>
                </c:pt>
                <c:pt idx="279">
                  <c:v>2005</c:v>
                </c:pt>
                <c:pt idx="280">
                  <c:v>2005</c:v>
                </c:pt>
                <c:pt idx="281">
                  <c:v>2005</c:v>
                </c:pt>
                <c:pt idx="282">
                  <c:v>2005</c:v>
                </c:pt>
                <c:pt idx="283">
                  <c:v>2005</c:v>
                </c:pt>
                <c:pt idx="284">
                  <c:v>2005</c:v>
                </c:pt>
                <c:pt idx="285">
                  <c:v>2005</c:v>
                </c:pt>
                <c:pt idx="286">
                  <c:v>2005</c:v>
                </c:pt>
                <c:pt idx="287">
                  <c:v>2005</c:v>
                </c:pt>
                <c:pt idx="288">
                  <c:v>2005</c:v>
                </c:pt>
                <c:pt idx="289">
                  <c:v>2005</c:v>
                </c:pt>
                <c:pt idx="290">
                  <c:v>2005</c:v>
                </c:pt>
                <c:pt idx="291">
                  <c:v>2005</c:v>
                </c:pt>
                <c:pt idx="292">
                  <c:v>2005</c:v>
                </c:pt>
                <c:pt idx="293">
                  <c:v>2005</c:v>
                </c:pt>
                <c:pt idx="294">
                  <c:v>2005</c:v>
                </c:pt>
                <c:pt idx="295">
                  <c:v>2005</c:v>
                </c:pt>
                <c:pt idx="296">
                  <c:v>2005</c:v>
                </c:pt>
                <c:pt idx="297">
                  <c:v>2005</c:v>
                </c:pt>
                <c:pt idx="298">
                  <c:v>2005</c:v>
                </c:pt>
                <c:pt idx="299">
                  <c:v>2005</c:v>
                </c:pt>
                <c:pt idx="300">
                  <c:v>2005</c:v>
                </c:pt>
                <c:pt idx="301">
                  <c:v>2005</c:v>
                </c:pt>
                <c:pt idx="302">
                  <c:v>2006</c:v>
                </c:pt>
                <c:pt idx="303">
                  <c:v>2006</c:v>
                </c:pt>
                <c:pt idx="304">
                  <c:v>2006</c:v>
                </c:pt>
                <c:pt idx="305">
                  <c:v>2006</c:v>
                </c:pt>
                <c:pt idx="306">
                  <c:v>2006</c:v>
                </c:pt>
                <c:pt idx="307">
                  <c:v>2006</c:v>
                </c:pt>
                <c:pt idx="308">
                  <c:v>2006</c:v>
                </c:pt>
                <c:pt idx="309">
                  <c:v>2006</c:v>
                </c:pt>
                <c:pt idx="310">
                  <c:v>2006</c:v>
                </c:pt>
                <c:pt idx="311">
                  <c:v>2006</c:v>
                </c:pt>
                <c:pt idx="312">
                  <c:v>2006</c:v>
                </c:pt>
                <c:pt idx="313">
                  <c:v>2006</c:v>
                </c:pt>
                <c:pt idx="314">
                  <c:v>2006</c:v>
                </c:pt>
                <c:pt idx="315">
                  <c:v>2006</c:v>
                </c:pt>
                <c:pt idx="316">
                  <c:v>2006</c:v>
                </c:pt>
                <c:pt idx="317">
                  <c:v>2006</c:v>
                </c:pt>
                <c:pt idx="318">
                  <c:v>2006</c:v>
                </c:pt>
                <c:pt idx="319">
                  <c:v>2006</c:v>
                </c:pt>
                <c:pt idx="320">
                  <c:v>2006</c:v>
                </c:pt>
                <c:pt idx="321">
                  <c:v>2006</c:v>
                </c:pt>
                <c:pt idx="322">
                  <c:v>2006</c:v>
                </c:pt>
                <c:pt idx="323">
                  <c:v>2006</c:v>
                </c:pt>
                <c:pt idx="324">
                  <c:v>2006</c:v>
                </c:pt>
                <c:pt idx="325">
                  <c:v>2006</c:v>
                </c:pt>
                <c:pt idx="326">
                  <c:v>2006</c:v>
                </c:pt>
                <c:pt idx="327">
                  <c:v>2006</c:v>
                </c:pt>
                <c:pt idx="328">
                  <c:v>2006</c:v>
                </c:pt>
                <c:pt idx="329">
                  <c:v>2006</c:v>
                </c:pt>
                <c:pt idx="330">
                  <c:v>2006</c:v>
                </c:pt>
                <c:pt idx="331">
                  <c:v>2006</c:v>
                </c:pt>
                <c:pt idx="332">
                  <c:v>2006</c:v>
                </c:pt>
                <c:pt idx="333">
                  <c:v>2006</c:v>
                </c:pt>
                <c:pt idx="334">
                  <c:v>2006</c:v>
                </c:pt>
                <c:pt idx="335">
                  <c:v>2006</c:v>
                </c:pt>
                <c:pt idx="336">
                  <c:v>2006</c:v>
                </c:pt>
                <c:pt idx="337">
                  <c:v>2006</c:v>
                </c:pt>
                <c:pt idx="338">
                  <c:v>2006</c:v>
                </c:pt>
                <c:pt idx="339">
                  <c:v>2006</c:v>
                </c:pt>
                <c:pt idx="340">
                  <c:v>2006</c:v>
                </c:pt>
                <c:pt idx="341">
                  <c:v>2006</c:v>
                </c:pt>
                <c:pt idx="342">
                  <c:v>2006</c:v>
                </c:pt>
                <c:pt idx="343">
                  <c:v>2006</c:v>
                </c:pt>
                <c:pt idx="344">
                  <c:v>2006</c:v>
                </c:pt>
                <c:pt idx="345">
                  <c:v>2006</c:v>
                </c:pt>
                <c:pt idx="346">
                  <c:v>2006</c:v>
                </c:pt>
                <c:pt idx="347">
                  <c:v>2006</c:v>
                </c:pt>
                <c:pt idx="348">
                  <c:v>2006</c:v>
                </c:pt>
                <c:pt idx="349">
                  <c:v>2006</c:v>
                </c:pt>
                <c:pt idx="350">
                  <c:v>2006</c:v>
                </c:pt>
                <c:pt idx="351">
                  <c:v>2006</c:v>
                </c:pt>
                <c:pt idx="352">
                  <c:v>2007</c:v>
                </c:pt>
                <c:pt idx="353">
                  <c:v>2007</c:v>
                </c:pt>
                <c:pt idx="354">
                  <c:v>2007</c:v>
                </c:pt>
                <c:pt idx="355">
                  <c:v>2007</c:v>
                </c:pt>
                <c:pt idx="356">
                  <c:v>2007</c:v>
                </c:pt>
                <c:pt idx="357">
                  <c:v>2007</c:v>
                </c:pt>
                <c:pt idx="358">
                  <c:v>2007</c:v>
                </c:pt>
                <c:pt idx="359">
                  <c:v>2007</c:v>
                </c:pt>
                <c:pt idx="360">
                  <c:v>2007</c:v>
                </c:pt>
                <c:pt idx="361">
                  <c:v>2007</c:v>
                </c:pt>
                <c:pt idx="362">
                  <c:v>2007</c:v>
                </c:pt>
                <c:pt idx="363">
                  <c:v>2007</c:v>
                </c:pt>
                <c:pt idx="364">
                  <c:v>2007</c:v>
                </c:pt>
                <c:pt idx="365">
                  <c:v>2007</c:v>
                </c:pt>
                <c:pt idx="366">
                  <c:v>2007</c:v>
                </c:pt>
                <c:pt idx="367">
                  <c:v>2007</c:v>
                </c:pt>
                <c:pt idx="368">
                  <c:v>2007</c:v>
                </c:pt>
                <c:pt idx="369">
                  <c:v>2007</c:v>
                </c:pt>
                <c:pt idx="370">
                  <c:v>2007</c:v>
                </c:pt>
                <c:pt idx="371">
                  <c:v>2007</c:v>
                </c:pt>
                <c:pt idx="372">
                  <c:v>2007</c:v>
                </c:pt>
                <c:pt idx="373">
                  <c:v>2007</c:v>
                </c:pt>
                <c:pt idx="374">
                  <c:v>2007</c:v>
                </c:pt>
                <c:pt idx="375">
                  <c:v>2007</c:v>
                </c:pt>
                <c:pt idx="376">
                  <c:v>2007</c:v>
                </c:pt>
                <c:pt idx="377">
                  <c:v>2007</c:v>
                </c:pt>
                <c:pt idx="378">
                  <c:v>2007</c:v>
                </c:pt>
                <c:pt idx="379">
                  <c:v>2007</c:v>
                </c:pt>
                <c:pt idx="380">
                  <c:v>2007</c:v>
                </c:pt>
                <c:pt idx="381">
                  <c:v>2007</c:v>
                </c:pt>
                <c:pt idx="382">
                  <c:v>2007</c:v>
                </c:pt>
                <c:pt idx="383">
                  <c:v>2007</c:v>
                </c:pt>
                <c:pt idx="384">
                  <c:v>2007</c:v>
                </c:pt>
                <c:pt idx="385">
                  <c:v>2007</c:v>
                </c:pt>
                <c:pt idx="386">
                  <c:v>2007</c:v>
                </c:pt>
                <c:pt idx="387">
                  <c:v>2007</c:v>
                </c:pt>
                <c:pt idx="388">
                  <c:v>2007</c:v>
                </c:pt>
                <c:pt idx="389">
                  <c:v>2007</c:v>
                </c:pt>
                <c:pt idx="390">
                  <c:v>2007</c:v>
                </c:pt>
                <c:pt idx="391">
                  <c:v>2007</c:v>
                </c:pt>
                <c:pt idx="392">
                  <c:v>2007</c:v>
                </c:pt>
                <c:pt idx="393">
                  <c:v>2007</c:v>
                </c:pt>
                <c:pt idx="394">
                  <c:v>2007</c:v>
                </c:pt>
                <c:pt idx="395">
                  <c:v>2007</c:v>
                </c:pt>
                <c:pt idx="396">
                  <c:v>2007</c:v>
                </c:pt>
                <c:pt idx="397">
                  <c:v>2007</c:v>
                </c:pt>
                <c:pt idx="398">
                  <c:v>2007</c:v>
                </c:pt>
                <c:pt idx="399">
                  <c:v>2007</c:v>
                </c:pt>
                <c:pt idx="400">
                  <c:v>2007</c:v>
                </c:pt>
                <c:pt idx="401">
                  <c:v>2007</c:v>
                </c:pt>
                <c:pt idx="402">
                  <c:v>2008</c:v>
                </c:pt>
                <c:pt idx="403">
                  <c:v>2008</c:v>
                </c:pt>
                <c:pt idx="404">
                  <c:v>2008</c:v>
                </c:pt>
                <c:pt idx="405">
                  <c:v>2008</c:v>
                </c:pt>
                <c:pt idx="406">
                  <c:v>2008</c:v>
                </c:pt>
                <c:pt idx="407">
                  <c:v>2008</c:v>
                </c:pt>
                <c:pt idx="408">
                  <c:v>2008</c:v>
                </c:pt>
                <c:pt idx="409">
                  <c:v>2008</c:v>
                </c:pt>
                <c:pt idx="410">
                  <c:v>2008</c:v>
                </c:pt>
                <c:pt idx="411">
                  <c:v>2008</c:v>
                </c:pt>
                <c:pt idx="412">
                  <c:v>2008</c:v>
                </c:pt>
                <c:pt idx="413">
                  <c:v>2008</c:v>
                </c:pt>
                <c:pt idx="414">
                  <c:v>2008</c:v>
                </c:pt>
                <c:pt idx="415">
                  <c:v>2008</c:v>
                </c:pt>
                <c:pt idx="416">
                  <c:v>2008</c:v>
                </c:pt>
                <c:pt idx="417">
                  <c:v>2008</c:v>
                </c:pt>
                <c:pt idx="418">
                  <c:v>2008</c:v>
                </c:pt>
                <c:pt idx="419">
                  <c:v>2008</c:v>
                </c:pt>
                <c:pt idx="420">
                  <c:v>2008</c:v>
                </c:pt>
                <c:pt idx="421">
                  <c:v>2008</c:v>
                </c:pt>
                <c:pt idx="422">
                  <c:v>2008</c:v>
                </c:pt>
                <c:pt idx="423">
                  <c:v>2008</c:v>
                </c:pt>
                <c:pt idx="424">
                  <c:v>2008</c:v>
                </c:pt>
                <c:pt idx="425">
                  <c:v>2008</c:v>
                </c:pt>
                <c:pt idx="426">
                  <c:v>2008</c:v>
                </c:pt>
                <c:pt idx="427">
                  <c:v>2008</c:v>
                </c:pt>
                <c:pt idx="428">
                  <c:v>2008</c:v>
                </c:pt>
                <c:pt idx="429">
                  <c:v>2008</c:v>
                </c:pt>
                <c:pt idx="430">
                  <c:v>2008</c:v>
                </c:pt>
                <c:pt idx="431">
                  <c:v>2008</c:v>
                </c:pt>
                <c:pt idx="432">
                  <c:v>2008</c:v>
                </c:pt>
                <c:pt idx="433">
                  <c:v>2008</c:v>
                </c:pt>
                <c:pt idx="434">
                  <c:v>2008</c:v>
                </c:pt>
                <c:pt idx="435">
                  <c:v>2008</c:v>
                </c:pt>
                <c:pt idx="436">
                  <c:v>2008</c:v>
                </c:pt>
                <c:pt idx="437">
                  <c:v>2008</c:v>
                </c:pt>
                <c:pt idx="438">
                  <c:v>2008</c:v>
                </c:pt>
                <c:pt idx="439">
                  <c:v>2008</c:v>
                </c:pt>
                <c:pt idx="440">
                  <c:v>2008</c:v>
                </c:pt>
                <c:pt idx="441">
                  <c:v>2008</c:v>
                </c:pt>
                <c:pt idx="442">
                  <c:v>2008</c:v>
                </c:pt>
                <c:pt idx="443">
                  <c:v>2008</c:v>
                </c:pt>
                <c:pt idx="444">
                  <c:v>2008</c:v>
                </c:pt>
                <c:pt idx="445">
                  <c:v>2008</c:v>
                </c:pt>
                <c:pt idx="446">
                  <c:v>2008</c:v>
                </c:pt>
                <c:pt idx="447">
                  <c:v>2008</c:v>
                </c:pt>
                <c:pt idx="448">
                  <c:v>2008</c:v>
                </c:pt>
                <c:pt idx="449">
                  <c:v>2008</c:v>
                </c:pt>
                <c:pt idx="450">
                  <c:v>2008</c:v>
                </c:pt>
                <c:pt idx="451">
                  <c:v>2009</c:v>
                </c:pt>
                <c:pt idx="452">
                  <c:v>2009</c:v>
                </c:pt>
                <c:pt idx="453">
                  <c:v>2009</c:v>
                </c:pt>
                <c:pt idx="454">
                  <c:v>2009</c:v>
                </c:pt>
                <c:pt idx="455">
                  <c:v>2009</c:v>
                </c:pt>
                <c:pt idx="456">
                  <c:v>2009</c:v>
                </c:pt>
                <c:pt idx="457">
                  <c:v>2009</c:v>
                </c:pt>
                <c:pt idx="458">
                  <c:v>2009</c:v>
                </c:pt>
                <c:pt idx="459">
                  <c:v>2009</c:v>
                </c:pt>
                <c:pt idx="460">
                  <c:v>2009</c:v>
                </c:pt>
                <c:pt idx="461">
                  <c:v>2009</c:v>
                </c:pt>
                <c:pt idx="462">
                  <c:v>2009</c:v>
                </c:pt>
                <c:pt idx="463">
                  <c:v>2009</c:v>
                </c:pt>
                <c:pt idx="464">
                  <c:v>2009</c:v>
                </c:pt>
                <c:pt idx="465">
                  <c:v>2009</c:v>
                </c:pt>
                <c:pt idx="466">
                  <c:v>2009</c:v>
                </c:pt>
                <c:pt idx="467">
                  <c:v>2009</c:v>
                </c:pt>
                <c:pt idx="468">
                  <c:v>2009</c:v>
                </c:pt>
                <c:pt idx="469">
                  <c:v>2009</c:v>
                </c:pt>
                <c:pt idx="470">
                  <c:v>2009</c:v>
                </c:pt>
                <c:pt idx="471">
                  <c:v>2009</c:v>
                </c:pt>
                <c:pt idx="472">
                  <c:v>2009</c:v>
                </c:pt>
                <c:pt idx="473">
                  <c:v>2009</c:v>
                </c:pt>
                <c:pt idx="474">
                  <c:v>2009</c:v>
                </c:pt>
                <c:pt idx="475">
                  <c:v>2009</c:v>
                </c:pt>
                <c:pt idx="476">
                  <c:v>2009</c:v>
                </c:pt>
                <c:pt idx="477">
                  <c:v>2009</c:v>
                </c:pt>
                <c:pt idx="478">
                  <c:v>2009</c:v>
                </c:pt>
                <c:pt idx="479">
                  <c:v>2009</c:v>
                </c:pt>
                <c:pt idx="480">
                  <c:v>2009</c:v>
                </c:pt>
                <c:pt idx="481">
                  <c:v>2009</c:v>
                </c:pt>
                <c:pt idx="482">
                  <c:v>2009</c:v>
                </c:pt>
                <c:pt idx="483">
                  <c:v>2009</c:v>
                </c:pt>
                <c:pt idx="484">
                  <c:v>2009</c:v>
                </c:pt>
                <c:pt idx="485">
                  <c:v>2009</c:v>
                </c:pt>
                <c:pt idx="486">
                  <c:v>2009</c:v>
                </c:pt>
                <c:pt idx="487">
                  <c:v>2009</c:v>
                </c:pt>
                <c:pt idx="488">
                  <c:v>2009</c:v>
                </c:pt>
                <c:pt idx="489">
                  <c:v>2009</c:v>
                </c:pt>
                <c:pt idx="490">
                  <c:v>2009</c:v>
                </c:pt>
                <c:pt idx="491">
                  <c:v>2009</c:v>
                </c:pt>
                <c:pt idx="492">
                  <c:v>2009</c:v>
                </c:pt>
                <c:pt idx="493">
                  <c:v>2009</c:v>
                </c:pt>
                <c:pt idx="494">
                  <c:v>2009</c:v>
                </c:pt>
                <c:pt idx="495">
                  <c:v>2009</c:v>
                </c:pt>
                <c:pt idx="496">
                  <c:v>2009</c:v>
                </c:pt>
                <c:pt idx="497">
                  <c:v>2009</c:v>
                </c:pt>
                <c:pt idx="498">
                  <c:v>2009</c:v>
                </c:pt>
                <c:pt idx="499">
                  <c:v>2009</c:v>
                </c:pt>
                <c:pt idx="500">
                  <c:v>2010</c:v>
                </c:pt>
                <c:pt idx="501">
                  <c:v>2010</c:v>
                </c:pt>
                <c:pt idx="502">
                  <c:v>2010</c:v>
                </c:pt>
                <c:pt idx="503">
                  <c:v>2010</c:v>
                </c:pt>
                <c:pt idx="504">
                  <c:v>2010</c:v>
                </c:pt>
                <c:pt idx="505">
                  <c:v>2010</c:v>
                </c:pt>
                <c:pt idx="506">
                  <c:v>2010</c:v>
                </c:pt>
                <c:pt idx="507">
                  <c:v>2010</c:v>
                </c:pt>
                <c:pt idx="508">
                  <c:v>2010</c:v>
                </c:pt>
                <c:pt idx="509">
                  <c:v>2010</c:v>
                </c:pt>
                <c:pt idx="510">
                  <c:v>2010</c:v>
                </c:pt>
                <c:pt idx="511">
                  <c:v>2010</c:v>
                </c:pt>
                <c:pt idx="512">
                  <c:v>2010</c:v>
                </c:pt>
                <c:pt idx="513">
                  <c:v>2010</c:v>
                </c:pt>
                <c:pt idx="514">
                  <c:v>2010</c:v>
                </c:pt>
                <c:pt idx="515">
                  <c:v>2010</c:v>
                </c:pt>
                <c:pt idx="516">
                  <c:v>2010</c:v>
                </c:pt>
                <c:pt idx="517">
                  <c:v>2010</c:v>
                </c:pt>
                <c:pt idx="518">
                  <c:v>2010</c:v>
                </c:pt>
                <c:pt idx="519">
                  <c:v>2010</c:v>
                </c:pt>
                <c:pt idx="520">
                  <c:v>2010</c:v>
                </c:pt>
                <c:pt idx="521">
                  <c:v>2010</c:v>
                </c:pt>
                <c:pt idx="522">
                  <c:v>2010</c:v>
                </c:pt>
                <c:pt idx="523">
                  <c:v>2010</c:v>
                </c:pt>
                <c:pt idx="524">
                  <c:v>2010</c:v>
                </c:pt>
                <c:pt idx="525">
                  <c:v>2010</c:v>
                </c:pt>
                <c:pt idx="526">
                  <c:v>2010</c:v>
                </c:pt>
                <c:pt idx="527">
                  <c:v>2010</c:v>
                </c:pt>
                <c:pt idx="528">
                  <c:v>2010</c:v>
                </c:pt>
                <c:pt idx="529">
                  <c:v>2010</c:v>
                </c:pt>
                <c:pt idx="530">
                  <c:v>2010</c:v>
                </c:pt>
                <c:pt idx="531">
                  <c:v>2010</c:v>
                </c:pt>
                <c:pt idx="532">
                  <c:v>2010</c:v>
                </c:pt>
                <c:pt idx="533">
                  <c:v>2010</c:v>
                </c:pt>
                <c:pt idx="534">
                  <c:v>2010</c:v>
                </c:pt>
                <c:pt idx="535">
                  <c:v>2010</c:v>
                </c:pt>
                <c:pt idx="536">
                  <c:v>2010</c:v>
                </c:pt>
                <c:pt idx="537">
                  <c:v>2010</c:v>
                </c:pt>
                <c:pt idx="538">
                  <c:v>2010</c:v>
                </c:pt>
                <c:pt idx="539">
                  <c:v>2010</c:v>
                </c:pt>
                <c:pt idx="540">
                  <c:v>2010</c:v>
                </c:pt>
                <c:pt idx="541">
                  <c:v>2010</c:v>
                </c:pt>
                <c:pt idx="542">
                  <c:v>2010</c:v>
                </c:pt>
                <c:pt idx="543">
                  <c:v>2010</c:v>
                </c:pt>
                <c:pt idx="544">
                  <c:v>2010</c:v>
                </c:pt>
                <c:pt idx="545">
                  <c:v>2010</c:v>
                </c:pt>
                <c:pt idx="546">
                  <c:v>2010</c:v>
                </c:pt>
                <c:pt idx="547">
                  <c:v>2010</c:v>
                </c:pt>
                <c:pt idx="548">
                  <c:v>2010</c:v>
                </c:pt>
                <c:pt idx="549">
                  <c:v>2010</c:v>
                </c:pt>
                <c:pt idx="550">
                  <c:v>2011</c:v>
                </c:pt>
                <c:pt idx="551">
                  <c:v>2011</c:v>
                </c:pt>
                <c:pt idx="552">
                  <c:v>2011</c:v>
                </c:pt>
                <c:pt idx="553">
                  <c:v>2011</c:v>
                </c:pt>
                <c:pt idx="554">
                  <c:v>2011</c:v>
                </c:pt>
                <c:pt idx="555">
                  <c:v>2011</c:v>
                </c:pt>
                <c:pt idx="556">
                  <c:v>2011</c:v>
                </c:pt>
                <c:pt idx="557">
                  <c:v>2011</c:v>
                </c:pt>
                <c:pt idx="558">
                  <c:v>2011</c:v>
                </c:pt>
                <c:pt idx="559">
                  <c:v>2011</c:v>
                </c:pt>
                <c:pt idx="560">
                  <c:v>2011</c:v>
                </c:pt>
                <c:pt idx="561">
                  <c:v>2011</c:v>
                </c:pt>
                <c:pt idx="562">
                  <c:v>2011</c:v>
                </c:pt>
                <c:pt idx="563">
                  <c:v>2011</c:v>
                </c:pt>
                <c:pt idx="564">
                  <c:v>2011</c:v>
                </c:pt>
                <c:pt idx="565">
                  <c:v>2011</c:v>
                </c:pt>
                <c:pt idx="566">
                  <c:v>2011</c:v>
                </c:pt>
                <c:pt idx="567">
                  <c:v>2011</c:v>
                </c:pt>
                <c:pt idx="568">
                  <c:v>2011</c:v>
                </c:pt>
                <c:pt idx="569">
                  <c:v>2011</c:v>
                </c:pt>
                <c:pt idx="570">
                  <c:v>2011</c:v>
                </c:pt>
                <c:pt idx="571">
                  <c:v>2011</c:v>
                </c:pt>
                <c:pt idx="572">
                  <c:v>2011</c:v>
                </c:pt>
                <c:pt idx="573">
                  <c:v>2011</c:v>
                </c:pt>
                <c:pt idx="574">
                  <c:v>2011</c:v>
                </c:pt>
                <c:pt idx="575">
                  <c:v>2011</c:v>
                </c:pt>
                <c:pt idx="576">
                  <c:v>2011</c:v>
                </c:pt>
                <c:pt idx="577">
                  <c:v>2011</c:v>
                </c:pt>
                <c:pt idx="578">
                  <c:v>2011</c:v>
                </c:pt>
                <c:pt idx="579">
                  <c:v>2011</c:v>
                </c:pt>
                <c:pt idx="580">
                  <c:v>2011</c:v>
                </c:pt>
                <c:pt idx="581">
                  <c:v>2011</c:v>
                </c:pt>
                <c:pt idx="582">
                  <c:v>2011</c:v>
                </c:pt>
                <c:pt idx="583">
                  <c:v>2011</c:v>
                </c:pt>
                <c:pt idx="584">
                  <c:v>2011</c:v>
                </c:pt>
                <c:pt idx="585">
                  <c:v>2011</c:v>
                </c:pt>
                <c:pt idx="586">
                  <c:v>2011</c:v>
                </c:pt>
                <c:pt idx="587">
                  <c:v>2011</c:v>
                </c:pt>
                <c:pt idx="588">
                  <c:v>2011</c:v>
                </c:pt>
                <c:pt idx="589">
                  <c:v>2011</c:v>
                </c:pt>
                <c:pt idx="590">
                  <c:v>2011</c:v>
                </c:pt>
                <c:pt idx="591">
                  <c:v>2011</c:v>
                </c:pt>
                <c:pt idx="592">
                  <c:v>2011</c:v>
                </c:pt>
                <c:pt idx="593">
                  <c:v>2011</c:v>
                </c:pt>
                <c:pt idx="594">
                  <c:v>2011</c:v>
                </c:pt>
                <c:pt idx="595">
                  <c:v>2011</c:v>
                </c:pt>
                <c:pt idx="596">
                  <c:v>2011</c:v>
                </c:pt>
                <c:pt idx="597">
                  <c:v>2011</c:v>
                </c:pt>
                <c:pt idx="598">
                  <c:v>2011</c:v>
                </c:pt>
                <c:pt idx="599">
                  <c:v>2012</c:v>
                </c:pt>
                <c:pt idx="600">
                  <c:v>2012</c:v>
                </c:pt>
                <c:pt idx="601">
                  <c:v>2012</c:v>
                </c:pt>
                <c:pt idx="602">
                  <c:v>2012</c:v>
                </c:pt>
                <c:pt idx="603">
                  <c:v>2012</c:v>
                </c:pt>
                <c:pt idx="604">
                  <c:v>2012</c:v>
                </c:pt>
                <c:pt idx="605">
                  <c:v>2012</c:v>
                </c:pt>
                <c:pt idx="606">
                  <c:v>2012</c:v>
                </c:pt>
                <c:pt idx="607">
                  <c:v>2012</c:v>
                </c:pt>
                <c:pt idx="608">
                  <c:v>2012</c:v>
                </c:pt>
                <c:pt idx="609">
                  <c:v>2012</c:v>
                </c:pt>
                <c:pt idx="610">
                  <c:v>2012</c:v>
                </c:pt>
                <c:pt idx="611">
                  <c:v>2012</c:v>
                </c:pt>
                <c:pt idx="612">
                  <c:v>2012</c:v>
                </c:pt>
                <c:pt idx="613">
                  <c:v>2012</c:v>
                </c:pt>
                <c:pt idx="614">
                  <c:v>2012</c:v>
                </c:pt>
                <c:pt idx="615">
                  <c:v>2012</c:v>
                </c:pt>
                <c:pt idx="616">
                  <c:v>2012</c:v>
                </c:pt>
                <c:pt idx="617">
                  <c:v>2012</c:v>
                </c:pt>
                <c:pt idx="618">
                  <c:v>2012</c:v>
                </c:pt>
                <c:pt idx="619">
                  <c:v>2012</c:v>
                </c:pt>
                <c:pt idx="620">
                  <c:v>2012</c:v>
                </c:pt>
                <c:pt idx="621">
                  <c:v>2012</c:v>
                </c:pt>
                <c:pt idx="622">
                  <c:v>2012</c:v>
                </c:pt>
                <c:pt idx="623">
                  <c:v>2012</c:v>
                </c:pt>
                <c:pt idx="624">
                  <c:v>2012</c:v>
                </c:pt>
                <c:pt idx="625">
                  <c:v>2012</c:v>
                </c:pt>
                <c:pt idx="626">
                  <c:v>2012</c:v>
                </c:pt>
                <c:pt idx="627">
                  <c:v>2012</c:v>
                </c:pt>
                <c:pt idx="628">
                  <c:v>2012</c:v>
                </c:pt>
                <c:pt idx="629">
                  <c:v>2012</c:v>
                </c:pt>
                <c:pt idx="630">
                  <c:v>2012</c:v>
                </c:pt>
                <c:pt idx="631">
                  <c:v>2012</c:v>
                </c:pt>
                <c:pt idx="632">
                  <c:v>2012</c:v>
                </c:pt>
                <c:pt idx="633">
                  <c:v>2012</c:v>
                </c:pt>
                <c:pt idx="634">
                  <c:v>2012</c:v>
                </c:pt>
                <c:pt idx="635">
                  <c:v>2012</c:v>
                </c:pt>
                <c:pt idx="636">
                  <c:v>2012</c:v>
                </c:pt>
                <c:pt idx="637">
                  <c:v>2012</c:v>
                </c:pt>
                <c:pt idx="638">
                  <c:v>2012</c:v>
                </c:pt>
                <c:pt idx="639">
                  <c:v>2012</c:v>
                </c:pt>
                <c:pt idx="640">
                  <c:v>2012</c:v>
                </c:pt>
                <c:pt idx="641">
                  <c:v>2012</c:v>
                </c:pt>
                <c:pt idx="642">
                  <c:v>2012</c:v>
                </c:pt>
                <c:pt idx="643">
                  <c:v>2012</c:v>
                </c:pt>
                <c:pt idx="644">
                  <c:v>2012</c:v>
                </c:pt>
                <c:pt idx="645">
                  <c:v>2012</c:v>
                </c:pt>
                <c:pt idx="646">
                  <c:v>2012</c:v>
                </c:pt>
                <c:pt idx="647">
                  <c:v>2012</c:v>
                </c:pt>
                <c:pt idx="648">
                  <c:v>2012</c:v>
                </c:pt>
                <c:pt idx="649">
                  <c:v>2012</c:v>
                </c:pt>
                <c:pt idx="650">
                  <c:v>2013</c:v>
                </c:pt>
                <c:pt idx="651">
                  <c:v>2013</c:v>
                </c:pt>
                <c:pt idx="652">
                  <c:v>2013</c:v>
                </c:pt>
                <c:pt idx="653">
                  <c:v>2013</c:v>
                </c:pt>
                <c:pt idx="654">
                  <c:v>2013</c:v>
                </c:pt>
                <c:pt idx="655">
                  <c:v>2013</c:v>
                </c:pt>
                <c:pt idx="656">
                  <c:v>2013</c:v>
                </c:pt>
                <c:pt idx="657">
                  <c:v>2013</c:v>
                </c:pt>
                <c:pt idx="658">
                  <c:v>2013</c:v>
                </c:pt>
                <c:pt idx="659">
                  <c:v>2013</c:v>
                </c:pt>
                <c:pt idx="660">
                  <c:v>2013</c:v>
                </c:pt>
                <c:pt idx="661">
                  <c:v>2013</c:v>
                </c:pt>
                <c:pt idx="662">
                  <c:v>2013</c:v>
                </c:pt>
                <c:pt idx="663">
                  <c:v>2013</c:v>
                </c:pt>
                <c:pt idx="664">
                  <c:v>2013</c:v>
                </c:pt>
                <c:pt idx="665">
                  <c:v>2013</c:v>
                </c:pt>
                <c:pt idx="666">
                  <c:v>2013</c:v>
                </c:pt>
                <c:pt idx="667">
                  <c:v>2013</c:v>
                </c:pt>
                <c:pt idx="668">
                  <c:v>2013</c:v>
                </c:pt>
                <c:pt idx="669">
                  <c:v>2013</c:v>
                </c:pt>
                <c:pt idx="670">
                  <c:v>2013</c:v>
                </c:pt>
                <c:pt idx="671">
                  <c:v>2013</c:v>
                </c:pt>
                <c:pt idx="672">
                  <c:v>2013</c:v>
                </c:pt>
                <c:pt idx="673">
                  <c:v>2013</c:v>
                </c:pt>
                <c:pt idx="674">
                  <c:v>2013</c:v>
                </c:pt>
                <c:pt idx="675">
                  <c:v>2013</c:v>
                </c:pt>
                <c:pt idx="676">
                  <c:v>2013</c:v>
                </c:pt>
                <c:pt idx="677">
                  <c:v>2013</c:v>
                </c:pt>
                <c:pt idx="678">
                  <c:v>2013</c:v>
                </c:pt>
                <c:pt idx="679">
                  <c:v>2013</c:v>
                </c:pt>
                <c:pt idx="680">
                  <c:v>2013</c:v>
                </c:pt>
                <c:pt idx="681">
                  <c:v>2013</c:v>
                </c:pt>
                <c:pt idx="682">
                  <c:v>2013</c:v>
                </c:pt>
                <c:pt idx="683">
                  <c:v>2013</c:v>
                </c:pt>
                <c:pt idx="684">
                  <c:v>2013</c:v>
                </c:pt>
                <c:pt idx="685">
                  <c:v>2013</c:v>
                </c:pt>
                <c:pt idx="686">
                  <c:v>2013</c:v>
                </c:pt>
                <c:pt idx="687">
                  <c:v>2013</c:v>
                </c:pt>
                <c:pt idx="688">
                  <c:v>2013</c:v>
                </c:pt>
                <c:pt idx="689">
                  <c:v>2013</c:v>
                </c:pt>
                <c:pt idx="690">
                  <c:v>2013</c:v>
                </c:pt>
                <c:pt idx="691">
                  <c:v>2013</c:v>
                </c:pt>
                <c:pt idx="692">
                  <c:v>2013</c:v>
                </c:pt>
                <c:pt idx="693">
                  <c:v>2013</c:v>
                </c:pt>
                <c:pt idx="694">
                  <c:v>2013</c:v>
                </c:pt>
                <c:pt idx="695">
                  <c:v>2013</c:v>
                </c:pt>
                <c:pt idx="696">
                  <c:v>2013</c:v>
                </c:pt>
                <c:pt idx="697">
                  <c:v>2013</c:v>
                </c:pt>
                <c:pt idx="698">
                  <c:v>2013</c:v>
                </c:pt>
                <c:pt idx="699">
                  <c:v>2013</c:v>
                </c:pt>
                <c:pt idx="700">
                  <c:v>2014</c:v>
                </c:pt>
                <c:pt idx="701">
                  <c:v>2014</c:v>
                </c:pt>
                <c:pt idx="702">
                  <c:v>2014</c:v>
                </c:pt>
                <c:pt idx="703">
                  <c:v>2014</c:v>
                </c:pt>
                <c:pt idx="704">
                  <c:v>2014</c:v>
                </c:pt>
                <c:pt idx="705">
                  <c:v>2014</c:v>
                </c:pt>
                <c:pt idx="706">
                  <c:v>2014</c:v>
                </c:pt>
                <c:pt idx="707">
                  <c:v>2014</c:v>
                </c:pt>
                <c:pt idx="708">
                  <c:v>2014</c:v>
                </c:pt>
                <c:pt idx="709">
                  <c:v>2014</c:v>
                </c:pt>
                <c:pt idx="710">
                  <c:v>2014</c:v>
                </c:pt>
                <c:pt idx="711">
                  <c:v>2014</c:v>
                </c:pt>
                <c:pt idx="712">
                  <c:v>2014</c:v>
                </c:pt>
                <c:pt idx="713">
                  <c:v>2014</c:v>
                </c:pt>
                <c:pt idx="714">
                  <c:v>2014</c:v>
                </c:pt>
                <c:pt idx="715">
                  <c:v>2014</c:v>
                </c:pt>
                <c:pt idx="716">
                  <c:v>2014</c:v>
                </c:pt>
                <c:pt idx="717">
                  <c:v>2014</c:v>
                </c:pt>
                <c:pt idx="718">
                  <c:v>2014</c:v>
                </c:pt>
                <c:pt idx="719">
                  <c:v>2014</c:v>
                </c:pt>
                <c:pt idx="720">
                  <c:v>2014</c:v>
                </c:pt>
                <c:pt idx="721">
                  <c:v>2014</c:v>
                </c:pt>
                <c:pt idx="722">
                  <c:v>2014</c:v>
                </c:pt>
                <c:pt idx="723">
                  <c:v>2014</c:v>
                </c:pt>
                <c:pt idx="724">
                  <c:v>2014</c:v>
                </c:pt>
                <c:pt idx="725">
                  <c:v>2014</c:v>
                </c:pt>
                <c:pt idx="726">
                  <c:v>2014</c:v>
                </c:pt>
                <c:pt idx="727">
                  <c:v>2014</c:v>
                </c:pt>
                <c:pt idx="728">
                  <c:v>2014</c:v>
                </c:pt>
                <c:pt idx="729">
                  <c:v>2014</c:v>
                </c:pt>
                <c:pt idx="730">
                  <c:v>2014</c:v>
                </c:pt>
                <c:pt idx="731">
                  <c:v>2014</c:v>
                </c:pt>
                <c:pt idx="732">
                  <c:v>2014</c:v>
                </c:pt>
                <c:pt idx="733">
                  <c:v>2014</c:v>
                </c:pt>
                <c:pt idx="734">
                  <c:v>2014</c:v>
                </c:pt>
                <c:pt idx="735">
                  <c:v>2014</c:v>
                </c:pt>
                <c:pt idx="736">
                  <c:v>2014</c:v>
                </c:pt>
                <c:pt idx="737">
                  <c:v>2014</c:v>
                </c:pt>
                <c:pt idx="738">
                  <c:v>2014</c:v>
                </c:pt>
                <c:pt idx="739">
                  <c:v>2014</c:v>
                </c:pt>
                <c:pt idx="740">
                  <c:v>2014</c:v>
                </c:pt>
                <c:pt idx="741">
                  <c:v>2014</c:v>
                </c:pt>
                <c:pt idx="742">
                  <c:v>2014</c:v>
                </c:pt>
                <c:pt idx="743">
                  <c:v>2014</c:v>
                </c:pt>
                <c:pt idx="744">
                  <c:v>2014</c:v>
                </c:pt>
                <c:pt idx="745">
                  <c:v>2014</c:v>
                </c:pt>
                <c:pt idx="746">
                  <c:v>2014</c:v>
                </c:pt>
                <c:pt idx="747">
                  <c:v>2014</c:v>
                </c:pt>
                <c:pt idx="748">
                  <c:v>2015</c:v>
                </c:pt>
                <c:pt idx="749">
                  <c:v>2015</c:v>
                </c:pt>
                <c:pt idx="750">
                  <c:v>2015</c:v>
                </c:pt>
                <c:pt idx="751">
                  <c:v>2015</c:v>
                </c:pt>
                <c:pt idx="752">
                  <c:v>2015</c:v>
                </c:pt>
                <c:pt idx="753">
                  <c:v>2015</c:v>
                </c:pt>
                <c:pt idx="754">
                  <c:v>2015</c:v>
                </c:pt>
                <c:pt idx="755">
                  <c:v>2015</c:v>
                </c:pt>
                <c:pt idx="756">
                  <c:v>2015</c:v>
                </c:pt>
                <c:pt idx="757">
                  <c:v>2015</c:v>
                </c:pt>
                <c:pt idx="758">
                  <c:v>2015</c:v>
                </c:pt>
                <c:pt idx="759">
                  <c:v>2015</c:v>
                </c:pt>
                <c:pt idx="760">
                  <c:v>2015</c:v>
                </c:pt>
                <c:pt idx="761">
                  <c:v>2015</c:v>
                </c:pt>
                <c:pt idx="762">
                  <c:v>2015</c:v>
                </c:pt>
                <c:pt idx="763">
                  <c:v>2015</c:v>
                </c:pt>
                <c:pt idx="764">
                  <c:v>2015</c:v>
                </c:pt>
                <c:pt idx="765">
                  <c:v>2015</c:v>
                </c:pt>
                <c:pt idx="766">
                  <c:v>2015</c:v>
                </c:pt>
                <c:pt idx="767">
                  <c:v>2015</c:v>
                </c:pt>
                <c:pt idx="768">
                  <c:v>2015</c:v>
                </c:pt>
                <c:pt idx="769">
                  <c:v>2015</c:v>
                </c:pt>
                <c:pt idx="770">
                  <c:v>2015</c:v>
                </c:pt>
                <c:pt idx="771">
                  <c:v>2015</c:v>
                </c:pt>
                <c:pt idx="772">
                  <c:v>2015</c:v>
                </c:pt>
                <c:pt idx="773">
                  <c:v>2015</c:v>
                </c:pt>
                <c:pt idx="774">
                  <c:v>2015</c:v>
                </c:pt>
                <c:pt idx="775">
                  <c:v>2015</c:v>
                </c:pt>
                <c:pt idx="776">
                  <c:v>2015</c:v>
                </c:pt>
                <c:pt idx="777">
                  <c:v>2015</c:v>
                </c:pt>
                <c:pt idx="778">
                  <c:v>2015</c:v>
                </c:pt>
                <c:pt idx="779">
                  <c:v>2015</c:v>
                </c:pt>
                <c:pt idx="780">
                  <c:v>2015</c:v>
                </c:pt>
                <c:pt idx="781">
                  <c:v>2015</c:v>
                </c:pt>
                <c:pt idx="782">
                  <c:v>2015</c:v>
                </c:pt>
                <c:pt idx="783">
                  <c:v>2015</c:v>
                </c:pt>
                <c:pt idx="784">
                  <c:v>2015</c:v>
                </c:pt>
                <c:pt idx="785">
                  <c:v>2015</c:v>
                </c:pt>
                <c:pt idx="786">
                  <c:v>2015</c:v>
                </c:pt>
                <c:pt idx="787">
                  <c:v>2015</c:v>
                </c:pt>
                <c:pt idx="788">
                  <c:v>2015</c:v>
                </c:pt>
                <c:pt idx="789">
                  <c:v>2015</c:v>
                </c:pt>
                <c:pt idx="790">
                  <c:v>2015</c:v>
                </c:pt>
                <c:pt idx="791">
                  <c:v>2015</c:v>
                </c:pt>
                <c:pt idx="792">
                  <c:v>2015</c:v>
                </c:pt>
                <c:pt idx="793">
                  <c:v>2015</c:v>
                </c:pt>
                <c:pt idx="794">
                  <c:v>2015</c:v>
                </c:pt>
                <c:pt idx="795">
                  <c:v>2015</c:v>
                </c:pt>
                <c:pt idx="796">
                  <c:v>2015</c:v>
                </c:pt>
                <c:pt idx="797">
                  <c:v>2015</c:v>
                </c:pt>
                <c:pt idx="798">
                  <c:v>2016</c:v>
                </c:pt>
                <c:pt idx="799">
                  <c:v>2016</c:v>
                </c:pt>
                <c:pt idx="800">
                  <c:v>2016</c:v>
                </c:pt>
                <c:pt idx="801">
                  <c:v>2016</c:v>
                </c:pt>
                <c:pt idx="802">
                  <c:v>2016</c:v>
                </c:pt>
                <c:pt idx="803">
                  <c:v>2016</c:v>
                </c:pt>
                <c:pt idx="804">
                  <c:v>2016</c:v>
                </c:pt>
                <c:pt idx="805">
                  <c:v>2016</c:v>
                </c:pt>
                <c:pt idx="806">
                  <c:v>2016</c:v>
                </c:pt>
                <c:pt idx="807">
                  <c:v>2016</c:v>
                </c:pt>
                <c:pt idx="808">
                  <c:v>2016</c:v>
                </c:pt>
                <c:pt idx="809">
                  <c:v>2016</c:v>
                </c:pt>
                <c:pt idx="810">
                  <c:v>2016</c:v>
                </c:pt>
                <c:pt idx="811">
                  <c:v>2016</c:v>
                </c:pt>
                <c:pt idx="812">
                  <c:v>2016</c:v>
                </c:pt>
                <c:pt idx="813">
                  <c:v>2016</c:v>
                </c:pt>
                <c:pt idx="814">
                  <c:v>2016</c:v>
                </c:pt>
                <c:pt idx="815">
                  <c:v>2016</c:v>
                </c:pt>
                <c:pt idx="816">
                  <c:v>2016</c:v>
                </c:pt>
                <c:pt idx="817">
                  <c:v>2016</c:v>
                </c:pt>
                <c:pt idx="818">
                  <c:v>2016</c:v>
                </c:pt>
                <c:pt idx="819">
                  <c:v>2016</c:v>
                </c:pt>
                <c:pt idx="820">
                  <c:v>2016</c:v>
                </c:pt>
                <c:pt idx="821">
                  <c:v>2016</c:v>
                </c:pt>
                <c:pt idx="822">
                  <c:v>2016</c:v>
                </c:pt>
                <c:pt idx="823">
                  <c:v>2016</c:v>
                </c:pt>
                <c:pt idx="824">
                  <c:v>2016</c:v>
                </c:pt>
                <c:pt idx="825">
                  <c:v>2016</c:v>
                </c:pt>
                <c:pt idx="826">
                  <c:v>2016</c:v>
                </c:pt>
                <c:pt idx="827">
                  <c:v>2016</c:v>
                </c:pt>
                <c:pt idx="828">
                  <c:v>2016</c:v>
                </c:pt>
                <c:pt idx="829">
                  <c:v>2016</c:v>
                </c:pt>
                <c:pt idx="830">
                  <c:v>2016</c:v>
                </c:pt>
                <c:pt idx="831">
                  <c:v>2016</c:v>
                </c:pt>
                <c:pt idx="832">
                  <c:v>2016</c:v>
                </c:pt>
                <c:pt idx="833">
                  <c:v>2016</c:v>
                </c:pt>
                <c:pt idx="834">
                  <c:v>2016</c:v>
                </c:pt>
                <c:pt idx="835">
                  <c:v>2016</c:v>
                </c:pt>
                <c:pt idx="836">
                  <c:v>2016</c:v>
                </c:pt>
                <c:pt idx="837">
                  <c:v>2016</c:v>
                </c:pt>
                <c:pt idx="838">
                  <c:v>2016</c:v>
                </c:pt>
                <c:pt idx="839">
                  <c:v>2016</c:v>
                </c:pt>
                <c:pt idx="840">
                  <c:v>2016</c:v>
                </c:pt>
                <c:pt idx="841">
                  <c:v>2016</c:v>
                </c:pt>
                <c:pt idx="842">
                  <c:v>2016</c:v>
                </c:pt>
                <c:pt idx="843">
                  <c:v>2016</c:v>
                </c:pt>
                <c:pt idx="844">
                  <c:v>2016</c:v>
                </c:pt>
                <c:pt idx="845">
                  <c:v>2016</c:v>
                </c:pt>
                <c:pt idx="846">
                  <c:v>2016</c:v>
                </c:pt>
                <c:pt idx="847">
                  <c:v>2017</c:v>
                </c:pt>
                <c:pt idx="848">
                  <c:v>2017</c:v>
                </c:pt>
                <c:pt idx="849">
                  <c:v>2017</c:v>
                </c:pt>
                <c:pt idx="850">
                  <c:v>2017</c:v>
                </c:pt>
                <c:pt idx="851">
                  <c:v>2017</c:v>
                </c:pt>
                <c:pt idx="852">
                  <c:v>2017</c:v>
                </c:pt>
                <c:pt idx="853">
                  <c:v>2017</c:v>
                </c:pt>
                <c:pt idx="854">
                  <c:v>2017</c:v>
                </c:pt>
                <c:pt idx="855">
                  <c:v>2017</c:v>
                </c:pt>
                <c:pt idx="856">
                  <c:v>2017</c:v>
                </c:pt>
                <c:pt idx="857">
                  <c:v>2017</c:v>
                </c:pt>
                <c:pt idx="858">
                  <c:v>2017</c:v>
                </c:pt>
                <c:pt idx="859">
                  <c:v>2017</c:v>
                </c:pt>
                <c:pt idx="860">
                  <c:v>2017</c:v>
                </c:pt>
                <c:pt idx="861">
                  <c:v>2017</c:v>
                </c:pt>
                <c:pt idx="862">
                  <c:v>2017</c:v>
                </c:pt>
                <c:pt idx="863">
                  <c:v>2017</c:v>
                </c:pt>
                <c:pt idx="864">
                  <c:v>2017</c:v>
                </c:pt>
                <c:pt idx="865">
                  <c:v>2017</c:v>
                </c:pt>
                <c:pt idx="866">
                  <c:v>2017</c:v>
                </c:pt>
                <c:pt idx="867">
                  <c:v>2017</c:v>
                </c:pt>
                <c:pt idx="868">
                  <c:v>2017</c:v>
                </c:pt>
                <c:pt idx="869">
                  <c:v>2017</c:v>
                </c:pt>
                <c:pt idx="870">
                  <c:v>2017</c:v>
                </c:pt>
                <c:pt idx="871">
                  <c:v>2017</c:v>
                </c:pt>
                <c:pt idx="872">
                  <c:v>2017</c:v>
                </c:pt>
                <c:pt idx="873">
                  <c:v>2017</c:v>
                </c:pt>
                <c:pt idx="874">
                  <c:v>2017</c:v>
                </c:pt>
                <c:pt idx="875">
                  <c:v>2017</c:v>
                </c:pt>
                <c:pt idx="876">
                  <c:v>2017</c:v>
                </c:pt>
                <c:pt idx="877">
                  <c:v>2017</c:v>
                </c:pt>
                <c:pt idx="878">
                  <c:v>2017</c:v>
                </c:pt>
                <c:pt idx="879">
                  <c:v>2017</c:v>
                </c:pt>
                <c:pt idx="880">
                  <c:v>2017</c:v>
                </c:pt>
                <c:pt idx="881">
                  <c:v>2017</c:v>
                </c:pt>
                <c:pt idx="882">
                  <c:v>2017</c:v>
                </c:pt>
                <c:pt idx="883">
                  <c:v>2017</c:v>
                </c:pt>
                <c:pt idx="884">
                  <c:v>2017</c:v>
                </c:pt>
                <c:pt idx="885">
                  <c:v>2017</c:v>
                </c:pt>
                <c:pt idx="886">
                  <c:v>2017</c:v>
                </c:pt>
                <c:pt idx="887">
                  <c:v>2017</c:v>
                </c:pt>
                <c:pt idx="888">
                  <c:v>2017</c:v>
                </c:pt>
                <c:pt idx="889">
                  <c:v>2017</c:v>
                </c:pt>
                <c:pt idx="890">
                  <c:v>2017</c:v>
                </c:pt>
                <c:pt idx="891">
                  <c:v>2017</c:v>
                </c:pt>
                <c:pt idx="892">
                  <c:v>2017</c:v>
                </c:pt>
                <c:pt idx="893">
                  <c:v>2017</c:v>
                </c:pt>
                <c:pt idx="894">
                  <c:v>2017</c:v>
                </c:pt>
                <c:pt idx="895">
                  <c:v>2017</c:v>
                </c:pt>
                <c:pt idx="896">
                  <c:v>2017</c:v>
                </c:pt>
                <c:pt idx="897">
                  <c:v>2018</c:v>
                </c:pt>
                <c:pt idx="898">
                  <c:v>2018</c:v>
                </c:pt>
                <c:pt idx="899">
                  <c:v>2018</c:v>
                </c:pt>
                <c:pt idx="900">
                  <c:v>2018</c:v>
                </c:pt>
                <c:pt idx="901">
                  <c:v>2018</c:v>
                </c:pt>
                <c:pt idx="902">
                  <c:v>2018</c:v>
                </c:pt>
                <c:pt idx="903">
                  <c:v>2018</c:v>
                </c:pt>
                <c:pt idx="904">
                  <c:v>2018</c:v>
                </c:pt>
                <c:pt idx="905">
                  <c:v>2018</c:v>
                </c:pt>
                <c:pt idx="906">
                  <c:v>2018</c:v>
                </c:pt>
                <c:pt idx="907">
                  <c:v>2018</c:v>
                </c:pt>
                <c:pt idx="908">
                  <c:v>2018</c:v>
                </c:pt>
                <c:pt idx="909">
                  <c:v>2018</c:v>
                </c:pt>
                <c:pt idx="910">
                  <c:v>2018</c:v>
                </c:pt>
                <c:pt idx="911">
                  <c:v>2018</c:v>
                </c:pt>
                <c:pt idx="912">
                  <c:v>2018</c:v>
                </c:pt>
                <c:pt idx="913">
                  <c:v>2018</c:v>
                </c:pt>
                <c:pt idx="914">
                  <c:v>2018</c:v>
                </c:pt>
                <c:pt idx="915">
                  <c:v>2018</c:v>
                </c:pt>
                <c:pt idx="916">
                  <c:v>2018</c:v>
                </c:pt>
                <c:pt idx="917">
                  <c:v>2018</c:v>
                </c:pt>
                <c:pt idx="918">
                  <c:v>2018</c:v>
                </c:pt>
                <c:pt idx="919">
                  <c:v>2018</c:v>
                </c:pt>
                <c:pt idx="920">
                  <c:v>2018</c:v>
                </c:pt>
                <c:pt idx="921">
                  <c:v>2018</c:v>
                </c:pt>
                <c:pt idx="922">
                  <c:v>2018</c:v>
                </c:pt>
                <c:pt idx="923">
                  <c:v>2018</c:v>
                </c:pt>
                <c:pt idx="924">
                  <c:v>2018</c:v>
                </c:pt>
                <c:pt idx="925">
                  <c:v>2018</c:v>
                </c:pt>
                <c:pt idx="926">
                  <c:v>2018</c:v>
                </c:pt>
                <c:pt idx="927">
                  <c:v>2018</c:v>
                </c:pt>
                <c:pt idx="928">
                  <c:v>2018</c:v>
                </c:pt>
                <c:pt idx="929">
                  <c:v>2018</c:v>
                </c:pt>
                <c:pt idx="930">
                  <c:v>2018</c:v>
                </c:pt>
                <c:pt idx="931">
                  <c:v>2018</c:v>
                </c:pt>
                <c:pt idx="932">
                  <c:v>2018</c:v>
                </c:pt>
                <c:pt idx="933">
                  <c:v>2018</c:v>
                </c:pt>
                <c:pt idx="934">
                  <c:v>2018</c:v>
                </c:pt>
                <c:pt idx="935">
                  <c:v>2018</c:v>
                </c:pt>
                <c:pt idx="936">
                  <c:v>2018</c:v>
                </c:pt>
                <c:pt idx="937">
                  <c:v>2018</c:v>
                </c:pt>
                <c:pt idx="938">
                  <c:v>2018</c:v>
                </c:pt>
                <c:pt idx="939">
                  <c:v>2018</c:v>
                </c:pt>
                <c:pt idx="940">
                  <c:v>2018</c:v>
                </c:pt>
                <c:pt idx="941">
                  <c:v>2018</c:v>
                </c:pt>
                <c:pt idx="942">
                  <c:v>2018</c:v>
                </c:pt>
                <c:pt idx="943">
                  <c:v>2018</c:v>
                </c:pt>
                <c:pt idx="944">
                  <c:v>2018</c:v>
                </c:pt>
                <c:pt idx="945">
                  <c:v>2018</c:v>
                </c:pt>
                <c:pt idx="946">
                  <c:v>2019</c:v>
                </c:pt>
                <c:pt idx="947">
                  <c:v>2019</c:v>
                </c:pt>
                <c:pt idx="948">
                  <c:v>2019</c:v>
                </c:pt>
                <c:pt idx="949">
                  <c:v>2019</c:v>
                </c:pt>
                <c:pt idx="950">
                  <c:v>2019</c:v>
                </c:pt>
                <c:pt idx="951">
                  <c:v>2019</c:v>
                </c:pt>
                <c:pt idx="952">
                  <c:v>2019</c:v>
                </c:pt>
                <c:pt idx="953">
                  <c:v>2019</c:v>
                </c:pt>
                <c:pt idx="954">
                  <c:v>2019</c:v>
                </c:pt>
                <c:pt idx="955">
                  <c:v>2019</c:v>
                </c:pt>
                <c:pt idx="956">
                  <c:v>2019</c:v>
                </c:pt>
                <c:pt idx="957">
                  <c:v>2019</c:v>
                </c:pt>
                <c:pt idx="958">
                  <c:v>2019</c:v>
                </c:pt>
                <c:pt idx="959">
                  <c:v>2019</c:v>
                </c:pt>
                <c:pt idx="960">
                  <c:v>2019</c:v>
                </c:pt>
                <c:pt idx="961">
                  <c:v>2019</c:v>
                </c:pt>
                <c:pt idx="962">
                  <c:v>2019</c:v>
                </c:pt>
                <c:pt idx="963">
                  <c:v>2019</c:v>
                </c:pt>
                <c:pt idx="964">
                  <c:v>2019</c:v>
                </c:pt>
                <c:pt idx="965">
                  <c:v>2019</c:v>
                </c:pt>
                <c:pt idx="966">
                  <c:v>2019</c:v>
                </c:pt>
                <c:pt idx="967">
                  <c:v>2019</c:v>
                </c:pt>
                <c:pt idx="968">
                  <c:v>2019</c:v>
                </c:pt>
                <c:pt idx="969">
                  <c:v>2019</c:v>
                </c:pt>
                <c:pt idx="970">
                  <c:v>2019</c:v>
                </c:pt>
                <c:pt idx="971">
                  <c:v>2019</c:v>
                </c:pt>
                <c:pt idx="972">
                  <c:v>2019</c:v>
                </c:pt>
                <c:pt idx="973">
                  <c:v>2019</c:v>
                </c:pt>
                <c:pt idx="974">
                  <c:v>2019</c:v>
                </c:pt>
                <c:pt idx="975">
                  <c:v>2019</c:v>
                </c:pt>
                <c:pt idx="976">
                  <c:v>2019</c:v>
                </c:pt>
                <c:pt idx="977">
                  <c:v>2019</c:v>
                </c:pt>
                <c:pt idx="978">
                  <c:v>2019</c:v>
                </c:pt>
                <c:pt idx="979">
                  <c:v>2019</c:v>
                </c:pt>
                <c:pt idx="980">
                  <c:v>2019</c:v>
                </c:pt>
                <c:pt idx="981">
                  <c:v>2019</c:v>
                </c:pt>
                <c:pt idx="982">
                  <c:v>2019</c:v>
                </c:pt>
                <c:pt idx="983">
                  <c:v>2019</c:v>
                </c:pt>
                <c:pt idx="984">
                  <c:v>2019</c:v>
                </c:pt>
                <c:pt idx="985">
                  <c:v>2019</c:v>
                </c:pt>
                <c:pt idx="986">
                  <c:v>2019</c:v>
                </c:pt>
                <c:pt idx="987">
                  <c:v>2019</c:v>
                </c:pt>
                <c:pt idx="988">
                  <c:v>2019</c:v>
                </c:pt>
                <c:pt idx="989">
                  <c:v>2019</c:v>
                </c:pt>
                <c:pt idx="990">
                  <c:v>2019</c:v>
                </c:pt>
                <c:pt idx="991">
                  <c:v>2019</c:v>
                </c:pt>
                <c:pt idx="992">
                  <c:v>2019</c:v>
                </c:pt>
                <c:pt idx="993">
                  <c:v>2019</c:v>
                </c:pt>
                <c:pt idx="994">
                  <c:v>2019</c:v>
                </c:pt>
                <c:pt idx="995">
                  <c:v>2020</c:v>
                </c:pt>
                <c:pt idx="996">
                  <c:v>2020</c:v>
                </c:pt>
                <c:pt idx="997">
                  <c:v>2020</c:v>
                </c:pt>
                <c:pt idx="998">
                  <c:v>2020</c:v>
                </c:pt>
                <c:pt idx="999">
                  <c:v>2020</c:v>
                </c:pt>
                <c:pt idx="1000">
                  <c:v>2020</c:v>
                </c:pt>
                <c:pt idx="1001">
                  <c:v>2020</c:v>
                </c:pt>
                <c:pt idx="1002">
                  <c:v>2020</c:v>
                </c:pt>
                <c:pt idx="1003">
                  <c:v>2020</c:v>
                </c:pt>
                <c:pt idx="1004">
                  <c:v>2020</c:v>
                </c:pt>
                <c:pt idx="1005">
                  <c:v>2020</c:v>
                </c:pt>
                <c:pt idx="1006">
                  <c:v>2020</c:v>
                </c:pt>
                <c:pt idx="1007">
                  <c:v>2020</c:v>
                </c:pt>
                <c:pt idx="1008">
                  <c:v>2020</c:v>
                </c:pt>
                <c:pt idx="1009">
                  <c:v>2020</c:v>
                </c:pt>
                <c:pt idx="1010">
                  <c:v>2020</c:v>
                </c:pt>
                <c:pt idx="1011">
                  <c:v>2020</c:v>
                </c:pt>
                <c:pt idx="1012">
                  <c:v>2020</c:v>
                </c:pt>
                <c:pt idx="1013">
                  <c:v>2020</c:v>
                </c:pt>
                <c:pt idx="1014">
                  <c:v>2020</c:v>
                </c:pt>
                <c:pt idx="1015">
                  <c:v>2020</c:v>
                </c:pt>
                <c:pt idx="1016">
                  <c:v>2020</c:v>
                </c:pt>
                <c:pt idx="1017">
                  <c:v>2020</c:v>
                </c:pt>
                <c:pt idx="1018">
                  <c:v>2020</c:v>
                </c:pt>
                <c:pt idx="1019">
                  <c:v>2020</c:v>
                </c:pt>
                <c:pt idx="1020">
                  <c:v>2020</c:v>
                </c:pt>
                <c:pt idx="1021">
                  <c:v>2020</c:v>
                </c:pt>
                <c:pt idx="1022">
                  <c:v>2020</c:v>
                </c:pt>
                <c:pt idx="1023">
                  <c:v>2020</c:v>
                </c:pt>
                <c:pt idx="1024">
                  <c:v>2020</c:v>
                </c:pt>
                <c:pt idx="1025">
                  <c:v>2020</c:v>
                </c:pt>
                <c:pt idx="1026">
                  <c:v>2020</c:v>
                </c:pt>
                <c:pt idx="1027">
                  <c:v>2020</c:v>
                </c:pt>
                <c:pt idx="1028">
                  <c:v>2020</c:v>
                </c:pt>
                <c:pt idx="1029">
                  <c:v>2020</c:v>
                </c:pt>
                <c:pt idx="1030">
                  <c:v>2020</c:v>
                </c:pt>
                <c:pt idx="1031">
                  <c:v>2020</c:v>
                </c:pt>
                <c:pt idx="1032">
                  <c:v>2020</c:v>
                </c:pt>
                <c:pt idx="1033">
                  <c:v>2020</c:v>
                </c:pt>
                <c:pt idx="1034">
                  <c:v>2020</c:v>
                </c:pt>
                <c:pt idx="1035">
                  <c:v>2020</c:v>
                </c:pt>
                <c:pt idx="1036">
                  <c:v>2020</c:v>
                </c:pt>
                <c:pt idx="1037">
                  <c:v>2020</c:v>
                </c:pt>
                <c:pt idx="1038">
                  <c:v>2020</c:v>
                </c:pt>
                <c:pt idx="1039">
                  <c:v>2020</c:v>
                </c:pt>
                <c:pt idx="1040">
                  <c:v>2020</c:v>
                </c:pt>
                <c:pt idx="1041">
                  <c:v>2020</c:v>
                </c:pt>
                <c:pt idx="1042">
                  <c:v>2020</c:v>
                </c:pt>
                <c:pt idx="1043">
                  <c:v>2020</c:v>
                </c:pt>
                <c:pt idx="1044">
                  <c:v>2020</c:v>
                </c:pt>
                <c:pt idx="1045">
                  <c:v>2020</c:v>
                </c:pt>
                <c:pt idx="1046">
                  <c:v>2021</c:v>
                </c:pt>
                <c:pt idx="1047">
                  <c:v>2021</c:v>
                </c:pt>
                <c:pt idx="1048">
                  <c:v>2021</c:v>
                </c:pt>
                <c:pt idx="1049">
                  <c:v>2021</c:v>
                </c:pt>
                <c:pt idx="1050">
                  <c:v>2021</c:v>
                </c:pt>
                <c:pt idx="1051">
                  <c:v>2021</c:v>
                </c:pt>
                <c:pt idx="1052">
                  <c:v>2021</c:v>
                </c:pt>
                <c:pt idx="1053">
                  <c:v>2021</c:v>
                </c:pt>
                <c:pt idx="1054">
                  <c:v>2021</c:v>
                </c:pt>
                <c:pt idx="1055">
                  <c:v>2021</c:v>
                </c:pt>
                <c:pt idx="1056">
                  <c:v>2021</c:v>
                </c:pt>
                <c:pt idx="1057">
                  <c:v>2021</c:v>
                </c:pt>
                <c:pt idx="1058">
                  <c:v>2021</c:v>
                </c:pt>
                <c:pt idx="1059">
                  <c:v>2021</c:v>
                </c:pt>
                <c:pt idx="1060">
                  <c:v>2021</c:v>
                </c:pt>
                <c:pt idx="1061">
                  <c:v>2021</c:v>
                </c:pt>
              </c:strCache>
            </c:strRef>
          </c:cat>
          <c:val>
            <c:numRef>
              <c:f>Sheet1!$C$2:$C$1063</c:f>
              <c:numCache>
                <c:formatCode>General</c:formatCode>
                <c:ptCount val="1062"/>
                <c:pt idx="0">
                  <c:v>39.33</c:v>
                </c:pt>
                <c:pt idx="1">
                  <c:v>48.2</c:v>
                </c:pt>
                <c:pt idx="2">
                  <c:v>48.24</c:v>
                </c:pt>
                <c:pt idx="3">
                  <c:v>50.96</c:v>
                </c:pt>
                <c:pt idx="4">
                  <c:v>52.2</c:v>
                </c:pt>
                <c:pt idx="5">
                  <c:v>53.5</c:v>
                </c:pt>
                <c:pt idx="6">
                  <c:v>53.8</c:v>
                </c:pt>
                <c:pt idx="7">
                  <c:v>52.24</c:v>
                </c:pt>
                <c:pt idx="8">
                  <c:v>48.57</c:v>
                </c:pt>
                <c:pt idx="9">
                  <c:v>37.86</c:v>
                </c:pt>
                <c:pt idx="10">
                  <c:v>34.25</c:v>
                </c:pt>
                <c:pt idx="11">
                  <c:v>37.65</c:v>
                </c:pt>
                <c:pt idx="12">
                  <c:v>45.78</c:v>
                </c:pt>
                <c:pt idx="13">
                  <c:v>50.96</c:v>
                </c:pt>
                <c:pt idx="14">
                  <c:v>48.59</c:v>
                </c:pt>
                <c:pt idx="15">
                  <c:v>52.65</c:v>
                </c:pt>
                <c:pt idx="16">
                  <c:v>51.43</c:v>
                </c:pt>
                <c:pt idx="17">
                  <c:v>51.3</c:v>
                </c:pt>
                <c:pt idx="18">
                  <c:v>49.59</c:v>
                </c:pt>
                <c:pt idx="19">
                  <c:v>49.18</c:v>
                </c:pt>
                <c:pt idx="20">
                  <c:v>53.72</c:v>
                </c:pt>
                <c:pt idx="21">
                  <c:v>52.94</c:v>
                </c:pt>
                <c:pt idx="22">
                  <c:v>52.89</c:v>
                </c:pt>
                <c:pt idx="23">
                  <c:v>51.61</c:v>
                </c:pt>
                <c:pt idx="24">
                  <c:v>52.27</c:v>
                </c:pt>
                <c:pt idx="25">
                  <c:v>53.97</c:v>
                </c:pt>
                <c:pt idx="26">
                  <c:v>58.74</c:v>
                </c:pt>
                <c:pt idx="27">
                  <c:v>55.96</c:v>
                </c:pt>
                <c:pt idx="28">
                  <c:v>52.17</c:v>
                </c:pt>
                <c:pt idx="29">
                  <c:v>52.89</c:v>
                </c:pt>
                <c:pt idx="30">
                  <c:v>51.7</c:v>
                </c:pt>
                <c:pt idx="31">
                  <c:v>52.72</c:v>
                </c:pt>
                <c:pt idx="32">
                  <c:v>53.05</c:v>
                </c:pt>
                <c:pt idx="33">
                  <c:v>52.64</c:v>
                </c:pt>
                <c:pt idx="34">
                  <c:v>56.54</c:v>
                </c:pt>
                <c:pt idx="35">
                  <c:v>58.7</c:v>
                </c:pt>
                <c:pt idx="36">
                  <c:v>54.36</c:v>
                </c:pt>
                <c:pt idx="37">
                  <c:v>54</c:v>
                </c:pt>
                <c:pt idx="38">
                  <c:v>53.19</c:v>
                </c:pt>
                <c:pt idx="39">
                  <c:v>49.73</c:v>
                </c:pt>
                <c:pt idx="40">
                  <c:v>46.58</c:v>
                </c:pt>
                <c:pt idx="41">
                  <c:v>47.34</c:v>
                </c:pt>
                <c:pt idx="42">
                  <c:v>49.32</c:v>
                </c:pt>
                <c:pt idx="43">
                  <c:v>48.62</c:v>
                </c:pt>
                <c:pt idx="44">
                  <c:v>48.57</c:v>
                </c:pt>
                <c:pt idx="45">
                  <c:v>48.96</c:v>
                </c:pt>
                <c:pt idx="46">
                  <c:v>51.27</c:v>
                </c:pt>
                <c:pt idx="47">
                  <c:v>53.03</c:v>
                </c:pt>
                <c:pt idx="48">
                  <c:v>52.8</c:v>
                </c:pt>
                <c:pt idx="49">
                  <c:v>52.84</c:v>
                </c:pt>
                <c:pt idx="50">
                  <c:v>53.4</c:v>
                </c:pt>
                <c:pt idx="51">
                  <c:v>56.28</c:v>
                </c:pt>
                <c:pt idx="52">
                  <c:v>55.55</c:v>
                </c:pt>
                <c:pt idx="53">
                  <c:v>58.52</c:v>
                </c:pt>
                <c:pt idx="54">
                  <c:v>60.88</c:v>
                </c:pt>
                <c:pt idx="55">
                  <c:v>62.16</c:v>
                </c:pt>
                <c:pt idx="56">
                  <c:v>64.069999999999993</c:v>
                </c:pt>
                <c:pt idx="57">
                  <c:v>66.06</c:v>
                </c:pt>
                <c:pt idx="58">
                  <c:v>62.83</c:v>
                </c:pt>
                <c:pt idx="59">
                  <c:v>64.38</c:v>
                </c:pt>
                <c:pt idx="60">
                  <c:v>62.41</c:v>
                </c:pt>
                <c:pt idx="61">
                  <c:v>62.7</c:v>
                </c:pt>
                <c:pt idx="62">
                  <c:v>62.81</c:v>
                </c:pt>
                <c:pt idx="63">
                  <c:v>59.86</c:v>
                </c:pt>
                <c:pt idx="64">
                  <c:v>46.46</c:v>
                </c:pt>
                <c:pt idx="65">
                  <c:v>56.07</c:v>
                </c:pt>
                <c:pt idx="66">
                  <c:v>53.96</c:v>
                </c:pt>
                <c:pt idx="67">
                  <c:v>53.27</c:v>
                </c:pt>
                <c:pt idx="68">
                  <c:v>56.22</c:v>
                </c:pt>
                <c:pt idx="69">
                  <c:v>58.85</c:v>
                </c:pt>
                <c:pt idx="70">
                  <c:v>62.31</c:v>
                </c:pt>
                <c:pt idx="71">
                  <c:v>58.55</c:v>
                </c:pt>
                <c:pt idx="72">
                  <c:v>57.92</c:v>
                </c:pt>
                <c:pt idx="73">
                  <c:v>53.22</c:v>
                </c:pt>
                <c:pt idx="74">
                  <c:v>53.35</c:v>
                </c:pt>
                <c:pt idx="75">
                  <c:v>56.04</c:v>
                </c:pt>
                <c:pt idx="76">
                  <c:v>51.12</c:v>
                </c:pt>
                <c:pt idx="77">
                  <c:v>51.88</c:v>
                </c:pt>
                <c:pt idx="78">
                  <c:v>48.91</c:v>
                </c:pt>
                <c:pt idx="79">
                  <c:v>48.88</c:v>
                </c:pt>
                <c:pt idx="80">
                  <c:v>50.5</c:v>
                </c:pt>
                <c:pt idx="81">
                  <c:v>51.02</c:v>
                </c:pt>
                <c:pt idx="82">
                  <c:v>49.83</c:v>
                </c:pt>
                <c:pt idx="83">
                  <c:v>49.75</c:v>
                </c:pt>
                <c:pt idx="84">
                  <c:v>48.62</c:v>
                </c:pt>
                <c:pt idx="85">
                  <c:v>46.55</c:v>
                </c:pt>
                <c:pt idx="86">
                  <c:v>38.58</c:v>
                </c:pt>
                <c:pt idx="87">
                  <c:v>35.49</c:v>
                </c:pt>
                <c:pt idx="88">
                  <c:v>38.979999999999997</c:v>
                </c:pt>
                <c:pt idx="89">
                  <c:v>41.47</c:v>
                </c:pt>
                <c:pt idx="90">
                  <c:v>43.12</c:v>
                </c:pt>
                <c:pt idx="91">
                  <c:v>41.23</c:v>
                </c:pt>
                <c:pt idx="92">
                  <c:v>41.09</c:v>
                </c:pt>
                <c:pt idx="93">
                  <c:v>41.26</c:v>
                </c:pt>
                <c:pt idx="94">
                  <c:v>47.7</c:v>
                </c:pt>
                <c:pt idx="95">
                  <c:v>46.66</c:v>
                </c:pt>
                <c:pt idx="96">
                  <c:v>46.64</c:v>
                </c:pt>
                <c:pt idx="97">
                  <c:v>48.51</c:v>
                </c:pt>
                <c:pt idx="98">
                  <c:v>48.23</c:v>
                </c:pt>
                <c:pt idx="99">
                  <c:v>47.23</c:v>
                </c:pt>
                <c:pt idx="100">
                  <c:v>46.32</c:v>
                </c:pt>
                <c:pt idx="101">
                  <c:v>50.73</c:v>
                </c:pt>
                <c:pt idx="102">
                  <c:v>49.8</c:v>
                </c:pt>
                <c:pt idx="103">
                  <c:v>48.99</c:v>
                </c:pt>
                <c:pt idx="104">
                  <c:v>46.89</c:v>
                </c:pt>
                <c:pt idx="105">
                  <c:v>48.12</c:v>
                </c:pt>
                <c:pt idx="106">
                  <c:v>48.68</c:v>
                </c:pt>
                <c:pt idx="107">
                  <c:v>49.12</c:v>
                </c:pt>
                <c:pt idx="108">
                  <c:v>48.1</c:v>
                </c:pt>
                <c:pt idx="109">
                  <c:v>48.64</c:v>
                </c:pt>
                <c:pt idx="110">
                  <c:v>46.48</c:v>
                </c:pt>
                <c:pt idx="111">
                  <c:v>47.43</c:v>
                </c:pt>
                <c:pt idx="112">
                  <c:v>47.21</c:v>
                </c:pt>
                <c:pt idx="113">
                  <c:v>47.34</c:v>
                </c:pt>
                <c:pt idx="114">
                  <c:v>46.01</c:v>
                </c:pt>
                <c:pt idx="115">
                  <c:v>44.88</c:v>
                </c:pt>
                <c:pt idx="116">
                  <c:v>43.02</c:v>
                </c:pt>
                <c:pt idx="117">
                  <c:v>45.8</c:v>
                </c:pt>
                <c:pt idx="118">
                  <c:v>44.33</c:v>
                </c:pt>
                <c:pt idx="119">
                  <c:v>40.98</c:v>
                </c:pt>
                <c:pt idx="120">
                  <c:v>40.619999999999997</c:v>
                </c:pt>
                <c:pt idx="121">
                  <c:v>42.66</c:v>
                </c:pt>
                <c:pt idx="122">
                  <c:v>45.19</c:v>
                </c:pt>
                <c:pt idx="123">
                  <c:v>44.27</c:v>
                </c:pt>
                <c:pt idx="124">
                  <c:v>42.62</c:v>
                </c:pt>
                <c:pt idx="125">
                  <c:v>41.73</c:v>
                </c:pt>
                <c:pt idx="126">
                  <c:v>43.27</c:v>
                </c:pt>
                <c:pt idx="127">
                  <c:v>40.299999999999997</c:v>
                </c:pt>
                <c:pt idx="128">
                  <c:v>40.119999999999997</c:v>
                </c:pt>
                <c:pt idx="129">
                  <c:v>38.56</c:v>
                </c:pt>
                <c:pt idx="130">
                  <c:v>37.74</c:v>
                </c:pt>
                <c:pt idx="131">
                  <c:v>37.9</c:v>
                </c:pt>
                <c:pt idx="132">
                  <c:v>38.31</c:v>
                </c:pt>
                <c:pt idx="133">
                  <c:v>38.39</c:v>
                </c:pt>
                <c:pt idx="134">
                  <c:v>42.08</c:v>
                </c:pt>
                <c:pt idx="135">
                  <c:v>40.700000000000003</c:v>
                </c:pt>
                <c:pt idx="136">
                  <c:v>40.33</c:v>
                </c:pt>
                <c:pt idx="137">
                  <c:v>39.950000000000003</c:v>
                </c:pt>
                <c:pt idx="138">
                  <c:v>36.9</c:v>
                </c:pt>
                <c:pt idx="139">
                  <c:v>37.44</c:v>
                </c:pt>
                <c:pt idx="140">
                  <c:v>37.840000000000003</c:v>
                </c:pt>
                <c:pt idx="141">
                  <c:v>34.340000000000003</c:v>
                </c:pt>
                <c:pt idx="142">
                  <c:v>41.13</c:v>
                </c:pt>
                <c:pt idx="143">
                  <c:v>40.75</c:v>
                </c:pt>
                <c:pt idx="144">
                  <c:v>42.73</c:v>
                </c:pt>
                <c:pt idx="145">
                  <c:v>44.89</c:v>
                </c:pt>
                <c:pt idx="146">
                  <c:v>45.7</c:v>
                </c:pt>
                <c:pt idx="147">
                  <c:v>45.73</c:v>
                </c:pt>
                <c:pt idx="148">
                  <c:v>45.3</c:v>
                </c:pt>
                <c:pt idx="149">
                  <c:v>46.95</c:v>
                </c:pt>
                <c:pt idx="150">
                  <c:v>45.86</c:v>
                </c:pt>
                <c:pt idx="151">
                  <c:v>46.3</c:v>
                </c:pt>
                <c:pt idx="152">
                  <c:v>45.54</c:v>
                </c:pt>
                <c:pt idx="153">
                  <c:v>45.73</c:v>
                </c:pt>
                <c:pt idx="154">
                  <c:v>41.94</c:v>
                </c:pt>
                <c:pt idx="155">
                  <c:v>44.54</c:v>
                </c:pt>
                <c:pt idx="156">
                  <c:v>44.39</c:v>
                </c:pt>
                <c:pt idx="157">
                  <c:v>46.08</c:v>
                </c:pt>
                <c:pt idx="158">
                  <c:v>46.05</c:v>
                </c:pt>
                <c:pt idx="159">
                  <c:v>43.91</c:v>
                </c:pt>
                <c:pt idx="160">
                  <c:v>43.68</c:v>
                </c:pt>
                <c:pt idx="161">
                  <c:v>44.2</c:v>
                </c:pt>
                <c:pt idx="162">
                  <c:v>43.45</c:v>
                </c:pt>
                <c:pt idx="163">
                  <c:v>46.9</c:v>
                </c:pt>
                <c:pt idx="164">
                  <c:v>44.11</c:v>
                </c:pt>
                <c:pt idx="165">
                  <c:v>42.38</c:v>
                </c:pt>
                <c:pt idx="166">
                  <c:v>42.88</c:v>
                </c:pt>
                <c:pt idx="167">
                  <c:v>40.549999999999997</c:v>
                </c:pt>
                <c:pt idx="168">
                  <c:v>41.77</c:v>
                </c:pt>
                <c:pt idx="169">
                  <c:v>42.91</c:v>
                </c:pt>
                <c:pt idx="170">
                  <c:v>45.88</c:v>
                </c:pt>
                <c:pt idx="171">
                  <c:v>48.83</c:v>
                </c:pt>
                <c:pt idx="172">
                  <c:v>48.12</c:v>
                </c:pt>
                <c:pt idx="173">
                  <c:v>50.77</c:v>
                </c:pt>
                <c:pt idx="174">
                  <c:v>50.8</c:v>
                </c:pt>
                <c:pt idx="175">
                  <c:v>51.68</c:v>
                </c:pt>
                <c:pt idx="176">
                  <c:v>52.2</c:v>
                </c:pt>
                <c:pt idx="177">
                  <c:v>52.94</c:v>
                </c:pt>
                <c:pt idx="178">
                  <c:v>53.41</c:v>
                </c:pt>
                <c:pt idx="179">
                  <c:v>55.92</c:v>
                </c:pt>
                <c:pt idx="180">
                  <c:v>55.55</c:v>
                </c:pt>
                <c:pt idx="181">
                  <c:v>56.03</c:v>
                </c:pt>
                <c:pt idx="182">
                  <c:v>59.64</c:v>
                </c:pt>
                <c:pt idx="183">
                  <c:v>62.61</c:v>
                </c:pt>
                <c:pt idx="184">
                  <c:v>65.599999999999994</c:v>
                </c:pt>
                <c:pt idx="185">
                  <c:v>65.489999999999995</c:v>
                </c:pt>
                <c:pt idx="186">
                  <c:v>63.13</c:v>
                </c:pt>
                <c:pt idx="187">
                  <c:v>66.61</c:v>
                </c:pt>
                <c:pt idx="188">
                  <c:v>71.48</c:v>
                </c:pt>
                <c:pt idx="189">
                  <c:v>75.16</c:v>
                </c:pt>
                <c:pt idx="190">
                  <c:v>75.28</c:v>
                </c:pt>
                <c:pt idx="191">
                  <c:v>74.28</c:v>
                </c:pt>
                <c:pt idx="192">
                  <c:v>76.010000000000005</c:v>
                </c:pt>
                <c:pt idx="193">
                  <c:v>75.34</c:v>
                </c:pt>
                <c:pt idx="194">
                  <c:v>72.64</c:v>
                </c:pt>
                <c:pt idx="195">
                  <c:v>70.44</c:v>
                </c:pt>
                <c:pt idx="196">
                  <c:v>76.099999999999994</c:v>
                </c:pt>
                <c:pt idx="197">
                  <c:v>77.040000000000006</c:v>
                </c:pt>
                <c:pt idx="198">
                  <c:v>76.77</c:v>
                </c:pt>
                <c:pt idx="199">
                  <c:v>81.36</c:v>
                </c:pt>
                <c:pt idx="200">
                  <c:v>83.95</c:v>
                </c:pt>
                <c:pt idx="201">
                  <c:v>90.63</c:v>
                </c:pt>
                <c:pt idx="202">
                  <c:v>89.26</c:v>
                </c:pt>
                <c:pt idx="203">
                  <c:v>91.37</c:v>
                </c:pt>
                <c:pt idx="204">
                  <c:v>90.73</c:v>
                </c:pt>
                <c:pt idx="205">
                  <c:v>89.28</c:v>
                </c:pt>
                <c:pt idx="206">
                  <c:v>91.77</c:v>
                </c:pt>
                <c:pt idx="207">
                  <c:v>94.51</c:v>
                </c:pt>
                <c:pt idx="208">
                  <c:v>86.75</c:v>
                </c:pt>
                <c:pt idx="209">
                  <c:v>89.63</c:v>
                </c:pt>
                <c:pt idx="210">
                  <c:v>88.41</c:v>
                </c:pt>
                <c:pt idx="211">
                  <c:v>81.11</c:v>
                </c:pt>
                <c:pt idx="212">
                  <c:v>80.319999999999993</c:v>
                </c:pt>
                <c:pt idx="213">
                  <c:v>86.85</c:v>
                </c:pt>
                <c:pt idx="214">
                  <c:v>89.52</c:v>
                </c:pt>
                <c:pt idx="215">
                  <c:v>88.26</c:v>
                </c:pt>
                <c:pt idx="216">
                  <c:v>88.64</c:v>
                </c:pt>
                <c:pt idx="217">
                  <c:v>82.57</c:v>
                </c:pt>
                <c:pt idx="218">
                  <c:v>81.12</c:v>
                </c:pt>
                <c:pt idx="219">
                  <c:v>63.17</c:v>
                </c:pt>
                <c:pt idx="220">
                  <c:v>70.91</c:v>
                </c:pt>
                <c:pt idx="221">
                  <c:v>67.16</c:v>
                </c:pt>
                <c:pt idx="222">
                  <c:v>69.5</c:v>
                </c:pt>
                <c:pt idx="223">
                  <c:v>67.95</c:v>
                </c:pt>
                <c:pt idx="224">
                  <c:v>67.89</c:v>
                </c:pt>
                <c:pt idx="225">
                  <c:v>69.02</c:v>
                </c:pt>
                <c:pt idx="226">
                  <c:v>67.260000000000005</c:v>
                </c:pt>
                <c:pt idx="227">
                  <c:v>68.239999999999995</c:v>
                </c:pt>
                <c:pt idx="228">
                  <c:v>66.22</c:v>
                </c:pt>
                <c:pt idx="229">
                  <c:v>74.58</c:v>
                </c:pt>
                <c:pt idx="230">
                  <c:v>77.2</c:v>
                </c:pt>
                <c:pt idx="231">
                  <c:v>76.91</c:v>
                </c:pt>
                <c:pt idx="232">
                  <c:v>74.819999999999993</c:v>
                </c:pt>
                <c:pt idx="233">
                  <c:v>70.510000000000005</c:v>
                </c:pt>
                <c:pt idx="234">
                  <c:v>73</c:v>
                </c:pt>
                <c:pt idx="235">
                  <c:v>74.55</c:v>
                </c:pt>
                <c:pt idx="236">
                  <c:v>76.709999999999994</c:v>
                </c:pt>
                <c:pt idx="237">
                  <c:v>78.45</c:v>
                </c:pt>
                <c:pt idx="238">
                  <c:v>77.41</c:v>
                </c:pt>
                <c:pt idx="239">
                  <c:v>85.34</c:v>
                </c:pt>
                <c:pt idx="240">
                  <c:v>86.52</c:v>
                </c:pt>
                <c:pt idx="241">
                  <c:v>86.05</c:v>
                </c:pt>
                <c:pt idx="242">
                  <c:v>86.21</c:v>
                </c:pt>
                <c:pt idx="243">
                  <c:v>84.91</c:v>
                </c:pt>
                <c:pt idx="244">
                  <c:v>84.38</c:v>
                </c:pt>
                <c:pt idx="245">
                  <c:v>84.96</c:v>
                </c:pt>
                <c:pt idx="246">
                  <c:v>80.489999999999995</c:v>
                </c:pt>
                <c:pt idx="247">
                  <c:v>84.69</c:v>
                </c:pt>
                <c:pt idx="248">
                  <c:v>80.03</c:v>
                </c:pt>
                <c:pt idx="249">
                  <c:v>76.73</c:v>
                </c:pt>
                <c:pt idx="250">
                  <c:v>79.11</c:v>
                </c:pt>
                <c:pt idx="251">
                  <c:v>81.73</c:v>
                </c:pt>
                <c:pt idx="252">
                  <c:v>82.22</c:v>
                </c:pt>
                <c:pt idx="253">
                  <c:v>81.27</c:v>
                </c:pt>
                <c:pt idx="254">
                  <c:v>79.92</c:v>
                </c:pt>
                <c:pt idx="255">
                  <c:v>83.17</c:v>
                </c:pt>
                <c:pt idx="256">
                  <c:v>82.87</c:v>
                </c:pt>
                <c:pt idx="257">
                  <c:v>84.93</c:v>
                </c:pt>
                <c:pt idx="258">
                  <c:v>83.52</c:v>
                </c:pt>
                <c:pt idx="259">
                  <c:v>86.91</c:v>
                </c:pt>
                <c:pt idx="260">
                  <c:v>91.7</c:v>
                </c:pt>
                <c:pt idx="261">
                  <c:v>90.47</c:v>
                </c:pt>
                <c:pt idx="262">
                  <c:v>87.45</c:v>
                </c:pt>
                <c:pt idx="263">
                  <c:v>85.8</c:v>
                </c:pt>
                <c:pt idx="264">
                  <c:v>86.88</c:v>
                </c:pt>
                <c:pt idx="265">
                  <c:v>85.73</c:v>
                </c:pt>
                <c:pt idx="266">
                  <c:v>82.82</c:v>
                </c:pt>
                <c:pt idx="267">
                  <c:v>84.22</c:v>
                </c:pt>
                <c:pt idx="268">
                  <c:v>84.59</c:v>
                </c:pt>
                <c:pt idx="269">
                  <c:v>84.77</c:v>
                </c:pt>
                <c:pt idx="270">
                  <c:v>82.75</c:v>
                </c:pt>
                <c:pt idx="271">
                  <c:v>82.91</c:v>
                </c:pt>
                <c:pt idx="272">
                  <c:v>84.53</c:v>
                </c:pt>
                <c:pt idx="273">
                  <c:v>85.6</c:v>
                </c:pt>
                <c:pt idx="274">
                  <c:v>89.7</c:v>
                </c:pt>
                <c:pt idx="275">
                  <c:v>100.96</c:v>
                </c:pt>
                <c:pt idx="276">
                  <c:v>98.37</c:v>
                </c:pt>
                <c:pt idx="277">
                  <c:v>99.7</c:v>
                </c:pt>
                <c:pt idx="278">
                  <c:v>99.73</c:v>
                </c:pt>
                <c:pt idx="279">
                  <c:v>103.85</c:v>
                </c:pt>
                <c:pt idx="280">
                  <c:v>107.99</c:v>
                </c:pt>
                <c:pt idx="281">
                  <c:v>111.64</c:v>
                </c:pt>
                <c:pt idx="282">
                  <c:v>112.41</c:v>
                </c:pt>
                <c:pt idx="283">
                  <c:v>110.68</c:v>
                </c:pt>
                <c:pt idx="284">
                  <c:v>108.8</c:v>
                </c:pt>
                <c:pt idx="285">
                  <c:v>113.55</c:v>
                </c:pt>
                <c:pt idx="286">
                  <c:v>115.88</c:v>
                </c:pt>
                <c:pt idx="287">
                  <c:v>119.38</c:v>
                </c:pt>
                <c:pt idx="288">
                  <c:v>116.84</c:v>
                </c:pt>
                <c:pt idx="289">
                  <c:v>123.99</c:v>
                </c:pt>
                <c:pt idx="290">
                  <c:v>123.19</c:v>
                </c:pt>
                <c:pt idx="291">
                  <c:v>120.47</c:v>
                </c:pt>
                <c:pt idx="292">
                  <c:v>118.3</c:v>
                </c:pt>
                <c:pt idx="293">
                  <c:v>119.14</c:v>
                </c:pt>
                <c:pt idx="294">
                  <c:v>123.62</c:v>
                </c:pt>
                <c:pt idx="295">
                  <c:v>129.58000000000001</c:v>
                </c:pt>
                <c:pt idx="296">
                  <c:v>131.88999999999999</c:v>
                </c:pt>
                <c:pt idx="297">
                  <c:v>130.11000000000001</c:v>
                </c:pt>
                <c:pt idx="298">
                  <c:v>131.79</c:v>
                </c:pt>
                <c:pt idx="299">
                  <c:v>134.68</c:v>
                </c:pt>
                <c:pt idx="300">
                  <c:v>134.4</c:v>
                </c:pt>
                <c:pt idx="301">
                  <c:v>136.33000000000001</c:v>
                </c:pt>
                <c:pt idx="302">
                  <c:v>145.29</c:v>
                </c:pt>
                <c:pt idx="303">
                  <c:v>138.57</c:v>
                </c:pt>
                <c:pt idx="304">
                  <c:v>176.12</c:v>
                </c:pt>
                <c:pt idx="305">
                  <c:v>174.66</c:v>
                </c:pt>
                <c:pt idx="306">
                  <c:v>174.15</c:v>
                </c:pt>
                <c:pt idx="307">
                  <c:v>179.2</c:v>
                </c:pt>
                <c:pt idx="308">
                  <c:v>175.51</c:v>
                </c:pt>
                <c:pt idx="309">
                  <c:v>175.02</c:v>
                </c:pt>
                <c:pt idx="310">
                  <c:v>183.05</c:v>
                </c:pt>
                <c:pt idx="311">
                  <c:v>183.84</c:v>
                </c:pt>
                <c:pt idx="312">
                  <c:v>195.11</c:v>
                </c:pt>
                <c:pt idx="313">
                  <c:v>197.71</c:v>
                </c:pt>
                <c:pt idx="314">
                  <c:v>209.19</c:v>
                </c:pt>
                <c:pt idx="315">
                  <c:v>211.62</c:v>
                </c:pt>
                <c:pt idx="316">
                  <c:v>243.74</c:v>
                </c:pt>
                <c:pt idx="317">
                  <c:v>252.22</c:v>
                </c:pt>
                <c:pt idx="318">
                  <c:v>274.81</c:v>
                </c:pt>
                <c:pt idx="319">
                  <c:v>266.70999999999998</c:v>
                </c:pt>
                <c:pt idx="320">
                  <c:v>244.52</c:v>
                </c:pt>
                <c:pt idx="321">
                  <c:v>239.62</c:v>
                </c:pt>
                <c:pt idx="322">
                  <c:v>239.52</c:v>
                </c:pt>
                <c:pt idx="323">
                  <c:v>230.69</c:v>
                </c:pt>
                <c:pt idx="324">
                  <c:v>230.4</c:v>
                </c:pt>
                <c:pt idx="325">
                  <c:v>252.98</c:v>
                </c:pt>
                <c:pt idx="326">
                  <c:v>252.09</c:v>
                </c:pt>
                <c:pt idx="327">
                  <c:v>270.81</c:v>
                </c:pt>
                <c:pt idx="328">
                  <c:v>268.86</c:v>
                </c:pt>
                <c:pt idx="329">
                  <c:v>248.85</c:v>
                </c:pt>
                <c:pt idx="330">
                  <c:v>250.02</c:v>
                </c:pt>
                <c:pt idx="331">
                  <c:v>247</c:v>
                </c:pt>
                <c:pt idx="332">
                  <c:v>244.74</c:v>
                </c:pt>
                <c:pt idx="333">
                  <c:v>263.98</c:v>
                </c:pt>
                <c:pt idx="334">
                  <c:v>277.66000000000003</c:v>
                </c:pt>
                <c:pt idx="335">
                  <c:v>280.62</c:v>
                </c:pt>
                <c:pt idx="336">
                  <c:v>282.7</c:v>
                </c:pt>
                <c:pt idx="337">
                  <c:v>285.14999999999998</c:v>
                </c:pt>
                <c:pt idx="338">
                  <c:v>289</c:v>
                </c:pt>
                <c:pt idx="339">
                  <c:v>292.94</c:v>
                </c:pt>
                <c:pt idx="340">
                  <c:v>288.36</c:v>
                </c:pt>
                <c:pt idx="341">
                  <c:v>303.35000000000002</c:v>
                </c:pt>
                <c:pt idx="342">
                  <c:v>300.3</c:v>
                </c:pt>
                <c:pt idx="343">
                  <c:v>306.5</c:v>
                </c:pt>
                <c:pt idx="344">
                  <c:v>322.82</c:v>
                </c:pt>
                <c:pt idx="345">
                  <c:v>319.85000000000002</c:v>
                </c:pt>
                <c:pt idx="346">
                  <c:v>318.51</c:v>
                </c:pt>
                <c:pt idx="347">
                  <c:v>312.68</c:v>
                </c:pt>
                <c:pt idx="348">
                  <c:v>319.89</c:v>
                </c:pt>
                <c:pt idx="349">
                  <c:v>301.35000000000002</c:v>
                </c:pt>
                <c:pt idx="350">
                  <c:v>313.39</c:v>
                </c:pt>
                <c:pt idx="351">
                  <c:v>323.33999999999997</c:v>
                </c:pt>
                <c:pt idx="352">
                  <c:v>320.12</c:v>
                </c:pt>
                <c:pt idx="353">
                  <c:v>324.12</c:v>
                </c:pt>
                <c:pt idx="354">
                  <c:v>341.85</c:v>
                </c:pt>
                <c:pt idx="355">
                  <c:v>342.65</c:v>
                </c:pt>
                <c:pt idx="356">
                  <c:v>346.84</c:v>
                </c:pt>
                <c:pt idx="357">
                  <c:v>339.74</c:v>
                </c:pt>
                <c:pt idx="358">
                  <c:v>353.65</c:v>
                </c:pt>
                <c:pt idx="359">
                  <c:v>351.36</c:v>
                </c:pt>
                <c:pt idx="360">
                  <c:v>324.45999999999998</c:v>
                </c:pt>
                <c:pt idx="361">
                  <c:v>331.69</c:v>
                </c:pt>
                <c:pt idx="362">
                  <c:v>330.74</c:v>
                </c:pt>
                <c:pt idx="363">
                  <c:v>337.5</c:v>
                </c:pt>
                <c:pt idx="364">
                  <c:v>340.81</c:v>
                </c:pt>
                <c:pt idx="365">
                  <c:v>346.88</c:v>
                </c:pt>
                <c:pt idx="366">
                  <c:v>373.09</c:v>
                </c:pt>
                <c:pt idx="367">
                  <c:v>399.21</c:v>
                </c:pt>
                <c:pt idx="368">
                  <c:v>401.62</c:v>
                </c:pt>
                <c:pt idx="369">
                  <c:v>405.06</c:v>
                </c:pt>
                <c:pt idx="370">
                  <c:v>440.24</c:v>
                </c:pt>
                <c:pt idx="371">
                  <c:v>430.98</c:v>
                </c:pt>
                <c:pt idx="372">
                  <c:v>435.49</c:v>
                </c:pt>
                <c:pt idx="373">
                  <c:v>416.54</c:v>
                </c:pt>
                <c:pt idx="374">
                  <c:v>417.9</c:v>
                </c:pt>
                <c:pt idx="375">
                  <c:v>427.29</c:v>
                </c:pt>
                <c:pt idx="376">
                  <c:v>421.08</c:v>
                </c:pt>
                <c:pt idx="377">
                  <c:v>427.74</c:v>
                </c:pt>
                <c:pt idx="378">
                  <c:v>444.18</c:v>
                </c:pt>
                <c:pt idx="379">
                  <c:v>477.3</c:v>
                </c:pt>
                <c:pt idx="380">
                  <c:v>462.19</c:v>
                </c:pt>
                <c:pt idx="381">
                  <c:v>445.04</c:v>
                </c:pt>
                <c:pt idx="382">
                  <c:v>457.3</c:v>
                </c:pt>
                <c:pt idx="383">
                  <c:v>436.71</c:v>
                </c:pt>
                <c:pt idx="384">
                  <c:v>470.62</c:v>
                </c:pt>
                <c:pt idx="385">
                  <c:v>493.22</c:v>
                </c:pt>
                <c:pt idx="386">
                  <c:v>497.52</c:v>
                </c:pt>
                <c:pt idx="387">
                  <c:v>514.51</c:v>
                </c:pt>
                <c:pt idx="388">
                  <c:v>599.9</c:v>
                </c:pt>
                <c:pt idx="389">
                  <c:v>598.98</c:v>
                </c:pt>
                <c:pt idx="390">
                  <c:v>654.6</c:v>
                </c:pt>
                <c:pt idx="391">
                  <c:v>671.89</c:v>
                </c:pt>
                <c:pt idx="392">
                  <c:v>653.76</c:v>
                </c:pt>
                <c:pt idx="393">
                  <c:v>695.95</c:v>
                </c:pt>
                <c:pt idx="394">
                  <c:v>692.72</c:v>
                </c:pt>
                <c:pt idx="395">
                  <c:v>722.11</c:v>
                </c:pt>
                <c:pt idx="396">
                  <c:v>677.38</c:v>
                </c:pt>
                <c:pt idx="397">
                  <c:v>698.08</c:v>
                </c:pt>
                <c:pt idx="398">
                  <c:v>725.35</c:v>
                </c:pt>
                <c:pt idx="399">
                  <c:v>720.22</c:v>
                </c:pt>
                <c:pt idx="400">
                  <c:v>675.95</c:v>
                </c:pt>
                <c:pt idx="401">
                  <c:v>723.71</c:v>
                </c:pt>
                <c:pt idx="402">
                  <c:v>748.25</c:v>
                </c:pt>
                <c:pt idx="403">
                  <c:v>781.9</c:v>
                </c:pt>
                <c:pt idx="404">
                  <c:v>699.9</c:v>
                </c:pt>
                <c:pt idx="405">
                  <c:v>653.85</c:v>
                </c:pt>
                <c:pt idx="406">
                  <c:v>635.69000000000005</c:v>
                </c:pt>
                <c:pt idx="407">
                  <c:v>606.6</c:v>
                </c:pt>
                <c:pt idx="408">
                  <c:v>648.49</c:v>
                </c:pt>
                <c:pt idx="409">
                  <c:v>608.61</c:v>
                </c:pt>
                <c:pt idx="410">
                  <c:v>615.86</c:v>
                </c:pt>
                <c:pt idx="411">
                  <c:v>568.64</c:v>
                </c:pt>
                <c:pt idx="412">
                  <c:v>545.04999999999995</c:v>
                </c:pt>
                <c:pt idx="413">
                  <c:v>574.86</c:v>
                </c:pt>
                <c:pt idx="414">
                  <c:v>585.89</c:v>
                </c:pt>
                <c:pt idx="415">
                  <c:v>604.55999999999995</c:v>
                </c:pt>
                <c:pt idx="416">
                  <c:v>660.01</c:v>
                </c:pt>
                <c:pt idx="417">
                  <c:v>656.12</c:v>
                </c:pt>
                <c:pt idx="418">
                  <c:v>667.3</c:v>
                </c:pt>
                <c:pt idx="419">
                  <c:v>638.46</c:v>
                </c:pt>
                <c:pt idx="420">
                  <c:v>650.74</c:v>
                </c:pt>
                <c:pt idx="421">
                  <c:v>623.78</c:v>
                </c:pt>
                <c:pt idx="422">
                  <c:v>601.66</c:v>
                </c:pt>
                <c:pt idx="423">
                  <c:v>549.44000000000005</c:v>
                </c:pt>
                <c:pt idx="424">
                  <c:v>583.22</c:v>
                </c:pt>
                <c:pt idx="425">
                  <c:v>515.66999999999996</c:v>
                </c:pt>
                <c:pt idx="426">
                  <c:v>511.04</c:v>
                </c:pt>
                <c:pt idx="427">
                  <c:v>494.86</c:v>
                </c:pt>
                <c:pt idx="428">
                  <c:v>494.35</c:v>
                </c:pt>
                <c:pt idx="429">
                  <c:v>538.04</c:v>
                </c:pt>
                <c:pt idx="430">
                  <c:v>520.78</c:v>
                </c:pt>
                <c:pt idx="431">
                  <c:v>569.01</c:v>
                </c:pt>
                <c:pt idx="432">
                  <c:v>586.80999999999995</c:v>
                </c:pt>
                <c:pt idx="433">
                  <c:v>561.59</c:v>
                </c:pt>
                <c:pt idx="434">
                  <c:v>537</c:v>
                </c:pt>
                <c:pt idx="435">
                  <c:v>538.05999999999995</c:v>
                </c:pt>
                <c:pt idx="436">
                  <c:v>499.35</c:v>
                </c:pt>
                <c:pt idx="437">
                  <c:v>484.56</c:v>
                </c:pt>
                <c:pt idx="438">
                  <c:v>506.42</c:v>
                </c:pt>
                <c:pt idx="439">
                  <c:v>440.36</c:v>
                </c:pt>
                <c:pt idx="440">
                  <c:v>392.85</c:v>
                </c:pt>
                <c:pt idx="441">
                  <c:v>330.22</c:v>
                </c:pt>
                <c:pt idx="442">
                  <c:v>269.25</c:v>
                </c:pt>
                <c:pt idx="443">
                  <c:v>362.9</c:v>
                </c:pt>
                <c:pt idx="444">
                  <c:v>301.92</c:v>
                </c:pt>
                <c:pt idx="445">
                  <c:v>283.11</c:v>
                </c:pt>
                <c:pt idx="446">
                  <c:v>284.73</c:v>
                </c:pt>
                <c:pt idx="447">
                  <c:v>289.77</c:v>
                </c:pt>
                <c:pt idx="448">
                  <c:v>326.77</c:v>
                </c:pt>
                <c:pt idx="449">
                  <c:v>337.82</c:v>
                </c:pt>
                <c:pt idx="450">
                  <c:v>311.58</c:v>
                </c:pt>
                <c:pt idx="451">
                  <c:v>341.46</c:v>
                </c:pt>
                <c:pt idx="452">
                  <c:v>269.39</c:v>
                </c:pt>
                <c:pt idx="453">
                  <c:v>295.91000000000003</c:v>
                </c:pt>
                <c:pt idx="454">
                  <c:v>318.5</c:v>
                </c:pt>
                <c:pt idx="455">
                  <c:v>326.88</c:v>
                </c:pt>
                <c:pt idx="456">
                  <c:v>345.31</c:v>
                </c:pt>
                <c:pt idx="457">
                  <c:v>323.79000000000002</c:v>
                </c:pt>
                <c:pt idx="458">
                  <c:v>322.7</c:v>
                </c:pt>
                <c:pt idx="459">
                  <c:v>287.45</c:v>
                </c:pt>
                <c:pt idx="460">
                  <c:v>331.9</c:v>
                </c:pt>
                <c:pt idx="461">
                  <c:v>359.61</c:v>
                </c:pt>
                <c:pt idx="462">
                  <c:v>379.11</c:v>
                </c:pt>
                <c:pt idx="463">
                  <c:v>431.29</c:v>
                </c:pt>
                <c:pt idx="464">
                  <c:v>429.24</c:v>
                </c:pt>
                <c:pt idx="465">
                  <c:v>447.21</c:v>
                </c:pt>
                <c:pt idx="466">
                  <c:v>470.91</c:v>
                </c:pt>
                <c:pt idx="467">
                  <c:v>489.98</c:v>
                </c:pt>
                <c:pt idx="468">
                  <c:v>557.72</c:v>
                </c:pt>
                <c:pt idx="469">
                  <c:v>535.66999999999996</c:v>
                </c:pt>
                <c:pt idx="470">
                  <c:v>569.79999999999995</c:v>
                </c:pt>
                <c:pt idx="471">
                  <c:v>568.04</c:v>
                </c:pt>
                <c:pt idx="472">
                  <c:v>535.84</c:v>
                </c:pt>
                <c:pt idx="473">
                  <c:v>503.82</c:v>
                </c:pt>
                <c:pt idx="474">
                  <c:v>505.85</c:v>
                </c:pt>
                <c:pt idx="475">
                  <c:v>463.86</c:v>
                </c:pt>
                <c:pt idx="476">
                  <c:v>453.51</c:v>
                </c:pt>
                <c:pt idx="477">
                  <c:v>504.66</c:v>
                </c:pt>
                <c:pt idx="478">
                  <c:v>476.9</c:v>
                </c:pt>
                <c:pt idx="479">
                  <c:v>509.94</c:v>
                </c:pt>
                <c:pt idx="480">
                  <c:v>500.1</c:v>
                </c:pt>
                <c:pt idx="481">
                  <c:v>485.3</c:v>
                </c:pt>
                <c:pt idx="482">
                  <c:v>506.41</c:v>
                </c:pt>
                <c:pt idx="483">
                  <c:v>495.21</c:v>
                </c:pt>
                <c:pt idx="484">
                  <c:v>518.9</c:v>
                </c:pt>
                <c:pt idx="485">
                  <c:v>545.22</c:v>
                </c:pt>
                <c:pt idx="486">
                  <c:v>525.41999999999996</c:v>
                </c:pt>
                <c:pt idx="487">
                  <c:v>543.59</c:v>
                </c:pt>
                <c:pt idx="488">
                  <c:v>524.94000000000005</c:v>
                </c:pt>
                <c:pt idx="489">
                  <c:v>556.29999999999995</c:v>
                </c:pt>
                <c:pt idx="490">
                  <c:v>503.84</c:v>
                </c:pt>
                <c:pt idx="491">
                  <c:v>454.64</c:v>
                </c:pt>
                <c:pt idx="492">
                  <c:v>513.62</c:v>
                </c:pt>
                <c:pt idx="493">
                  <c:v>533.09</c:v>
                </c:pt>
                <c:pt idx="494">
                  <c:v>544.29999999999995</c:v>
                </c:pt>
                <c:pt idx="495">
                  <c:v>549</c:v>
                </c:pt>
                <c:pt idx="496">
                  <c:v>540.16999999999996</c:v>
                </c:pt>
                <c:pt idx="497">
                  <c:v>525.79999999999995</c:v>
                </c:pt>
                <c:pt idx="498">
                  <c:v>509.6</c:v>
                </c:pt>
                <c:pt idx="499">
                  <c:v>545.28</c:v>
                </c:pt>
                <c:pt idx="500">
                  <c:v>551.58000000000004</c:v>
                </c:pt>
                <c:pt idx="501">
                  <c:v>555.38</c:v>
                </c:pt>
                <c:pt idx="502">
                  <c:v>526.91999999999996</c:v>
                </c:pt>
                <c:pt idx="503">
                  <c:v>522.70000000000005</c:v>
                </c:pt>
                <c:pt idx="504">
                  <c:v>496.88</c:v>
                </c:pt>
                <c:pt idx="505">
                  <c:v>505</c:v>
                </c:pt>
                <c:pt idx="506">
                  <c:v>488.98</c:v>
                </c:pt>
                <c:pt idx="507">
                  <c:v>491.6</c:v>
                </c:pt>
                <c:pt idx="508">
                  <c:v>495.18</c:v>
                </c:pt>
                <c:pt idx="509">
                  <c:v>533.98</c:v>
                </c:pt>
                <c:pt idx="510">
                  <c:v>545.70000000000005</c:v>
                </c:pt>
                <c:pt idx="511">
                  <c:v>537.12</c:v>
                </c:pt>
                <c:pt idx="512">
                  <c:v>553.28</c:v>
                </c:pt>
                <c:pt idx="513">
                  <c:v>542.12</c:v>
                </c:pt>
                <c:pt idx="514">
                  <c:v>544.1</c:v>
                </c:pt>
                <c:pt idx="515">
                  <c:v>516.79999999999995</c:v>
                </c:pt>
                <c:pt idx="516">
                  <c:v>516.4</c:v>
                </c:pt>
                <c:pt idx="517">
                  <c:v>521.83000000000004</c:v>
                </c:pt>
                <c:pt idx="518">
                  <c:v>497.78</c:v>
                </c:pt>
                <c:pt idx="519">
                  <c:v>518.33000000000004</c:v>
                </c:pt>
                <c:pt idx="520">
                  <c:v>515.6</c:v>
                </c:pt>
                <c:pt idx="521">
                  <c:v>523.20000000000005</c:v>
                </c:pt>
                <c:pt idx="522">
                  <c:v>527.16999999999996</c:v>
                </c:pt>
                <c:pt idx="523">
                  <c:v>531.48</c:v>
                </c:pt>
                <c:pt idx="524">
                  <c:v>534.48</c:v>
                </c:pt>
                <c:pt idx="525">
                  <c:v>528.83000000000004</c:v>
                </c:pt>
                <c:pt idx="526">
                  <c:v>531.48</c:v>
                </c:pt>
                <c:pt idx="527">
                  <c:v>530.22</c:v>
                </c:pt>
                <c:pt idx="528">
                  <c:v>504.82</c:v>
                </c:pt>
                <c:pt idx="529">
                  <c:v>500.05</c:v>
                </c:pt>
                <c:pt idx="530">
                  <c:v>489.55</c:v>
                </c:pt>
                <c:pt idx="531">
                  <c:v>494.32</c:v>
                </c:pt>
                <c:pt idx="532">
                  <c:v>474.8</c:v>
                </c:pt>
                <c:pt idx="533">
                  <c:v>462.85</c:v>
                </c:pt>
                <c:pt idx="534">
                  <c:v>496.25</c:v>
                </c:pt>
                <c:pt idx="535">
                  <c:v>520.70000000000005</c:v>
                </c:pt>
                <c:pt idx="536">
                  <c:v>505.1</c:v>
                </c:pt>
                <c:pt idx="537">
                  <c:v>508.92</c:v>
                </c:pt>
                <c:pt idx="538">
                  <c:v>534.6</c:v>
                </c:pt>
                <c:pt idx="539">
                  <c:v>523.72</c:v>
                </c:pt>
                <c:pt idx="540">
                  <c:v>545.16999999999996</c:v>
                </c:pt>
                <c:pt idx="541">
                  <c:v>546.6</c:v>
                </c:pt>
                <c:pt idx="542">
                  <c:v>555.91999999999996</c:v>
                </c:pt>
                <c:pt idx="543">
                  <c:v>527.35</c:v>
                </c:pt>
                <c:pt idx="544">
                  <c:v>497.8</c:v>
                </c:pt>
                <c:pt idx="545">
                  <c:v>492.8</c:v>
                </c:pt>
                <c:pt idx="546">
                  <c:v>515.38</c:v>
                </c:pt>
                <c:pt idx="547">
                  <c:v>527.62</c:v>
                </c:pt>
                <c:pt idx="548">
                  <c:v>528.02</c:v>
                </c:pt>
                <c:pt idx="549">
                  <c:v>524.29999999999995</c:v>
                </c:pt>
                <c:pt idx="550">
                  <c:v>537.9</c:v>
                </c:pt>
                <c:pt idx="551">
                  <c:v>515.4</c:v>
                </c:pt>
                <c:pt idx="552">
                  <c:v>490.08</c:v>
                </c:pt>
                <c:pt idx="553">
                  <c:v>471.35</c:v>
                </c:pt>
                <c:pt idx="554">
                  <c:v>471.95</c:v>
                </c:pt>
                <c:pt idx="555">
                  <c:v>449.82</c:v>
                </c:pt>
                <c:pt idx="556">
                  <c:v>476.98</c:v>
                </c:pt>
                <c:pt idx="557">
                  <c:v>482.1</c:v>
                </c:pt>
                <c:pt idx="558">
                  <c:v>491.1</c:v>
                </c:pt>
                <c:pt idx="559">
                  <c:v>496.02</c:v>
                </c:pt>
                <c:pt idx="560">
                  <c:v>496.5</c:v>
                </c:pt>
                <c:pt idx="561">
                  <c:v>513.29999999999995</c:v>
                </c:pt>
                <c:pt idx="562">
                  <c:v>518.20000000000005</c:v>
                </c:pt>
                <c:pt idx="563">
                  <c:v>511.95</c:v>
                </c:pt>
                <c:pt idx="564">
                  <c:v>505.82</c:v>
                </c:pt>
                <c:pt idx="565">
                  <c:v>493.05</c:v>
                </c:pt>
                <c:pt idx="566">
                  <c:v>473.82</c:v>
                </c:pt>
                <c:pt idx="567">
                  <c:v>477.72</c:v>
                </c:pt>
                <c:pt idx="568">
                  <c:v>450.92</c:v>
                </c:pt>
                <c:pt idx="569">
                  <c:v>453</c:v>
                </c:pt>
                <c:pt idx="570">
                  <c:v>473.4</c:v>
                </c:pt>
                <c:pt idx="571">
                  <c:v>474.6</c:v>
                </c:pt>
                <c:pt idx="572">
                  <c:v>450.28</c:v>
                </c:pt>
                <c:pt idx="573">
                  <c:v>422.9</c:v>
                </c:pt>
                <c:pt idx="574">
                  <c:v>442.62</c:v>
                </c:pt>
                <c:pt idx="575">
                  <c:v>426.45</c:v>
                </c:pt>
                <c:pt idx="576">
                  <c:v>432.72</c:v>
                </c:pt>
                <c:pt idx="577">
                  <c:v>438.1</c:v>
                </c:pt>
                <c:pt idx="578">
                  <c:v>430.42</c:v>
                </c:pt>
                <c:pt idx="579">
                  <c:v>412.52</c:v>
                </c:pt>
                <c:pt idx="580">
                  <c:v>386.38</c:v>
                </c:pt>
                <c:pt idx="581">
                  <c:v>370.6</c:v>
                </c:pt>
                <c:pt idx="582">
                  <c:v>376.75</c:v>
                </c:pt>
                <c:pt idx="583">
                  <c:v>394.42</c:v>
                </c:pt>
                <c:pt idx="584">
                  <c:v>403.15</c:v>
                </c:pt>
                <c:pt idx="585">
                  <c:v>410.78</c:v>
                </c:pt>
                <c:pt idx="586">
                  <c:v>379.6</c:v>
                </c:pt>
                <c:pt idx="587">
                  <c:v>394.1</c:v>
                </c:pt>
                <c:pt idx="588">
                  <c:v>413.5</c:v>
                </c:pt>
                <c:pt idx="589">
                  <c:v>409.95</c:v>
                </c:pt>
                <c:pt idx="590">
                  <c:v>437.98</c:v>
                </c:pt>
                <c:pt idx="591">
                  <c:v>435.9</c:v>
                </c:pt>
                <c:pt idx="592">
                  <c:v>442.68</c:v>
                </c:pt>
                <c:pt idx="593">
                  <c:v>404.05</c:v>
                </c:pt>
                <c:pt idx="594">
                  <c:v>376.9</c:v>
                </c:pt>
                <c:pt idx="595">
                  <c:v>406.02</c:v>
                </c:pt>
                <c:pt idx="596">
                  <c:v>363.75</c:v>
                </c:pt>
                <c:pt idx="597">
                  <c:v>367.65</c:v>
                </c:pt>
                <c:pt idx="598">
                  <c:v>380.5</c:v>
                </c:pt>
                <c:pt idx="599">
                  <c:v>353.28</c:v>
                </c:pt>
                <c:pt idx="600">
                  <c:v>357.38</c:v>
                </c:pt>
                <c:pt idx="601">
                  <c:v>365.9</c:v>
                </c:pt>
                <c:pt idx="602">
                  <c:v>396.32</c:v>
                </c:pt>
                <c:pt idx="603">
                  <c:v>397.38</c:v>
                </c:pt>
                <c:pt idx="604">
                  <c:v>416.5</c:v>
                </c:pt>
                <c:pt idx="605">
                  <c:v>424.62</c:v>
                </c:pt>
                <c:pt idx="606">
                  <c:v>421.78</c:v>
                </c:pt>
                <c:pt idx="607">
                  <c:v>398.25</c:v>
                </c:pt>
                <c:pt idx="608">
                  <c:v>398.75</c:v>
                </c:pt>
                <c:pt idx="609">
                  <c:v>409.98</c:v>
                </c:pt>
                <c:pt idx="610">
                  <c:v>380.28</c:v>
                </c:pt>
                <c:pt idx="611">
                  <c:v>365.52</c:v>
                </c:pt>
                <c:pt idx="612">
                  <c:v>376.35</c:v>
                </c:pt>
                <c:pt idx="613">
                  <c:v>371.65</c:v>
                </c:pt>
                <c:pt idx="614">
                  <c:v>370.82</c:v>
                </c:pt>
                <c:pt idx="615">
                  <c:v>372.52</c:v>
                </c:pt>
                <c:pt idx="616">
                  <c:v>369.42</c:v>
                </c:pt>
                <c:pt idx="617">
                  <c:v>347.08</c:v>
                </c:pt>
                <c:pt idx="618">
                  <c:v>342.58</c:v>
                </c:pt>
                <c:pt idx="619">
                  <c:v>347.65</c:v>
                </c:pt>
                <c:pt idx="620">
                  <c:v>352.8</c:v>
                </c:pt>
                <c:pt idx="621">
                  <c:v>360.62</c:v>
                </c:pt>
                <c:pt idx="622">
                  <c:v>358.18</c:v>
                </c:pt>
                <c:pt idx="623">
                  <c:v>359.35</c:v>
                </c:pt>
                <c:pt idx="624">
                  <c:v>359.95</c:v>
                </c:pt>
                <c:pt idx="625">
                  <c:v>369.35</c:v>
                </c:pt>
                <c:pt idx="626">
                  <c:v>360.6</c:v>
                </c:pt>
                <c:pt idx="627">
                  <c:v>363.9</c:v>
                </c:pt>
                <c:pt idx="628">
                  <c:v>355.08</c:v>
                </c:pt>
                <c:pt idx="629">
                  <c:v>369.78</c:v>
                </c:pt>
                <c:pt idx="630">
                  <c:v>390.08</c:v>
                </c:pt>
                <c:pt idx="631">
                  <c:v>408.05</c:v>
                </c:pt>
                <c:pt idx="632">
                  <c:v>393.68</c:v>
                </c:pt>
                <c:pt idx="633">
                  <c:v>381.52</c:v>
                </c:pt>
                <c:pt idx="634">
                  <c:v>398</c:v>
                </c:pt>
                <c:pt idx="635">
                  <c:v>420.88</c:v>
                </c:pt>
                <c:pt idx="636">
                  <c:v>418.18</c:v>
                </c:pt>
                <c:pt idx="637">
                  <c:v>416.75</c:v>
                </c:pt>
                <c:pt idx="638">
                  <c:v>407.65</c:v>
                </c:pt>
                <c:pt idx="639">
                  <c:v>406.22</c:v>
                </c:pt>
                <c:pt idx="640">
                  <c:v>404.98</c:v>
                </c:pt>
                <c:pt idx="641">
                  <c:v>402.75</c:v>
                </c:pt>
                <c:pt idx="642">
                  <c:v>400.42</c:v>
                </c:pt>
                <c:pt idx="643">
                  <c:v>392.3</c:v>
                </c:pt>
                <c:pt idx="644">
                  <c:v>382.92</c:v>
                </c:pt>
                <c:pt idx="645">
                  <c:v>396.85</c:v>
                </c:pt>
                <c:pt idx="646">
                  <c:v>417.3</c:v>
                </c:pt>
                <c:pt idx="647">
                  <c:v>419.62</c:v>
                </c:pt>
                <c:pt idx="648">
                  <c:v>412.62</c:v>
                </c:pt>
                <c:pt idx="649">
                  <c:v>419.78</c:v>
                </c:pt>
                <c:pt idx="650">
                  <c:v>428.3</c:v>
                </c:pt>
                <c:pt idx="651">
                  <c:v>423.78</c:v>
                </c:pt>
                <c:pt idx="652">
                  <c:v>459.98</c:v>
                </c:pt>
                <c:pt idx="653">
                  <c:v>448.78</c:v>
                </c:pt>
                <c:pt idx="654">
                  <c:v>443.35</c:v>
                </c:pt>
                <c:pt idx="655">
                  <c:v>434.2</c:v>
                </c:pt>
                <c:pt idx="656">
                  <c:v>423.75</c:v>
                </c:pt>
                <c:pt idx="657">
                  <c:v>427.18</c:v>
                </c:pt>
                <c:pt idx="658">
                  <c:v>406.3</c:v>
                </c:pt>
                <c:pt idx="659">
                  <c:v>422.25</c:v>
                </c:pt>
                <c:pt idx="660">
                  <c:v>417.15</c:v>
                </c:pt>
                <c:pt idx="661">
                  <c:v>404.62</c:v>
                </c:pt>
                <c:pt idx="662">
                  <c:v>388.28</c:v>
                </c:pt>
                <c:pt idx="663">
                  <c:v>389.7</c:v>
                </c:pt>
                <c:pt idx="664">
                  <c:v>386.85</c:v>
                </c:pt>
                <c:pt idx="665">
                  <c:v>396.2</c:v>
                </c:pt>
                <c:pt idx="666">
                  <c:v>410.8</c:v>
                </c:pt>
                <c:pt idx="667">
                  <c:v>407.05</c:v>
                </c:pt>
                <c:pt idx="668">
                  <c:v>417.75</c:v>
                </c:pt>
                <c:pt idx="669">
                  <c:v>393.22</c:v>
                </c:pt>
                <c:pt idx="670">
                  <c:v>403.15</c:v>
                </c:pt>
                <c:pt idx="671">
                  <c:v>391.8</c:v>
                </c:pt>
                <c:pt idx="672">
                  <c:v>407.32</c:v>
                </c:pt>
                <c:pt idx="673">
                  <c:v>396.42</c:v>
                </c:pt>
                <c:pt idx="674">
                  <c:v>431.3</c:v>
                </c:pt>
                <c:pt idx="675">
                  <c:v>440.18</c:v>
                </c:pt>
                <c:pt idx="676">
                  <c:v>444.98</c:v>
                </c:pt>
                <c:pt idx="677">
                  <c:v>461.85</c:v>
                </c:pt>
                <c:pt idx="678">
                  <c:v>445.08</c:v>
                </c:pt>
                <c:pt idx="679">
                  <c:v>428.68</c:v>
                </c:pt>
                <c:pt idx="680">
                  <c:v>422.82</c:v>
                </c:pt>
                <c:pt idx="681">
                  <c:v>412.68</c:v>
                </c:pt>
                <c:pt idx="682">
                  <c:v>401.62</c:v>
                </c:pt>
                <c:pt idx="683">
                  <c:v>415.5</c:v>
                </c:pt>
                <c:pt idx="684">
                  <c:v>443.88</c:v>
                </c:pt>
                <c:pt idx="685">
                  <c:v>435.98</c:v>
                </c:pt>
                <c:pt idx="686">
                  <c:v>424.52</c:v>
                </c:pt>
                <c:pt idx="687">
                  <c:v>423.48</c:v>
                </c:pt>
                <c:pt idx="688">
                  <c:v>430</c:v>
                </c:pt>
                <c:pt idx="689">
                  <c:v>452.82</c:v>
                </c:pt>
                <c:pt idx="690">
                  <c:v>443.5</c:v>
                </c:pt>
                <c:pt idx="691">
                  <c:v>454.12</c:v>
                </c:pt>
                <c:pt idx="692">
                  <c:v>437.98</c:v>
                </c:pt>
                <c:pt idx="693">
                  <c:v>437.38</c:v>
                </c:pt>
                <c:pt idx="694">
                  <c:v>425.85</c:v>
                </c:pt>
                <c:pt idx="695">
                  <c:v>427.65</c:v>
                </c:pt>
                <c:pt idx="696">
                  <c:v>439.48</c:v>
                </c:pt>
                <c:pt idx="697">
                  <c:v>422.52</c:v>
                </c:pt>
                <c:pt idx="698">
                  <c:v>448.12</c:v>
                </c:pt>
                <c:pt idx="699">
                  <c:v>447.6</c:v>
                </c:pt>
                <c:pt idx="700">
                  <c:v>421.05</c:v>
                </c:pt>
                <c:pt idx="701">
                  <c:v>440.75</c:v>
                </c:pt>
                <c:pt idx="702">
                  <c:v>431.52</c:v>
                </c:pt>
                <c:pt idx="703">
                  <c:v>422.42</c:v>
                </c:pt>
                <c:pt idx="704">
                  <c:v>410.78</c:v>
                </c:pt>
                <c:pt idx="705">
                  <c:v>402.62</c:v>
                </c:pt>
                <c:pt idx="706">
                  <c:v>406.58</c:v>
                </c:pt>
                <c:pt idx="707">
                  <c:v>405.28</c:v>
                </c:pt>
                <c:pt idx="708">
                  <c:v>403.5</c:v>
                </c:pt>
                <c:pt idx="709">
                  <c:v>435.68</c:v>
                </c:pt>
                <c:pt idx="710">
                  <c:v>453</c:v>
                </c:pt>
                <c:pt idx="711">
                  <c:v>445.6</c:v>
                </c:pt>
                <c:pt idx="712">
                  <c:v>479.1</c:v>
                </c:pt>
                <c:pt idx="713">
                  <c:v>484.52</c:v>
                </c:pt>
                <c:pt idx="714">
                  <c:v>479.8</c:v>
                </c:pt>
                <c:pt idx="715">
                  <c:v>470.15</c:v>
                </c:pt>
                <c:pt idx="716">
                  <c:v>480.42</c:v>
                </c:pt>
                <c:pt idx="717">
                  <c:v>522.75</c:v>
                </c:pt>
                <c:pt idx="718">
                  <c:v>539.20000000000005</c:v>
                </c:pt>
                <c:pt idx="719">
                  <c:v>544.45000000000005</c:v>
                </c:pt>
                <c:pt idx="720">
                  <c:v>538.75</c:v>
                </c:pt>
                <c:pt idx="721">
                  <c:v>551.04999999999995</c:v>
                </c:pt>
                <c:pt idx="722">
                  <c:v>533.38</c:v>
                </c:pt>
                <c:pt idx="723">
                  <c:v>525.5</c:v>
                </c:pt>
                <c:pt idx="724">
                  <c:v>509.12</c:v>
                </c:pt>
                <c:pt idx="725">
                  <c:v>500.48</c:v>
                </c:pt>
                <c:pt idx="726">
                  <c:v>494.85</c:v>
                </c:pt>
                <c:pt idx="727">
                  <c:v>516.62</c:v>
                </c:pt>
                <c:pt idx="728">
                  <c:v>503.22</c:v>
                </c:pt>
                <c:pt idx="729">
                  <c:v>494.65</c:v>
                </c:pt>
                <c:pt idx="730">
                  <c:v>501.48</c:v>
                </c:pt>
                <c:pt idx="731">
                  <c:v>499.15</c:v>
                </c:pt>
                <c:pt idx="732">
                  <c:v>507.05</c:v>
                </c:pt>
                <c:pt idx="733">
                  <c:v>518.85</c:v>
                </c:pt>
                <c:pt idx="734">
                  <c:v>501.38</c:v>
                </c:pt>
                <c:pt idx="735">
                  <c:v>495.78</c:v>
                </c:pt>
                <c:pt idx="736">
                  <c:v>466.58</c:v>
                </c:pt>
                <c:pt idx="737">
                  <c:v>477.32</c:v>
                </c:pt>
                <c:pt idx="738">
                  <c:v>468.95</c:v>
                </c:pt>
                <c:pt idx="739">
                  <c:v>470.68</c:v>
                </c:pt>
                <c:pt idx="740">
                  <c:v>501.18</c:v>
                </c:pt>
                <c:pt idx="741">
                  <c:v>487.02</c:v>
                </c:pt>
                <c:pt idx="742">
                  <c:v>489.08</c:v>
                </c:pt>
                <c:pt idx="743">
                  <c:v>493.52</c:v>
                </c:pt>
                <c:pt idx="744">
                  <c:v>484.18</c:v>
                </c:pt>
                <c:pt idx="745">
                  <c:v>466.28</c:v>
                </c:pt>
                <c:pt idx="746">
                  <c:v>434.75</c:v>
                </c:pt>
                <c:pt idx="747">
                  <c:v>442.08</c:v>
                </c:pt>
                <c:pt idx="748">
                  <c:v>443.95</c:v>
                </c:pt>
                <c:pt idx="749">
                  <c:v>421.02</c:v>
                </c:pt>
                <c:pt idx="750">
                  <c:v>432.12</c:v>
                </c:pt>
                <c:pt idx="751">
                  <c:v>441.88</c:v>
                </c:pt>
                <c:pt idx="752">
                  <c:v>457.62</c:v>
                </c:pt>
                <c:pt idx="753">
                  <c:v>454.95</c:v>
                </c:pt>
                <c:pt idx="754">
                  <c:v>458.75</c:v>
                </c:pt>
                <c:pt idx="755">
                  <c:v>425.72</c:v>
                </c:pt>
                <c:pt idx="756">
                  <c:v>432.58</c:v>
                </c:pt>
                <c:pt idx="757">
                  <c:v>434.82</c:v>
                </c:pt>
                <c:pt idx="758">
                  <c:v>421.05</c:v>
                </c:pt>
                <c:pt idx="759">
                  <c:v>420.98</c:v>
                </c:pt>
                <c:pt idx="760">
                  <c:v>405.38</c:v>
                </c:pt>
                <c:pt idx="761">
                  <c:v>432.95</c:v>
                </c:pt>
                <c:pt idx="762">
                  <c:v>464.18</c:v>
                </c:pt>
                <c:pt idx="763">
                  <c:v>438.52</c:v>
                </c:pt>
                <c:pt idx="764">
                  <c:v>431.18</c:v>
                </c:pt>
                <c:pt idx="765">
                  <c:v>444.85</c:v>
                </c:pt>
                <c:pt idx="766">
                  <c:v>436.98</c:v>
                </c:pt>
                <c:pt idx="767">
                  <c:v>451.92</c:v>
                </c:pt>
                <c:pt idx="768">
                  <c:v>438.5</c:v>
                </c:pt>
                <c:pt idx="769">
                  <c:v>453.88</c:v>
                </c:pt>
                <c:pt idx="770">
                  <c:v>444.92</c:v>
                </c:pt>
                <c:pt idx="771">
                  <c:v>498.32</c:v>
                </c:pt>
                <c:pt idx="772">
                  <c:v>500.35</c:v>
                </c:pt>
                <c:pt idx="773">
                  <c:v>503.6</c:v>
                </c:pt>
                <c:pt idx="774">
                  <c:v>500.9</c:v>
                </c:pt>
                <c:pt idx="775">
                  <c:v>510.85</c:v>
                </c:pt>
                <c:pt idx="776">
                  <c:v>512.52</c:v>
                </c:pt>
                <c:pt idx="777">
                  <c:v>500.92</c:v>
                </c:pt>
                <c:pt idx="778">
                  <c:v>492.18</c:v>
                </c:pt>
                <c:pt idx="779">
                  <c:v>483.48</c:v>
                </c:pt>
                <c:pt idx="780">
                  <c:v>453.98</c:v>
                </c:pt>
                <c:pt idx="781">
                  <c:v>436.2</c:v>
                </c:pt>
                <c:pt idx="782">
                  <c:v>417.95</c:v>
                </c:pt>
                <c:pt idx="783">
                  <c:v>430.48</c:v>
                </c:pt>
                <c:pt idx="784">
                  <c:v>439.05</c:v>
                </c:pt>
                <c:pt idx="785">
                  <c:v>420.38</c:v>
                </c:pt>
                <c:pt idx="786">
                  <c:v>456.9</c:v>
                </c:pt>
                <c:pt idx="787">
                  <c:v>451.48</c:v>
                </c:pt>
                <c:pt idx="788">
                  <c:v>477.5</c:v>
                </c:pt>
                <c:pt idx="789">
                  <c:v>470.5</c:v>
                </c:pt>
                <c:pt idx="790">
                  <c:v>468.3</c:v>
                </c:pt>
                <c:pt idx="791">
                  <c:v>466.52</c:v>
                </c:pt>
                <c:pt idx="792">
                  <c:v>473.42</c:v>
                </c:pt>
                <c:pt idx="793">
                  <c:v>482.92</c:v>
                </c:pt>
                <c:pt idx="794">
                  <c:v>476.02</c:v>
                </c:pt>
                <c:pt idx="795">
                  <c:v>477.55</c:v>
                </c:pt>
                <c:pt idx="796">
                  <c:v>496.05</c:v>
                </c:pt>
                <c:pt idx="797">
                  <c:v>507.7</c:v>
                </c:pt>
                <c:pt idx="798">
                  <c:v>502.58</c:v>
                </c:pt>
                <c:pt idx="799">
                  <c:v>522.72</c:v>
                </c:pt>
                <c:pt idx="800">
                  <c:v>521.79999999999995</c:v>
                </c:pt>
                <c:pt idx="801">
                  <c:v>499.68</c:v>
                </c:pt>
                <c:pt idx="802">
                  <c:v>490.7</c:v>
                </c:pt>
                <c:pt idx="803">
                  <c:v>481.32</c:v>
                </c:pt>
                <c:pt idx="804">
                  <c:v>476.3</c:v>
                </c:pt>
                <c:pt idx="805">
                  <c:v>476.32</c:v>
                </c:pt>
                <c:pt idx="806">
                  <c:v>500.75</c:v>
                </c:pt>
                <c:pt idx="807">
                  <c:v>505.88</c:v>
                </c:pt>
                <c:pt idx="808">
                  <c:v>508</c:v>
                </c:pt>
                <c:pt idx="809">
                  <c:v>510.2</c:v>
                </c:pt>
                <c:pt idx="810">
                  <c:v>517.52</c:v>
                </c:pt>
                <c:pt idx="811">
                  <c:v>520.15</c:v>
                </c:pt>
                <c:pt idx="812">
                  <c:v>520.58000000000004</c:v>
                </c:pt>
                <c:pt idx="813">
                  <c:v>498.35</c:v>
                </c:pt>
                <c:pt idx="814">
                  <c:v>487.62</c:v>
                </c:pt>
                <c:pt idx="815">
                  <c:v>496.4</c:v>
                </c:pt>
                <c:pt idx="816">
                  <c:v>475.6</c:v>
                </c:pt>
                <c:pt idx="817">
                  <c:v>473.42</c:v>
                </c:pt>
                <c:pt idx="818">
                  <c:v>478.12</c:v>
                </c:pt>
                <c:pt idx="819">
                  <c:v>485.58</c:v>
                </c:pt>
                <c:pt idx="820">
                  <c:v>488.15</c:v>
                </c:pt>
                <c:pt idx="821">
                  <c:v>490.22</c:v>
                </c:pt>
                <c:pt idx="822">
                  <c:v>484.58</c:v>
                </c:pt>
                <c:pt idx="823">
                  <c:v>489.2</c:v>
                </c:pt>
                <c:pt idx="824">
                  <c:v>506.1</c:v>
                </c:pt>
                <c:pt idx="825">
                  <c:v>507.42</c:v>
                </c:pt>
                <c:pt idx="826">
                  <c:v>507.45</c:v>
                </c:pt>
                <c:pt idx="827">
                  <c:v>508.12</c:v>
                </c:pt>
                <c:pt idx="828">
                  <c:v>517.9</c:v>
                </c:pt>
                <c:pt idx="829">
                  <c:v>505.92</c:v>
                </c:pt>
                <c:pt idx="830">
                  <c:v>528.72</c:v>
                </c:pt>
                <c:pt idx="831">
                  <c:v>509.95</c:v>
                </c:pt>
                <c:pt idx="832">
                  <c:v>522.38</c:v>
                </c:pt>
                <c:pt idx="833">
                  <c:v>536.12</c:v>
                </c:pt>
                <c:pt idx="834">
                  <c:v>545.33000000000004</c:v>
                </c:pt>
                <c:pt idx="835">
                  <c:v>544.70000000000005</c:v>
                </c:pt>
                <c:pt idx="836">
                  <c:v>538.83000000000004</c:v>
                </c:pt>
                <c:pt idx="837">
                  <c:v>532.1</c:v>
                </c:pt>
                <c:pt idx="838">
                  <c:v>527.48</c:v>
                </c:pt>
                <c:pt idx="839">
                  <c:v>502.78</c:v>
                </c:pt>
                <c:pt idx="840">
                  <c:v>500.88</c:v>
                </c:pt>
                <c:pt idx="841">
                  <c:v>495.75</c:v>
                </c:pt>
                <c:pt idx="842">
                  <c:v>493.32</c:v>
                </c:pt>
                <c:pt idx="843">
                  <c:v>496.92</c:v>
                </c:pt>
                <c:pt idx="844">
                  <c:v>513.6</c:v>
                </c:pt>
                <c:pt idx="845">
                  <c:v>531.28</c:v>
                </c:pt>
                <c:pt idx="846">
                  <c:v>523.72</c:v>
                </c:pt>
                <c:pt idx="847">
                  <c:v>542.54999999999995</c:v>
                </c:pt>
                <c:pt idx="848">
                  <c:v>538.85</c:v>
                </c:pt>
                <c:pt idx="849">
                  <c:v>538.12</c:v>
                </c:pt>
                <c:pt idx="850">
                  <c:v>507.95</c:v>
                </c:pt>
                <c:pt idx="851">
                  <c:v>522.6</c:v>
                </c:pt>
                <c:pt idx="852">
                  <c:v>515.45000000000005</c:v>
                </c:pt>
                <c:pt idx="853">
                  <c:v>524.9</c:v>
                </c:pt>
                <c:pt idx="854">
                  <c:v>544.1</c:v>
                </c:pt>
                <c:pt idx="855">
                  <c:v>617.25</c:v>
                </c:pt>
                <c:pt idx="856">
                  <c:v>645.6</c:v>
                </c:pt>
                <c:pt idx="857">
                  <c:v>648.83000000000004</c:v>
                </c:pt>
                <c:pt idx="858">
                  <c:v>636.65</c:v>
                </c:pt>
                <c:pt idx="859">
                  <c:v>635.33000000000004</c:v>
                </c:pt>
                <c:pt idx="860">
                  <c:v>703.3</c:v>
                </c:pt>
                <c:pt idx="861">
                  <c:v>695.92</c:v>
                </c:pt>
                <c:pt idx="862">
                  <c:v>708.7</c:v>
                </c:pt>
                <c:pt idx="863">
                  <c:v>685.28</c:v>
                </c:pt>
                <c:pt idx="864">
                  <c:v>665.18</c:v>
                </c:pt>
                <c:pt idx="865">
                  <c:v>678.15</c:v>
                </c:pt>
                <c:pt idx="866">
                  <c:v>652.78</c:v>
                </c:pt>
                <c:pt idx="867">
                  <c:v>679.68</c:v>
                </c:pt>
                <c:pt idx="868">
                  <c:v>656.4</c:v>
                </c:pt>
                <c:pt idx="869">
                  <c:v>657.18</c:v>
                </c:pt>
                <c:pt idx="870">
                  <c:v>706.18</c:v>
                </c:pt>
                <c:pt idx="871">
                  <c:v>699.25</c:v>
                </c:pt>
                <c:pt idx="872">
                  <c:v>721.32</c:v>
                </c:pt>
                <c:pt idx="873">
                  <c:v>755.55</c:v>
                </c:pt>
                <c:pt idx="874">
                  <c:v>766.48</c:v>
                </c:pt>
                <c:pt idx="875">
                  <c:v>811.38</c:v>
                </c:pt>
                <c:pt idx="876">
                  <c:v>814.6</c:v>
                </c:pt>
                <c:pt idx="877">
                  <c:v>799.4</c:v>
                </c:pt>
                <c:pt idx="878">
                  <c:v>783.55</c:v>
                </c:pt>
                <c:pt idx="879">
                  <c:v>784.02</c:v>
                </c:pt>
                <c:pt idx="880">
                  <c:v>805.05</c:v>
                </c:pt>
                <c:pt idx="881">
                  <c:v>816.9</c:v>
                </c:pt>
                <c:pt idx="882">
                  <c:v>841.8</c:v>
                </c:pt>
                <c:pt idx="883">
                  <c:v>817.4</c:v>
                </c:pt>
                <c:pt idx="884">
                  <c:v>780.9</c:v>
                </c:pt>
                <c:pt idx="885">
                  <c:v>830.65</c:v>
                </c:pt>
                <c:pt idx="886">
                  <c:v>876.8</c:v>
                </c:pt>
                <c:pt idx="887">
                  <c:v>934.25</c:v>
                </c:pt>
                <c:pt idx="888">
                  <c:v>940.85</c:v>
                </c:pt>
                <c:pt idx="889">
                  <c:v>906.7</c:v>
                </c:pt>
                <c:pt idx="890">
                  <c:v>886.7</c:v>
                </c:pt>
                <c:pt idx="891">
                  <c:v>932.55</c:v>
                </c:pt>
                <c:pt idx="892">
                  <c:v>943.35</c:v>
                </c:pt>
                <c:pt idx="893">
                  <c:v>913.7</c:v>
                </c:pt>
                <c:pt idx="894">
                  <c:v>915.6</c:v>
                </c:pt>
                <c:pt idx="895">
                  <c:v>925.95</c:v>
                </c:pt>
                <c:pt idx="896">
                  <c:v>923.75</c:v>
                </c:pt>
                <c:pt idx="897">
                  <c:v>914.8</c:v>
                </c:pt>
                <c:pt idx="898">
                  <c:v>942.35</c:v>
                </c:pt>
                <c:pt idx="899">
                  <c:v>924.5</c:v>
                </c:pt>
                <c:pt idx="900">
                  <c:v>966.35</c:v>
                </c:pt>
                <c:pt idx="901">
                  <c:v>943.85</c:v>
                </c:pt>
                <c:pt idx="902">
                  <c:v>904.55</c:v>
                </c:pt>
                <c:pt idx="903">
                  <c:v>921.3</c:v>
                </c:pt>
                <c:pt idx="904">
                  <c:v>934.25</c:v>
                </c:pt>
                <c:pt idx="905">
                  <c:v>924.1</c:v>
                </c:pt>
                <c:pt idx="906">
                  <c:v>930.3</c:v>
                </c:pt>
                <c:pt idx="907">
                  <c:v>895.5</c:v>
                </c:pt>
                <c:pt idx="908">
                  <c:v>901.1</c:v>
                </c:pt>
                <c:pt idx="909">
                  <c:v>894.9</c:v>
                </c:pt>
                <c:pt idx="910">
                  <c:v>930.85</c:v>
                </c:pt>
                <c:pt idx="911">
                  <c:v>938</c:v>
                </c:pt>
                <c:pt idx="912">
                  <c:v>970.5</c:v>
                </c:pt>
                <c:pt idx="913">
                  <c:v>961.6</c:v>
                </c:pt>
                <c:pt idx="914">
                  <c:v>981.15</c:v>
                </c:pt>
                <c:pt idx="915">
                  <c:v>945.35</c:v>
                </c:pt>
                <c:pt idx="916">
                  <c:v>915.85</c:v>
                </c:pt>
                <c:pt idx="917">
                  <c:v>921.35</c:v>
                </c:pt>
                <c:pt idx="918">
                  <c:v>971.35</c:v>
                </c:pt>
                <c:pt idx="919">
                  <c:v>1007.95</c:v>
                </c:pt>
                <c:pt idx="920">
                  <c:v>1031.95</c:v>
                </c:pt>
                <c:pt idx="921">
                  <c:v>944.95</c:v>
                </c:pt>
                <c:pt idx="922">
                  <c:v>964.5</c:v>
                </c:pt>
                <c:pt idx="923">
                  <c:v>1082.3499999999999</c:v>
                </c:pt>
                <c:pt idx="924">
                  <c:v>1104.8499999999999</c:v>
                </c:pt>
                <c:pt idx="925">
                  <c:v>1110.6500000000001</c:v>
                </c:pt>
                <c:pt idx="926">
                  <c:v>1168.3499999999999</c:v>
                </c:pt>
                <c:pt idx="927">
                  <c:v>1217.95</c:v>
                </c:pt>
                <c:pt idx="928">
                  <c:v>1203.75</c:v>
                </c:pt>
                <c:pt idx="929">
                  <c:v>1291.5</c:v>
                </c:pt>
                <c:pt idx="930">
                  <c:v>1229.1500000000001</c:v>
                </c:pt>
                <c:pt idx="931">
                  <c:v>1255.8499999999999</c:v>
                </c:pt>
                <c:pt idx="932">
                  <c:v>1217.1500000000001</c:v>
                </c:pt>
                <c:pt idx="933">
                  <c:v>1251.4000000000001</c:v>
                </c:pt>
                <c:pt idx="934">
                  <c:v>1122.25</c:v>
                </c:pt>
                <c:pt idx="935">
                  <c:v>1087.8</c:v>
                </c:pt>
                <c:pt idx="936">
                  <c:v>1101.3</c:v>
                </c:pt>
                <c:pt idx="937">
                  <c:v>1044.9000000000001</c:v>
                </c:pt>
                <c:pt idx="938">
                  <c:v>1074.9000000000001</c:v>
                </c:pt>
                <c:pt idx="939">
                  <c:v>1080</c:v>
                </c:pt>
                <c:pt idx="940">
                  <c:v>1150</c:v>
                </c:pt>
                <c:pt idx="941">
                  <c:v>1128.2</c:v>
                </c:pt>
                <c:pt idx="942">
                  <c:v>1152.3</c:v>
                </c:pt>
                <c:pt idx="943">
                  <c:v>1097.55</c:v>
                </c:pt>
                <c:pt idx="944">
                  <c:v>1136.4000000000001</c:v>
                </c:pt>
                <c:pt idx="945">
                  <c:v>1098.3499999999999</c:v>
                </c:pt>
                <c:pt idx="946">
                  <c:v>1106.4000000000001</c:v>
                </c:pt>
                <c:pt idx="947">
                  <c:v>1110.75</c:v>
                </c:pt>
                <c:pt idx="948">
                  <c:v>1135.9000000000001</c:v>
                </c:pt>
                <c:pt idx="949">
                  <c:v>1226.3</c:v>
                </c:pt>
                <c:pt idx="950">
                  <c:v>1195.7</c:v>
                </c:pt>
                <c:pt idx="951">
                  <c:v>1310.25</c:v>
                </c:pt>
                <c:pt idx="952">
                  <c:v>1245.95</c:v>
                </c:pt>
                <c:pt idx="953">
                  <c:v>1234.3499999999999</c:v>
                </c:pt>
                <c:pt idx="954">
                  <c:v>1223.5</c:v>
                </c:pt>
                <c:pt idx="955">
                  <c:v>1270.25</c:v>
                </c:pt>
                <c:pt idx="956">
                  <c:v>1341.55</c:v>
                </c:pt>
                <c:pt idx="957">
                  <c:v>1341.75</c:v>
                </c:pt>
                <c:pt idx="958">
                  <c:v>1363.25</c:v>
                </c:pt>
                <c:pt idx="959">
                  <c:v>1353.9</c:v>
                </c:pt>
                <c:pt idx="960">
                  <c:v>1343.1</c:v>
                </c:pt>
                <c:pt idx="961">
                  <c:v>1363.85</c:v>
                </c:pt>
                <c:pt idx="962">
                  <c:v>1405.05</c:v>
                </c:pt>
                <c:pt idx="963">
                  <c:v>1256.45</c:v>
                </c:pt>
                <c:pt idx="964">
                  <c:v>1265.3499999999999</c:v>
                </c:pt>
                <c:pt idx="965">
                  <c:v>1333.9</c:v>
                </c:pt>
                <c:pt idx="966">
                  <c:v>1329.75</c:v>
                </c:pt>
                <c:pt idx="967">
                  <c:v>1314.9</c:v>
                </c:pt>
                <c:pt idx="968">
                  <c:v>1317.55</c:v>
                </c:pt>
                <c:pt idx="969">
                  <c:v>1279.5</c:v>
                </c:pt>
                <c:pt idx="970">
                  <c:v>1253.0999999999999</c:v>
                </c:pt>
                <c:pt idx="971">
                  <c:v>1263.3499999999999</c:v>
                </c:pt>
                <c:pt idx="972">
                  <c:v>1280.5</c:v>
                </c:pt>
                <c:pt idx="973">
                  <c:v>1249</c:v>
                </c:pt>
                <c:pt idx="974">
                  <c:v>1213.8</c:v>
                </c:pt>
                <c:pt idx="975">
                  <c:v>1184.3499999999999</c:v>
                </c:pt>
                <c:pt idx="976">
                  <c:v>1162.0999999999999</c:v>
                </c:pt>
                <c:pt idx="977">
                  <c:v>1275.95</c:v>
                </c:pt>
                <c:pt idx="978">
                  <c:v>1274.8499999999999</c:v>
                </c:pt>
                <c:pt idx="979">
                  <c:v>1201.1500000000001</c:v>
                </c:pt>
                <c:pt idx="980">
                  <c:v>1210.3499999999999</c:v>
                </c:pt>
                <c:pt idx="981">
                  <c:v>1179.05</c:v>
                </c:pt>
                <c:pt idx="982">
                  <c:v>1296.8</c:v>
                </c:pt>
                <c:pt idx="983">
                  <c:v>1308.0999999999999</c:v>
                </c:pt>
                <c:pt idx="984">
                  <c:v>1358</c:v>
                </c:pt>
                <c:pt idx="985">
                  <c:v>1414.15</c:v>
                </c:pt>
                <c:pt idx="986">
                  <c:v>1467.05</c:v>
                </c:pt>
                <c:pt idx="987">
                  <c:v>1447.3</c:v>
                </c:pt>
                <c:pt idx="988">
                  <c:v>1472.3</c:v>
                </c:pt>
                <c:pt idx="989">
                  <c:v>1547.65</c:v>
                </c:pt>
                <c:pt idx="990">
                  <c:v>1569.85</c:v>
                </c:pt>
                <c:pt idx="991">
                  <c:v>1552.7</c:v>
                </c:pt>
                <c:pt idx="992">
                  <c:v>1562.4</c:v>
                </c:pt>
                <c:pt idx="993">
                  <c:v>1575.85</c:v>
                </c:pt>
                <c:pt idx="994">
                  <c:v>1515.4</c:v>
                </c:pt>
                <c:pt idx="995">
                  <c:v>1535.3</c:v>
                </c:pt>
                <c:pt idx="996">
                  <c:v>1548</c:v>
                </c:pt>
                <c:pt idx="997">
                  <c:v>1537.9</c:v>
                </c:pt>
                <c:pt idx="998">
                  <c:v>1526.85</c:v>
                </c:pt>
                <c:pt idx="999">
                  <c:v>1443.75</c:v>
                </c:pt>
                <c:pt idx="1000">
                  <c:v>1448.5</c:v>
                </c:pt>
                <c:pt idx="1001">
                  <c:v>1470.3</c:v>
                </c:pt>
                <c:pt idx="1002">
                  <c:v>1503.8</c:v>
                </c:pt>
                <c:pt idx="1003">
                  <c:v>1386.25</c:v>
                </c:pt>
                <c:pt idx="1004">
                  <c:v>1311.15</c:v>
                </c:pt>
                <c:pt idx="1005">
                  <c:v>1105.3</c:v>
                </c:pt>
                <c:pt idx="1006">
                  <c:v>1017.95</c:v>
                </c:pt>
                <c:pt idx="1007">
                  <c:v>1065.5999999999999</c:v>
                </c:pt>
                <c:pt idx="1008">
                  <c:v>1206.0999999999999</c:v>
                </c:pt>
                <c:pt idx="1009">
                  <c:v>1168.05</c:v>
                </c:pt>
                <c:pt idx="1010">
                  <c:v>1370.9</c:v>
                </c:pt>
                <c:pt idx="1011">
                  <c:v>1466</c:v>
                </c:pt>
                <c:pt idx="1012">
                  <c:v>1561.8</c:v>
                </c:pt>
                <c:pt idx="1013">
                  <c:v>1459.4</c:v>
                </c:pt>
                <c:pt idx="1014">
                  <c:v>1431.55</c:v>
                </c:pt>
                <c:pt idx="1015">
                  <c:v>1520.35</c:v>
                </c:pt>
                <c:pt idx="1016">
                  <c:v>1569.5</c:v>
                </c:pt>
                <c:pt idx="1017">
                  <c:v>1614.55</c:v>
                </c:pt>
                <c:pt idx="1018">
                  <c:v>1746.15</c:v>
                </c:pt>
                <c:pt idx="1019">
                  <c:v>1723.15</c:v>
                </c:pt>
                <c:pt idx="1020">
                  <c:v>1851.8</c:v>
                </c:pt>
                <c:pt idx="1021">
                  <c:v>1935</c:v>
                </c:pt>
                <c:pt idx="1022">
                  <c:v>1919.9</c:v>
                </c:pt>
                <c:pt idx="1023">
                  <c:v>2156.1999999999998</c:v>
                </c:pt>
                <c:pt idx="1024">
                  <c:v>2009</c:v>
                </c:pt>
                <c:pt idx="1025">
                  <c:v>2119.85</c:v>
                </c:pt>
                <c:pt idx="1026">
                  <c:v>2091.35</c:v>
                </c:pt>
                <c:pt idx="1027">
                  <c:v>2095.75</c:v>
                </c:pt>
                <c:pt idx="1028">
                  <c:v>2080.6999999999998</c:v>
                </c:pt>
                <c:pt idx="1029">
                  <c:v>2082.65</c:v>
                </c:pt>
                <c:pt idx="1030">
                  <c:v>2302.5500000000002</c:v>
                </c:pt>
                <c:pt idx="1031">
                  <c:v>2255.85</c:v>
                </c:pt>
                <c:pt idx="1032">
                  <c:v>2216.25</c:v>
                </c:pt>
                <c:pt idx="1033">
                  <c:v>2210.35</c:v>
                </c:pt>
                <c:pt idx="1034">
                  <c:v>2280.6999999999998</c:v>
                </c:pt>
                <c:pt idx="1035">
                  <c:v>2155.9</c:v>
                </c:pt>
                <c:pt idx="1036">
                  <c:v>2034.5</c:v>
                </c:pt>
                <c:pt idx="1037">
                  <c:v>1850.4</c:v>
                </c:pt>
                <c:pt idx="1038">
                  <c:v>2084.5500000000002</c:v>
                </c:pt>
                <c:pt idx="1039">
                  <c:v>1993.25</c:v>
                </c:pt>
                <c:pt idx="1040">
                  <c:v>1964.05</c:v>
                </c:pt>
                <c:pt idx="1041">
                  <c:v>1958.15</c:v>
                </c:pt>
                <c:pt idx="1042">
                  <c:v>2026.95</c:v>
                </c:pt>
                <c:pt idx="1043">
                  <c:v>1976.55</c:v>
                </c:pt>
                <c:pt idx="1044">
                  <c:v>1943.85</c:v>
                </c:pt>
                <c:pt idx="1045">
                  <c:v>1985.3</c:v>
                </c:pt>
                <c:pt idx="1046">
                  <c:v>1911.15</c:v>
                </c:pt>
                <c:pt idx="1047">
                  <c:v>1960.6</c:v>
                </c:pt>
                <c:pt idx="1048">
                  <c:v>2099.4</c:v>
                </c:pt>
                <c:pt idx="1049">
                  <c:v>1841.95</c:v>
                </c:pt>
                <c:pt idx="1050">
                  <c:v>1923.75</c:v>
                </c:pt>
                <c:pt idx="1051">
                  <c:v>2041.6</c:v>
                </c:pt>
                <c:pt idx="1052">
                  <c:v>2080.3000000000002</c:v>
                </c:pt>
                <c:pt idx="1053">
                  <c:v>2085.8000000000002</c:v>
                </c:pt>
                <c:pt idx="1054">
                  <c:v>2178.6999999999998</c:v>
                </c:pt>
                <c:pt idx="1055">
                  <c:v>2108.9</c:v>
                </c:pt>
                <c:pt idx="1056">
                  <c:v>2062.4</c:v>
                </c:pt>
                <c:pt idx="1057">
                  <c:v>2029.3</c:v>
                </c:pt>
                <c:pt idx="1058">
                  <c:v>2002.85</c:v>
                </c:pt>
                <c:pt idx="1059">
                  <c:v>1944.3</c:v>
                </c:pt>
                <c:pt idx="1060">
                  <c:v>1904.35</c:v>
                </c:pt>
                <c:pt idx="1061">
                  <c:v>1994.5</c:v>
                </c:pt>
              </c:numCache>
            </c:numRef>
          </c:val>
          <c:smooth val="0"/>
          <c:extLst>
            <c:ext xmlns:c16="http://schemas.microsoft.com/office/drawing/2014/chart" uri="{C3380CC4-5D6E-409C-BE32-E72D297353CC}">
              <c16:uniqueId val="{00000001-A013-4CAA-8E02-C5AC43333DA8}"/>
            </c:ext>
          </c:extLst>
        </c:ser>
        <c:dLbls>
          <c:showLegendKey val="0"/>
          <c:showVal val="0"/>
          <c:showCatName val="0"/>
          <c:showSerName val="0"/>
          <c:showPercent val="0"/>
          <c:showBubbleSize val="0"/>
        </c:dLbls>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tickLblSkip val="104"/>
        <c:noMultiLvlLbl val="1"/>
      </c:catAx>
      <c:valAx>
        <c:axId val="2094734552"/>
        <c:scaling>
          <c:orientation val="minMax"/>
          <c:max val="3500"/>
          <c:min val="0"/>
        </c:scaling>
        <c:delete val="0"/>
        <c:axPos val="l"/>
        <c:majorGridlines>
          <c:spPr>
            <a:ln w="9525" cap="flat">
              <a:solidFill>
                <a:srgbClr val="E1E7EC"/>
              </a:solidFill>
              <a:prstDash val="solid"/>
              <a:round/>
            </a:ln>
          </c:spPr>
        </c:majorGridlines>
        <c:numFmt formatCode="#,##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500"/>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doughnutChart>
        <c:varyColors val="1"/>
        <c:ser>
          <c:idx val="0"/>
          <c:order val="0"/>
          <c:tx>
            <c:strRef>
              <c:f>Sheet1!$B$1</c:f>
              <c:strCache>
                <c:ptCount val="1"/>
                <c:pt idx="0">
                  <c:v>Features</c:v>
                </c:pt>
              </c:strCache>
            </c:strRef>
          </c:tx>
          <c:spPr>
            <a:solidFill>
              <a:schemeClr val="accent1"/>
            </a:solidFill>
            <a:ln w="9525" cap="flat">
              <a:solidFill>
                <a:srgbClr val="F9F9F9"/>
              </a:solidFill>
              <a:prstDash val="solid"/>
              <a:round/>
            </a:ln>
            <a:effectLst/>
          </c:spPr>
          <c:dPt>
            <c:idx val="0"/>
            <c:bubble3D val="0"/>
            <c:spPr>
              <a:solidFill>
                <a:schemeClr val="accent4"/>
              </a:solidFill>
              <a:ln w="19050" cap="flat">
                <a:solidFill>
                  <a:srgbClr val="FFFFFF"/>
                </a:solidFill>
                <a:prstDash val="solid"/>
                <a:round/>
              </a:ln>
              <a:effectLst/>
            </c:spPr>
            <c:extLst>
              <c:ext xmlns:c16="http://schemas.microsoft.com/office/drawing/2014/chart" uri="{C3380CC4-5D6E-409C-BE32-E72D297353CC}">
                <c16:uniqueId val="{00000001-0565-4F0F-B77B-EEF998B38DCE}"/>
              </c:ext>
            </c:extLst>
          </c:dPt>
          <c:dPt>
            <c:idx val="1"/>
            <c:bubble3D val="0"/>
            <c:spPr>
              <a:solidFill>
                <a:schemeClr val="accent1"/>
              </a:solidFill>
              <a:ln w="19050" cap="flat">
                <a:solidFill>
                  <a:srgbClr val="FFFFFF"/>
                </a:solidFill>
                <a:prstDash val="solid"/>
                <a:round/>
              </a:ln>
              <a:effectLst/>
            </c:spPr>
            <c:extLst>
              <c:ext xmlns:c16="http://schemas.microsoft.com/office/drawing/2014/chart" uri="{C3380CC4-5D6E-409C-BE32-E72D297353CC}">
                <c16:uniqueId val="{00000003-0565-4F0F-B77B-EEF998B38DCE}"/>
              </c:ext>
            </c:extLst>
          </c:dPt>
          <c:dPt>
            <c:idx val="2"/>
            <c:bubble3D val="0"/>
            <c:spPr>
              <a:solidFill>
                <a:schemeClr val="accent5"/>
              </a:solidFill>
              <a:ln w="19050" cap="flat">
                <a:solidFill>
                  <a:srgbClr val="FFFFFF"/>
                </a:solidFill>
                <a:prstDash val="solid"/>
                <a:round/>
              </a:ln>
              <a:effectLst/>
            </c:spPr>
            <c:extLst>
              <c:ext xmlns:c16="http://schemas.microsoft.com/office/drawing/2014/chart" uri="{C3380CC4-5D6E-409C-BE32-E72D297353CC}">
                <c16:uniqueId val="{00000005-0565-4F0F-B77B-EEF998B38DCE}"/>
              </c:ext>
            </c:extLst>
          </c:dPt>
          <c:dPt>
            <c:idx val="3"/>
            <c:bubble3D val="0"/>
            <c:spPr>
              <a:solidFill>
                <a:schemeClr val="accent3"/>
              </a:solidFill>
              <a:ln w="19050" cap="flat">
                <a:solidFill>
                  <a:srgbClr val="FFFFFF"/>
                </a:solidFill>
                <a:prstDash val="solid"/>
                <a:round/>
              </a:ln>
              <a:effectLst/>
            </c:spPr>
            <c:extLst>
              <c:ext xmlns:c16="http://schemas.microsoft.com/office/drawing/2014/chart" uri="{C3380CC4-5D6E-409C-BE32-E72D297353CC}">
                <c16:uniqueId val="{00000007-0565-4F0F-B77B-EEF998B38DCE}"/>
              </c:ext>
            </c:extLst>
          </c:dPt>
          <c:dPt>
            <c:idx val="4"/>
            <c:bubble3D val="0"/>
            <c:spPr>
              <a:solidFill>
                <a:schemeClr val="accent6"/>
              </a:solidFill>
              <a:ln w="19050" cap="flat">
                <a:solidFill>
                  <a:srgbClr val="FFFFFF"/>
                </a:solidFill>
                <a:prstDash val="solid"/>
                <a:round/>
              </a:ln>
              <a:effectLst/>
            </c:spPr>
            <c:extLst>
              <c:ext xmlns:c16="http://schemas.microsoft.com/office/drawing/2014/chart" uri="{C3380CC4-5D6E-409C-BE32-E72D297353CC}">
                <c16:uniqueId val="{00000009-0565-4F0F-B77B-EEF998B38DCE}"/>
              </c:ext>
            </c:extLst>
          </c:dPt>
          <c:cat>
            <c:strRef>
              <c:f>Sheet1!$A$2:$A$6</c:f>
              <c:strCache>
                <c:ptCount val="5"/>
                <c:pt idx="0">
                  <c:v>Price action</c:v>
                </c:pt>
                <c:pt idx="1">
                  <c:v>Indicators (scale-free)</c:v>
                </c:pt>
                <c:pt idx="2">
                  <c:v>Lags (1, 2, 3, 5 days)</c:v>
                </c:pt>
                <c:pt idx="3">
                  <c:v>Volatility</c:v>
                </c:pt>
                <c:pt idx="4">
                  <c:v>Volume</c:v>
                </c:pt>
              </c:strCache>
            </c:strRef>
          </c:cat>
          <c:val>
            <c:numRef>
              <c:f>Sheet1!$B$2:$B$6</c:f>
              <c:numCache>
                <c:formatCode>General</c:formatCode>
                <c:ptCount val="5"/>
                <c:pt idx="0">
                  <c:v>7</c:v>
                </c:pt>
                <c:pt idx="1">
                  <c:v>14</c:v>
                </c:pt>
                <c:pt idx="2">
                  <c:v>12</c:v>
                </c:pt>
                <c:pt idx="3">
                  <c:v>2</c:v>
                </c:pt>
                <c:pt idx="4">
                  <c:v>2</c:v>
                </c:pt>
              </c:numCache>
            </c:numRef>
          </c:val>
          <c:extLst>
            <c:ext xmlns:c16="http://schemas.microsoft.com/office/drawing/2014/chart" uri="{C3380CC4-5D6E-409C-BE32-E72D297353CC}">
              <c16:uniqueId val="{0000000A-0565-4F0F-B77B-EEF998B38DCE}"/>
            </c:ext>
          </c:extLst>
        </c:ser>
        <c:dLbls>
          <c:showLegendKey val="0"/>
          <c:showVal val="0"/>
          <c:showCatName val="0"/>
          <c:showSerName val="0"/>
          <c:showPercent val="0"/>
          <c:showBubbleSize val="0"/>
          <c:showLeaderLines val="0"/>
        </c:dLbls>
        <c:firstSliceAng val="0"/>
        <c:holeSize val="60"/>
      </c:doughnutChart>
      <c:spPr>
        <a:noFill/>
        <a:ln>
          <a:noFill/>
        </a:ln>
        <a:effectLst/>
      </c:spPr>
    </c:plotArea>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IN" sz="1300" b="1" i="0" u="none" strike="noStrike">
                <a:solidFill>
                  <a:schemeClr val="tx2"/>
                </a:solidFill>
                <a:latin typeface="+mn-lt"/>
              </a:rPr>
              <a:t>LSTM loss per epoch (binary cross-entropy)</a:t>
            </a:r>
          </a:p>
        </c:rich>
      </c:tx>
      <c:overlay val="0"/>
    </c:title>
    <c:autoTitleDeleted val="0"/>
    <c:plotArea>
      <c:layout/>
      <c:lineChart>
        <c:grouping val="standard"/>
        <c:varyColors val="0"/>
        <c:ser>
          <c:idx val="0"/>
          <c:order val="0"/>
          <c:tx>
            <c:strRef>
              <c:f>Sheet1!$B$1</c:f>
              <c:strCache>
                <c:ptCount val="1"/>
                <c:pt idx="0">
                  <c:v>Training loss</c:v>
                </c:pt>
              </c:strCache>
            </c:strRef>
          </c:tx>
          <c:spPr>
            <a:ln w="25400" cap="flat">
              <a:solidFill>
                <a:schemeClr val="accent4"/>
              </a:solidFill>
              <a:prstDash val="solid"/>
              <a:round/>
            </a:ln>
            <a:effectLst/>
          </c:spPr>
          <c:marker>
            <c:symbol val="circle"/>
            <c:size val="6"/>
            <c:spPr>
              <a:solidFill>
                <a:schemeClr val="accent4"/>
              </a:solidFill>
              <a:ln w="9525" cap="flat">
                <a:solidFill>
                  <a:schemeClr val="accent4"/>
                </a:solidFill>
                <a:prstDash val="solid"/>
                <a:round/>
              </a:ln>
              <a:effectLst/>
            </c:spPr>
          </c:marker>
          <c:cat>
            <c:strRef>
              <c:f>Sheet1!$A$2:$A$14</c:f>
              <c:strCache>
                <c:ptCount val="13"/>
                <c:pt idx="0">
                  <c:v>1</c:v>
                </c:pt>
                <c:pt idx="1">
                  <c:v>2</c:v>
                </c:pt>
                <c:pt idx="2">
                  <c:v>3</c:v>
                </c:pt>
                <c:pt idx="3">
                  <c:v>4</c:v>
                </c:pt>
                <c:pt idx="4">
                  <c:v>5</c:v>
                </c:pt>
                <c:pt idx="5">
                  <c:v>6</c:v>
                </c:pt>
                <c:pt idx="6">
                  <c:v>7</c:v>
                </c:pt>
                <c:pt idx="7">
                  <c:v>8</c:v>
                </c:pt>
                <c:pt idx="8">
                  <c:v>9</c:v>
                </c:pt>
                <c:pt idx="9">
                  <c:v>10</c:v>
                </c:pt>
                <c:pt idx="10">
                  <c:v>11</c:v>
                </c:pt>
                <c:pt idx="11">
                  <c:v>12</c:v>
                </c:pt>
                <c:pt idx="12">
                  <c:v>13</c:v>
                </c:pt>
              </c:strCache>
            </c:strRef>
          </c:cat>
          <c:val>
            <c:numRef>
              <c:f>Sheet1!$B$2:$B$14</c:f>
              <c:numCache>
                <c:formatCode>General</c:formatCode>
                <c:ptCount val="13"/>
                <c:pt idx="0">
                  <c:v>0.69469999999999998</c:v>
                </c:pt>
                <c:pt idx="1">
                  <c:v>0.69240000000000002</c:v>
                </c:pt>
                <c:pt idx="2">
                  <c:v>0.69079999999999997</c:v>
                </c:pt>
                <c:pt idx="3">
                  <c:v>0.6885</c:v>
                </c:pt>
                <c:pt idx="4">
                  <c:v>0.68620000000000003</c:v>
                </c:pt>
                <c:pt idx="5">
                  <c:v>0.68259999999999998</c:v>
                </c:pt>
                <c:pt idx="6">
                  <c:v>0.67889999999999995</c:v>
                </c:pt>
                <c:pt idx="7">
                  <c:v>0.67469999999999997</c:v>
                </c:pt>
                <c:pt idx="8">
                  <c:v>0.66549999999999998</c:v>
                </c:pt>
                <c:pt idx="9">
                  <c:v>0.66090000000000004</c:v>
                </c:pt>
                <c:pt idx="10">
                  <c:v>0.64859999999999995</c:v>
                </c:pt>
                <c:pt idx="11">
                  <c:v>0.64190000000000003</c:v>
                </c:pt>
                <c:pt idx="12">
                  <c:v>0.62309999999999999</c:v>
                </c:pt>
              </c:numCache>
            </c:numRef>
          </c:val>
          <c:smooth val="0"/>
          <c:extLst>
            <c:ext xmlns:c16="http://schemas.microsoft.com/office/drawing/2014/chart" uri="{C3380CC4-5D6E-409C-BE32-E72D297353CC}">
              <c16:uniqueId val="{00000000-A574-43AF-ADE8-E9828AEAFFB5}"/>
            </c:ext>
          </c:extLst>
        </c:ser>
        <c:ser>
          <c:idx val="1"/>
          <c:order val="1"/>
          <c:tx>
            <c:strRef>
              <c:f>Sheet1!$C$1</c:f>
              <c:strCache>
                <c:ptCount val="1"/>
                <c:pt idx="0">
                  <c:v>Validation loss</c:v>
                </c:pt>
              </c:strCache>
            </c:strRef>
          </c:tx>
          <c:spPr>
            <a:ln w="25400" cap="flat">
              <a:solidFill>
                <a:schemeClr val="accent2"/>
              </a:solidFill>
              <a:prstDash val="solid"/>
              <a:round/>
            </a:ln>
            <a:effectLst/>
          </c:spPr>
          <c:marker>
            <c:symbol val="circle"/>
            <c:size val="6"/>
            <c:spPr>
              <a:solidFill>
                <a:schemeClr val="accent2"/>
              </a:solidFill>
              <a:ln w="9525" cap="flat">
                <a:solidFill>
                  <a:schemeClr val="accent2"/>
                </a:solidFill>
                <a:prstDash val="solid"/>
                <a:round/>
              </a:ln>
              <a:effectLst/>
            </c:spPr>
          </c:marker>
          <c:cat>
            <c:strRef>
              <c:f>Sheet1!$A$2:$A$14</c:f>
              <c:strCache>
                <c:ptCount val="13"/>
                <c:pt idx="0">
                  <c:v>1</c:v>
                </c:pt>
                <c:pt idx="1">
                  <c:v>2</c:v>
                </c:pt>
                <c:pt idx="2">
                  <c:v>3</c:v>
                </c:pt>
                <c:pt idx="3">
                  <c:v>4</c:v>
                </c:pt>
                <c:pt idx="4">
                  <c:v>5</c:v>
                </c:pt>
                <c:pt idx="5">
                  <c:v>6</c:v>
                </c:pt>
                <c:pt idx="6">
                  <c:v>7</c:v>
                </c:pt>
                <c:pt idx="7">
                  <c:v>8</c:v>
                </c:pt>
                <c:pt idx="8">
                  <c:v>9</c:v>
                </c:pt>
                <c:pt idx="9">
                  <c:v>10</c:v>
                </c:pt>
                <c:pt idx="10">
                  <c:v>11</c:v>
                </c:pt>
                <c:pt idx="11">
                  <c:v>12</c:v>
                </c:pt>
                <c:pt idx="12">
                  <c:v>13</c:v>
                </c:pt>
              </c:strCache>
            </c:strRef>
          </c:cat>
          <c:val>
            <c:numRef>
              <c:f>Sheet1!$C$2:$C$14</c:f>
              <c:numCache>
                <c:formatCode>General</c:formatCode>
                <c:ptCount val="13"/>
                <c:pt idx="0">
                  <c:v>0.69230000000000003</c:v>
                </c:pt>
                <c:pt idx="1">
                  <c:v>0.69210000000000005</c:v>
                </c:pt>
                <c:pt idx="2">
                  <c:v>0.69199999999999995</c:v>
                </c:pt>
                <c:pt idx="3">
                  <c:v>0.69179999999999997</c:v>
                </c:pt>
                <c:pt idx="4">
                  <c:v>0.69130000000000003</c:v>
                </c:pt>
                <c:pt idx="5">
                  <c:v>0.69330000000000003</c:v>
                </c:pt>
                <c:pt idx="6">
                  <c:v>0.69310000000000005</c:v>
                </c:pt>
                <c:pt idx="7">
                  <c:v>0.69569999999999999</c:v>
                </c:pt>
                <c:pt idx="8">
                  <c:v>0.70050000000000001</c:v>
                </c:pt>
                <c:pt idx="9">
                  <c:v>0.70020000000000004</c:v>
                </c:pt>
                <c:pt idx="10">
                  <c:v>0.70579999999999998</c:v>
                </c:pt>
                <c:pt idx="11">
                  <c:v>0.71179999999999999</c:v>
                </c:pt>
                <c:pt idx="12">
                  <c:v>0.71519999999999995</c:v>
                </c:pt>
              </c:numCache>
            </c:numRef>
          </c:val>
          <c:smooth val="0"/>
          <c:extLst>
            <c:ext xmlns:c16="http://schemas.microsoft.com/office/drawing/2014/chart" uri="{C3380CC4-5D6E-409C-BE32-E72D297353CC}">
              <c16:uniqueId val="{00000001-A574-43AF-ADE8-E9828AEAFFB5}"/>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title>
          <c:tx>
            <c:rich>
              <a:bodyPr/>
              <a:lstStyle/>
              <a:p>
                <a:pPr>
                  <a:defRPr sz="1100" b="0" i="0" u="none" strike="noStrike">
                    <a:solidFill>
                      <a:schemeClr val="accent6"/>
                    </a:solidFill>
                    <a:latin typeface="+mn-lt"/>
                  </a:defRPr>
                </a:pPr>
                <a:r>
                  <a:rPr lang="en-IN" sz="1100" b="0" i="0" u="none" strike="noStrike">
                    <a:solidFill>
                      <a:schemeClr val="accent6"/>
                    </a:solidFill>
                    <a:latin typeface="+mn-lt"/>
                  </a:rPr>
                  <a:t>Epoch</a:t>
                </a:r>
              </a:p>
            </c:rich>
          </c:tx>
          <c:overlay val="0"/>
        </c:title>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0.72"/>
          <c:min val="0.6"/>
        </c:scaling>
        <c:delete val="0"/>
        <c:axPos val="l"/>
        <c:majorGridlines>
          <c:spPr>
            <a:ln w="9525" cap="flat">
              <a:solidFill>
                <a:srgbClr val="E1E7EC"/>
              </a:solidFill>
              <a:prstDash val="solid"/>
              <a:round/>
            </a:ln>
          </c:spPr>
        </c:majorGridlines>
        <c:numFmt formatCode="0.0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0.03"/>
      </c:valAx>
      <c:spPr>
        <a:noFill/>
        <a:ln>
          <a:noFill/>
        </a:ln>
        <a:effectLst/>
      </c:spPr>
    </c:plotArea>
    <c:legend>
      <c:legendPos val="r"/>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Test accuracy above a coin flip (percentage points)</a:t>
            </a:r>
          </a:p>
        </c:rich>
      </c:tx>
      <c:overlay val="0"/>
    </c:title>
    <c:autoTitleDeleted val="0"/>
    <c:plotArea>
      <c:layout/>
      <c:barChart>
        <c:barDir val="col"/>
        <c:grouping val="clustered"/>
        <c:varyColors val="0"/>
        <c:ser>
          <c:idx val="0"/>
          <c:order val="0"/>
          <c:tx>
            <c:strRef>
              <c:f>Sheet1!$B$1</c:f>
              <c:strCache>
                <c:ptCount val="1"/>
                <c:pt idx="0">
                  <c:v>Model accuracy − 50%</c:v>
                </c:pt>
              </c:strCache>
            </c:strRef>
          </c:tx>
          <c:spPr>
            <a:solidFill>
              <a:srgbClr val="0E9F6E"/>
            </a:solidFill>
            <a:effectLst/>
          </c:spPr>
          <c:invertIfNegative val="0"/>
          <c:dPt>
            <c:idx val="0"/>
            <c:invertIfNegative val="0"/>
            <c:bubble3D val="0"/>
            <c:extLst>
              <c:ext xmlns:c16="http://schemas.microsoft.com/office/drawing/2014/chart" uri="{C3380CC4-5D6E-409C-BE32-E72D297353CC}">
                <c16:uniqueId val="{00000001-4917-4FB3-92ED-6E0EA273E3F0}"/>
              </c:ext>
            </c:extLst>
          </c:dPt>
          <c:dPt>
            <c:idx val="1"/>
            <c:invertIfNegative val="0"/>
            <c:bubble3D val="0"/>
            <c:extLst>
              <c:ext xmlns:c16="http://schemas.microsoft.com/office/drawing/2014/chart" uri="{C3380CC4-5D6E-409C-BE32-E72D297353CC}">
                <c16:uniqueId val="{00000003-4917-4FB3-92ED-6E0EA273E3F0}"/>
              </c:ext>
            </c:extLst>
          </c:dPt>
          <c:dPt>
            <c:idx val="2"/>
            <c:invertIfNegative val="0"/>
            <c:bubble3D val="0"/>
            <c:extLst>
              <c:ext xmlns:c16="http://schemas.microsoft.com/office/drawing/2014/chart" uri="{C3380CC4-5D6E-409C-BE32-E72D297353CC}">
                <c16:uniqueId val="{00000005-4917-4FB3-92ED-6E0EA273E3F0}"/>
              </c:ext>
            </c:extLst>
          </c:dPt>
          <c:dPt>
            <c:idx val="3"/>
            <c:invertIfNegative val="0"/>
            <c:bubble3D val="0"/>
            <c:extLst>
              <c:ext xmlns:c16="http://schemas.microsoft.com/office/drawing/2014/chart" uri="{C3380CC4-5D6E-409C-BE32-E72D297353CC}">
                <c16:uniqueId val="{00000007-4917-4FB3-92ED-6E0EA273E3F0}"/>
              </c:ext>
            </c:extLst>
          </c:dPt>
          <c:dPt>
            <c:idx val="4"/>
            <c:invertIfNegative val="0"/>
            <c:bubble3D val="0"/>
            <c:extLst>
              <c:ext xmlns:c16="http://schemas.microsoft.com/office/drawing/2014/chart" uri="{C3380CC4-5D6E-409C-BE32-E72D297353CC}">
                <c16:uniqueId val="{00000009-4917-4FB3-92ED-6E0EA273E3F0}"/>
              </c:ext>
            </c:extLst>
          </c:dPt>
          <c:dPt>
            <c:idx val="5"/>
            <c:invertIfNegative val="0"/>
            <c:bubble3D val="0"/>
            <c:extLst>
              <c:ext xmlns:c16="http://schemas.microsoft.com/office/drawing/2014/chart" uri="{C3380CC4-5D6E-409C-BE32-E72D297353CC}">
                <c16:uniqueId val="{0000000B-4917-4FB3-92ED-6E0EA273E3F0}"/>
              </c:ext>
            </c:extLst>
          </c:dPt>
          <c:dPt>
            <c:idx val="6"/>
            <c:invertIfNegative val="0"/>
            <c:bubble3D val="0"/>
            <c:spPr>
              <a:solidFill>
                <a:srgbClr val="E5484D"/>
              </a:solidFill>
              <a:effectLst/>
            </c:spPr>
            <c:extLst>
              <c:ext xmlns:c16="http://schemas.microsoft.com/office/drawing/2014/chart" uri="{C3380CC4-5D6E-409C-BE32-E72D297353CC}">
                <c16:uniqueId val="{0000000D-4917-4FB3-92ED-6E0EA273E3F0}"/>
              </c:ext>
            </c:extLst>
          </c:dPt>
          <c:dPt>
            <c:idx val="7"/>
            <c:invertIfNegative val="0"/>
            <c:bubble3D val="0"/>
            <c:spPr>
              <a:solidFill>
                <a:srgbClr val="E5484D"/>
              </a:solidFill>
              <a:effectLst/>
            </c:spPr>
            <c:extLst>
              <c:ext xmlns:c16="http://schemas.microsoft.com/office/drawing/2014/chart" uri="{C3380CC4-5D6E-409C-BE32-E72D297353CC}">
                <c16:uniqueId val="{0000000F-4917-4FB3-92ED-6E0EA273E3F0}"/>
              </c:ext>
            </c:extLst>
          </c:dPt>
          <c:dLbls>
            <c:numFmt formatCode="\+0.0;\-0.0;0.0" sourceLinked="0"/>
            <c:spPr>
              <a:noFill/>
              <a:ln>
                <a:noFill/>
              </a:ln>
              <a:effectLst/>
            </c:spPr>
            <c:txPr>
              <a:bodyPr/>
              <a:lstStyle/>
              <a:p>
                <a:pPr>
                  <a:defRPr sz="1100" b="0" i="0" u="none" strike="noStrike">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Gradient Boosting</c:v>
                </c:pt>
                <c:pt idx="1">
                  <c:v>KNN</c:v>
                </c:pt>
                <c:pt idx="2">
                  <c:v>XGBoost</c:v>
                </c:pt>
                <c:pt idx="3">
                  <c:v>Random Forest</c:v>
                </c:pt>
                <c:pt idx="4">
                  <c:v>SVM</c:v>
                </c:pt>
                <c:pt idx="5">
                  <c:v>ViT</c:v>
                </c:pt>
                <c:pt idx="6">
                  <c:v>Logistic Regr.</c:v>
                </c:pt>
                <c:pt idx="7">
                  <c:v>LSTM</c:v>
                </c:pt>
              </c:strCache>
            </c:strRef>
          </c:cat>
          <c:val>
            <c:numRef>
              <c:f>Sheet1!$B$2:$B$9</c:f>
              <c:numCache>
                <c:formatCode>General</c:formatCode>
                <c:ptCount val="8"/>
                <c:pt idx="0">
                  <c:v>3.61</c:v>
                </c:pt>
                <c:pt idx="1">
                  <c:v>1.9</c:v>
                </c:pt>
                <c:pt idx="2">
                  <c:v>0.67</c:v>
                </c:pt>
                <c:pt idx="3">
                  <c:v>0.19</c:v>
                </c:pt>
                <c:pt idx="4">
                  <c:v>0.19</c:v>
                </c:pt>
                <c:pt idx="5">
                  <c:v>0.1</c:v>
                </c:pt>
                <c:pt idx="6">
                  <c:v>-0.38</c:v>
                </c:pt>
                <c:pt idx="7">
                  <c:v>-1.05</c:v>
                </c:pt>
              </c:numCache>
            </c:numRef>
          </c:val>
          <c:extLst>
            <c:ext xmlns:c16="http://schemas.microsoft.com/office/drawing/2014/chart" uri="{C3380CC4-5D6E-409C-BE32-E72D297353CC}">
              <c16:uniqueId val="{00000010-4917-4FB3-92ED-6E0EA273E3F0}"/>
            </c:ext>
          </c:extLst>
        </c:ser>
        <c:dLbls>
          <c:dLblPos val="outEnd"/>
          <c:showLegendKey val="0"/>
          <c:showVal val="1"/>
          <c:showCatName val="0"/>
          <c:showSerName val="0"/>
          <c:showPercent val="0"/>
          <c:showBubbleSize val="0"/>
        </c:dLbls>
        <c:gapWidth val="45"/>
        <c:axId val="2094734554"/>
        <c:axId val="2094734552"/>
      </c:barChart>
      <c:lineChart>
        <c:grouping val="standard"/>
        <c:varyColors val="0"/>
        <c:ser>
          <c:idx val="1"/>
          <c:order val="1"/>
          <c:tx>
            <c:strRef>
              <c:f>Sheet1!$C$1</c:f>
              <c:strCache>
                <c:ptCount val="1"/>
                <c:pt idx="0">
                  <c:v>Majority-class rate (51.9%)</c:v>
                </c:pt>
              </c:strCache>
            </c:strRef>
          </c:tx>
          <c:spPr>
            <a:ln w="25400" cap="flat">
              <a:solidFill>
                <a:schemeClr val="accent3"/>
              </a:solidFill>
              <a:prstDash val="dash"/>
              <a:round/>
            </a:ln>
            <a:effectLst/>
          </c:spPr>
          <c:marker>
            <c:symbol val="none"/>
          </c:marker>
          <c:cat>
            <c:strRef>
              <c:f>Sheet1!$A$2:$A$9</c:f>
              <c:strCache>
                <c:ptCount val="8"/>
                <c:pt idx="0">
                  <c:v>Gradient Boosting</c:v>
                </c:pt>
                <c:pt idx="1">
                  <c:v>KNN</c:v>
                </c:pt>
                <c:pt idx="2">
                  <c:v>XGBoost</c:v>
                </c:pt>
                <c:pt idx="3">
                  <c:v>Random Forest</c:v>
                </c:pt>
                <c:pt idx="4">
                  <c:v>SVM</c:v>
                </c:pt>
                <c:pt idx="5">
                  <c:v>ViT</c:v>
                </c:pt>
                <c:pt idx="6">
                  <c:v>Logistic Regr.</c:v>
                </c:pt>
                <c:pt idx="7">
                  <c:v>LSTM</c:v>
                </c:pt>
              </c:strCache>
            </c:strRef>
          </c:cat>
          <c:val>
            <c:numRef>
              <c:f>Sheet1!$C$2:$C$9</c:f>
              <c:numCache>
                <c:formatCode>General</c:formatCode>
                <c:ptCount val="8"/>
                <c:pt idx="0">
                  <c:v>1.9</c:v>
                </c:pt>
                <c:pt idx="1">
                  <c:v>1.9</c:v>
                </c:pt>
                <c:pt idx="2">
                  <c:v>1.9</c:v>
                </c:pt>
                <c:pt idx="3">
                  <c:v>1.9</c:v>
                </c:pt>
                <c:pt idx="4">
                  <c:v>1.9</c:v>
                </c:pt>
                <c:pt idx="5">
                  <c:v>1.9</c:v>
                </c:pt>
                <c:pt idx="6">
                  <c:v>1.9</c:v>
                </c:pt>
                <c:pt idx="7">
                  <c:v>1.9</c:v>
                </c:pt>
              </c:numCache>
            </c:numRef>
          </c:val>
          <c:smooth val="0"/>
          <c:extLst>
            <c:ext xmlns:c16="http://schemas.microsoft.com/office/drawing/2014/chart" uri="{C3380CC4-5D6E-409C-BE32-E72D297353CC}">
              <c16:uniqueId val="{00000011-4917-4FB3-92ED-6E0EA273E3F0}"/>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4.5"/>
          <c:min val="-2"/>
        </c:scaling>
        <c:delete val="0"/>
        <c:axPos val="l"/>
        <c:majorGridlines>
          <c:spPr>
            <a:ln w="9525" cap="flat">
              <a:solidFill>
                <a:srgbClr val="E1E7EC"/>
              </a:solidFill>
              <a:prstDash val="solid"/>
              <a:round/>
            </a:ln>
          </c:spPr>
        </c:majorGridlines>
        <c:numFmt formatCode="\+0;\-0;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Ensemble test accuracy above 50% (percentage points)</a:t>
            </a:r>
          </a:p>
        </c:rich>
      </c:tx>
      <c:overlay val="0"/>
    </c:title>
    <c:autoTitleDeleted val="0"/>
    <c:plotArea>
      <c:layout/>
      <c:barChart>
        <c:barDir val="col"/>
        <c:grouping val="clustered"/>
        <c:varyColors val="0"/>
        <c:ser>
          <c:idx val="0"/>
          <c:order val="0"/>
          <c:tx>
            <c:strRef>
              <c:f>Sheet1!$B$1</c:f>
              <c:strCache>
                <c:ptCount val="1"/>
                <c:pt idx="0">
                  <c:v>7 models (6 classical + LSTM)</c:v>
                </c:pt>
              </c:strCache>
            </c:strRef>
          </c:tx>
          <c:spPr>
            <a:solidFill>
              <a:schemeClr val="accent1"/>
            </a:solidFill>
            <a:effectLst/>
          </c:spPr>
          <c:invertIfNegative val="0"/>
          <c:dLbls>
            <c:numFmt formatCode="\+0.0" sourceLinked="0"/>
            <c:spPr>
              <a:noFill/>
              <a:ln>
                <a:noFill/>
              </a:ln>
              <a:effectLst/>
            </c:spPr>
            <c:txPr>
              <a:bodyPr/>
              <a:lstStyle/>
              <a:p>
                <a:pPr>
                  <a:defRPr sz="1000" b="0" i="0" u="none" strike="noStrike">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Majority</c:v>
                </c:pt>
                <c:pt idx="1">
                  <c:v>Soft</c:v>
                </c:pt>
                <c:pt idx="2">
                  <c:v>Weighted (labels)</c:v>
                </c:pt>
                <c:pt idx="3">
                  <c:v>Weighted (prob.)</c:v>
                </c:pt>
                <c:pt idx="4">
                  <c:v>Adaptive (labels)</c:v>
                </c:pt>
                <c:pt idx="5">
                  <c:v>Adaptive (prob.)</c:v>
                </c:pt>
                <c:pt idx="6">
                  <c:v>Stacking</c:v>
                </c:pt>
              </c:strCache>
            </c:strRef>
          </c:cat>
          <c:val>
            <c:numRef>
              <c:f>Sheet1!$B$2:$B$8</c:f>
              <c:numCache>
                <c:formatCode>General</c:formatCode>
                <c:ptCount val="7"/>
                <c:pt idx="0">
                  <c:v>0.86</c:v>
                </c:pt>
                <c:pt idx="1">
                  <c:v>1.33</c:v>
                </c:pt>
                <c:pt idx="2">
                  <c:v>0.86</c:v>
                </c:pt>
                <c:pt idx="3">
                  <c:v>1.52</c:v>
                </c:pt>
                <c:pt idx="4">
                  <c:v>1.43</c:v>
                </c:pt>
                <c:pt idx="5">
                  <c:v>2.09</c:v>
                </c:pt>
                <c:pt idx="6">
                  <c:v>2.09</c:v>
                </c:pt>
              </c:numCache>
            </c:numRef>
          </c:val>
          <c:extLst>
            <c:ext xmlns:c16="http://schemas.microsoft.com/office/drawing/2014/chart" uri="{C3380CC4-5D6E-409C-BE32-E72D297353CC}">
              <c16:uniqueId val="{00000000-330E-44D1-9B31-07A4FC6F62D4}"/>
            </c:ext>
          </c:extLst>
        </c:ser>
        <c:ser>
          <c:idx val="1"/>
          <c:order val="1"/>
          <c:tx>
            <c:strRef>
              <c:f>Sheet1!$C$1</c:f>
              <c:strCache>
                <c:ptCount val="1"/>
                <c:pt idx="0">
                  <c:v>8 models (+ ViT)</c:v>
                </c:pt>
              </c:strCache>
            </c:strRef>
          </c:tx>
          <c:spPr>
            <a:solidFill>
              <a:schemeClr val="accent5"/>
            </a:solidFill>
            <a:effectLst/>
          </c:spPr>
          <c:invertIfNegative val="0"/>
          <c:dLbls>
            <c:numFmt formatCode="\+0.0" sourceLinked="0"/>
            <c:spPr>
              <a:noFill/>
              <a:ln>
                <a:noFill/>
              </a:ln>
              <a:effectLst/>
            </c:spPr>
            <c:txPr>
              <a:bodyPr/>
              <a:lstStyle/>
              <a:p>
                <a:pPr>
                  <a:defRPr sz="1000" b="0" i="0" u="none" strike="noStrike">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Sheet1!$A$2:$A$8</c:f>
              <c:strCache>
                <c:ptCount val="7"/>
                <c:pt idx="0">
                  <c:v>Majority</c:v>
                </c:pt>
                <c:pt idx="1">
                  <c:v>Soft</c:v>
                </c:pt>
                <c:pt idx="2">
                  <c:v>Weighted (labels)</c:v>
                </c:pt>
                <c:pt idx="3">
                  <c:v>Weighted (prob.)</c:v>
                </c:pt>
                <c:pt idx="4">
                  <c:v>Adaptive (labels)</c:v>
                </c:pt>
                <c:pt idx="5">
                  <c:v>Adaptive (prob.)</c:v>
                </c:pt>
                <c:pt idx="6">
                  <c:v>Stacking</c:v>
                </c:pt>
              </c:strCache>
            </c:strRef>
          </c:cat>
          <c:val>
            <c:numRef>
              <c:f>Sheet1!$C$2:$C$8</c:f>
              <c:numCache>
                <c:formatCode>General</c:formatCode>
                <c:ptCount val="7"/>
                <c:pt idx="0">
                  <c:v>1.43</c:v>
                </c:pt>
                <c:pt idx="1">
                  <c:v>1.43</c:v>
                </c:pt>
                <c:pt idx="2">
                  <c:v>0.76</c:v>
                </c:pt>
                <c:pt idx="3">
                  <c:v>1.24</c:v>
                </c:pt>
                <c:pt idx="4">
                  <c:v>0.86</c:v>
                </c:pt>
                <c:pt idx="5">
                  <c:v>1.9</c:v>
                </c:pt>
                <c:pt idx="6">
                  <c:v>2.38</c:v>
                </c:pt>
              </c:numCache>
            </c:numRef>
          </c:val>
          <c:extLst>
            <c:ext xmlns:c16="http://schemas.microsoft.com/office/drawing/2014/chart" uri="{C3380CC4-5D6E-409C-BE32-E72D297353CC}">
              <c16:uniqueId val="{00000001-330E-44D1-9B31-07A4FC6F62D4}"/>
            </c:ext>
          </c:extLst>
        </c:ser>
        <c:dLbls>
          <c:dLblPos val="outEnd"/>
          <c:showLegendKey val="0"/>
          <c:showVal val="1"/>
          <c:showCatName val="0"/>
          <c:showSerName val="0"/>
          <c:showPercent val="0"/>
          <c:showBubbleSize val="0"/>
        </c:dLbls>
        <c:gapWidth val="60"/>
        <c:axId val="2094734554"/>
        <c:axId val="2094734552"/>
      </c:barChart>
      <c:lineChart>
        <c:grouping val="standard"/>
        <c:varyColors val="0"/>
        <c:ser>
          <c:idx val="2"/>
          <c:order val="2"/>
          <c:tx>
            <c:strRef>
              <c:f>Sheet1!$D$1</c:f>
              <c:strCache>
                <c:ptCount val="1"/>
                <c:pt idx="0">
                  <c:v>Best single model, GB (53.6%)</c:v>
                </c:pt>
              </c:strCache>
            </c:strRef>
          </c:tx>
          <c:spPr>
            <a:ln w="25400" cap="flat">
              <a:solidFill>
                <a:schemeClr val="tx2"/>
              </a:solidFill>
              <a:prstDash val="dash"/>
              <a:round/>
            </a:ln>
            <a:effectLst/>
          </c:spPr>
          <c:marker>
            <c:symbol val="none"/>
          </c:marker>
          <c:cat>
            <c:strRef>
              <c:f>Sheet1!$A$2:$A$8</c:f>
              <c:strCache>
                <c:ptCount val="7"/>
                <c:pt idx="0">
                  <c:v>Majority</c:v>
                </c:pt>
                <c:pt idx="1">
                  <c:v>Soft</c:v>
                </c:pt>
                <c:pt idx="2">
                  <c:v>Weighted (labels)</c:v>
                </c:pt>
                <c:pt idx="3">
                  <c:v>Weighted (prob.)</c:v>
                </c:pt>
                <c:pt idx="4">
                  <c:v>Adaptive (labels)</c:v>
                </c:pt>
                <c:pt idx="5">
                  <c:v>Adaptive (prob.)</c:v>
                </c:pt>
                <c:pt idx="6">
                  <c:v>Stacking</c:v>
                </c:pt>
              </c:strCache>
            </c:strRef>
          </c:cat>
          <c:val>
            <c:numRef>
              <c:f>Sheet1!$D$2:$D$8</c:f>
              <c:numCache>
                <c:formatCode>General</c:formatCode>
                <c:ptCount val="7"/>
                <c:pt idx="0">
                  <c:v>3.61</c:v>
                </c:pt>
                <c:pt idx="1">
                  <c:v>3.61</c:v>
                </c:pt>
                <c:pt idx="2">
                  <c:v>3.61</c:v>
                </c:pt>
                <c:pt idx="3">
                  <c:v>3.61</c:v>
                </c:pt>
                <c:pt idx="4">
                  <c:v>3.61</c:v>
                </c:pt>
                <c:pt idx="5">
                  <c:v>3.61</c:v>
                </c:pt>
                <c:pt idx="6">
                  <c:v>3.61</c:v>
                </c:pt>
              </c:numCache>
            </c:numRef>
          </c:val>
          <c:smooth val="0"/>
          <c:extLst>
            <c:ext xmlns:c16="http://schemas.microsoft.com/office/drawing/2014/chart" uri="{C3380CC4-5D6E-409C-BE32-E72D297353CC}">
              <c16:uniqueId val="{00000002-330E-44D1-9B31-07A4FC6F62D4}"/>
            </c:ext>
          </c:extLst>
        </c:ser>
        <c:ser>
          <c:idx val="3"/>
          <c:order val="3"/>
          <c:tx>
            <c:strRef>
              <c:f>Sheet1!$E$1</c:f>
              <c:strCache>
                <c:ptCount val="1"/>
                <c:pt idx="0">
                  <c:v>Majority-class rate (51.9%)</c:v>
                </c:pt>
              </c:strCache>
            </c:strRef>
          </c:tx>
          <c:spPr>
            <a:ln w="25400" cap="flat">
              <a:solidFill>
                <a:schemeClr val="accent3"/>
              </a:solidFill>
              <a:prstDash val="dash"/>
              <a:round/>
            </a:ln>
            <a:effectLst/>
          </c:spPr>
          <c:marker>
            <c:symbol val="none"/>
          </c:marker>
          <c:cat>
            <c:strRef>
              <c:f>Sheet1!$A$2:$A$8</c:f>
              <c:strCache>
                <c:ptCount val="7"/>
                <c:pt idx="0">
                  <c:v>Majority</c:v>
                </c:pt>
                <c:pt idx="1">
                  <c:v>Soft</c:v>
                </c:pt>
                <c:pt idx="2">
                  <c:v>Weighted (labels)</c:v>
                </c:pt>
                <c:pt idx="3">
                  <c:v>Weighted (prob.)</c:v>
                </c:pt>
                <c:pt idx="4">
                  <c:v>Adaptive (labels)</c:v>
                </c:pt>
                <c:pt idx="5">
                  <c:v>Adaptive (prob.)</c:v>
                </c:pt>
                <c:pt idx="6">
                  <c:v>Stacking</c:v>
                </c:pt>
              </c:strCache>
            </c:strRef>
          </c:cat>
          <c:val>
            <c:numRef>
              <c:f>Sheet1!$E$2:$E$8</c:f>
              <c:numCache>
                <c:formatCode>General</c:formatCode>
                <c:ptCount val="7"/>
                <c:pt idx="0">
                  <c:v>1.9</c:v>
                </c:pt>
                <c:pt idx="1">
                  <c:v>1.9</c:v>
                </c:pt>
                <c:pt idx="2">
                  <c:v>1.9</c:v>
                </c:pt>
                <c:pt idx="3">
                  <c:v>1.9</c:v>
                </c:pt>
                <c:pt idx="4">
                  <c:v>1.9</c:v>
                </c:pt>
                <c:pt idx="5">
                  <c:v>1.9</c:v>
                </c:pt>
                <c:pt idx="6">
                  <c:v>1.9</c:v>
                </c:pt>
              </c:numCache>
            </c:numRef>
          </c:val>
          <c:smooth val="0"/>
          <c:extLst>
            <c:ext xmlns:c16="http://schemas.microsoft.com/office/drawing/2014/chart" uri="{C3380CC4-5D6E-409C-BE32-E72D297353CC}">
              <c16:uniqueId val="{00000003-330E-44D1-9B31-07A4FC6F62D4}"/>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4.5"/>
          <c:min val="0"/>
        </c:scaling>
        <c:delete val="0"/>
        <c:axPos val="l"/>
        <c:majorGridlines>
          <c:spPr>
            <a:ln w="9525" cap="flat">
              <a:solidFill>
                <a:srgbClr val="E1E7EC"/>
              </a:solidFill>
              <a:prstDash val="solid"/>
              <a:round/>
            </a:ln>
          </c:spPr>
        </c:majorGridlines>
        <c:numFmt formatCode="\+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1"/>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1" i="0" u="none" strike="noStrike">
                <a:solidFill>
                  <a:schemeClr val="tx2"/>
                </a:solidFill>
                <a:latin typeface="+mn-lt"/>
              </a:defRPr>
            </a:pPr>
            <a:r>
              <a:rPr lang="en-US" sz="1200" b="1" i="0" u="none" strike="noStrike">
                <a:solidFill>
                  <a:schemeClr val="tx2"/>
                </a:solidFill>
                <a:latin typeface="+mn-lt"/>
              </a:rPr>
              <a:t>Accuracy above 50% · dashed = 51.9% baseline</a:t>
            </a:r>
          </a:p>
        </c:rich>
      </c:tx>
      <c:overlay val="0"/>
    </c:title>
    <c:autoTitleDeleted val="0"/>
    <c:plotArea>
      <c:layout/>
      <c:barChart>
        <c:barDir val="col"/>
        <c:grouping val="clustered"/>
        <c:varyColors val="0"/>
        <c:ser>
          <c:idx val="0"/>
          <c:order val="0"/>
          <c:tx>
            <c:strRef>
              <c:f>Sheet1!$B$1</c:f>
              <c:strCache>
                <c:ptCount val="1"/>
                <c:pt idx="0">
                  <c:v>Accuracy − 50%</c:v>
                </c:pt>
              </c:strCache>
            </c:strRef>
          </c:tx>
          <c:spPr>
            <a:solidFill>
              <a:srgbClr val="6B7785"/>
            </a:solidFill>
            <a:effectLst/>
          </c:spPr>
          <c:invertIfNegative val="0"/>
          <c:dPt>
            <c:idx val="0"/>
            <c:invertIfNegative val="0"/>
            <c:bubble3D val="0"/>
            <c:extLst>
              <c:ext xmlns:c16="http://schemas.microsoft.com/office/drawing/2014/chart" uri="{C3380CC4-5D6E-409C-BE32-E72D297353CC}">
                <c16:uniqueId val="{00000001-8470-40FC-B5F8-5D266E660F9B}"/>
              </c:ext>
            </c:extLst>
          </c:dPt>
          <c:dPt>
            <c:idx val="1"/>
            <c:invertIfNegative val="0"/>
            <c:bubble3D val="0"/>
            <c:spPr>
              <a:solidFill>
                <a:srgbClr val="2E6F95"/>
              </a:solidFill>
              <a:effectLst/>
            </c:spPr>
            <c:extLst>
              <c:ext xmlns:c16="http://schemas.microsoft.com/office/drawing/2014/chart" uri="{C3380CC4-5D6E-409C-BE32-E72D297353CC}">
                <c16:uniqueId val="{00000003-8470-40FC-B5F8-5D266E660F9B}"/>
              </c:ext>
            </c:extLst>
          </c:dPt>
          <c:dPt>
            <c:idx val="2"/>
            <c:invertIfNegative val="0"/>
            <c:bubble3D val="0"/>
            <c:spPr>
              <a:solidFill>
                <a:srgbClr val="0E9F6E"/>
              </a:solidFill>
              <a:effectLst/>
            </c:spPr>
            <c:extLst>
              <c:ext xmlns:c16="http://schemas.microsoft.com/office/drawing/2014/chart" uri="{C3380CC4-5D6E-409C-BE32-E72D297353CC}">
                <c16:uniqueId val="{00000005-8470-40FC-B5F8-5D266E660F9B}"/>
              </c:ext>
            </c:extLst>
          </c:dPt>
          <c:dLbls>
            <c:numFmt formatCode="\+0.00" sourceLinked="0"/>
            <c:spPr>
              <a:noFill/>
              <a:ln>
                <a:noFill/>
              </a:ln>
              <a:effectLst/>
            </c:spPr>
            <c:txPr>
              <a:bodyPr/>
              <a:lstStyle/>
              <a:p>
                <a:pPr>
                  <a:defRPr sz="1100" b="0" i="0" u="none" strike="noStrike">
                    <a:solidFill>
                      <a:schemeClr val="tx1"/>
                    </a:solidFill>
                    <a:latin typeface="+mn-lt"/>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Majority</c:v>
                </c:pt>
                <c:pt idx="1">
                  <c:v>Static weighted (prob.)</c:v>
                </c:pt>
                <c:pt idx="2">
                  <c:v>Adaptive weighted (prob.)</c:v>
                </c:pt>
              </c:strCache>
            </c:strRef>
          </c:cat>
          <c:val>
            <c:numRef>
              <c:f>Sheet1!$B$2:$B$4</c:f>
              <c:numCache>
                <c:formatCode>General</c:formatCode>
                <c:ptCount val="3"/>
                <c:pt idx="0">
                  <c:v>0.86</c:v>
                </c:pt>
                <c:pt idx="1">
                  <c:v>1.52</c:v>
                </c:pt>
                <c:pt idx="2">
                  <c:v>2.09</c:v>
                </c:pt>
              </c:numCache>
            </c:numRef>
          </c:val>
          <c:extLst>
            <c:ext xmlns:c16="http://schemas.microsoft.com/office/drawing/2014/chart" uri="{C3380CC4-5D6E-409C-BE32-E72D297353CC}">
              <c16:uniqueId val="{00000006-8470-40FC-B5F8-5D266E660F9B}"/>
            </c:ext>
          </c:extLst>
        </c:ser>
        <c:dLbls>
          <c:dLblPos val="outEnd"/>
          <c:showLegendKey val="0"/>
          <c:showVal val="1"/>
          <c:showCatName val="0"/>
          <c:showSerName val="0"/>
          <c:showPercent val="0"/>
          <c:showBubbleSize val="0"/>
        </c:dLbls>
        <c:gapWidth val="55"/>
        <c:axId val="2094734554"/>
        <c:axId val="2094734552"/>
      </c:barChart>
      <c:lineChart>
        <c:grouping val="standard"/>
        <c:varyColors val="0"/>
        <c:ser>
          <c:idx val="1"/>
          <c:order val="1"/>
          <c:tx>
            <c:strRef>
              <c:f>Sheet1!$C$1</c:f>
              <c:strCache>
                <c:ptCount val="1"/>
                <c:pt idx="0">
                  <c:v>Majority-class rate (51.9%)</c:v>
                </c:pt>
              </c:strCache>
            </c:strRef>
          </c:tx>
          <c:spPr>
            <a:ln w="25400" cap="flat">
              <a:solidFill>
                <a:schemeClr val="accent3"/>
              </a:solidFill>
              <a:prstDash val="dash"/>
              <a:round/>
            </a:ln>
            <a:effectLst/>
          </c:spPr>
          <c:marker>
            <c:symbol val="none"/>
          </c:marker>
          <c:cat>
            <c:strRef>
              <c:f>Sheet1!$A$2:$A$4</c:f>
              <c:strCache>
                <c:ptCount val="3"/>
                <c:pt idx="0">
                  <c:v>Majority</c:v>
                </c:pt>
                <c:pt idx="1">
                  <c:v>Static weighted (prob.)</c:v>
                </c:pt>
                <c:pt idx="2">
                  <c:v>Adaptive weighted (prob.)</c:v>
                </c:pt>
              </c:strCache>
            </c:strRef>
          </c:cat>
          <c:val>
            <c:numRef>
              <c:f>Sheet1!$C$2:$C$4</c:f>
              <c:numCache>
                <c:formatCode>General</c:formatCode>
                <c:ptCount val="3"/>
                <c:pt idx="0">
                  <c:v>1.9</c:v>
                </c:pt>
                <c:pt idx="1">
                  <c:v>1.9</c:v>
                </c:pt>
                <c:pt idx="2">
                  <c:v>1.9</c:v>
                </c:pt>
              </c:numCache>
            </c:numRef>
          </c:val>
          <c:smooth val="0"/>
          <c:extLst>
            <c:ext xmlns:c16="http://schemas.microsoft.com/office/drawing/2014/chart" uri="{C3380CC4-5D6E-409C-BE32-E72D297353CC}">
              <c16:uniqueId val="{00000007-8470-40FC-B5F8-5D266E660F9B}"/>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2.5"/>
          <c:min val="0"/>
        </c:scaling>
        <c:delete val="0"/>
        <c:axPos val="l"/>
        <c:majorGridlines>
          <c:spPr>
            <a:ln w="9525" cap="flat">
              <a:solidFill>
                <a:srgbClr val="E1E7EC"/>
              </a:solidFill>
              <a:prstDash val="solid"/>
              <a:round/>
            </a:ln>
          </c:spPr>
        </c:majorGridlines>
        <c:numFmt formatCode="\+0.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0.5"/>
      </c:valAx>
      <c:spPr>
        <a:noFill/>
        <a:ln>
          <a:noFill/>
        </a:ln>
        <a:effectLst/>
      </c:spPr>
    </c:plotArea>
    <c:plotVisOnly val="1"/>
    <c:dispBlanksAs val="span"/>
    <c:showDLblsOverMax val="1"/>
  </c:chart>
  <c:spPr>
    <a:noFill/>
    <a:ln>
      <a:noFill/>
    </a:ln>
    <a:effectLst/>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Adaptive weights over the test period (W = 250, β = 20)</a:t>
            </a:r>
          </a:p>
        </c:rich>
      </c:tx>
      <c:overlay val="0"/>
    </c:title>
    <c:autoTitleDeleted val="0"/>
    <c:plotArea>
      <c:layout/>
      <c:areaChart>
        <c:grouping val="stacked"/>
        <c:varyColors val="0"/>
        <c:ser>
          <c:idx val="0"/>
          <c:order val="0"/>
          <c:tx>
            <c:strRef>
              <c:f>Sheet1!$B$1</c:f>
              <c:strCache>
                <c:ptCount val="1"/>
                <c:pt idx="0">
                  <c:v>LogReg</c:v>
                </c:pt>
              </c:strCache>
            </c:strRef>
          </c:tx>
          <c:spPr>
            <a:solidFill>
              <a:schemeClr val="accent4"/>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Sheet1!$B$2:$B$212</c:f>
              <c:numCache>
                <c:formatCode>General</c:formatCode>
                <c:ptCount val="211"/>
                <c:pt idx="0">
                  <c:v>0.21323</c:v>
                </c:pt>
                <c:pt idx="1">
                  <c:v>0.20468</c:v>
                </c:pt>
                <c:pt idx="2">
                  <c:v>0.18062</c:v>
                </c:pt>
                <c:pt idx="3">
                  <c:v>0.20136000000000001</c:v>
                </c:pt>
                <c:pt idx="4">
                  <c:v>0.17716999999999999</c:v>
                </c:pt>
                <c:pt idx="5">
                  <c:v>0.14419999999999999</c:v>
                </c:pt>
                <c:pt idx="6">
                  <c:v>0.13220000000000001</c:v>
                </c:pt>
                <c:pt idx="7">
                  <c:v>0.11045000000000001</c:v>
                </c:pt>
                <c:pt idx="8">
                  <c:v>9.9089999999999998E-2</c:v>
                </c:pt>
                <c:pt idx="9">
                  <c:v>9.962E-2</c:v>
                </c:pt>
                <c:pt idx="10">
                  <c:v>9.6909999999999996E-2</c:v>
                </c:pt>
                <c:pt idx="11">
                  <c:v>8.4419999999999995E-2</c:v>
                </c:pt>
                <c:pt idx="12">
                  <c:v>0.10754</c:v>
                </c:pt>
                <c:pt idx="13">
                  <c:v>9.7780000000000006E-2</c:v>
                </c:pt>
                <c:pt idx="14">
                  <c:v>0.11118</c:v>
                </c:pt>
                <c:pt idx="15">
                  <c:v>0.13242999999999999</c:v>
                </c:pt>
                <c:pt idx="16">
                  <c:v>0.14052000000000001</c:v>
                </c:pt>
                <c:pt idx="17">
                  <c:v>0.13239000000000001</c:v>
                </c:pt>
                <c:pt idx="18">
                  <c:v>0.12056</c:v>
                </c:pt>
                <c:pt idx="19">
                  <c:v>0.10417999999999999</c:v>
                </c:pt>
                <c:pt idx="20">
                  <c:v>0.11484999999999999</c:v>
                </c:pt>
                <c:pt idx="21">
                  <c:v>0.11572</c:v>
                </c:pt>
                <c:pt idx="22">
                  <c:v>0.11053</c:v>
                </c:pt>
                <c:pt idx="23">
                  <c:v>9.6820000000000003E-2</c:v>
                </c:pt>
                <c:pt idx="24">
                  <c:v>9.5630000000000007E-2</c:v>
                </c:pt>
                <c:pt idx="25">
                  <c:v>8.6150000000000004E-2</c:v>
                </c:pt>
                <c:pt idx="26">
                  <c:v>0.10667</c:v>
                </c:pt>
                <c:pt idx="27">
                  <c:v>8.3839999999999998E-2</c:v>
                </c:pt>
                <c:pt idx="28">
                  <c:v>8.4190000000000001E-2</c:v>
                </c:pt>
                <c:pt idx="29">
                  <c:v>8.8599999999999998E-2</c:v>
                </c:pt>
                <c:pt idx="30">
                  <c:v>0.10846</c:v>
                </c:pt>
                <c:pt idx="31">
                  <c:v>0.10691000000000001</c:v>
                </c:pt>
                <c:pt idx="32">
                  <c:v>8.5860000000000006E-2</c:v>
                </c:pt>
                <c:pt idx="33">
                  <c:v>6.1690000000000002E-2</c:v>
                </c:pt>
                <c:pt idx="34">
                  <c:v>6.2829999999999997E-2</c:v>
                </c:pt>
                <c:pt idx="35">
                  <c:v>6.1850000000000002E-2</c:v>
                </c:pt>
                <c:pt idx="36">
                  <c:v>6.7460000000000006E-2</c:v>
                </c:pt>
                <c:pt idx="37">
                  <c:v>7.3130000000000001E-2</c:v>
                </c:pt>
                <c:pt idx="38">
                  <c:v>6.2530000000000002E-2</c:v>
                </c:pt>
                <c:pt idx="39">
                  <c:v>6.3619999999999996E-2</c:v>
                </c:pt>
                <c:pt idx="40">
                  <c:v>6.4500000000000002E-2</c:v>
                </c:pt>
                <c:pt idx="41">
                  <c:v>5.6820000000000002E-2</c:v>
                </c:pt>
                <c:pt idx="42">
                  <c:v>5.8959999999999999E-2</c:v>
                </c:pt>
                <c:pt idx="43">
                  <c:v>6.8709999999999993E-2</c:v>
                </c:pt>
                <c:pt idx="44">
                  <c:v>7.0010000000000003E-2</c:v>
                </c:pt>
                <c:pt idx="45">
                  <c:v>7.9049999999999995E-2</c:v>
                </c:pt>
                <c:pt idx="46">
                  <c:v>7.9149999999999998E-2</c:v>
                </c:pt>
                <c:pt idx="47">
                  <c:v>9.1380000000000003E-2</c:v>
                </c:pt>
                <c:pt idx="48">
                  <c:v>0.1178</c:v>
                </c:pt>
                <c:pt idx="49">
                  <c:v>0.11204</c:v>
                </c:pt>
                <c:pt idx="50">
                  <c:v>0.10001</c:v>
                </c:pt>
                <c:pt idx="51">
                  <c:v>8.4330000000000002E-2</c:v>
                </c:pt>
                <c:pt idx="52">
                  <c:v>8.5349999999999995E-2</c:v>
                </c:pt>
                <c:pt idx="53">
                  <c:v>7.7219999999999997E-2</c:v>
                </c:pt>
                <c:pt idx="54">
                  <c:v>9.8589999999999997E-2</c:v>
                </c:pt>
                <c:pt idx="55">
                  <c:v>8.7359999999999993E-2</c:v>
                </c:pt>
                <c:pt idx="56">
                  <c:v>9.4869999999999996E-2</c:v>
                </c:pt>
                <c:pt idx="57">
                  <c:v>0.10920000000000001</c:v>
                </c:pt>
                <c:pt idx="58">
                  <c:v>0.10193000000000001</c:v>
                </c:pt>
                <c:pt idx="59">
                  <c:v>0.10854</c:v>
                </c:pt>
                <c:pt idx="60">
                  <c:v>9.5759999999999998E-2</c:v>
                </c:pt>
                <c:pt idx="61">
                  <c:v>0.10891000000000001</c:v>
                </c:pt>
                <c:pt idx="62">
                  <c:v>0.11168</c:v>
                </c:pt>
                <c:pt idx="63">
                  <c:v>8.5750000000000007E-2</c:v>
                </c:pt>
                <c:pt idx="64">
                  <c:v>9.1189999999999993E-2</c:v>
                </c:pt>
                <c:pt idx="65">
                  <c:v>7.689E-2</c:v>
                </c:pt>
                <c:pt idx="66">
                  <c:v>6.8339999999999998E-2</c:v>
                </c:pt>
                <c:pt idx="67">
                  <c:v>7.5620000000000007E-2</c:v>
                </c:pt>
                <c:pt idx="68">
                  <c:v>7.1279999999999996E-2</c:v>
                </c:pt>
                <c:pt idx="69">
                  <c:v>8.9620000000000005E-2</c:v>
                </c:pt>
                <c:pt idx="70">
                  <c:v>8.6080000000000004E-2</c:v>
                </c:pt>
                <c:pt idx="71">
                  <c:v>8.9859999999999995E-2</c:v>
                </c:pt>
                <c:pt idx="72">
                  <c:v>8.337E-2</c:v>
                </c:pt>
                <c:pt idx="73">
                  <c:v>7.9909999999999995E-2</c:v>
                </c:pt>
                <c:pt idx="74">
                  <c:v>8.1309999999999993E-2</c:v>
                </c:pt>
                <c:pt idx="75">
                  <c:v>8.5739999999999997E-2</c:v>
                </c:pt>
                <c:pt idx="76">
                  <c:v>7.6730000000000007E-2</c:v>
                </c:pt>
                <c:pt idx="77">
                  <c:v>7.1790000000000007E-2</c:v>
                </c:pt>
                <c:pt idx="78">
                  <c:v>7.7160000000000006E-2</c:v>
                </c:pt>
                <c:pt idx="79">
                  <c:v>7.6719999999999997E-2</c:v>
                </c:pt>
                <c:pt idx="80">
                  <c:v>6.1780000000000002E-2</c:v>
                </c:pt>
                <c:pt idx="81">
                  <c:v>6.6930000000000003E-2</c:v>
                </c:pt>
                <c:pt idx="82">
                  <c:v>6.794E-2</c:v>
                </c:pt>
                <c:pt idx="83">
                  <c:v>7.4800000000000005E-2</c:v>
                </c:pt>
                <c:pt idx="84">
                  <c:v>7.6499999999999999E-2</c:v>
                </c:pt>
                <c:pt idx="85">
                  <c:v>7.0879999999999999E-2</c:v>
                </c:pt>
                <c:pt idx="86">
                  <c:v>7.5939999999999994E-2</c:v>
                </c:pt>
                <c:pt idx="87">
                  <c:v>7.2690000000000005E-2</c:v>
                </c:pt>
                <c:pt idx="88">
                  <c:v>6.7750000000000005E-2</c:v>
                </c:pt>
                <c:pt idx="89">
                  <c:v>6.8040000000000003E-2</c:v>
                </c:pt>
                <c:pt idx="90">
                  <c:v>7.2660000000000002E-2</c:v>
                </c:pt>
                <c:pt idx="91">
                  <c:v>7.442E-2</c:v>
                </c:pt>
                <c:pt idx="92">
                  <c:v>7.2910000000000003E-2</c:v>
                </c:pt>
                <c:pt idx="93">
                  <c:v>6.5199999999999994E-2</c:v>
                </c:pt>
                <c:pt idx="94">
                  <c:v>5.7439999999999998E-2</c:v>
                </c:pt>
                <c:pt idx="95">
                  <c:v>4.5870000000000001E-2</c:v>
                </c:pt>
                <c:pt idx="96">
                  <c:v>5.1130000000000002E-2</c:v>
                </c:pt>
                <c:pt idx="97">
                  <c:v>4.87E-2</c:v>
                </c:pt>
                <c:pt idx="98">
                  <c:v>4.4429999999999997E-2</c:v>
                </c:pt>
                <c:pt idx="99">
                  <c:v>4.2209999999999998E-2</c:v>
                </c:pt>
                <c:pt idx="100">
                  <c:v>4.8340000000000001E-2</c:v>
                </c:pt>
                <c:pt idx="101">
                  <c:v>6.4089999999999994E-2</c:v>
                </c:pt>
                <c:pt idx="102">
                  <c:v>6.3909999999999995E-2</c:v>
                </c:pt>
                <c:pt idx="103">
                  <c:v>6.8000000000000005E-2</c:v>
                </c:pt>
                <c:pt idx="104">
                  <c:v>5.9130000000000002E-2</c:v>
                </c:pt>
                <c:pt idx="105">
                  <c:v>6.0499999999999998E-2</c:v>
                </c:pt>
                <c:pt idx="106">
                  <c:v>6.9949999999999998E-2</c:v>
                </c:pt>
                <c:pt idx="107">
                  <c:v>5.9540000000000003E-2</c:v>
                </c:pt>
                <c:pt idx="108">
                  <c:v>6.7089999999999997E-2</c:v>
                </c:pt>
                <c:pt idx="109">
                  <c:v>6.4140000000000003E-2</c:v>
                </c:pt>
                <c:pt idx="110">
                  <c:v>7.7479999999999993E-2</c:v>
                </c:pt>
                <c:pt idx="111">
                  <c:v>5.926E-2</c:v>
                </c:pt>
                <c:pt idx="112">
                  <c:v>5.2900000000000003E-2</c:v>
                </c:pt>
                <c:pt idx="113">
                  <c:v>5.7590000000000002E-2</c:v>
                </c:pt>
                <c:pt idx="114">
                  <c:v>5.2490000000000002E-2</c:v>
                </c:pt>
                <c:pt idx="115">
                  <c:v>5.2720000000000003E-2</c:v>
                </c:pt>
                <c:pt idx="116">
                  <c:v>5.296E-2</c:v>
                </c:pt>
                <c:pt idx="117">
                  <c:v>5.0779999999999999E-2</c:v>
                </c:pt>
                <c:pt idx="118">
                  <c:v>5.7759999999999999E-2</c:v>
                </c:pt>
                <c:pt idx="119">
                  <c:v>5.672E-2</c:v>
                </c:pt>
                <c:pt idx="120">
                  <c:v>5.5599999999999997E-2</c:v>
                </c:pt>
                <c:pt idx="121">
                  <c:v>5.2510000000000001E-2</c:v>
                </c:pt>
                <c:pt idx="122">
                  <c:v>5.8569999999999997E-2</c:v>
                </c:pt>
                <c:pt idx="123">
                  <c:v>6.973E-2</c:v>
                </c:pt>
                <c:pt idx="124">
                  <c:v>7.0129999999999998E-2</c:v>
                </c:pt>
                <c:pt idx="125">
                  <c:v>7.1679999999999994E-2</c:v>
                </c:pt>
                <c:pt idx="126">
                  <c:v>7.2709999999999997E-2</c:v>
                </c:pt>
                <c:pt idx="127">
                  <c:v>8.6410000000000001E-2</c:v>
                </c:pt>
                <c:pt idx="128">
                  <c:v>8.4909999999999999E-2</c:v>
                </c:pt>
                <c:pt idx="129">
                  <c:v>9.257E-2</c:v>
                </c:pt>
                <c:pt idx="130">
                  <c:v>0.10008</c:v>
                </c:pt>
                <c:pt idx="131">
                  <c:v>0.11099000000000001</c:v>
                </c:pt>
                <c:pt idx="132">
                  <c:v>9.8519999999999996E-2</c:v>
                </c:pt>
                <c:pt idx="133">
                  <c:v>9.8629999999999995E-2</c:v>
                </c:pt>
                <c:pt idx="134">
                  <c:v>8.77E-2</c:v>
                </c:pt>
                <c:pt idx="135">
                  <c:v>0.10503999999999999</c:v>
                </c:pt>
                <c:pt idx="136">
                  <c:v>0.10063</c:v>
                </c:pt>
                <c:pt idx="137">
                  <c:v>9.6829999999999999E-2</c:v>
                </c:pt>
                <c:pt idx="138">
                  <c:v>0.10718</c:v>
                </c:pt>
                <c:pt idx="139">
                  <c:v>0.12402000000000001</c:v>
                </c:pt>
                <c:pt idx="140">
                  <c:v>0.13106999999999999</c:v>
                </c:pt>
                <c:pt idx="141">
                  <c:v>0.12391000000000001</c:v>
                </c:pt>
                <c:pt idx="142">
                  <c:v>0.14935999999999999</c:v>
                </c:pt>
                <c:pt idx="143">
                  <c:v>0.16582</c:v>
                </c:pt>
                <c:pt idx="144">
                  <c:v>0.17373</c:v>
                </c:pt>
                <c:pt idx="145">
                  <c:v>0.18462000000000001</c:v>
                </c:pt>
                <c:pt idx="146">
                  <c:v>0.18512000000000001</c:v>
                </c:pt>
                <c:pt idx="147">
                  <c:v>0.22198000000000001</c:v>
                </c:pt>
                <c:pt idx="148">
                  <c:v>0.17565</c:v>
                </c:pt>
                <c:pt idx="149">
                  <c:v>0.18953999999999999</c:v>
                </c:pt>
                <c:pt idx="150">
                  <c:v>0.17627999999999999</c:v>
                </c:pt>
                <c:pt idx="151">
                  <c:v>0.14280999999999999</c:v>
                </c:pt>
                <c:pt idx="152">
                  <c:v>0.14233000000000001</c:v>
                </c:pt>
                <c:pt idx="153">
                  <c:v>0.13028000000000001</c:v>
                </c:pt>
                <c:pt idx="154">
                  <c:v>0.12422</c:v>
                </c:pt>
                <c:pt idx="155">
                  <c:v>0.13309000000000001</c:v>
                </c:pt>
                <c:pt idx="156">
                  <c:v>0.12164999999999999</c:v>
                </c:pt>
                <c:pt idx="157">
                  <c:v>0.14798</c:v>
                </c:pt>
                <c:pt idx="158">
                  <c:v>0.15285000000000001</c:v>
                </c:pt>
                <c:pt idx="159">
                  <c:v>0.15772</c:v>
                </c:pt>
                <c:pt idx="160">
                  <c:v>0.15317</c:v>
                </c:pt>
                <c:pt idx="161">
                  <c:v>0.16350000000000001</c:v>
                </c:pt>
                <c:pt idx="162">
                  <c:v>0.15196000000000001</c:v>
                </c:pt>
                <c:pt idx="163">
                  <c:v>0.15772</c:v>
                </c:pt>
                <c:pt idx="164">
                  <c:v>0.158</c:v>
                </c:pt>
                <c:pt idx="165">
                  <c:v>0.16102</c:v>
                </c:pt>
                <c:pt idx="166">
                  <c:v>0.1716</c:v>
                </c:pt>
                <c:pt idx="167">
                  <c:v>0.19395000000000001</c:v>
                </c:pt>
                <c:pt idx="168">
                  <c:v>0.17097000000000001</c:v>
                </c:pt>
                <c:pt idx="169">
                  <c:v>0.15781999999999999</c:v>
                </c:pt>
                <c:pt idx="170">
                  <c:v>0.17371</c:v>
                </c:pt>
                <c:pt idx="171">
                  <c:v>0.19298000000000001</c:v>
                </c:pt>
                <c:pt idx="172">
                  <c:v>0.19994000000000001</c:v>
                </c:pt>
                <c:pt idx="173">
                  <c:v>0.17942</c:v>
                </c:pt>
                <c:pt idx="174">
                  <c:v>0.17915</c:v>
                </c:pt>
                <c:pt idx="175">
                  <c:v>0.15822</c:v>
                </c:pt>
                <c:pt idx="176">
                  <c:v>0.16103999999999999</c:v>
                </c:pt>
                <c:pt idx="177">
                  <c:v>0.17150000000000001</c:v>
                </c:pt>
                <c:pt idx="178">
                  <c:v>0.17599999999999999</c:v>
                </c:pt>
                <c:pt idx="179">
                  <c:v>0.17743999999999999</c:v>
                </c:pt>
                <c:pt idx="180">
                  <c:v>0.14871000000000001</c:v>
                </c:pt>
                <c:pt idx="181">
                  <c:v>0.12953999999999999</c:v>
                </c:pt>
                <c:pt idx="182">
                  <c:v>0.13164999999999999</c:v>
                </c:pt>
                <c:pt idx="183">
                  <c:v>0.1353</c:v>
                </c:pt>
                <c:pt idx="184">
                  <c:v>0.15096000000000001</c:v>
                </c:pt>
                <c:pt idx="185">
                  <c:v>0.14768000000000001</c:v>
                </c:pt>
                <c:pt idx="186">
                  <c:v>0.14146</c:v>
                </c:pt>
                <c:pt idx="187">
                  <c:v>0.14294999999999999</c:v>
                </c:pt>
                <c:pt idx="188">
                  <c:v>0.14476</c:v>
                </c:pt>
                <c:pt idx="189">
                  <c:v>0.12667999999999999</c:v>
                </c:pt>
                <c:pt idx="190">
                  <c:v>0.11312</c:v>
                </c:pt>
                <c:pt idx="191">
                  <c:v>0.11292000000000001</c:v>
                </c:pt>
                <c:pt idx="192">
                  <c:v>8.9599999999999999E-2</c:v>
                </c:pt>
                <c:pt idx="193">
                  <c:v>8.0850000000000005E-2</c:v>
                </c:pt>
                <c:pt idx="194">
                  <c:v>7.9600000000000004E-2</c:v>
                </c:pt>
                <c:pt idx="195">
                  <c:v>7.8700000000000006E-2</c:v>
                </c:pt>
                <c:pt idx="196">
                  <c:v>7.6009999999999994E-2</c:v>
                </c:pt>
                <c:pt idx="197">
                  <c:v>6.0319999999999999E-2</c:v>
                </c:pt>
                <c:pt idx="198">
                  <c:v>6.6699999999999995E-2</c:v>
                </c:pt>
                <c:pt idx="199">
                  <c:v>8.0879999999999994E-2</c:v>
                </c:pt>
                <c:pt idx="200">
                  <c:v>9.4780000000000003E-2</c:v>
                </c:pt>
                <c:pt idx="201">
                  <c:v>0.12282</c:v>
                </c:pt>
                <c:pt idx="202">
                  <c:v>0.14285999999999999</c:v>
                </c:pt>
                <c:pt idx="203">
                  <c:v>0.16491</c:v>
                </c:pt>
                <c:pt idx="204">
                  <c:v>0.15132000000000001</c:v>
                </c:pt>
                <c:pt idx="205">
                  <c:v>0.14557</c:v>
                </c:pt>
                <c:pt idx="206">
                  <c:v>0.15490000000000001</c:v>
                </c:pt>
                <c:pt idx="207">
                  <c:v>0.13897999999999999</c:v>
                </c:pt>
                <c:pt idx="208">
                  <c:v>0.11976000000000001</c:v>
                </c:pt>
                <c:pt idx="209">
                  <c:v>0.1188</c:v>
                </c:pt>
                <c:pt idx="210">
                  <c:v>0.11959</c:v>
                </c:pt>
              </c:numCache>
            </c:numRef>
          </c:val>
          <c:extLst>
            <c:ext xmlns:c16="http://schemas.microsoft.com/office/drawing/2014/chart" uri="{C3380CC4-5D6E-409C-BE32-E72D297353CC}">
              <c16:uniqueId val="{00000000-423A-44AC-9604-7967E678A370}"/>
            </c:ext>
          </c:extLst>
        </c:ser>
        <c:ser>
          <c:idx val="1"/>
          <c:order val="1"/>
          <c:tx>
            <c:strRef>
              <c:f>Sheet1!$C$1</c:f>
              <c:strCache>
                <c:ptCount val="1"/>
                <c:pt idx="0">
                  <c:v>RF</c:v>
                </c:pt>
              </c:strCache>
            </c:strRef>
          </c:tx>
          <c:spPr>
            <a:solidFill>
              <a:schemeClr val="accent6"/>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Sheet1!$C$2:$C$212</c:f>
              <c:numCache>
                <c:formatCode>General</c:formatCode>
                <c:ptCount val="211"/>
                <c:pt idx="0">
                  <c:v>5.0520000000000002E-2</c:v>
                </c:pt>
                <c:pt idx="1">
                  <c:v>4.8489999999999998E-2</c:v>
                </c:pt>
                <c:pt idx="2">
                  <c:v>6.3839999999999994E-2</c:v>
                </c:pt>
                <c:pt idx="3">
                  <c:v>7.1169999999999997E-2</c:v>
                </c:pt>
                <c:pt idx="4">
                  <c:v>7.349E-2</c:v>
                </c:pt>
                <c:pt idx="5">
                  <c:v>7.6039999999999996E-2</c:v>
                </c:pt>
                <c:pt idx="6">
                  <c:v>6.4350000000000004E-2</c:v>
                </c:pt>
                <c:pt idx="7">
                  <c:v>5.3760000000000002E-2</c:v>
                </c:pt>
                <c:pt idx="8">
                  <c:v>5.6599999999999998E-2</c:v>
                </c:pt>
                <c:pt idx="9">
                  <c:v>6.164E-2</c:v>
                </c:pt>
                <c:pt idx="10">
                  <c:v>5.9959999999999999E-2</c:v>
                </c:pt>
                <c:pt idx="11">
                  <c:v>7.1940000000000004E-2</c:v>
                </c:pt>
                <c:pt idx="12">
                  <c:v>7.2090000000000001E-2</c:v>
                </c:pt>
                <c:pt idx="13">
                  <c:v>6.5540000000000001E-2</c:v>
                </c:pt>
                <c:pt idx="14">
                  <c:v>6.88E-2</c:v>
                </c:pt>
                <c:pt idx="15">
                  <c:v>6.4460000000000003E-2</c:v>
                </c:pt>
                <c:pt idx="16">
                  <c:v>6.3140000000000002E-2</c:v>
                </c:pt>
                <c:pt idx="17">
                  <c:v>7.5620000000000007E-2</c:v>
                </c:pt>
                <c:pt idx="18">
                  <c:v>7.46E-2</c:v>
                </c:pt>
                <c:pt idx="19">
                  <c:v>6.4460000000000003E-2</c:v>
                </c:pt>
                <c:pt idx="20">
                  <c:v>5.5899999999999998E-2</c:v>
                </c:pt>
                <c:pt idx="21">
                  <c:v>5.6329999999999998E-2</c:v>
                </c:pt>
                <c:pt idx="22">
                  <c:v>5.8279999999999998E-2</c:v>
                </c:pt>
                <c:pt idx="23">
                  <c:v>4.7129999999999998E-2</c:v>
                </c:pt>
                <c:pt idx="24">
                  <c:v>5.4620000000000002E-2</c:v>
                </c:pt>
                <c:pt idx="25">
                  <c:v>4.9209999999999997E-2</c:v>
                </c:pt>
                <c:pt idx="26">
                  <c:v>4.0840000000000001E-2</c:v>
                </c:pt>
                <c:pt idx="27">
                  <c:v>4.0809999999999999E-2</c:v>
                </c:pt>
                <c:pt idx="28">
                  <c:v>4.4389999999999999E-2</c:v>
                </c:pt>
                <c:pt idx="29">
                  <c:v>4.6719999999999998E-2</c:v>
                </c:pt>
                <c:pt idx="30">
                  <c:v>4.8730000000000002E-2</c:v>
                </c:pt>
                <c:pt idx="31">
                  <c:v>4.4339999999999997E-2</c:v>
                </c:pt>
                <c:pt idx="32">
                  <c:v>3.8580000000000003E-2</c:v>
                </c:pt>
                <c:pt idx="33">
                  <c:v>3.8170000000000003E-2</c:v>
                </c:pt>
                <c:pt idx="34">
                  <c:v>4.2110000000000002E-2</c:v>
                </c:pt>
                <c:pt idx="35">
                  <c:v>4.8660000000000002E-2</c:v>
                </c:pt>
                <c:pt idx="36">
                  <c:v>5.3069999999999999E-2</c:v>
                </c:pt>
                <c:pt idx="37">
                  <c:v>5.3100000000000001E-2</c:v>
                </c:pt>
                <c:pt idx="38">
                  <c:v>5.3280000000000001E-2</c:v>
                </c:pt>
                <c:pt idx="39">
                  <c:v>5.0040000000000001E-2</c:v>
                </c:pt>
                <c:pt idx="40">
                  <c:v>5.074E-2</c:v>
                </c:pt>
                <c:pt idx="41">
                  <c:v>5.246E-2</c:v>
                </c:pt>
                <c:pt idx="42">
                  <c:v>5.8959999999999999E-2</c:v>
                </c:pt>
                <c:pt idx="43">
                  <c:v>5.8549999999999998E-2</c:v>
                </c:pt>
                <c:pt idx="44">
                  <c:v>6.4630000000000007E-2</c:v>
                </c:pt>
                <c:pt idx="45">
                  <c:v>6.7369999999999999E-2</c:v>
                </c:pt>
                <c:pt idx="46">
                  <c:v>7.9149999999999998E-2</c:v>
                </c:pt>
                <c:pt idx="47">
                  <c:v>8.4349999999999994E-2</c:v>
                </c:pt>
                <c:pt idx="48">
                  <c:v>0.10038</c:v>
                </c:pt>
                <c:pt idx="49">
                  <c:v>0.11204</c:v>
                </c:pt>
                <c:pt idx="50">
                  <c:v>9.2319999999999999E-2</c:v>
                </c:pt>
                <c:pt idx="51">
                  <c:v>8.4330000000000002E-2</c:v>
                </c:pt>
                <c:pt idx="52">
                  <c:v>7.8789999999999999E-2</c:v>
                </c:pt>
                <c:pt idx="53">
                  <c:v>7.1279999999999996E-2</c:v>
                </c:pt>
                <c:pt idx="54">
                  <c:v>7.7549999999999994E-2</c:v>
                </c:pt>
                <c:pt idx="55">
                  <c:v>8.0640000000000003E-2</c:v>
                </c:pt>
                <c:pt idx="56">
                  <c:v>8.7580000000000005E-2</c:v>
                </c:pt>
                <c:pt idx="57">
                  <c:v>0.1008</c:v>
                </c:pt>
                <c:pt idx="58">
                  <c:v>8.6860000000000007E-2</c:v>
                </c:pt>
                <c:pt idx="59">
                  <c:v>7.2760000000000005E-2</c:v>
                </c:pt>
                <c:pt idx="60">
                  <c:v>6.9540000000000005E-2</c:v>
                </c:pt>
                <c:pt idx="61">
                  <c:v>6.2210000000000001E-2</c:v>
                </c:pt>
                <c:pt idx="62">
                  <c:v>6.9099999999999995E-2</c:v>
                </c:pt>
                <c:pt idx="63">
                  <c:v>6.7449999999999996E-2</c:v>
                </c:pt>
                <c:pt idx="64">
                  <c:v>7.1730000000000002E-2</c:v>
                </c:pt>
                <c:pt idx="65">
                  <c:v>7.689E-2</c:v>
                </c:pt>
                <c:pt idx="66">
                  <c:v>8.0199999999999994E-2</c:v>
                </c:pt>
                <c:pt idx="67">
                  <c:v>6.9809999999999997E-2</c:v>
                </c:pt>
                <c:pt idx="68">
                  <c:v>7.1279999999999996E-2</c:v>
                </c:pt>
                <c:pt idx="69">
                  <c:v>7.0499999999999993E-2</c:v>
                </c:pt>
                <c:pt idx="70">
                  <c:v>7.9460000000000003E-2</c:v>
                </c:pt>
                <c:pt idx="71">
                  <c:v>8.2949999999999996E-2</c:v>
                </c:pt>
                <c:pt idx="72">
                  <c:v>8.337E-2</c:v>
                </c:pt>
                <c:pt idx="73">
                  <c:v>0.10159</c:v>
                </c:pt>
                <c:pt idx="74">
                  <c:v>9.5420000000000005E-2</c:v>
                </c:pt>
                <c:pt idx="75">
                  <c:v>0.10899</c:v>
                </c:pt>
                <c:pt idx="76">
                  <c:v>0.12401</c:v>
                </c:pt>
                <c:pt idx="77">
                  <c:v>0.10709</c:v>
                </c:pt>
                <c:pt idx="78">
                  <c:v>0.10627</c:v>
                </c:pt>
                <c:pt idx="79">
                  <c:v>9.7530000000000006E-2</c:v>
                </c:pt>
                <c:pt idx="80">
                  <c:v>9.2170000000000002E-2</c:v>
                </c:pt>
                <c:pt idx="81">
                  <c:v>9.2170000000000002E-2</c:v>
                </c:pt>
                <c:pt idx="82">
                  <c:v>0.10135</c:v>
                </c:pt>
                <c:pt idx="83">
                  <c:v>0.12088</c:v>
                </c:pt>
                <c:pt idx="84">
                  <c:v>0.14507</c:v>
                </c:pt>
                <c:pt idx="85">
                  <c:v>0.14563000000000001</c:v>
                </c:pt>
                <c:pt idx="86">
                  <c:v>0.15601999999999999</c:v>
                </c:pt>
                <c:pt idx="87">
                  <c:v>0.13786000000000001</c:v>
                </c:pt>
                <c:pt idx="88">
                  <c:v>0.11860999999999999</c:v>
                </c:pt>
                <c:pt idx="89">
                  <c:v>0.11910999999999999</c:v>
                </c:pt>
                <c:pt idx="90">
                  <c:v>0.11742</c:v>
                </c:pt>
                <c:pt idx="91">
                  <c:v>0.11101999999999999</c:v>
                </c:pt>
                <c:pt idx="92">
                  <c:v>0.10877000000000001</c:v>
                </c:pt>
                <c:pt idx="93">
                  <c:v>0.11415</c:v>
                </c:pt>
                <c:pt idx="94">
                  <c:v>0.10055</c:v>
                </c:pt>
                <c:pt idx="95">
                  <c:v>9.4240000000000004E-2</c:v>
                </c:pt>
                <c:pt idx="96">
                  <c:v>9.6970000000000001E-2</c:v>
                </c:pt>
                <c:pt idx="97">
                  <c:v>0.10005</c:v>
                </c:pt>
                <c:pt idx="98">
                  <c:v>0.10712000000000001</c:v>
                </c:pt>
                <c:pt idx="99">
                  <c:v>0.11022999999999999</c:v>
                </c:pt>
                <c:pt idx="100">
                  <c:v>0.12623999999999999</c:v>
                </c:pt>
                <c:pt idx="101">
                  <c:v>0.14263999999999999</c:v>
                </c:pt>
                <c:pt idx="102">
                  <c:v>0.1313</c:v>
                </c:pt>
                <c:pt idx="103">
                  <c:v>0.13971</c:v>
                </c:pt>
                <c:pt idx="104">
                  <c:v>0.12149</c:v>
                </c:pt>
                <c:pt idx="105">
                  <c:v>0.11475</c:v>
                </c:pt>
                <c:pt idx="106">
                  <c:v>0.12246</c:v>
                </c:pt>
                <c:pt idx="107">
                  <c:v>0.10424</c:v>
                </c:pt>
                <c:pt idx="108">
                  <c:v>0.10009</c:v>
                </c:pt>
                <c:pt idx="109">
                  <c:v>0.10366</c:v>
                </c:pt>
                <c:pt idx="110">
                  <c:v>9.0920000000000001E-2</c:v>
                </c:pt>
                <c:pt idx="111">
                  <c:v>8.8400000000000006E-2</c:v>
                </c:pt>
                <c:pt idx="112">
                  <c:v>9.2609999999999998E-2</c:v>
                </c:pt>
                <c:pt idx="113">
                  <c:v>9.307E-2</c:v>
                </c:pt>
                <c:pt idx="114">
                  <c:v>9.9540000000000003E-2</c:v>
                </c:pt>
                <c:pt idx="115">
                  <c:v>9.2289999999999997E-2</c:v>
                </c:pt>
                <c:pt idx="116">
                  <c:v>8.5589999999999999E-2</c:v>
                </c:pt>
                <c:pt idx="117">
                  <c:v>0.11302</c:v>
                </c:pt>
                <c:pt idx="118">
                  <c:v>0.10954</c:v>
                </c:pt>
                <c:pt idx="119">
                  <c:v>0.12623000000000001</c:v>
                </c:pt>
                <c:pt idx="120">
                  <c:v>0.13403999999999999</c:v>
                </c:pt>
                <c:pt idx="121">
                  <c:v>0.12659999999999999</c:v>
                </c:pt>
                <c:pt idx="122">
                  <c:v>0.13036</c:v>
                </c:pt>
                <c:pt idx="123">
                  <c:v>0.11269</c:v>
                </c:pt>
                <c:pt idx="124">
                  <c:v>0.12277</c:v>
                </c:pt>
                <c:pt idx="125">
                  <c:v>0.10693999999999999</c:v>
                </c:pt>
                <c:pt idx="126">
                  <c:v>0.10014000000000001</c:v>
                </c:pt>
                <c:pt idx="127">
                  <c:v>0.11899999999999999</c:v>
                </c:pt>
                <c:pt idx="128">
                  <c:v>0.10795</c:v>
                </c:pt>
                <c:pt idx="129">
                  <c:v>0.11768000000000001</c:v>
                </c:pt>
                <c:pt idx="130">
                  <c:v>0.10841000000000001</c:v>
                </c:pt>
                <c:pt idx="131">
                  <c:v>0.12023</c:v>
                </c:pt>
                <c:pt idx="132">
                  <c:v>0.12523999999999999</c:v>
                </c:pt>
                <c:pt idx="133">
                  <c:v>0.12537999999999999</c:v>
                </c:pt>
                <c:pt idx="134">
                  <c:v>0.12078</c:v>
                </c:pt>
                <c:pt idx="135">
                  <c:v>0.11379</c:v>
                </c:pt>
                <c:pt idx="136">
                  <c:v>0.11809</c:v>
                </c:pt>
                <c:pt idx="137">
                  <c:v>0.1231</c:v>
                </c:pt>
                <c:pt idx="138">
                  <c:v>0.12578</c:v>
                </c:pt>
                <c:pt idx="139">
                  <c:v>0.12402000000000001</c:v>
                </c:pt>
                <c:pt idx="140">
                  <c:v>0.13106999999999999</c:v>
                </c:pt>
                <c:pt idx="141">
                  <c:v>0.12391000000000001</c:v>
                </c:pt>
                <c:pt idx="142">
                  <c:v>0.11749</c:v>
                </c:pt>
                <c:pt idx="143">
                  <c:v>0.11115</c:v>
                </c:pt>
                <c:pt idx="144">
                  <c:v>0.11645999999999999</c:v>
                </c:pt>
                <c:pt idx="145">
                  <c:v>0.11423999999999999</c:v>
                </c:pt>
                <c:pt idx="146">
                  <c:v>9.7610000000000002E-2</c:v>
                </c:pt>
                <c:pt idx="147">
                  <c:v>0.10804999999999999</c:v>
                </c:pt>
                <c:pt idx="148">
                  <c:v>0.10033</c:v>
                </c:pt>
                <c:pt idx="149">
                  <c:v>9.9940000000000001E-2</c:v>
                </c:pt>
                <c:pt idx="150">
                  <c:v>0.10069</c:v>
                </c:pt>
                <c:pt idx="151">
                  <c:v>0.11234</c:v>
                </c:pt>
                <c:pt idx="152">
                  <c:v>0.12128</c:v>
                </c:pt>
                <c:pt idx="153">
                  <c:v>0.12026000000000001</c:v>
                </c:pt>
                <c:pt idx="154">
                  <c:v>0.11466999999999999</c:v>
                </c:pt>
                <c:pt idx="155">
                  <c:v>0.10469000000000001</c:v>
                </c:pt>
                <c:pt idx="156">
                  <c:v>0.10366</c:v>
                </c:pt>
                <c:pt idx="157">
                  <c:v>0.1164</c:v>
                </c:pt>
                <c:pt idx="158">
                  <c:v>0.1411</c:v>
                </c:pt>
                <c:pt idx="159">
                  <c:v>0.14559</c:v>
                </c:pt>
                <c:pt idx="160">
                  <c:v>0.17974000000000001</c:v>
                </c:pt>
                <c:pt idx="161">
                  <c:v>0.17712</c:v>
                </c:pt>
                <c:pt idx="162">
                  <c:v>0.15196000000000001</c:v>
                </c:pt>
                <c:pt idx="163">
                  <c:v>0.15772</c:v>
                </c:pt>
                <c:pt idx="164">
                  <c:v>0.13464000000000001</c:v>
                </c:pt>
                <c:pt idx="165">
                  <c:v>0.11693000000000001</c:v>
                </c:pt>
                <c:pt idx="166">
                  <c:v>0.13497999999999999</c:v>
                </c:pt>
                <c:pt idx="167">
                  <c:v>0.11079</c:v>
                </c:pt>
                <c:pt idx="168">
                  <c:v>0.12415</c:v>
                </c:pt>
                <c:pt idx="169">
                  <c:v>0.12414</c:v>
                </c:pt>
                <c:pt idx="170">
                  <c:v>0.10749</c:v>
                </c:pt>
                <c:pt idx="171">
                  <c:v>0.11941</c:v>
                </c:pt>
                <c:pt idx="172">
                  <c:v>0.12372</c:v>
                </c:pt>
                <c:pt idx="173">
                  <c:v>0.14113999999999999</c:v>
                </c:pt>
                <c:pt idx="174">
                  <c:v>0.14093</c:v>
                </c:pt>
                <c:pt idx="175">
                  <c:v>0.14606</c:v>
                </c:pt>
                <c:pt idx="176">
                  <c:v>0.14865999999999999</c:v>
                </c:pt>
                <c:pt idx="177">
                  <c:v>0.13489999999999999</c:v>
                </c:pt>
                <c:pt idx="178">
                  <c:v>0.16247</c:v>
                </c:pt>
                <c:pt idx="179">
                  <c:v>0.15121000000000001</c:v>
                </c:pt>
                <c:pt idx="180">
                  <c:v>0.16109999999999999</c:v>
                </c:pt>
                <c:pt idx="181">
                  <c:v>0.16467999999999999</c:v>
                </c:pt>
                <c:pt idx="182">
                  <c:v>0.1545</c:v>
                </c:pt>
                <c:pt idx="183">
                  <c:v>0.1353</c:v>
                </c:pt>
                <c:pt idx="184">
                  <c:v>0.12864</c:v>
                </c:pt>
                <c:pt idx="185">
                  <c:v>0.13633000000000001</c:v>
                </c:pt>
                <c:pt idx="186">
                  <c:v>0.13059000000000001</c:v>
                </c:pt>
                <c:pt idx="187">
                  <c:v>0.13195999999999999</c:v>
                </c:pt>
                <c:pt idx="188">
                  <c:v>0.11387</c:v>
                </c:pt>
                <c:pt idx="189">
                  <c:v>0.10795</c:v>
                </c:pt>
                <c:pt idx="190">
                  <c:v>0.11312</c:v>
                </c:pt>
                <c:pt idx="191">
                  <c:v>0.12232</c:v>
                </c:pt>
                <c:pt idx="192">
                  <c:v>0.1234</c:v>
                </c:pt>
                <c:pt idx="193">
                  <c:v>0.11133999999999999</c:v>
                </c:pt>
                <c:pt idx="194">
                  <c:v>0.10962</c:v>
                </c:pt>
                <c:pt idx="195">
                  <c:v>0.12717999999999999</c:v>
                </c:pt>
                <c:pt idx="196">
                  <c:v>0.14415</c:v>
                </c:pt>
                <c:pt idx="197">
                  <c:v>0.13425999999999999</c:v>
                </c:pt>
                <c:pt idx="198">
                  <c:v>0.14845</c:v>
                </c:pt>
                <c:pt idx="199">
                  <c:v>0.15339</c:v>
                </c:pt>
                <c:pt idx="200">
                  <c:v>0.14138999999999999</c:v>
                </c:pt>
                <c:pt idx="201">
                  <c:v>0.12282</c:v>
                </c:pt>
                <c:pt idx="202">
                  <c:v>0.11237</c:v>
                </c:pt>
                <c:pt idx="203">
                  <c:v>0.11975</c:v>
                </c:pt>
                <c:pt idx="204">
                  <c:v>0.12894</c:v>
                </c:pt>
                <c:pt idx="205">
                  <c:v>0.13438</c:v>
                </c:pt>
                <c:pt idx="206">
                  <c:v>0.12185</c:v>
                </c:pt>
                <c:pt idx="207">
                  <c:v>0.11842999999999999</c:v>
                </c:pt>
                <c:pt idx="208">
                  <c:v>0.10205</c:v>
                </c:pt>
                <c:pt idx="209">
                  <c:v>0.1188</c:v>
                </c:pt>
                <c:pt idx="210">
                  <c:v>0.11039</c:v>
                </c:pt>
              </c:numCache>
            </c:numRef>
          </c:val>
          <c:extLst>
            <c:ext xmlns:c16="http://schemas.microsoft.com/office/drawing/2014/chart" uri="{C3380CC4-5D6E-409C-BE32-E72D297353CC}">
              <c16:uniqueId val="{00000001-423A-44AC-9604-7967E678A370}"/>
            </c:ext>
          </c:extLst>
        </c:ser>
        <c:ser>
          <c:idx val="2"/>
          <c:order val="2"/>
          <c:tx>
            <c:strRef>
              <c:f>Sheet1!$D$1</c:f>
              <c:strCache>
                <c:ptCount val="1"/>
                <c:pt idx="0">
                  <c:v>GB</c:v>
                </c:pt>
              </c:strCache>
            </c:strRef>
          </c:tx>
          <c:spPr>
            <a:solidFill>
              <a:schemeClr val="accent1"/>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Sheet1!$D$2:$D$212</c:f>
              <c:numCache>
                <c:formatCode>General</c:formatCode>
                <c:ptCount val="211"/>
                <c:pt idx="0">
                  <c:v>0.13194</c:v>
                </c:pt>
                <c:pt idx="1">
                  <c:v>0.11692</c:v>
                </c:pt>
                <c:pt idx="2">
                  <c:v>0.14208000000000001</c:v>
                </c:pt>
                <c:pt idx="3">
                  <c:v>0.13497000000000001</c:v>
                </c:pt>
                <c:pt idx="4">
                  <c:v>0.17716999999999999</c:v>
                </c:pt>
                <c:pt idx="5">
                  <c:v>0.18331</c:v>
                </c:pt>
                <c:pt idx="6">
                  <c:v>0.15514</c:v>
                </c:pt>
                <c:pt idx="7">
                  <c:v>0.14041000000000001</c:v>
                </c:pt>
                <c:pt idx="8">
                  <c:v>0.13646</c:v>
                </c:pt>
                <c:pt idx="9">
                  <c:v>0.16098999999999999</c:v>
                </c:pt>
                <c:pt idx="10">
                  <c:v>0.14457</c:v>
                </c:pt>
                <c:pt idx="11">
                  <c:v>0.14779</c:v>
                </c:pt>
                <c:pt idx="12">
                  <c:v>0.14810000000000001</c:v>
                </c:pt>
                <c:pt idx="13">
                  <c:v>0.14587</c:v>
                </c:pt>
                <c:pt idx="14">
                  <c:v>0.14133999999999999</c:v>
                </c:pt>
                <c:pt idx="15">
                  <c:v>0.15540999999999999</c:v>
                </c:pt>
                <c:pt idx="16">
                  <c:v>0.16489999999999999</c:v>
                </c:pt>
                <c:pt idx="17">
                  <c:v>0.19750000000000001</c:v>
                </c:pt>
                <c:pt idx="18">
                  <c:v>0.17985000000000001</c:v>
                </c:pt>
                <c:pt idx="19">
                  <c:v>0.19757</c:v>
                </c:pt>
                <c:pt idx="20">
                  <c:v>0.18559999999999999</c:v>
                </c:pt>
                <c:pt idx="21">
                  <c:v>0.18701000000000001</c:v>
                </c:pt>
                <c:pt idx="22">
                  <c:v>0.15221000000000001</c:v>
                </c:pt>
                <c:pt idx="23">
                  <c:v>0.16950999999999999</c:v>
                </c:pt>
                <c:pt idx="24">
                  <c:v>0.21282999999999999</c:v>
                </c:pt>
                <c:pt idx="25">
                  <c:v>0.22500999999999999</c:v>
                </c:pt>
                <c:pt idx="26">
                  <c:v>0.20230000000000001</c:v>
                </c:pt>
                <c:pt idx="27">
                  <c:v>0.21895999999999999</c:v>
                </c:pt>
                <c:pt idx="28">
                  <c:v>0.20297000000000001</c:v>
                </c:pt>
                <c:pt idx="29">
                  <c:v>0.23139999999999999</c:v>
                </c:pt>
                <c:pt idx="30">
                  <c:v>0.20569000000000001</c:v>
                </c:pt>
                <c:pt idx="31">
                  <c:v>0.18715999999999999</c:v>
                </c:pt>
                <c:pt idx="32">
                  <c:v>0.17638000000000001</c:v>
                </c:pt>
                <c:pt idx="33">
                  <c:v>0.20482</c:v>
                </c:pt>
                <c:pt idx="34">
                  <c:v>0.20860000000000001</c:v>
                </c:pt>
                <c:pt idx="35">
                  <c:v>0.17499999999999999</c:v>
                </c:pt>
                <c:pt idx="36">
                  <c:v>0.19087000000000001</c:v>
                </c:pt>
                <c:pt idx="37">
                  <c:v>0.20691000000000001</c:v>
                </c:pt>
                <c:pt idx="38">
                  <c:v>0.1769</c:v>
                </c:pt>
                <c:pt idx="39">
                  <c:v>0.16614999999999999</c:v>
                </c:pt>
                <c:pt idx="40">
                  <c:v>0.18248</c:v>
                </c:pt>
                <c:pt idx="41">
                  <c:v>0.17416000000000001</c:v>
                </c:pt>
                <c:pt idx="42">
                  <c:v>0.19575000000000001</c:v>
                </c:pt>
                <c:pt idx="43">
                  <c:v>0.16566</c:v>
                </c:pt>
                <c:pt idx="44">
                  <c:v>0.15581</c:v>
                </c:pt>
                <c:pt idx="45">
                  <c:v>0.14993000000000001</c:v>
                </c:pt>
                <c:pt idx="46">
                  <c:v>0.17616000000000001</c:v>
                </c:pt>
                <c:pt idx="47">
                  <c:v>0.25852000000000003</c:v>
                </c:pt>
                <c:pt idx="48">
                  <c:v>0.24202000000000001</c:v>
                </c:pt>
                <c:pt idx="49">
                  <c:v>0.29260999999999998</c:v>
                </c:pt>
                <c:pt idx="50">
                  <c:v>0.30652000000000001</c:v>
                </c:pt>
                <c:pt idx="51">
                  <c:v>0.35591</c:v>
                </c:pt>
                <c:pt idx="52">
                  <c:v>0.36021999999999998</c:v>
                </c:pt>
                <c:pt idx="53">
                  <c:v>0.32591999999999999</c:v>
                </c:pt>
                <c:pt idx="54">
                  <c:v>0.30214999999999997</c:v>
                </c:pt>
                <c:pt idx="55">
                  <c:v>0.34037000000000001</c:v>
                </c:pt>
                <c:pt idx="56">
                  <c:v>0.34121000000000001</c:v>
                </c:pt>
                <c:pt idx="57">
                  <c:v>0.33467000000000002</c:v>
                </c:pt>
                <c:pt idx="58">
                  <c:v>0.31241000000000002</c:v>
                </c:pt>
                <c:pt idx="59">
                  <c:v>0.33267000000000002</c:v>
                </c:pt>
                <c:pt idx="60">
                  <c:v>0.37311</c:v>
                </c:pt>
                <c:pt idx="61">
                  <c:v>0.36159999999999998</c:v>
                </c:pt>
                <c:pt idx="62">
                  <c:v>0.37078</c:v>
                </c:pt>
                <c:pt idx="63">
                  <c:v>0.46007999999999999</c:v>
                </c:pt>
                <c:pt idx="64">
                  <c:v>0.45166000000000001</c:v>
                </c:pt>
                <c:pt idx="65">
                  <c:v>0.48415000000000002</c:v>
                </c:pt>
                <c:pt idx="66">
                  <c:v>0.505</c:v>
                </c:pt>
                <c:pt idx="67">
                  <c:v>0.47615000000000002</c:v>
                </c:pt>
                <c:pt idx="68">
                  <c:v>0.48619000000000001</c:v>
                </c:pt>
                <c:pt idx="69">
                  <c:v>0.44388</c:v>
                </c:pt>
                <c:pt idx="70">
                  <c:v>0.46184999999999998</c:v>
                </c:pt>
                <c:pt idx="71">
                  <c:v>0.44508999999999999</c:v>
                </c:pt>
                <c:pt idx="72">
                  <c:v>0.44733000000000001</c:v>
                </c:pt>
                <c:pt idx="73">
                  <c:v>0.42875999999999997</c:v>
                </c:pt>
                <c:pt idx="74">
                  <c:v>0.37175999999999998</c:v>
                </c:pt>
                <c:pt idx="75">
                  <c:v>0.39201000000000003</c:v>
                </c:pt>
                <c:pt idx="76">
                  <c:v>0.41171999999999997</c:v>
                </c:pt>
                <c:pt idx="77">
                  <c:v>0.45200000000000001</c:v>
                </c:pt>
                <c:pt idx="78">
                  <c:v>0.44851000000000002</c:v>
                </c:pt>
                <c:pt idx="79">
                  <c:v>0.41166000000000003</c:v>
                </c:pt>
                <c:pt idx="80">
                  <c:v>0.42141000000000001</c:v>
                </c:pt>
                <c:pt idx="81">
                  <c:v>0.45654</c:v>
                </c:pt>
                <c:pt idx="82">
                  <c:v>0.46339000000000002</c:v>
                </c:pt>
                <c:pt idx="83">
                  <c:v>0.43475000000000003</c:v>
                </c:pt>
                <c:pt idx="84">
                  <c:v>0.41044000000000003</c:v>
                </c:pt>
                <c:pt idx="85">
                  <c:v>0.44633</c:v>
                </c:pt>
                <c:pt idx="86">
                  <c:v>0.40747</c:v>
                </c:pt>
                <c:pt idx="87">
                  <c:v>0.39001999999999998</c:v>
                </c:pt>
                <c:pt idx="88">
                  <c:v>0.42659999999999998</c:v>
                </c:pt>
                <c:pt idx="89">
                  <c:v>0.46407999999999999</c:v>
                </c:pt>
                <c:pt idx="90">
                  <c:v>0.45749000000000001</c:v>
                </c:pt>
                <c:pt idx="91">
                  <c:v>0.46859000000000001</c:v>
                </c:pt>
                <c:pt idx="92">
                  <c:v>0.45906999999999998</c:v>
                </c:pt>
                <c:pt idx="93">
                  <c:v>0.48176999999999998</c:v>
                </c:pt>
                <c:pt idx="94">
                  <c:v>0.49803999999999998</c:v>
                </c:pt>
                <c:pt idx="95">
                  <c:v>0.50566999999999995</c:v>
                </c:pt>
                <c:pt idx="96">
                  <c:v>0.52032</c:v>
                </c:pt>
                <c:pt idx="97">
                  <c:v>0.45746999999999999</c:v>
                </c:pt>
                <c:pt idx="98">
                  <c:v>0.45211000000000001</c:v>
                </c:pt>
                <c:pt idx="99">
                  <c:v>0.42947999999999997</c:v>
                </c:pt>
                <c:pt idx="100">
                  <c:v>0.41914000000000001</c:v>
                </c:pt>
                <c:pt idx="101">
                  <c:v>0.37253999999999998</c:v>
                </c:pt>
                <c:pt idx="102">
                  <c:v>0.37148999999999999</c:v>
                </c:pt>
                <c:pt idx="103">
                  <c:v>0.36487999999999998</c:v>
                </c:pt>
                <c:pt idx="104">
                  <c:v>0.37234</c:v>
                </c:pt>
                <c:pt idx="105">
                  <c:v>0.35167999999999999</c:v>
                </c:pt>
                <c:pt idx="106">
                  <c:v>0.34645999999999999</c:v>
                </c:pt>
                <c:pt idx="107">
                  <c:v>0.37491000000000002</c:v>
                </c:pt>
                <c:pt idx="108">
                  <c:v>0.35998999999999998</c:v>
                </c:pt>
                <c:pt idx="109">
                  <c:v>0.29327999999999999</c:v>
                </c:pt>
                <c:pt idx="110">
                  <c:v>0.25724000000000002</c:v>
                </c:pt>
                <c:pt idx="111">
                  <c:v>0.23088</c:v>
                </c:pt>
                <c:pt idx="112">
                  <c:v>0.24188000000000001</c:v>
                </c:pt>
                <c:pt idx="113">
                  <c:v>0.20712</c:v>
                </c:pt>
                <c:pt idx="114">
                  <c:v>0.23996999999999999</c:v>
                </c:pt>
                <c:pt idx="115">
                  <c:v>0.2225</c:v>
                </c:pt>
                <c:pt idx="116">
                  <c:v>0.19048999999999999</c:v>
                </c:pt>
                <c:pt idx="117">
                  <c:v>0.23219000000000001</c:v>
                </c:pt>
                <c:pt idx="118">
                  <c:v>0.22505</c:v>
                </c:pt>
                <c:pt idx="119">
                  <c:v>0.20399999999999999</c:v>
                </c:pt>
                <c:pt idx="120">
                  <c:v>0.19996</c:v>
                </c:pt>
                <c:pt idx="121">
                  <c:v>0.2046</c:v>
                </c:pt>
                <c:pt idx="122">
                  <c:v>0.21067</c:v>
                </c:pt>
                <c:pt idx="123">
                  <c:v>0.19728000000000001</c:v>
                </c:pt>
                <c:pt idx="124">
                  <c:v>0.19839999999999999</c:v>
                </c:pt>
                <c:pt idx="125">
                  <c:v>0.17282</c:v>
                </c:pt>
                <c:pt idx="126">
                  <c:v>0.16183</c:v>
                </c:pt>
                <c:pt idx="127">
                  <c:v>0.16388</c:v>
                </c:pt>
                <c:pt idx="128">
                  <c:v>0.18898000000000001</c:v>
                </c:pt>
                <c:pt idx="129">
                  <c:v>0.20601</c:v>
                </c:pt>
                <c:pt idx="130">
                  <c:v>0.17519999999999999</c:v>
                </c:pt>
                <c:pt idx="131">
                  <c:v>0.16556999999999999</c:v>
                </c:pt>
                <c:pt idx="132">
                  <c:v>0.18684000000000001</c:v>
                </c:pt>
                <c:pt idx="133">
                  <c:v>0.18704000000000001</c:v>
                </c:pt>
                <c:pt idx="134">
                  <c:v>0.21145</c:v>
                </c:pt>
                <c:pt idx="135">
                  <c:v>0.18389</c:v>
                </c:pt>
                <c:pt idx="136">
                  <c:v>0.19084999999999999</c:v>
                </c:pt>
                <c:pt idx="137">
                  <c:v>0.19893</c:v>
                </c:pt>
                <c:pt idx="138">
                  <c:v>0.18764</c:v>
                </c:pt>
                <c:pt idx="139">
                  <c:v>0.17079</c:v>
                </c:pt>
                <c:pt idx="140">
                  <c:v>0.16663</c:v>
                </c:pt>
                <c:pt idx="141">
                  <c:v>0.17063999999999999</c:v>
                </c:pt>
                <c:pt idx="142">
                  <c:v>0.1618</c:v>
                </c:pt>
                <c:pt idx="143">
                  <c:v>0.14130000000000001</c:v>
                </c:pt>
                <c:pt idx="144">
                  <c:v>0.13666</c:v>
                </c:pt>
                <c:pt idx="145">
                  <c:v>0.14521999999999999</c:v>
                </c:pt>
                <c:pt idx="146">
                  <c:v>0.13442999999999999</c:v>
                </c:pt>
                <c:pt idx="147">
                  <c:v>0.11705</c:v>
                </c:pt>
                <c:pt idx="148">
                  <c:v>0.13816999999999999</c:v>
                </c:pt>
                <c:pt idx="149">
                  <c:v>0.12705</c:v>
                </c:pt>
                <c:pt idx="150">
                  <c:v>0.12801000000000001</c:v>
                </c:pt>
                <c:pt idx="151">
                  <c:v>0.12169000000000001</c:v>
                </c:pt>
                <c:pt idx="152">
                  <c:v>0.12128</c:v>
                </c:pt>
                <c:pt idx="153">
                  <c:v>0.13028000000000001</c:v>
                </c:pt>
                <c:pt idx="154">
                  <c:v>0.11466999999999999</c:v>
                </c:pt>
                <c:pt idx="155">
                  <c:v>0.12286</c:v>
                </c:pt>
                <c:pt idx="156">
                  <c:v>0.14274999999999999</c:v>
                </c:pt>
                <c:pt idx="157">
                  <c:v>0.1366</c:v>
                </c:pt>
                <c:pt idx="158">
                  <c:v>0.1411</c:v>
                </c:pt>
                <c:pt idx="159">
                  <c:v>0.15772</c:v>
                </c:pt>
                <c:pt idx="160">
                  <c:v>0.16592000000000001</c:v>
                </c:pt>
                <c:pt idx="161">
                  <c:v>0.17712</c:v>
                </c:pt>
                <c:pt idx="162">
                  <c:v>0.17832000000000001</c:v>
                </c:pt>
                <c:pt idx="163">
                  <c:v>0.15772</c:v>
                </c:pt>
                <c:pt idx="164">
                  <c:v>0.14585999999999999</c:v>
                </c:pt>
                <c:pt idx="165">
                  <c:v>0.16102</c:v>
                </c:pt>
                <c:pt idx="166">
                  <c:v>0.18589</c:v>
                </c:pt>
                <c:pt idx="167">
                  <c:v>0.17904</c:v>
                </c:pt>
                <c:pt idx="168">
                  <c:v>0.20063</c:v>
                </c:pt>
                <c:pt idx="169">
                  <c:v>0.23544000000000001</c:v>
                </c:pt>
                <c:pt idx="170">
                  <c:v>0.22083</c:v>
                </c:pt>
                <c:pt idx="171">
                  <c:v>0.20905000000000001</c:v>
                </c:pt>
                <c:pt idx="172">
                  <c:v>0.21659</c:v>
                </c:pt>
                <c:pt idx="173">
                  <c:v>0.22808999999999999</c:v>
                </c:pt>
                <c:pt idx="174">
                  <c:v>0.22775000000000001</c:v>
                </c:pt>
                <c:pt idx="175">
                  <c:v>0.23604</c:v>
                </c:pt>
                <c:pt idx="176">
                  <c:v>0.24024999999999999</c:v>
                </c:pt>
                <c:pt idx="177">
                  <c:v>0.21801000000000001</c:v>
                </c:pt>
                <c:pt idx="178">
                  <c:v>0.19066</c:v>
                </c:pt>
                <c:pt idx="179">
                  <c:v>0.19222</c:v>
                </c:pt>
                <c:pt idx="180">
                  <c:v>0.22184999999999999</c:v>
                </c:pt>
                <c:pt idx="181">
                  <c:v>0.22678999999999999</c:v>
                </c:pt>
                <c:pt idx="182">
                  <c:v>0.21276</c:v>
                </c:pt>
                <c:pt idx="183">
                  <c:v>0.21865000000000001</c:v>
                </c:pt>
                <c:pt idx="184">
                  <c:v>0.22520000000000001</c:v>
                </c:pt>
                <c:pt idx="185">
                  <c:v>0.22031999999999999</c:v>
                </c:pt>
                <c:pt idx="186">
                  <c:v>0.22861000000000001</c:v>
                </c:pt>
                <c:pt idx="187">
                  <c:v>0.23102</c:v>
                </c:pt>
                <c:pt idx="188">
                  <c:v>0.25341999999999998</c:v>
                </c:pt>
                <c:pt idx="189">
                  <c:v>0.26025999999999999</c:v>
                </c:pt>
                <c:pt idx="190">
                  <c:v>0.25175999999999998</c:v>
                </c:pt>
                <c:pt idx="191">
                  <c:v>0.25130000000000002</c:v>
                </c:pt>
                <c:pt idx="192">
                  <c:v>0.25351000000000001</c:v>
                </c:pt>
                <c:pt idx="193">
                  <c:v>0.26844000000000001</c:v>
                </c:pt>
                <c:pt idx="194">
                  <c:v>0.26428000000000001</c:v>
                </c:pt>
                <c:pt idx="195">
                  <c:v>0.24118999999999999</c:v>
                </c:pt>
                <c:pt idx="196">
                  <c:v>0.23296</c:v>
                </c:pt>
                <c:pt idx="197">
                  <c:v>0.23504</c:v>
                </c:pt>
                <c:pt idx="198">
                  <c:v>0.22145999999999999</c:v>
                </c:pt>
                <c:pt idx="199">
                  <c:v>0.21124000000000001</c:v>
                </c:pt>
                <c:pt idx="200">
                  <c:v>0.21093000000000001</c:v>
                </c:pt>
                <c:pt idx="201">
                  <c:v>0.21501999999999999</c:v>
                </c:pt>
                <c:pt idx="202">
                  <c:v>0.21312</c:v>
                </c:pt>
                <c:pt idx="203">
                  <c:v>0.19352</c:v>
                </c:pt>
                <c:pt idx="204">
                  <c:v>0.22574</c:v>
                </c:pt>
                <c:pt idx="205">
                  <c:v>0.20046</c:v>
                </c:pt>
                <c:pt idx="206">
                  <c:v>0.18178</c:v>
                </c:pt>
                <c:pt idx="207">
                  <c:v>0.17668</c:v>
                </c:pt>
                <c:pt idx="208">
                  <c:v>0.19353999999999999</c:v>
                </c:pt>
                <c:pt idx="209">
                  <c:v>0.1636</c:v>
                </c:pt>
                <c:pt idx="210">
                  <c:v>0.15201999999999999</c:v>
                </c:pt>
              </c:numCache>
            </c:numRef>
          </c:val>
          <c:extLst>
            <c:ext xmlns:c16="http://schemas.microsoft.com/office/drawing/2014/chart" uri="{C3380CC4-5D6E-409C-BE32-E72D297353CC}">
              <c16:uniqueId val="{00000002-423A-44AC-9604-7967E678A370}"/>
            </c:ext>
          </c:extLst>
        </c:ser>
        <c:ser>
          <c:idx val="3"/>
          <c:order val="3"/>
          <c:tx>
            <c:strRef>
              <c:f>Sheet1!$E$1</c:f>
              <c:strCache>
                <c:ptCount val="1"/>
                <c:pt idx="0">
                  <c:v>XGBoost</c:v>
                </c:pt>
              </c:strCache>
            </c:strRef>
          </c:tx>
          <c:spPr>
            <a:solidFill>
              <a:schemeClr val="accent5"/>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Sheet1!$E$2:$E$212</c:f>
              <c:numCache>
                <c:formatCode>General</c:formatCode>
                <c:ptCount val="211"/>
                <c:pt idx="0">
                  <c:v>9.5810000000000006E-2</c:v>
                </c:pt>
                <c:pt idx="1">
                  <c:v>7.8369999999999995E-2</c:v>
                </c:pt>
                <c:pt idx="2">
                  <c:v>8.1159999999999996E-2</c:v>
                </c:pt>
                <c:pt idx="3">
                  <c:v>9.0480000000000005E-2</c:v>
                </c:pt>
                <c:pt idx="4">
                  <c:v>0.10963000000000001</c:v>
                </c:pt>
                <c:pt idx="5">
                  <c:v>0.12288</c:v>
                </c:pt>
                <c:pt idx="6">
                  <c:v>9.6000000000000002E-2</c:v>
                </c:pt>
                <c:pt idx="7">
                  <c:v>9.4119999999999995E-2</c:v>
                </c:pt>
                <c:pt idx="8">
                  <c:v>0.10735</c:v>
                </c:pt>
                <c:pt idx="9">
                  <c:v>0.10792</c:v>
                </c:pt>
                <c:pt idx="10">
                  <c:v>0.10498</c:v>
                </c:pt>
                <c:pt idx="11">
                  <c:v>0.10732</c:v>
                </c:pt>
                <c:pt idx="12">
                  <c:v>0.11650000000000001</c:v>
                </c:pt>
                <c:pt idx="13">
                  <c:v>9.7780000000000006E-2</c:v>
                </c:pt>
                <c:pt idx="14">
                  <c:v>8.0740000000000006E-2</c:v>
                </c:pt>
                <c:pt idx="15">
                  <c:v>8.8770000000000002E-2</c:v>
                </c:pt>
                <c:pt idx="16">
                  <c:v>8.695E-2</c:v>
                </c:pt>
                <c:pt idx="17">
                  <c:v>0.10414</c:v>
                </c:pt>
                <c:pt idx="18">
                  <c:v>0.11129</c:v>
                </c:pt>
                <c:pt idx="19">
                  <c:v>0.11286</c:v>
                </c:pt>
                <c:pt idx="20">
                  <c:v>9.7869999999999999E-2</c:v>
                </c:pt>
                <c:pt idx="21">
                  <c:v>9.103E-2</c:v>
                </c:pt>
                <c:pt idx="22">
                  <c:v>8.0259999999999998E-2</c:v>
                </c:pt>
                <c:pt idx="23">
                  <c:v>8.9380000000000001E-2</c:v>
                </c:pt>
                <c:pt idx="24">
                  <c:v>0.10359</c:v>
                </c:pt>
                <c:pt idx="25">
                  <c:v>0.1011</c:v>
                </c:pt>
                <c:pt idx="26">
                  <c:v>9.8470000000000002E-2</c:v>
                </c:pt>
                <c:pt idx="27">
                  <c:v>9.8390000000000005E-2</c:v>
                </c:pt>
                <c:pt idx="28">
                  <c:v>0.10702</c:v>
                </c:pt>
                <c:pt idx="29">
                  <c:v>0.12202</c:v>
                </c:pt>
                <c:pt idx="30">
                  <c:v>0.10846</c:v>
                </c:pt>
                <c:pt idx="31">
                  <c:v>0.10691000000000001</c:v>
                </c:pt>
                <c:pt idx="32">
                  <c:v>0.10914</c:v>
                </c:pt>
                <c:pt idx="33">
                  <c:v>0.108</c:v>
                </c:pt>
                <c:pt idx="34">
                  <c:v>0.12908</c:v>
                </c:pt>
                <c:pt idx="35">
                  <c:v>0.10829</c:v>
                </c:pt>
                <c:pt idx="36">
                  <c:v>0.10902000000000001</c:v>
                </c:pt>
                <c:pt idx="37">
                  <c:v>0.1091</c:v>
                </c:pt>
                <c:pt idx="38">
                  <c:v>0.10105</c:v>
                </c:pt>
                <c:pt idx="39">
                  <c:v>0.11137</c:v>
                </c:pt>
                <c:pt idx="40">
                  <c:v>0.11291</c:v>
                </c:pt>
                <c:pt idx="41">
                  <c:v>0.13700000000000001</c:v>
                </c:pt>
                <c:pt idx="42">
                  <c:v>0.13122</c:v>
                </c:pt>
                <c:pt idx="43">
                  <c:v>0.11104</c:v>
                </c:pt>
                <c:pt idx="44">
                  <c:v>8.2159999999999997E-2</c:v>
                </c:pt>
                <c:pt idx="45">
                  <c:v>6.7369999999999999E-2</c:v>
                </c:pt>
                <c:pt idx="46">
                  <c:v>6.7449999999999996E-2</c:v>
                </c:pt>
                <c:pt idx="47">
                  <c:v>8.4349999999999994E-2</c:v>
                </c:pt>
                <c:pt idx="48">
                  <c:v>9.2670000000000002E-2</c:v>
                </c:pt>
                <c:pt idx="49">
                  <c:v>0.10342</c:v>
                </c:pt>
                <c:pt idx="50">
                  <c:v>0.10834000000000001</c:v>
                </c:pt>
                <c:pt idx="51">
                  <c:v>0.11613</c:v>
                </c:pt>
                <c:pt idx="52">
                  <c:v>0.12731999999999999</c:v>
                </c:pt>
                <c:pt idx="53">
                  <c:v>0.12479</c:v>
                </c:pt>
                <c:pt idx="54">
                  <c:v>0.10680000000000001</c:v>
                </c:pt>
                <c:pt idx="55">
                  <c:v>0.11105</c:v>
                </c:pt>
                <c:pt idx="56">
                  <c:v>0.1206</c:v>
                </c:pt>
                <c:pt idx="57">
                  <c:v>0.10920000000000001</c:v>
                </c:pt>
                <c:pt idx="58">
                  <c:v>0.11962</c:v>
                </c:pt>
                <c:pt idx="59">
                  <c:v>0.10854</c:v>
                </c:pt>
                <c:pt idx="60">
                  <c:v>0.12174</c:v>
                </c:pt>
                <c:pt idx="61">
                  <c:v>0.10891000000000001</c:v>
                </c:pt>
                <c:pt idx="62">
                  <c:v>9.5159999999999995E-2</c:v>
                </c:pt>
                <c:pt idx="63">
                  <c:v>9.289E-2</c:v>
                </c:pt>
                <c:pt idx="64">
                  <c:v>9.8780000000000007E-2</c:v>
                </c:pt>
                <c:pt idx="65">
                  <c:v>8.3290000000000003E-2</c:v>
                </c:pt>
                <c:pt idx="66">
                  <c:v>8.0199999999999994E-2</c:v>
                </c:pt>
                <c:pt idx="67">
                  <c:v>7.5620000000000007E-2</c:v>
                </c:pt>
                <c:pt idx="68">
                  <c:v>8.3650000000000002E-2</c:v>
                </c:pt>
                <c:pt idx="69">
                  <c:v>7.6369999999999993E-2</c:v>
                </c:pt>
                <c:pt idx="70">
                  <c:v>7.3349999999999999E-2</c:v>
                </c:pt>
                <c:pt idx="71">
                  <c:v>7.6569999999999999E-2</c:v>
                </c:pt>
                <c:pt idx="72">
                  <c:v>7.6960000000000001E-2</c:v>
                </c:pt>
                <c:pt idx="73">
                  <c:v>7.3770000000000002E-2</c:v>
                </c:pt>
                <c:pt idx="74">
                  <c:v>8.1309999999999993E-2</c:v>
                </c:pt>
                <c:pt idx="75">
                  <c:v>7.9149999999999998E-2</c:v>
                </c:pt>
                <c:pt idx="76">
                  <c:v>7.6730000000000007E-2</c:v>
                </c:pt>
                <c:pt idx="77">
                  <c:v>7.7759999999999996E-2</c:v>
                </c:pt>
                <c:pt idx="78">
                  <c:v>7.7160000000000006E-2</c:v>
                </c:pt>
                <c:pt idx="79">
                  <c:v>7.0819999999999994E-2</c:v>
                </c:pt>
                <c:pt idx="80">
                  <c:v>7.8539999999999999E-2</c:v>
                </c:pt>
                <c:pt idx="81">
                  <c:v>7.2510000000000005E-2</c:v>
                </c:pt>
                <c:pt idx="82">
                  <c:v>6.794E-2</c:v>
                </c:pt>
                <c:pt idx="83">
                  <c:v>6.905E-2</c:v>
                </c:pt>
                <c:pt idx="84">
                  <c:v>6.0170000000000001E-2</c:v>
                </c:pt>
                <c:pt idx="85">
                  <c:v>7.0879999999999999E-2</c:v>
                </c:pt>
                <c:pt idx="86">
                  <c:v>7.5939999999999994E-2</c:v>
                </c:pt>
                <c:pt idx="87">
                  <c:v>8.5300000000000001E-2</c:v>
                </c:pt>
                <c:pt idx="88">
                  <c:v>7.9509999999999997E-2</c:v>
                </c:pt>
                <c:pt idx="89">
                  <c:v>7.9839999999999994E-2</c:v>
                </c:pt>
                <c:pt idx="90">
                  <c:v>7.8710000000000002E-2</c:v>
                </c:pt>
                <c:pt idx="91">
                  <c:v>7.442E-2</c:v>
                </c:pt>
                <c:pt idx="92">
                  <c:v>6.7299999999999999E-2</c:v>
                </c:pt>
                <c:pt idx="93">
                  <c:v>6.5199999999999994E-2</c:v>
                </c:pt>
                <c:pt idx="94">
                  <c:v>7.9100000000000004E-2</c:v>
                </c:pt>
                <c:pt idx="95">
                  <c:v>9.4240000000000004E-2</c:v>
                </c:pt>
                <c:pt idx="96">
                  <c:v>8.2640000000000005E-2</c:v>
                </c:pt>
                <c:pt idx="97">
                  <c:v>9.2359999999999998E-2</c:v>
                </c:pt>
                <c:pt idx="98">
                  <c:v>8.4260000000000002E-2</c:v>
                </c:pt>
                <c:pt idx="99">
                  <c:v>6.8210000000000007E-2</c:v>
                </c:pt>
                <c:pt idx="100">
                  <c:v>6.6570000000000004E-2</c:v>
                </c:pt>
                <c:pt idx="101">
                  <c:v>6.9430000000000006E-2</c:v>
                </c:pt>
                <c:pt idx="102">
                  <c:v>6.3909999999999995E-2</c:v>
                </c:pt>
                <c:pt idx="103">
                  <c:v>5.7950000000000002E-2</c:v>
                </c:pt>
                <c:pt idx="104">
                  <c:v>6.4060000000000006E-2</c:v>
                </c:pt>
                <c:pt idx="105">
                  <c:v>6.5540000000000001E-2</c:v>
                </c:pt>
                <c:pt idx="106">
                  <c:v>6.9949999999999998E-2</c:v>
                </c:pt>
                <c:pt idx="107">
                  <c:v>7.5689999999999993E-2</c:v>
                </c:pt>
                <c:pt idx="108">
                  <c:v>6.1929999999999999E-2</c:v>
                </c:pt>
                <c:pt idx="109">
                  <c:v>6.4140000000000003E-2</c:v>
                </c:pt>
                <c:pt idx="110">
                  <c:v>5.6259999999999998E-2</c:v>
                </c:pt>
                <c:pt idx="111">
                  <c:v>6.4189999999999997E-2</c:v>
                </c:pt>
                <c:pt idx="112">
                  <c:v>7.2849999999999998E-2</c:v>
                </c:pt>
                <c:pt idx="113">
                  <c:v>7.9310000000000005E-2</c:v>
                </c:pt>
                <c:pt idx="114">
                  <c:v>7.8299999999999995E-2</c:v>
                </c:pt>
                <c:pt idx="115">
                  <c:v>9.2289999999999997E-2</c:v>
                </c:pt>
                <c:pt idx="116">
                  <c:v>0.10044</c:v>
                </c:pt>
                <c:pt idx="117">
                  <c:v>0.12243</c:v>
                </c:pt>
                <c:pt idx="118">
                  <c:v>0.10954</c:v>
                </c:pt>
                <c:pt idx="119">
                  <c:v>0.11652999999999999</c:v>
                </c:pt>
                <c:pt idx="120">
                  <c:v>0.12373000000000001</c:v>
                </c:pt>
                <c:pt idx="121">
                  <c:v>0.12659999999999999</c:v>
                </c:pt>
                <c:pt idx="122">
                  <c:v>0.12034</c:v>
                </c:pt>
                <c:pt idx="123">
                  <c:v>0.12207999999999999</c:v>
                </c:pt>
                <c:pt idx="124">
                  <c:v>0.10462</c:v>
                </c:pt>
                <c:pt idx="125">
                  <c:v>0.10693999999999999</c:v>
                </c:pt>
                <c:pt idx="126">
                  <c:v>0.10014000000000001</c:v>
                </c:pt>
                <c:pt idx="127">
                  <c:v>8.6410000000000001E-2</c:v>
                </c:pt>
                <c:pt idx="128">
                  <c:v>8.4909999999999999E-2</c:v>
                </c:pt>
                <c:pt idx="129">
                  <c:v>9.257E-2</c:v>
                </c:pt>
                <c:pt idx="130">
                  <c:v>8.5279999999999995E-2</c:v>
                </c:pt>
                <c:pt idx="131">
                  <c:v>0.10245</c:v>
                </c:pt>
                <c:pt idx="132">
                  <c:v>0.10672</c:v>
                </c:pt>
                <c:pt idx="133">
                  <c:v>0.10684</c:v>
                </c:pt>
                <c:pt idx="134">
                  <c:v>0.13084000000000001</c:v>
                </c:pt>
                <c:pt idx="135">
                  <c:v>0.12327</c:v>
                </c:pt>
                <c:pt idx="136">
                  <c:v>0.12792999999999999</c:v>
                </c:pt>
                <c:pt idx="137">
                  <c:v>0.1231</c:v>
                </c:pt>
                <c:pt idx="138">
                  <c:v>0.12578</c:v>
                </c:pt>
                <c:pt idx="139">
                  <c:v>0.12402000000000001</c:v>
                </c:pt>
                <c:pt idx="140">
                  <c:v>0.10310999999999999</c:v>
                </c:pt>
                <c:pt idx="141">
                  <c:v>9.7470000000000001E-2</c:v>
                </c:pt>
                <c:pt idx="142">
                  <c:v>9.2420000000000002E-2</c:v>
                </c:pt>
                <c:pt idx="143">
                  <c:v>8.7429999999999994E-2</c:v>
                </c:pt>
                <c:pt idx="144">
                  <c:v>8.4559999999999996E-2</c:v>
                </c:pt>
                <c:pt idx="145">
                  <c:v>8.2949999999999996E-2</c:v>
                </c:pt>
                <c:pt idx="146">
                  <c:v>9.0109999999999996E-2</c:v>
                </c:pt>
                <c:pt idx="147">
                  <c:v>7.2429999999999994E-2</c:v>
                </c:pt>
                <c:pt idx="148">
                  <c:v>7.2859999999999994E-2</c:v>
                </c:pt>
                <c:pt idx="149">
                  <c:v>8.516E-2</c:v>
                </c:pt>
                <c:pt idx="150">
                  <c:v>9.2950000000000005E-2</c:v>
                </c:pt>
                <c:pt idx="151">
                  <c:v>9.5729999999999996E-2</c:v>
                </c:pt>
                <c:pt idx="152">
                  <c:v>0.11196</c:v>
                </c:pt>
                <c:pt idx="153">
                  <c:v>0.12026000000000001</c:v>
                </c:pt>
                <c:pt idx="154">
                  <c:v>0.13457</c:v>
                </c:pt>
                <c:pt idx="155">
                  <c:v>0.13309000000000001</c:v>
                </c:pt>
                <c:pt idx="156">
                  <c:v>0.15464</c:v>
                </c:pt>
                <c:pt idx="157">
                  <c:v>0.14798</c:v>
                </c:pt>
                <c:pt idx="158">
                  <c:v>0.1411</c:v>
                </c:pt>
                <c:pt idx="159">
                  <c:v>0.15772</c:v>
                </c:pt>
                <c:pt idx="160">
                  <c:v>0.15317</c:v>
                </c:pt>
                <c:pt idx="161">
                  <c:v>0.13933000000000001</c:v>
                </c:pt>
                <c:pt idx="162">
                  <c:v>0.14027000000000001</c:v>
                </c:pt>
                <c:pt idx="163">
                  <c:v>0.14559</c:v>
                </c:pt>
                <c:pt idx="164">
                  <c:v>0.14585999999999999</c:v>
                </c:pt>
                <c:pt idx="165">
                  <c:v>0.16102</c:v>
                </c:pt>
                <c:pt idx="166">
                  <c:v>0.14623</c:v>
                </c:pt>
                <c:pt idx="167">
                  <c:v>0.13000999999999999</c:v>
                </c:pt>
                <c:pt idx="168">
                  <c:v>0.14568999999999999</c:v>
                </c:pt>
                <c:pt idx="169">
                  <c:v>0.15781999999999999</c:v>
                </c:pt>
                <c:pt idx="170">
                  <c:v>0.16034999999999999</c:v>
                </c:pt>
                <c:pt idx="171">
                  <c:v>0.16445000000000001</c:v>
                </c:pt>
                <c:pt idx="172">
                  <c:v>0.17038</c:v>
                </c:pt>
                <c:pt idx="173">
                  <c:v>0.17942</c:v>
                </c:pt>
                <c:pt idx="174">
                  <c:v>0.17915</c:v>
                </c:pt>
                <c:pt idx="175">
                  <c:v>0.15822</c:v>
                </c:pt>
                <c:pt idx="176">
                  <c:v>0.17446</c:v>
                </c:pt>
                <c:pt idx="177">
                  <c:v>0.20125000000000001</c:v>
                </c:pt>
                <c:pt idx="178">
                  <c:v>0.20654</c:v>
                </c:pt>
                <c:pt idx="179">
                  <c:v>0.19222</c:v>
                </c:pt>
                <c:pt idx="180">
                  <c:v>0.20480000000000001</c:v>
                </c:pt>
                <c:pt idx="181">
                  <c:v>0.19325999999999999</c:v>
                </c:pt>
                <c:pt idx="182">
                  <c:v>0.21276</c:v>
                </c:pt>
                <c:pt idx="183">
                  <c:v>0.21865000000000001</c:v>
                </c:pt>
                <c:pt idx="184">
                  <c:v>0.19189999999999999</c:v>
                </c:pt>
                <c:pt idx="185">
                  <c:v>0.18773999999999999</c:v>
                </c:pt>
                <c:pt idx="186">
                  <c:v>0.17982999999999999</c:v>
                </c:pt>
                <c:pt idx="187">
                  <c:v>0.16775999999999999</c:v>
                </c:pt>
                <c:pt idx="188">
                  <c:v>0.16986999999999999</c:v>
                </c:pt>
                <c:pt idx="189">
                  <c:v>0.16103999999999999</c:v>
                </c:pt>
                <c:pt idx="190">
                  <c:v>0.19803999999999999</c:v>
                </c:pt>
                <c:pt idx="191">
                  <c:v>0.21415000000000001</c:v>
                </c:pt>
                <c:pt idx="192">
                  <c:v>0.23402000000000001</c:v>
                </c:pt>
                <c:pt idx="193">
                  <c:v>0.24779999999999999</c:v>
                </c:pt>
                <c:pt idx="194">
                  <c:v>0.26428000000000001</c:v>
                </c:pt>
                <c:pt idx="195">
                  <c:v>0.26128000000000001</c:v>
                </c:pt>
                <c:pt idx="196">
                  <c:v>0.25235999999999997</c:v>
                </c:pt>
                <c:pt idx="197">
                  <c:v>0.27582000000000001</c:v>
                </c:pt>
                <c:pt idx="198">
                  <c:v>0.28153</c:v>
                </c:pt>
                <c:pt idx="199">
                  <c:v>0.26854</c:v>
                </c:pt>
                <c:pt idx="200">
                  <c:v>0.26813999999999999</c:v>
                </c:pt>
                <c:pt idx="201">
                  <c:v>0.25233</c:v>
                </c:pt>
                <c:pt idx="202">
                  <c:v>0.23086999999999999</c:v>
                </c:pt>
                <c:pt idx="203">
                  <c:v>0.2271</c:v>
                </c:pt>
                <c:pt idx="204">
                  <c:v>0.19236</c:v>
                </c:pt>
                <c:pt idx="205">
                  <c:v>0.20046</c:v>
                </c:pt>
                <c:pt idx="206">
                  <c:v>0.19692000000000001</c:v>
                </c:pt>
                <c:pt idx="207">
                  <c:v>0.19139999999999999</c:v>
                </c:pt>
                <c:pt idx="208">
                  <c:v>0.24603</c:v>
                </c:pt>
                <c:pt idx="209">
                  <c:v>0.24406</c:v>
                </c:pt>
                <c:pt idx="210">
                  <c:v>0.26613999999999999</c:v>
                </c:pt>
              </c:numCache>
            </c:numRef>
          </c:val>
          <c:extLst>
            <c:ext xmlns:c16="http://schemas.microsoft.com/office/drawing/2014/chart" uri="{C3380CC4-5D6E-409C-BE32-E72D297353CC}">
              <c16:uniqueId val="{00000003-423A-44AC-9604-7967E678A370}"/>
            </c:ext>
          </c:extLst>
        </c:ser>
        <c:ser>
          <c:idx val="4"/>
          <c:order val="4"/>
          <c:tx>
            <c:strRef>
              <c:f>Sheet1!$F$1</c:f>
              <c:strCache>
                <c:ptCount val="1"/>
                <c:pt idx="0">
                  <c:v>SVM</c:v>
                </c:pt>
              </c:strCache>
            </c:strRef>
          </c:tx>
          <c:spPr>
            <a:solidFill>
              <a:schemeClr val="tx2"/>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Sheet1!$F$2:$F$212</c:f>
              <c:numCache>
                <c:formatCode>General</c:formatCode>
                <c:ptCount val="211"/>
                <c:pt idx="0">
                  <c:v>9.5810000000000006E-2</c:v>
                </c:pt>
                <c:pt idx="1">
                  <c:v>0.11692</c:v>
                </c:pt>
                <c:pt idx="2">
                  <c:v>8.7919999999999998E-2</c:v>
                </c:pt>
                <c:pt idx="3">
                  <c:v>9.801E-2</c:v>
                </c:pt>
                <c:pt idx="4">
                  <c:v>9.3420000000000003E-2</c:v>
                </c:pt>
                <c:pt idx="5">
                  <c:v>8.9230000000000004E-2</c:v>
                </c:pt>
                <c:pt idx="6">
                  <c:v>0.11265</c:v>
                </c:pt>
                <c:pt idx="7">
                  <c:v>9.4119999999999995E-2</c:v>
                </c:pt>
                <c:pt idx="8">
                  <c:v>7.7950000000000005E-2</c:v>
                </c:pt>
                <c:pt idx="9">
                  <c:v>8.4889999999999993E-2</c:v>
                </c:pt>
                <c:pt idx="10">
                  <c:v>8.2580000000000001E-2</c:v>
                </c:pt>
                <c:pt idx="11">
                  <c:v>8.4419999999999995E-2</c:v>
                </c:pt>
                <c:pt idx="12">
                  <c:v>7.8090000000000007E-2</c:v>
                </c:pt>
                <c:pt idx="13">
                  <c:v>8.3320000000000005E-2</c:v>
                </c:pt>
                <c:pt idx="14">
                  <c:v>8.7459999999999996E-2</c:v>
                </c:pt>
                <c:pt idx="15">
                  <c:v>9.6170000000000005E-2</c:v>
                </c:pt>
                <c:pt idx="16">
                  <c:v>0.10204000000000001</c:v>
                </c:pt>
                <c:pt idx="17">
                  <c:v>9.6140000000000003E-2</c:v>
                </c:pt>
                <c:pt idx="18">
                  <c:v>8.7540000000000007E-2</c:v>
                </c:pt>
                <c:pt idx="19">
                  <c:v>8.8779999999999998E-2</c:v>
                </c:pt>
                <c:pt idx="20">
                  <c:v>0.10602</c:v>
                </c:pt>
                <c:pt idx="21">
                  <c:v>0.11572</c:v>
                </c:pt>
                <c:pt idx="22">
                  <c:v>0.12970999999999999</c:v>
                </c:pt>
                <c:pt idx="23">
                  <c:v>0.12309</c:v>
                </c:pt>
                <c:pt idx="24">
                  <c:v>0.11222</c:v>
                </c:pt>
                <c:pt idx="25">
                  <c:v>0.10952000000000001</c:v>
                </c:pt>
                <c:pt idx="26">
                  <c:v>0.10667</c:v>
                </c:pt>
                <c:pt idx="27">
                  <c:v>9.0819999999999998E-2</c:v>
                </c:pt>
                <c:pt idx="28">
                  <c:v>9.8790000000000003E-2</c:v>
                </c:pt>
                <c:pt idx="29">
                  <c:v>0.10398</c:v>
                </c:pt>
                <c:pt idx="30">
                  <c:v>0.11749</c:v>
                </c:pt>
                <c:pt idx="31">
                  <c:v>0.13591</c:v>
                </c:pt>
                <c:pt idx="32">
                  <c:v>0.11823</c:v>
                </c:pt>
                <c:pt idx="33">
                  <c:v>9.9699999999999997E-2</c:v>
                </c:pt>
                <c:pt idx="34">
                  <c:v>9.3729999999999994E-2</c:v>
                </c:pt>
                <c:pt idx="35">
                  <c:v>0.1173</c:v>
                </c:pt>
                <c:pt idx="36">
                  <c:v>0.15014</c:v>
                </c:pt>
                <c:pt idx="37">
                  <c:v>0.15024999999999999</c:v>
                </c:pt>
                <c:pt idx="38">
                  <c:v>0.13916000000000001</c:v>
                </c:pt>
                <c:pt idx="39">
                  <c:v>0.12064999999999999</c:v>
                </c:pt>
                <c:pt idx="40">
                  <c:v>0.13250000000000001</c:v>
                </c:pt>
                <c:pt idx="41">
                  <c:v>0.13700000000000001</c:v>
                </c:pt>
                <c:pt idx="42">
                  <c:v>0.13122</c:v>
                </c:pt>
                <c:pt idx="43">
                  <c:v>0.15292</c:v>
                </c:pt>
                <c:pt idx="44">
                  <c:v>0.15581</c:v>
                </c:pt>
                <c:pt idx="45">
                  <c:v>0.14993000000000001</c:v>
                </c:pt>
                <c:pt idx="46">
                  <c:v>0.13857</c:v>
                </c:pt>
                <c:pt idx="47">
                  <c:v>0.12584000000000001</c:v>
                </c:pt>
                <c:pt idx="48">
                  <c:v>0.12761</c:v>
                </c:pt>
                <c:pt idx="49">
                  <c:v>0.10342</c:v>
                </c:pt>
                <c:pt idx="50">
                  <c:v>0.10834000000000001</c:v>
                </c:pt>
                <c:pt idx="51">
                  <c:v>7.7840000000000006E-2</c:v>
                </c:pt>
                <c:pt idx="52">
                  <c:v>8.5349999999999995E-2</c:v>
                </c:pt>
                <c:pt idx="53">
                  <c:v>8.3650000000000002E-2</c:v>
                </c:pt>
                <c:pt idx="54">
                  <c:v>8.4010000000000001E-2</c:v>
                </c:pt>
                <c:pt idx="55">
                  <c:v>8.7359999999999993E-2</c:v>
                </c:pt>
                <c:pt idx="56">
                  <c:v>8.0839999999999995E-2</c:v>
                </c:pt>
                <c:pt idx="57">
                  <c:v>8.5900000000000004E-2</c:v>
                </c:pt>
                <c:pt idx="58">
                  <c:v>9.4100000000000003E-2</c:v>
                </c:pt>
                <c:pt idx="59">
                  <c:v>9.2490000000000003E-2</c:v>
                </c:pt>
                <c:pt idx="60">
                  <c:v>8.8400000000000006E-2</c:v>
                </c:pt>
                <c:pt idx="61">
                  <c:v>8.5669999999999996E-2</c:v>
                </c:pt>
                <c:pt idx="62">
                  <c:v>9.5159999999999995E-2</c:v>
                </c:pt>
                <c:pt idx="63">
                  <c:v>7.9149999999999998E-2</c:v>
                </c:pt>
                <c:pt idx="64">
                  <c:v>9.1189999999999993E-2</c:v>
                </c:pt>
                <c:pt idx="65">
                  <c:v>7.689E-2</c:v>
                </c:pt>
                <c:pt idx="66">
                  <c:v>6.8339999999999998E-2</c:v>
                </c:pt>
                <c:pt idx="67">
                  <c:v>6.9809999999999997E-2</c:v>
                </c:pt>
                <c:pt idx="68">
                  <c:v>7.7219999999999997E-2</c:v>
                </c:pt>
                <c:pt idx="69">
                  <c:v>8.9620000000000005E-2</c:v>
                </c:pt>
                <c:pt idx="70">
                  <c:v>8.6080000000000004E-2</c:v>
                </c:pt>
                <c:pt idx="71">
                  <c:v>8.2949999999999996E-2</c:v>
                </c:pt>
                <c:pt idx="72">
                  <c:v>9.0310000000000001E-2</c:v>
                </c:pt>
                <c:pt idx="73">
                  <c:v>9.3780000000000002E-2</c:v>
                </c:pt>
                <c:pt idx="74">
                  <c:v>0.10335999999999999</c:v>
                </c:pt>
                <c:pt idx="75">
                  <c:v>0.10899</c:v>
                </c:pt>
                <c:pt idx="76">
                  <c:v>0.10567</c:v>
                </c:pt>
                <c:pt idx="77">
                  <c:v>0.10709</c:v>
                </c:pt>
                <c:pt idx="78">
                  <c:v>0.11512</c:v>
                </c:pt>
                <c:pt idx="79">
                  <c:v>0.11446000000000001</c:v>
                </c:pt>
                <c:pt idx="80">
                  <c:v>0.10816000000000001</c:v>
                </c:pt>
                <c:pt idx="81">
                  <c:v>9.2170000000000002E-2</c:v>
                </c:pt>
                <c:pt idx="82">
                  <c:v>9.3560000000000004E-2</c:v>
                </c:pt>
                <c:pt idx="83">
                  <c:v>8.7779999999999997E-2</c:v>
                </c:pt>
                <c:pt idx="84">
                  <c:v>9.7239999999999993E-2</c:v>
                </c:pt>
                <c:pt idx="85">
                  <c:v>7.6789999999999997E-2</c:v>
                </c:pt>
                <c:pt idx="86">
                  <c:v>6.4710000000000004E-2</c:v>
                </c:pt>
                <c:pt idx="87">
                  <c:v>6.7100000000000007E-2</c:v>
                </c:pt>
                <c:pt idx="88">
                  <c:v>6.2539999999999998E-2</c:v>
                </c:pt>
                <c:pt idx="89">
                  <c:v>6.2810000000000005E-2</c:v>
                </c:pt>
                <c:pt idx="90">
                  <c:v>6.7070000000000005E-2</c:v>
                </c:pt>
                <c:pt idx="91">
                  <c:v>6.3420000000000004E-2</c:v>
                </c:pt>
                <c:pt idx="92">
                  <c:v>6.7299999999999999E-2</c:v>
                </c:pt>
                <c:pt idx="93">
                  <c:v>6.5199999999999994E-2</c:v>
                </c:pt>
                <c:pt idx="94">
                  <c:v>5.7439999999999998E-2</c:v>
                </c:pt>
                <c:pt idx="95">
                  <c:v>5.3830000000000003E-2</c:v>
                </c:pt>
                <c:pt idx="96">
                  <c:v>6.0010000000000001E-2</c:v>
                </c:pt>
                <c:pt idx="97">
                  <c:v>6.7070000000000005E-2</c:v>
                </c:pt>
                <c:pt idx="98">
                  <c:v>7.7780000000000002E-2</c:v>
                </c:pt>
                <c:pt idx="99">
                  <c:v>9.393E-2</c:v>
                </c:pt>
                <c:pt idx="100">
                  <c:v>9.9299999999999999E-2</c:v>
                </c:pt>
                <c:pt idx="101">
                  <c:v>0.12155000000000001</c:v>
                </c:pt>
                <c:pt idx="102">
                  <c:v>0.12121</c:v>
                </c:pt>
                <c:pt idx="103">
                  <c:v>0.11905</c:v>
                </c:pt>
                <c:pt idx="104">
                  <c:v>0.10352</c:v>
                </c:pt>
                <c:pt idx="105">
                  <c:v>9.7780000000000006E-2</c:v>
                </c:pt>
                <c:pt idx="106">
                  <c:v>0.11304</c:v>
                </c:pt>
                <c:pt idx="107">
                  <c:v>0.11292000000000001</c:v>
                </c:pt>
                <c:pt idx="108">
                  <c:v>0.12723999999999999</c:v>
                </c:pt>
                <c:pt idx="109">
                  <c:v>0.11229</c:v>
                </c:pt>
                <c:pt idx="110">
                  <c:v>0.12520999999999999</c:v>
                </c:pt>
                <c:pt idx="111">
                  <c:v>0.13188</c:v>
                </c:pt>
                <c:pt idx="112">
                  <c:v>0.11774</c:v>
                </c:pt>
                <c:pt idx="113">
                  <c:v>0.13883999999999999</c:v>
                </c:pt>
                <c:pt idx="114">
                  <c:v>0.10783</c:v>
                </c:pt>
                <c:pt idx="115">
                  <c:v>9.9979999999999999E-2</c:v>
                </c:pt>
                <c:pt idx="116">
                  <c:v>0.10881</c:v>
                </c:pt>
                <c:pt idx="117">
                  <c:v>0.10433000000000001</c:v>
                </c:pt>
                <c:pt idx="118">
                  <c:v>0.11867</c:v>
                </c:pt>
                <c:pt idx="119">
                  <c:v>0.10757</c:v>
                </c:pt>
                <c:pt idx="120">
                  <c:v>0.10544000000000001</c:v>
                </c:pt>
                <c:pt idx="121">
                  <c:v>9.9589999999999998E-2</c:v>
                </c:pt>
                <c:pt idx="122">
                  <c:v>8.7379999999999999E-2</c:v>
                </c:pt>
                <c:pt idx="123">
                  <c:v>8.183E-2</c:v>
                </c:pt>
                <c:pt idx="124">
                  <c:v>7.0129999999999998E-2</c:v>
                </c:pt>
                <c:pt idx="125">
                  <c:v>6.1080000000000002E-2</c:v>
                </c:pt>
                <c:pt idx="126">
                  <c:v>6.7119999999999999E-2</c:v>
                </c:pt>
                <c:pt idx="127">
                  <c:v>6.7970000000000003E-2</c:v>
                </c:pt>
                <c:pt idx="128">
                  <c:v>6.6799999999999998E-2</c:v>
                </c:pt>
                <c:pt idx="129">
                  <c:v>6.7220000000000002E-2</c:v>
                </c:pt>
                <c:pt idx="130">
                  <c:v>7.2669999999999998E-2</c:v>
                </c:pt>
                <c:pt idx="131">
                  <c:v>7.4399999999999994E-2</c:v>
                </c:pt>
                <c:pt idx="132">
                  <c:v>9.0939999999999993E-2</c:v>
                </c:pt>
                <c:pt idx="133">
                  <c:v>0.10684</c:v>
                </c:pt>
                <c:pt idx="134">
                  <c:v>8.77E-2</c:v>
                </c:pt>
                <c:pt idx="135">
                  <c:v>0.10503999999999999</c:v>
                </c:pt>
                <c:pt idx="136">
                  <c:v>0.10901</c:v>
                </c:pt>
                <c:pt idx="137">
                  <c:v>0.10489</c:v>
                </c:pt>
                <c:pt idx="138">
                  <c:v>0.10718</c:v>
                </c:pt>
                <c:pt idx="139">
                  <c:v>0.11448</c:v>
                </c:pt>
                <c:pt idx="140">
                  <c:v>0.121</c:v>
                </c:pt>
                <c:pt idx="141">
                  <c:v>0.11438</c:v>
                </c:pt>
                <c:pt idx="142">
                  <c:v>0.12726999999999999</c:v>
                </c:pt>
                <c:pt idx="143">
                  <c:v>0.13044</c:v>
                </c:pt>
                <c:pt idx="144">
                  <c:v>0.13666</c:v>
                </c:pt>
                <c:pt idx="145">
                  <c:v>0.14521999999999999</c:v>
                </c:pt>
                <c:pt idx="146">
                  <c:v>0.13442999999999999</c:v>
                </c:pt>
                <c:pt idx="147">
                  <c:v>0.1268</c:v>
                </c:pt>
                <c:pt idx="148">
                  <c:v>0.12755</c:v>
                </c:pt>
                <c:pt idx="149">
                  <c:v>0.10826</c:v>
                </c:pt>
                <c:pt idx="150">
                  <c:v>0.10908</c:v>
                </c:pt>
                <c:pt idx="151">
                  <c:v>0.11234</c:v>
                </c:pt>
                <c:pt idx="152">
                  <c:v>0.11196</c:v>
                </c:pt>
                <c:pt idx="153">
                  <c:v>0.11101999999999999</c:v>
                </c:pt>
                <c:pt idx="154">
                  <c:v>0.11466999999999999</c:v>
                </c:pt>
                <c:pt idx="155">
                  <c:v>0.11341</c:v>
                </c:pt>
                <c:pt idx="156">
                  <c:v>8.8330000000000006E-2</c:v>
                </c:pt>
                <c:pt idx="157">
                  <c:v>8.4529999999999994E-2</c:v>
                </c:pt>
                <c:pt idx="158">
                  <c:v>7.4399999999999994E-2</c:v>
                </c:pt>
                <c:pt idx="159">
                  <c:v>8.3159999999999998E-2</c:v>
                </c:pt>
                <c:pt idx="160">
                  <c:v>8.0759999999999998E-2</c:v>
                </c:pt>
                <c:pt idx="161">
                  <c:v>8.6209999999999995E-2</c:v>
                </c:pt>
                <c:pt idx="162">
                  <c:v>0.11033999999999999</c:v>
                </c:pt>
                <c:pt idx="163">
                  <c:v>9.7589999999999996E-2</c:v>
                </c:pt>
                <c:pt idx="164">
                  <c:v>0.11473</c:v>
                </c:pt>
                <c:pt idx="165">
                  <c:v>0.11693000000000001</c:v>
                </c:pt>
                <c:pt idx="166">
                  <c:v>0.10618</c:v>
                </c:pt>
                <c:pt idx="167">
                  <c:v>0.12002</c:v>
                </c:pt>
                <c:pt idx="168">
                  <c:v>9.0149999999999994E-2</c:v>
                </c:pt>
                <c:pt idx="169">
                  <c:v>9.0149999999999994E-2</c:v>
                </c:pt>
                <c:pt idx="170">
                  <c:v>9.9220000000000003E-2</c:v>
                </c:pt>
                <c:pt idx="171">
                  <c:v>9.393E-2</c:v>
                </c:pt>
                <c:pt idx="172">
                  <c:v>0.10543</c:v>
                </c:pt>
                <c:pt idx="173">
                  <c:v>0.11101999999999999</c:v>
                </c:pt>
                <c:pt idx="174">
                  <c:v>0.12009</c:v>
                </c:pt>
                <c:pt idx="175">
                  <c:v>0.13483000000000001</c:v>
                </c:pt>
                <c:pt idx="176">
                  <c:v>0.12667999999999999</c:v>
                </c:pt>
                <c:pt idx="177">
                  <c:v>0.13489999999999999</c:v>
                </c:pt>
                <c:pt idx="178">
                  <c:v>0.12781000000000001</c:v>
                </c:pt>
                <c:pt idx="179">
                  <c:v>0.15121000000000001</c:v>
                </c:pt>
                <c:pt idx="180">
                  <c:v>0.12672</c:v>
                </c:pt>
                <c:pt idx="181">
                  <c:v>0.12953999999999999</c:v>
                </c:pt>
                <c:pt idx="182">
                  <c:v>0.12153</c:v>
                </c:pt>
                <c:pt idx="183">
                  <c:v>0.12489</c:v>
                </c:pt>
                <c:pt idx="184">
                  <c:v>0.12864</c:v>
                </c:pt>
                <c:pt idx="185">
                  <c:v>0.14768000000000001</c:v>
                </c:pt>
                <c:pt idx="186">
                  <c:v>0.16600999999999999</c:v>
                </c:pt>
                <c:pt idx="187">
                  <c:v>0.16775999999999999</c:v>
                </c:pt>
                <c:pt idx="188">
                  <c:v>0.16986999999999999</c:v>
                </c:pt>
                <c:pt idx="189">
                  <c:v>0.17446</c:v>
                </c:pt>
                <c:pt idx="190">
                  <c:v>0.15578</c:v>
                </c:pt>
                <c:pt idx="191">
                  <c:v>0.14355000000000001</c:v>
                </c:pt>
                <c:pt idx="192">
                  <c:v>0.14480999999999999</c:v>
                </c:pt>
                <c:pt idx="193">
                  <c:v>0.15332999999999999</c:v>
                </c:pt>
                <c:pt idx="194">
                  <c:v>0.15096000000000001</c:v>
                </c:pt>
                <c:pt idx="195">
                  <c:v>0.14924999999999999</c:v>
                </c:pt>
                <c:pt idx="196">
                  <c:v>0.16916</c:v>
                </c:pt>
                <c:pt idx="197">
                  <c:v>0.15755</c:v>
                </c:pt>
                <c:pt idx="198">
                  <c:v>0.14845</c:v>
                </c:pt>
                <c:pt idx="199">
                  <c:v>0.15339</c:v>
                </c:pt>
                <c:pt idx="200">
                  <c:v>0.14138999999999999</c:v>
                </c:pt>
                <c:pt idx="201">
                  <c:v>0.13305</c:v>
                </c:pt>
                <c:pt idx="202">
                  <c:v>0.14285999999999999</c:v>
                </c:pt>
                <c:pt idx="203">
                  <c:v>0.15223</c:v>
                </c:pt>
                <c:pt idx="204">
                  <c:v>0.16392000000000001</c:v>
                </c:pt>
                <c:pt idx="205">
                  <c:v>0.15769</c:v>
                </c:pt>
                <c:pt idx="206">
                  <c:v>0.16780999999999999</c:v>
                </c:pt>
                <c:pt idx="207">
                  <c:v>0.17668</c:v>
                </c:pt>
                <c:pt idx="208">
                  <c:v>0.16492000000000001</c:v>
                </c:pt>
                <c:pt idx="209">
                  <c:v>0.17721999999999999</c:v>
                </c:pt>
                <c:pt idx="210">
                  <c:v>0.1784</c:v>
                </c:pt>
              </c:numCache>
            </c:numRef>
          </c:val>
          <c:extLst>
            <c:ext xmlns:c16="http://schemas.microsoft.com/office/drawing/2014/chart" uri="{C3380CC4-5D6E-409C-BE32-E72D297353CC}">
              <c16:uniqueId val="{00000004-423A-44AC-9604-7967E678A370}"/>
            </c:ext>
          </c:extLst>
        </c:ser>
        <c:ser>
          <c:idx val="5"/>
          <c:order val="5"/>
          <c:tx>
            <c:strRef>
              <c:f>Sheet1!$G$1</c:f>
              <c:strCache>
                <c:ptCount val="1"/>
                <c:pt idx="0">
                  <c:v>KNN</c:v>
                </c:pt>
              </c:strCache>
            </c:strRef>
          </c:tx>
          <c:spPr>
            <a:solidFill>
              <a:schemeClr val="accent3"/>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Sheet1!$G$2:$G$212</c:f>
              <c:numCache>
                <c:formatCode>General</c:formatCode>
                <c:ptCount val="211"/>
                <c:pt idx="0">
                  <c:v>0.23099</c:v>
                </c:pt>
                <c:pt idx="1">
                  <c:v>0.26019999999999999</c:v>
                </c:pt>
                <c:pt idx="2">
                  <c:v>0.24873000000000001</c:v>
                </c:pt>
                <c:pt idx="3">
                  <c:v>0.21812999999999999</c:v>
                </c:pt>
                <c:pt idx="4">
                  <c:v>0.19192999999999999</c:v>
                </c:pt>
                <c:pt idx="5">
                  <c:v>0.21512000000000001</c:v>
                </c:pt>
                <c:pt idx="6">
                  <c:v>0.27160000000000001</c:v>
                </c:pt>
                <c:pt idx="7">
                  <c:v>0.36671999999999999</c:v>
                </c:pt>
                <c:pt idx="8">
                  <c:v>0.38607999999999998</c:v>
                </c:pt>
                <c:pt idx="9">
                  <c:v>0.35830000000000001</c:v>
                </c:pt>
                <c:pt idx="10">
                  <c:v>0.37756000000000001</c:v>
                </c:pt>
                <c:pt idx="11">
                  <c:v>0.35631000000000002</c:v>
                </c:pt>
                <c:pt idx="12">
                  <c:v>0.32958999999999999</c:v>
                </c:pt>
                <c:pt idx="13">
                  <c:v>0.35167999999999999</c:v>
                </c:pt>
                <c:pt idx="14">
                  <c:v>0.36914000000000002</c:v>
                </c:pt>
                <c:pt idx="15">
                  <c:v>0.31929000000000002</c:v>
                </c:pt>
                <c:pt idx="16">
                  <c:v>0.31273000000000001</c:v>
                </c:pt>
                <c:pt idx="17">
                  <c:v>0.27199000000000001</c:v>
                </c:pt>
                <c:pt idx="18">
                  <c:v>0.31485999999999997</c:v>
                </c:pt>
                <c:pt idx="19">
                  <c:v>0.31929000000000002</c:v>
                </c:pt>
                <c:pt idx="20">
                  <c:v>0.32491999999999999</c:v>
                </c:pt>
                <c:pt idx="21">
                  <c:v>0.32739000000000001</c:v>
                </c:pt>
                <c:pt idx="22">
                  <c:v>0.36697000000000002</c:v>
                </c:pt>
                <c:pt idx="23">
                  <c:v>0.37724999999999997</c:v>
                </c:pt>
                <c:pt idx="24">
                  <c:v>0.3175</c:v>
                </c:pt>
                <c:pt idx="25">
                  <c:v>0.33567000000000002</c:v>
                </c:pt>
                <c:pt idx="26">
                  <c:v>0.35415999999999997</c:v>
                </c:pt>
                <c:pt idx="27">
                  <c:v>0.38334000000000001</c:v>
                </c:pt>
                <c:pt idx="28">
                  <c:v>0.38491999999999998</c:v>
                </c:pt>
                <c:pt idx="29">
                  <c:v>0.31867000000000001</c:v>
                </c:pt>
                <c:pt idx="30">
                  <c:v>0.33240999999999998</c:v>
                </c:pt>
                <c:pt idx="31">
                  <c:v>0.32766000000000001</c:v>
                </c:pt>
                <c:pt idx="32">
                  <c:v>0.39255000000000001</c:v>
                </c:pt>
                <c:pt idx="33">
                  <c:v>0.42079</c:v>
                </c:pt>
                <c:pt idx="34">
                  <c:v>0.39560000000000001</c:v>
                </c:pt>
                <c:pt idx="35">
                  <c:v>0.4219</c:v>
                </c:pt>
                <c:pt idx="36">
                  <c:v>0.36197000000000001</c:v>
                </c:pt>
                <c:pt idx="37">
                  <c:v>0.33438000000000001</c:v>
                </c:pt>
                <c:pt idx="38">
                  <c:v>0.39371</c:v>
                </c:pt>
                <c:pt idx="39">
                  <c:v>0.40056000000000003</c:v>
                </c:pt>
                <c:pt idx="40">
                  <c:v>0.37487999999999999</c:v>
                </c:pt>
                <c:pt idx="41">
                  <c:v>0.35780000000000001</c:v>
                </c:pt>
                <c:pt idx="42">
                  <c:v>0.3427</c:v>
                </c:pt>
                <c:pt idx="43">
                  <c:v>0.36868000000000001</c:v>
                </c:pt>
                <c:pt idx="44">
                  <c:v>0.40694000000000002</c:v>
                </c:pt>
                <c:pt idx="45">
                  <c:v>0.42416999999999999</c:v>
                </c:pt>
                <c:pt idx="46">
                  <c:v>0.39205000000000001</c:v>
                </c:pt>
                <c:pt idx="47">
                  <c:v>0.30337999999999998</c:v>
                </c:pt>
                <c:pt idx="48">
                  <c:v>0.26217000000000001</c:v>
                </c:pt>
                <c:pt idx="49">
                  <c:v>0.21248</c:v>
                </c:pt>
                <c:pt idx="50">
                  <c:v>0.22258</c:v>
                </c:pt>
                <c:pt idx="51">
                  <c:v>0.22023000000000001</c:v>
                </c:pt>
                <c:pt idx="52">
                  <c:v>0.20576</c:v>
                </c:pt>
                <c:pt idx="53">
                  <c:v>0.25638</c:v>
                </c:pt>
                <c:pt idx="54">
                  <c:v>0.27892</c:v>
                </c:pt>
                <c:pt idx="55">
                  <c:v>0.24715999999999999</c:v>
                </c:pt>
                <c:pt idx="56">
                  <c:v>0.22872000000000001</c:v>
                </c:pt>
                <c:pt idx="57">
                  <c:v>0.20709</c:v>
                </c:pt>
                <c:pt idx="58">
                  <c:v>0.22686000000000001</c:v>
                </c:pt>
                <c:pt idx="59">
                  <c:v>0.22298999999999999</c:v>
                </c:pt>
                <c:pt idx="60">
                  <c:v>0.19674</c:v>
                </c:pt>
                <c:pt idx="61">
                  <c:v>0.22375</c:v>
                </c:pt>
                <c:pt idx="62">
                  <c:v>0.21179000000000001</c:v>
                </c:pt>
                <c:pt idx="63">
                  <c:v>0.17616000000000001</c:v>
                </c:pt>
                <c:pt idx="64">
                  <c:v>0.14737</c:v>
                </c:pt>
                <c:pt idx="65">
                  <c:v>0.15797</c:v>
                </c:pt>
                <c:pt idx="66">
                  <c:v>0.15210000000000001</c:v>
                </c:pt>
                <c:pt idx="67">
                  <c:v>0.18231</c:v>
                </c:pt>
                <c:pt idx="68">
                  <c:v>0.15862999999999999</c:v>
                </c:pt>
                <c:pt idx="69">
                  <c:v>0.16996</c:v>
                </c:pt>
                <c:pt idx="70">
                  <c:v>0.15068999999999999</c:v>
                </c:pt>
                <c:pt idx="71">
                  <c:v>0.15731999999999999</c:v>
                </c:pt>
                <c:pt idx="72">
                  <c:v>0.15811</c:v>
                </c:pt>
                <c:pt idx="73">
                  <c:v>0.16417000000000001</c:v>
                </c:pt>
                <c:pt idx="74">
                  <c:v>0.21235000000000001</c:v>
                </c:pt>
                <c:pt idx="75">
                  <c:v>0.17613999999999999</c:v>
                </c:pt>
                <c:pt idx="76">
                  <c:v>0.15765000000000001</c:v>
                </c:pt>
                <c:pt idx="77">
                  <c:v>0.13614000000000001</c:v>
                </c:pt>
                <c:pt idx="78">
                  <c:v>0.13508999999999999</c:v>
                </c:pt>
                <c:pt idx="79">
                  <c:v>0.18497</c:v>
                </c:pt>
                <c:pt idx="80">
                  <c:v>0.18934999999999999</c:v>
                </c:pt>
                <c:pt idx="81">
                  <c:v>0.17480999999999999</c:v>
                </c:pt>
                <c:pt idx="82">
                  <c:v>0.16378999999999999</c:v>
                </c:pt>
                <c:pt idx="83">
                  <c:v>0.16646</c:v>
                </c:pt>
                <c:pt idx="84">
                  <c:v>0.17024</c:v>
                </c:pt>
                <c:pt idx="85">
                  <c:v>0.14563000000000001</c:v>
                </c:pt>
                <c:pt idx="86">
                  <c:v>0.16900999999999999</c:v>
                </c:pt>
                <c:pt idx="87">
                  <c:v>0.18984999999999999</c:v>
                </c:pt>
                <c:pt idx="88">
                  <c:v>0.19169</c:v>
                </c:pt>
                <c:pt idx="89">
                  <c:v>0.16403000000000001</c:v>
                </c:pt>
                <c:pt idx="90">
                  <c:v>0.16170000000000001</c:v>
                </c:pt>
                <c:pt idx="91">
                  <c:v>0.16561999999999999</c:v>
                </c:pt>
                <c:pt idx="92">
                  <c:v>0.17577999999999999</c:v>
                </c:pt>
                <c:pt idx="93">
                  <c:v>0.15719</c:v>
                </c:pt>
                <c:pt idx="94">
                  <c:v>0.15001</c:v>
                </c:pt>
                <c:pt idx="95">
                  <c:v>0.15229999999999999</c:v>
                </c:pt>
                <c:pt idx="96">
                  <c:v>0.13353999999999999</c:v>
                </c:pt>
                <c:pt idx="97">
                  <c:v>0.16169</c:v>
                </c:pt>
                <c:pt idx="98">
                  <c:v>0.17311000000000001</c:v>
                </c:pt>
                <c:pt idx="99">
                  <c:v>0.19298000000000001</c:v>
                </c:pt>
                <c:pt idx="100">
                  <c:v>0.17385</c:v>
                </c:pt>
                <c:pt idx="101">
                  <c:v>0.15451999999999999</c:v>
                </c:pt>
                <c:pt idx="102">
                  <c:v>0.16692000000000001</c:v>
                </c:pt>
                <c:pt idx="103">
                  <c:v>0.16395000000000001</c:v>
                </c:pt>
                <c:pt idx="104">
                  <c:v>0.1673</c:v>
                </c:pt>
                <c:pt idx="105">
                  <c:v>0.18543999999999999</c:v>
                </c:pt>
                <c:pt idx="106">
                  <c:v>0.15568000000000001</c:v>
                </c:pt>
                <c:pt idx="107">
                  <c:v>0.16846</c:v>
                </c:pt>
                <c:pt idx="108">
                  <c:v>0.17523</c:v>
                </c:pt>
                <c:pt idx="109">
                  <c:v>0.23069999999999999</c:v>
                </c:pt>
                <c:pt idx="110">
                  <c:v>0.25724000000000002</c:v>
                </c:pt>
                <c:pt idx="111">
                  <c:v>0.29350999999999999</c:v>
                </c:pt>
                <c:pt idx="112">
                  <c:v>0.28384999999999999</c:v>
                </c:pt>
                <c:pt idx="113">
                  <c:v>0.28523999999999999</c:v>
                </c:pt>
                <c:pt idx="114">
                  <c:v>0.30507000000000001</c:v>
                </c:pt>
                <c:pt idx="115">
                  <c:v>0.33193</c:v>
                </c:pt>
                <c:pt idx="116">
                  <c:v>0.36126000000000003</c:v>
                </c:pt>
                <c:pt idx="117">
                  <c:v>0.29516999999999999</c:v>
                </c:pt>
                <c:pt idx="118">
                  <c:v>0.28609000000000001</c:v>
                </c:pt>
                <c:pt idx="119">
                  <c:v>0.30432999999999999</c:v>
                </c:pt>
                <c:pt idx="120">
                  <c:v>0.29830000000000001</c:v>
                </c:pt>
                <c:pt idx="121">
                  <c:v>0.30523</c:v>
                </c:pt>
                <c:pt idx="122">
                  <c:v>0.29011999999999999</c:v>
                </c:pt>
                <c:pt idx="123">
                  <c:v>0.29431000000000002</c:v>
                </c:pt>
                <c:pt idx="124">
                  <c:v>0.32063000000000003</c:v>
                </c:pt>
                <c:pt idx="125">
                  <c:v>0.35504999999999998</c:v>
                </c:pt>
                <c:pt idx="126">
                  <c:v>0.36015999999999998</c:v>
                </c:pt>
                <c:pt idx="127">
                  <c:v>0.33667999999999998</c:v>
                </c:pt>
                <c:pt idx="128">
                  <c:v>0.30541000000000001</c:v>
                </c:pt>
                <c:pt idx="129">
                  <c:v>0.26190000000000002</c:v>
                </c:pt>
                <c:pt idx="130">
                  <c:v>0.28314</c:v>
                </c:pt>
                <c:pt idx="131">
                  <c:v>0.247</c:v>
                </c:pt>
                <c:pt idx="132">
                  <c:v>0.21926000000000001</c:v>
                </c:pt>
                <c:pt idx="133">
                  <c:v>0.20261999999999999</c:v>
                </c:pt>
                <c:pt idx="134">
                  <c:v>0.19519</c:v>
                </c:pt>
                <c:pt idx="135">
                  <c:v>0.19921</c:v>
                </c:pt>
                <c:pt idx="136">
                  <c:v>0.19084999999999999</c:v>
                </c:pt>
                <c:pt idx="137">
                  <c:v>0.18364</c:v>
                </c:pt>
                <c:pt idx="138">
                  <c:v>0.17322000000000001</c:v>
                </c:pt>
                <c:pt idx="139">
                  <c:v>0.18501000000000001</c:v>
                </c:pt>
                <c:pt idx="140">
                  <c:v>0.18049999999999999</c:v>
                </c:pt>
                <c:pt idx="141">
                  <c:v>0.18484999999999999</c:v>
                </c:pt>
                <c:pt idx="142">
                  <c:v>0.18987000000000001</c:v>
                </c:pt>
                <c:pt idx="143">
                  <c:v>0.21079000000000001</c:v>
                </c:pt>
                <c:pt idx="144">
                  <c:v>0.20388000000000001</c:v>
                </c:pt>
                <c:pt idx="145">
                  <c:v>0.17041999999999999</c:v>
                </c:pt>
                <c:pt idx="146">
                  <c:v>0.20054</c:v>
                </c:pt>
                <c:pt idx="147">
                  <c:v>0.20491000000000001</c:v>
                </c:pt>
                <c:pt idx="148">
                  <c:v>0.2233</c:v>
                </c:pt>
                <c:pt idx="149">
                  <c:v>0.24095</c:v>
                </c:pt>
                <c:pt idx="150">
                  <c:v>0.24276</c:v>
                </c:pt>
                <c:pt idx="151">
                  <c:v>0.29338999999999998</c:v>
                </c:pt>
                <c:pt idx="152">
                  <c:v>0.26991999999999999</c:v>
                </c:pt>
                <c:pt idx="153">
                  <c:v>0.26765</c:v>
                </c:pt>
                <c:pt idx="154">
                  <c:v>0.29948000000000002</c:v>
                </c:pt>
                <c:pt idx="155">
                  <c:v>0.29620000000000002</c:v>
                </c:pt>
                <c:pt idx="156">
                  <c:v>0.29327999999999999</c:v>
                </c:pt>
                <c:pt idx="157">
                  <c:v>0.25906000000000001</c:v>
                </c:pt>
                <c:pt idx="158">
                  <c:v>0.24701000000000001</c:v>
                </c:pt>
                <c:pt idx="159">
                  <c:v>0.20050000000000001</c:v>
                </c:pt>
                <c:pt idx="160">
                  <c:v>0.17974000000000001</c:v>
                </c:pt>
                <c:pt idx="161">
                  <c:v>0.17712</c:v>
                </c:pt>
                <c:pt idx="162">
                  <c:v>0.19317999999999999</c:v>
                </c:pt>
                <c:pt idx="163">
                  <c:v>0.20050000000000001</c:v>
                </c:pt>
                <c:pt idx="164">
                  <c:v>0.21759000000000001</c:v>
                </c:pt>
                <c:pt idx="165">
                  <c:v>0.20469999999999999</c:v>
                </c:pt>
                <c:pt idx="166">
                  <c:v>0.1716</c:v>
                </c:pt>
                <c:pt idx="167">
                  <c:v>0.17904</c:v>
                </c:pt>
                <c:pt idx="168">
                  <c:v>0.1852</c:v>
                </c:pt>
                <c:pt idx="169">
                  <c:v>0.15781999999999999</c:v>
                </c:pt>
                <c:pt idx="170">
                  <c:v>0.16034999999999999</c:v>
                </c:pt>
                <c:pt idx="171">
                  <c:v>0.14013</c:v>
                </c:pt>
                <c:pt idx="172">
                  <c:v>0.12372</c:v>
                </c:pt>
                <c:pt idx="173">
                  <c:v>0.11101999999999999</c:v>
                </c:pt>
                <c:pt idx="174">
                  <c:v>9.4469999999999998E-2</c:v>
                </c:pt>
                <c:pt idx="175">
                  <c:v>0.10606</c:v>
                </c:pt>
                <c:pt idx="176">
                  <c:v>9.1990000000000002E-2</c:v>
                </c:pt>
                <c:pt idx="177">
                  <c:v>8.3479999999999999E-2</c:v>
                </c:pt>
                <c:pt idx="178">
                  <c:v>7.9079999999999998E-2</c:v>
                </c:pt>
                <c:pt idx="179">
                  <c:v>8.6370000000000002E-2</c:v>
                </c:pt>
                <c:pt idx="180">
                  <c:v>9.2020000000000005E-2</c:v>
                </c:pt>
                <c:pt idx="181">
                  <c:v>0.11039</c:v>
                </c:pt>
                <c:pt idx="182">
                  <c:v>0.11219</c:v>
                </c:pt>
                <c:pt idx="183">
                  <c:v>0.10643</c:v>
                </c:pt>
                <c:pt idx="184">
                  <c:v>0.10119</c:v>
                </c:pt>
                <c:pt idx="185">
                  <c:v>9.8989999999999995E-2</c:v>
                </c:pt>
                <c:pt idx="186">
                  <c:v>9.4820000000000002E-2</c:v>
                </c:pt>
                <c:pt idx="187">
                  <c:v>0.10381</c:v>
                </c:pt>
                <c:pt idx="188">
                  <c:v>9.7030000000000005E-2</c:v>
                </c:pt>
                <c:pt idx="189">
                  <c:v>0.10795</c:v>
                </c:pt>
                <c:pt idx="190">
                  <c:v>0.11312</c:v>
                </c:pt>
                <c:pt idx="191">
                  <c:v>9.622E-2</c:v>
                </c:pt>
                <c:pt idx="192">
                  <c:v>8.9599999999999999E-2</c:v>
                </c:pt>
                <c:pt idx="193">
                  <c:v>7.4639999999999998E-2</c:v>
                </c:pt>
                <c:pt idx="194">
                  <c:v>7.3480000000000004E-2</c:v>
                </c:pt>
                <c:pt idx="195">
                  <c:v>8.5250000000000006E-2</c:v>
                </c:pt>
                <c:pt idx="196">
                  <c:v>7.0169999999999996E-2</c:v>
                </c:pt>
                <c:pt idx="197">
                  <c:v>7.6689999999999994E-2</c:v>
                </c:pt>
                <c:pt idx="198">
                  <c:v>6.6699999999999995E-2</c:v>
                </c:pt>
                <c:pt idx="199">
                  <c:v>6.3619999999999996E-2</c:v>
                </c:pt>
                <c:pt idx="200">
                  <c:v>7.4550000000000005E-2</c:v>
                </c:pt>
                <c:pt idx="201">
                  <c:v>6.4759999999999998E-2</c:v>
                </c:pt>
                <c:pt idx="202">
                  <c:v>6.9540000000000005E-2</c:v>
                </c:pt>
                <c:pt idx="203">
                  <c:v>6.8400000000000002E-2</c:v>
                </c:pt>
                <c:pt idx="204">
                  <c:v>5.7939999999999998E-2</c:v>
                </c:pt>
                <c:pt idx="205">
                  <c:v>5.5739999999999998E-2</c:v>
                </c:pt>
                <c:pt idx="206">
                  <c:v>6.4250000000000002E-2</c:v>
                </c:pt>
                <c:pt idx="207">
                  <c:v>7.9390000000000002E-2</c:v>
                </c:pt>
                <c:pt idx="208">
                  <c:v>6.3149999999999998E-2</c:v>
                </c:pt>
                <c:pt idx="209">
                  <c:v>6.7860000000000004E-2</c:v>
                </c:pt>
                <c:pt idx="210">
                  <c:v>6.3060000000000005E-2</c:v>
                </c:pt>
              </c:numCache>
            </c:numRef>
          </c:val>
          <c:extLst>
            <c:ext xmlns:c16="http://schemas.microsoft.com/office/drawing/2014/chart" uri="{C3380CC4-5D6E-409C-BE32-E72D297353CC}">
              <c16:uniqueId val="{00000005-423A-44AC-9604-7967E678A370}"/>
            </c:ext>
          </c:extLst>
        </c:ser>
        <c:ser>
          <c:idx val="6"/>
          <c:order val="6"/>
          <c:tx>
            <c:strRef>
              <c:f>Sheet1!$H$1</c:f>
              <c:strCache>
                <c:ptCount val="1"/>
                <c:pt idx="0">
                  <c:v>LSTM</c:v>
                </c:pt>
              </c:strCache>
            </c:strRef>
          </c:tx>
          <c:spPr>
            <a:solidFill>
              <a:schemeClr val="accent2"/>
            </a:solidFill>
            <a:effectLst/>
          </c:spPr>
          <c:cat>
            <c:strRef>
              <c:f>Sheet1!$A$2:$A$212</c:f>
              <c:strCache>
                <c:ptCount val="211"/>
                <c:pt idx="0">
                  <c:v>2017</c:v>
                </c:pt>
                <c:pt idx="1">
                  <c:v>2017</c:v>
                </c:pt>
                <c:pt idx="2">
                  <c:v>2017</c:v>
                </c:pt>
                <c:pt idx="3">
                  <c:v>2017</c:v>
                </c:pt>
                <c:pt idx="4">
                  <c:v>2017</c:v>
                </c:pt>
                <c:pt idx="5">
                  <c:v>2017</c:v>
                </c:pt>
                <c:pt idx="6">
                  <c:v>2017</c:v>
                </c:pt>
                <c:pt idx="7">
                  <c:v>2017</c:v>
                </c:pt>
                <c:pt idx="8">
                  <c:v>2017</c:v>
                </c:pt>
                <c:pt idx="9">
                  <c:v>2017</c:v>
                </c:pt>
                <c:pt idx="10">
                  <c:v>2017</c:v>
                </c:pt>
                <c:pt idx="11">
                  <c:v>2017</c:v>
                </c:pt>
                <c:pt idx="12">
                  <c:v>2017</c:v>
                </c:pt>
                <c:pt idx="13">
                  <c:v>2017</c:v>
                </c:pt>
                <c:pt idx="14">
                  <c:v>2017</c:v>
                </c:pt>
                <c:pt idx="15">
                  <c:v>2017</c:v>
                </c:pt>
                <c:pt idx="16">
                  <c:v>2017</c:v>
                </c:pt>
                <c:pt idx="17">
                  <c:v>2017</c:v>
                </c:pt>
                <c:pt idx="18">
                  <c:v>2017</c:v>
                </c:pt>
                <c:pt idx="19">
                  <c:v>2017</c:v>
                </c:pt>
                <c:pt idx="20">
                  <c:v>2017</c:v>
                </c:pt>
                <c:pt idx="21">
                  <c:v>2017</c:v>
                </c:pt>
                <c:pt idx="22">
                  <c:v>2017</c:v>
                </c:pt>
                <c:pt idx="23">
                  <c:v>2017</c:v>
                </c:pt>
                <c:pt idx="24">
                  <c:v>2017</c:v>
                </c:pt>
                <c:pt idx="25">
                  <c:v>2017</c:v>
                </c:pt>
                <c:pt idx="26">
                  <c:v>2017</c:v>
                </c:pt>
                <c:pt idx="27">
                  <c:v>2017</c:v>
                </c:pt>
                <c:pt idx="28">
                  <c:v>2017</c:v>
                </c:pt>
                <c:pt idx="29">
                  <c:v>2017</c:v>
                </c:pt>
                <c:pt idx="30">
                  <c:v>2017</c:v>
                </c:pt>
                <c:pt idx="31">
                  <c:v>2017</c:v>
                </c:pt>
                <c:pt idx="32">
                  <c:v>2017</c:v>
                </c:pt>
                <c:pt idx="33">
                  <c:v>2017</c:v>
                </c:pt>
                <c:pt idx="34">
                  <c:v>2017</c:v>
                </c:pt>
                <c:pt idx="35">
                  <c:v>2017</c:v>
                </c:pt>
                <c:pt idx="36">
                  <c:v>2017</c:v>
                </c:pt>
                <c:pt idx="37">
                  <c:v>2017</c:v>
                </c:pt>
                <c:pt idx="38">
                  <c:v>2017</c:v>
                </c:pt>
                <c:pt idx="39">
                  <c:v>2017</c:v>
                </c:pt>
                <c:pt idx="40">
                  <c:v>2017</c:v>
                </c:pt>
                <c:pt idx="41">
                  <c:v>2017</c:v>
                </c:pt>
                <c:pt idx="42">
                  <c:v>2017</c:v>
                </c:pt>
                <c:pt idx="43">
                  <c:v>2017</c:v>
                </c:pt>
                <c:pt idx="44">
                  <c:v>2017</c:v>
                </c:pt>
                <c:pt idx="45">
                  <c:v>2017</c:v>
                </c:pt>
                <c:pt idx="46">
                  <c:v>2018</c:v>
                </c:pt>
                <c:pt idx="47">
                  <c:v>2018</c:v>
                </c:pt>
                <c:pt idx="48">
                  <c:v>2018</c:v>
                </c:pt>
                <c:pt idx="49">
                  <c:v>2018</c:v>
                </c:pt>
                <c:pt idx="50">
                  <c:v>2018</c:v>
                </c:pt>
                <c:pt idx="51">
                  <c:v>2018</c:v>
                </c:pt>
                <c:pt idx="52">
                  <c:v>2018</c:v>
                </c:pt>
                <c:pt idx="53">
                  <c:v>2018</c:v>
                </c:pt>
                <c:pt idx="54">
                  <c:v>2018</c:v>
                </c:pt>
                <c:pt idx="55">
                  <c:v>2018</c:v>
                </c:pt>
                <c:pt idx="56">
                  <c:v>2018</c:v>
                </c:pt>
                <c:pt idx="57">
                  <c:v>2018</c:v>
                </c:pt>
                <c:pt idx="58">
                  <c:v>2018</c:v>
                </c:pt>
                <c:pt idx="59">
                  <c:v>2018</c:v>
                </c:pt>
                <c:pt idx="60">
                  <c:v>2018</c:v>
                </c:pt>
                <c:pt idx="61">
                  <c:v>2018</c:v>
                </c:pt>
                <c:pt idx="62">
                  <c:v>2018</c:v>
                </c:pt>
                <c:pt idx="63">
                  <c:v>2018</c:v>
                </c:pt>
                <c:pt idx="64">
                  <c:v>2018</c:v>
                </c:pt>
                <c:pt idx="65">
                  <c:v>2018</c:v>
                </c:pt>
                <c:pt idx="66">
                  <c:v>2018</c:v>
                </c:pt>
                <c:pt idx="67">
                  <c:v>2018</c:v>
                </c:pt>
                <c:pt idx="68">
                  <c:v>2018</c:v>
                </c:pt>
                <c:pt idx="69">
                  <c:v>2018</c:v>
                </c:pt>
                <c:pt idx="70">
                  <c:v>2018</c:v>
                </c:pt>
                <c:pt idx="71">
                  <c:v>2018</c:v>
                </c:pt>
                <c:pt idx="72">
                  <c:v>2018</c:v>
                </c:pt>
                <c:pt idx="73">
                  <c:v>2018</c:v>
                </c:pt>
                <c:pt idx="74">
                  <c:v>2018</c:v>
                </c:pt>
                <c:pt idx="75">
                  <c:v>2018</c:v>
                </c:pt>
                <c:pt idx="76">
                  <c:v>2018</c:v>
                </c:pt>
                <c:pt idx="77">
                  <c:v>2018</c:v>
                </c:pt>
                <c:pt idx="78">
                  <c:v>2018</c:v>
                </c:pt>
                <c:pt idx="79">
                  <c:v>2018</c:v>
                </c:pt>
                <c:pt idx="80">
                  <c:v>2018</c:v>
                </c:pt>
                <c:pt idx="81">
                  <c:v>2018</c:v>
                </c:pt>
                <c:pt idx="82">
                  <c:v>2018</c:v>
                </c:pt>
                <c:pt idx="83">
                  <c:v>2018</c:v>
                </c:pt>
                <c:pt idx="84">
                  <c:v>2018</c:v>
                </c:pt>
                <c:pt idx="85">
                  <c:v>2018</c:v>
                </c:pt>
                <c:pt idx="86">
                  <c:v>2018</c:v>
                </c:pt>
                <c:pt idx="87">
                  <c:v>2018</c:v>
                </c:pt>
                <c:pt idx="88">
                  <c:v>2018</c:v>
                </c:pt>
                <c:pt idx="89">
                  <c:v>2018</c:v>
                </c:pt>
                <c:pt idx="90">
                  <c:v>2018</c:v>
                </c:pt>
                <c:pt idx="91">
                  <c:v>2018</c:v>
                </c:pt>
                <c:pt idx="92">
                  <c:v>2018</c:v>
                </c:pt>
                <c:pt idx="93">
                  <c:v>2018</c:v>
                </c:pt>
                <c:pt idx="94">
                  <c:v>2018</c:v>
                </c:pt>
                <c:pt idx="95">
                  <c:v>2018</c:v>
                </c:pt>
                <c:pt idx="96">
                  <c:v>2019</c:v>
                </c:pt>
                <c:pt idx="97">
                  <c:v>2019</c:v>
                </c:pt>
                <c:pt idx="98">
                  <c:v>2019</c:v>
                </c:pt>
                <c:pt idx="99">
                  <c:v>2019</c:v>
                </c:pt>
                <c:pt idx="100">
                  <c:v>2019</c:v>
                </c:pt>
                <c:pt idx="101">
                  <c:v>2019</c:v>
                </c:pt>
                <c:pt idx="102">
                  <c:v>2019</c:v>
                </c:pt>
                <c:pt idx="103">
                  <c:v>2019</c:v>
                </c:pt>
                <c:pt idx="104">
                  <c:v>2019</c:v>
                </c:pt>
                <c:pt idx="105">
                  <c:v>2019</c:v>
                </c:pt>
                <c:pt idx="106">
                  <c:v>2019</c:v>
                </c:pt>
                <c:pt idx="107">
                  <c:v>2019</c:v>
                </c:pt>
                <c:pt idx="108">
                  <c:v>2019</c:v>
                </c:pt>
                <c:pt idx="109">
                  <c:v>2019</c:v>
                </c:pt>
                <c:pt idx="110">
                  <c:v>2019</c:v>
                </c:pt>
                <c:pt idx="111">
                  <c:v>2019</c:v>
                </c:pt>
                <c:pt idx="112">
                  <c:v>2019</c:v>
                </c:pt>
                <c:pt idx="113">
                  <c:v>2019</c:v>
                </c:pt>
                <c:pt idx="114">
                  <c:v>2019</c:v>
                </c:pt>
                <c:pt idx="115">
                  <c:v>2019</c:v>
                </c:pt>
                <c:pt idx="116">
                  <c:v>2019</c:v>
                </c:pt>
                <c:pt idx="117">
                  <c:v>2019</c:v>
                </c:pt>
                <c:pt idx="118">
                  <c:v>2019</c:v>
                </c:pt>
                <c:pt idx="119">
                  <c:v>2019</c:v>
                </c:pt>
                <c:pt idx="120">
                  <c:v>2019</c:v>
                </c:pt>
                <c:pt idx="121">
                  <c:v>2019</c:v>
                </c:pt>
                <c:pt idx="122">
                  <c:v>2019</c:v>
                </c:pt>
                <c:pt idx="123">
                  <c:v>2019</c:v>
                </c:pt>
                <c:pt idx="124">
                  <c:v>2019</c:v>
                </c:pt>
                <c:pt idx="125">
                  <c:v>2019</c:v>
                </c:pt>
                <c:pt idx="126">
                  <c:v>2019</c:v>
                </c:pt>
                <c:pt idx="127">
                  <c:v>2019</c:v>
                </c:pt>
                <c:pt idx="128">
                  <c:v>2019</c:v>
                </c:pt>
                <c:pt idx="129">
                  <c:v>2019</c:v>
                </c:pt>
                <c:pt idx="130">
                  <c:v>2019</c:v>
                </c:pt>
                <c:pt idx="131">
                  <c:v>2019</c:v>
                </c:pt>
                <c:pt idx="132">
                  <c:v>2019</c:v>
                </c:pt>
                <c:pt idx="133">
                  <c:v>2019</c:v>
                </c:pt>
                <c:pt idx="134">
                  <c:v>2019</c:v>
                </c:pt>
                <c:pt idx="135">
                  <c:v>2019</c:v>
                </c:pt>
                <c:pt idx="136">
                  <c:v>2019</c:v>
                </c:pt>
                <c:pt idx="137">
                  <c:v>2019</c:v>
                </c:pt>
                <c:pt idx="138">
                  <c:v>2019</c:v>
                </c:pt>
                <c:pt idx="139">
                  <c:v>2019</c:v>
                </c:pt>
                <c:pt idx="140">
                  <c:v>2019</c:v>
                </c:pt>
                <c:pt idx="141">
                  <c:v>2019</c:v>
                </c:pt>
                <c:pt idx="142">
                  <c:v>2019</c:v>
                </c:pt>
                <c:pt idx="143">
                  <c:v>2019</c:v>
                </c:pt>
                <c:pt idx="144">
                  <c:v>2019</c:v>
                </c:pt>
                <c:pt idx="145">
                  <c:v>2020</c:v>
                </c:pt>
                <c:pt idx="146">
                  <c:v>2020</c:v>
                </c:pt>
                <c:pt idx="147">
                  <c:v>2020</c:v>
                </c:pt>
                <c:pt idx="148">
                  <c:v>2020</c:v>
                </c:pt>
                <c:pt idx="149">
                  <c:v>2020</c:v>
                </c:pt>
                <c:pt idx="150">
                  <c:v>2020</c:v>
                </c:pt>
                <c:pt idx="151">
                  <c:v>2020</c:v>
                </c:pt>
                <c:pt idx="152">
                  <c:v>2020</c:v>
                </c:pt>
                <c:pt idx="153">
                  <c:v>2020</c:v>
                </c:pt>
                <c:pt idx="154">
                  <c:v>2020</c:v>
                </c:pt>
                <c:pt idx="155">
                  <c:v>2020</c:v>
                </c:pt>
                <c:pt idx="156">
                  <c:v>2020</c:v>
                </c:pt>
                <c:pt idx="157">
                  <c:v>2020</c:v>
                </c:pt>
                <c:pt idx="158">
                  <c:v>2020</c:v>
                </c:pt>
                <c:pt idx="159">
                  <c:v>2020</c:v>
                </c:pt>
                <c:pt idx="160">
                  <c:v>2020</c:v>
                </c:pt>
                <c:pt idx="161">
                  <c:v>2020</c:v>
                </c:pt>
                <c:pt idx="162">
                  <c:v>2020</c:v>
                </c:pt>
                <c:pt idx="163">
                  <c:v>2020</c:v>
                </c:pt>
                <c:pt idx="164">
                  <c:v>2020</c:v>
                </c:pt>
                <c:pt idx="165">
                  <c:v>2020</c:v>
                </c:pt>
                <c:pt idx="166">
                  <c:v>2020</c:v>
                </c:pt>
                <c:pt idx="167">
                  <c:v>2020</c:v>
                </c:pt>
                <c:pt idx="168">
                  <c:v>2020</c:v>
                </c:pt>
                <c:pt idx="169">
                  <c:v>2020</c:v>
                </c:pt>
                <c:pt idx="170">
                  <c:v>2020</c:v>
                </c:pt>
                <c:pt idx="171">
                  <c:v>2020</c:v>
                </c:pt>
                <c:pt idx="172">
                  <c:v>2020</c:v>
                </c:pt>
                <c:pt idx="173">
                  <c:v>2020</c:v>
                </c:pt>
                <c:pt idx="174">
                  <c:v>2020</c:v>
                </c:pt>
                <c:pt idx="175">
                  <c:v>2020</c:v>
                </c:pt>
                <c:pt idx="176">
                  <c:v>2020</c:v>
                </c:pt>
                <c:pt idx="177">
                  <c:v>2020</c:v>
                </c:pt>
                <c:pt idx="178">
                  <c:v>2020</c:v>
                </c:pt>
                <c:pt idx="179">
                  <c:v>2020</c:v>
                </c:pt>
                <c:pt idx="180">
                  <c:v>2020</c:v>
                </c:pt>
                <c:pt idx="181">
                  <c:v>2020</c:v>
                </c:pt>
                <c:pt idx="182">
                  <c:v>2020</c:v>
                </c:pt>
                <c:pt idx="183">
                  <c:v>2020</c:v>
                </c:pt>
                <c:pt idx="184">
                  <c:v>2020</c:v>
                </c:pt>
                <c:pt idx="185">
                  <c:v>2020</c:v>
                </c:pt>
                <c:pt idx="186">
                  <c:v>2020</c:v>
                </c:pt>
                <c:pt idx="187">
                  <c:v>2020</c:v>
                </c:pt>
                <c:pt idx="188">
                  <c:v>2020</c:v>
                </c:pt>
                <c:pt idx="189">
                  <c:v>2020</c:v>
                </c:pt>
                <c:pt idx="190">
                  <c:v>2020</c:v>
                </c:pt>
                <c:pt idx="191">
                  <c:v>2020</c:v>
                </c:pt>
                <c:pt idx="192">
                  <c:v>2020</c:v>
                </c:pt>
                <c:pt idx="193">
                  <c:v>2020</c:v>
                </c:pt>
                <c:pt idx="194">
                  <c:v>2020</c:v>
                </c:pt>
                <c:pt idx="195">
                  <c:v>2021</c:v>
                </c:pt>
                <c:pt idx="196">
                  <c:v>2021</c:v>
                </c:pt>
                <c:pt idx="197">
                  <c:v>2021</c:v>
                </c:pt>
                <c:pt idx="198">
                  <c:v>2021</c:v>
                </c:pt>
                <c:pt idx="199">
                  <c:v>2021</c:v>
                </c:pt>
                <c:pt idx="200">
                  <c:v>2021</c:v>
                </c:pt>
                <c:pt idx="201">
                  <c:v>2021</c:v>
                </c:pt>
                <c:pt idx="202">
                  <c:v>2021</c:v>
                </c:pt>
                <c:pt idx="203">
                  <c:v>2021</c:v>
                </c:pt>
                <c:pt idx="204">
                  <c:v>2021</c:v>
                </c:pt>
                <c:pt idx="205">
                  <c:v>2021</c:v>
                </c:pt>
                <c:pt idx="206">
                  <c:v>2021</c:v>
                </c:pt>
                <c:pt idx="207">
                  <c:v>2021</c:v>
                </c:pt>
                <c:pt idx="208">
                  <c:v>2021</c:v>
                </c:pt>
                <c:pt idx="209">
                  <c:v>2021</c:v>
                </c:pt>
                <c:pt idx="210">
                  <c:v>2021</c:v>
                </c:pt>
              </c:strCache>
            </c:strRef>
          </c:cat>
          <c:val>
            <c:numRef>
              <c:f>Sheet1!$H$2:$H$212</c:f>
              <c:numCache>
                <c:formatCode>General</c:formatCode>
                <c:ptCount val="211"/>
                <c:pt idx="0">
                  <c:v>0.1817</c:v>
                </c:pt>
                <c:pt idx="1">
                  <c:v>0.17441999999999999</c:v>
                </c:pt>
                <c:pt idx="2">
                  <c:v>0.19566</c:v>
                </c:pt>
                <c:pt idx="3">
                  <c:v>0.18587999999999999</c:v>
                </c:pt>
                <c:pt idx="4">
                  <c:v>0.17716999999999999</c:v>
                </c:pt>
                <c:pt idx="5">
                  <c:v>0.16922000000000001</c:v>
                </c:pt>
                <c:pt idx="6">
                  <c:v>0.16805999999999999</c:v>
                </c:pt>
                <c:pt idx="7">
                  <c:v>0.14041000000000001</c:v>
                </c:pt>
                <c:pt idx="8">
                  <c:v>0.13646</c:v>
                </c:pt>
                <c:pt idx="9">
                  <c:v>0.12664</c:v>
                </c:pt>
                <c:pt idx="10">
                  <c:v>0.13345000000000001</c:v>
                </c:pt>
                <c:pt idx="11">
                  <c:v>0.14779</c:v>
                </c:pt>
                <c:pt idx="12">
                  <c:v>0.14810000000000001</c:v>
                </c:pt>
                <c:pt idx="13">
                  <c:v>0.15801999999999999</c:v>
                </c:pt>
                <c:pt idx="14">
                  <c:v>0.14133999999999999</c:v>
                </c:pt>
                <c:pt idx="15">
                  <c:v>0.14346</c:v>
                </c:pt>
                <c:pt idx="16">
                  <c:v>0.12972</c:v>
                </c:pt>
                <c:pt idx="17">
                  <c:v>0.12221</c:v>
                </c:pt>
                <c:pt idx="18">
                  <c:v>0.11129</c:v>
                </c:pt>
                <c:pt idx="19">
                  <c:v>0.11286</c:v>
                </c:pt>
                <c:pt idx="20">
                  <c:v>0.11484999999999999</c:v>
                </c:pt>
                <c:pt idx="21">
                  <c:v>0.10682</c:v>
                </c:pt>
                <c:pt idx="22">
                  <c:v>0.10203</c:v>
                </c:pt>
                <c:pt idx="23">
                  <c:v>9.6820000000000003E-2</c:v>
                </c:pt>
                <c:pt idx="24">
                  <c:v>0.10359</c:v>
                </c:pt>
                <c:pt idx="25">
                  <c:v>9.3329999999999996E-2</c:v>
                </c:pt>
                <c:pt idx="26">
                  <c:v>9.0899999999999995E-2</c:v>
                </c:pt>
                <c:pt idx="27">
                  <c:v>8.3839999999999998E-2</c:v>
                </c:pt>
                <c:pt idx="28">
                  <c:v>7.7710000000000001E-2</c:v>
                </c:pt>
                <c:pt idx="29">
                  <c:v>8.8599999999999998E-2</c:v>
                </c:pt>
                <c:pt idx="30">
                  <c:v>7.8759999999999997E-2</c:v>
                </c:pt>
                <c:pt idx="31">
                  <c:v>9.11E-2</c:v>
                </c:pt>
                <c:pt idx="32">
                  <c:v>7.9250000000000001E-2</c:v>
                </c:pt>
                <c:pt idx="33">
                  <c:v>6.6830000000000001E-2</c:v>
                </c:pt>
                <c:pt idx="34">
                  <c:v>6.8059999999999996E-2</c:v>
                </c:pt>
                <c:pt idx="35">
                  <c:v>6.701E-2</c:v>
                </c:pt>
                <c:pt idx="36">
                  <c:v>6.7460000000000006E-2</c:v>
                </c:pt>
                <c:pt idx="37">
                  <c:v>7.3130000000000001E-2</c:v>
                </c:pt>
                <c:pt idx="38">
                  <c:v>7.3380000000000001E-2</c:v>
                </c:pt>
                <c:pt idx="39">
                  <c:v>8.7609999999999993E-2</c:v>
                </c:pt>
                <c:pt idx="40">
                  <c:v>8.1989999999999993E-2</c:v>
                </c:pt>
                <c:pt idx="41">
                  <c:v>8.4769999999999998E-2</c:v>
                </c:pt>
                <c:pt idx="42">
                  <c:v>8.1189999999999998E-2</c:v>
                </c:pt>
                <c:pt idx="43">
                  <c:v>7.4429999999999996E-2</c:v>
                </c:pt>
                <c:pt idx="44">
                  <c:v>6.4630000000000007E-2</c:v>
                </c:pt>
                <c:pt idx="45">
                  <c:v>6.2190000000000002E-2</c:v>
                </c:pt>
                <c:pt idx="46">
                  <c:v>6.7449999999999996E-2</c:v>
                </c:pt>
                <c:pt idx="47">
                  <c:v>5.219E-2</c:v>
                </c:pt>
                <c:pt idx="48">
                  <c:v>5.7340000000000002E-2</c:v>
                </c:pt>
                <c:pt idx="49">
                  <c:v>6.4000000000000001E-2</c:v>
                </c:pt>
                <c:pt idx="50">
                  <c:v>6.1890000000000001E-2</c:v>
                </c:pt>
                <c:pt idx="51">
                  <c:v>6.123E-2</c:v>
                </c:pt>
                <c:pt idx="52">
                  <c:v>5.7209999999999997E-2</c:v>
                </c:pt>
                <c:pt idx="53">
                  <c:v>6.0740000000000002E-2</c:v>
                </c:pt>
                <c:pt idx="54">
                  <c:v>5.1979999999999998E-2</c:v>
                </c:pt>
                <c:pt idx="55">
                  <c:v>4.6059999999999997E-2</c:v>
                </c:pt>
                <c:pt idx="56">
                  <c:v>4.6179999999999999E-2</c:v>
                </c:pt>
                <c:pt idx="57">
                  <c:v>5.3150000000000003E-2</c:v>
                </c:pt>
                <c:pt idx="58">
                  <c:v>5.8220000000000001E-2</c:v>
                </c:pt>
                <c:pt idx="59">
                  <c:v>6.2E-2</c:v>
                </c:pt>
                <c:pt idx="60">
                  <c:v>5.4699999999999999E-2</c:v>
                </c:pt>
                <c:pt idx="61">
                  <c:v>4.8939999999999997E-2</c:v>
                </c:pt>
                <c:pt idx="62">
                  <c:v>4.632E-2</c:v>
                </c:pt>
                <c:pt idx="63">
                  <c:v>3.8530000000000002E-2</c:v>
                </c:pt>
                <c:pt idx="64">
                  <c:v>4.8079999999999998E-2</c:v>
                </c:pt>
                <c:pt idx="65">
                  <c:v>4.3920000000000001E-2</c:v>
                </c:pt>
                <c:pt idx="66">
                  <c:v>4.5809999999999997E-2</c:v>
                </c:pt>
                <c:pt idx="67">
                  <c:v>5.0689999999999999E-2</c:v>
                </c:pt>
                <c:pt idx="68">
                  <c:v>5.176E-2</c:v>
                </c:pt>
                <c:pt idx="69">
                  <c:v>6.0069999999999998E-2</c:v>
                </c:pt>
                <c:pt idx="70">
                  <c:v>6.25E-2</c:v>
                </c:pt>
                <c:pt idx="71">
                  <c:v>6.5250000000000002E-2</c:v>
                </c:pt>
                <c:pt idx="72">
                  <c:v>6.0539999999999997E-2</c:v>
                </c:pt>
                <c:pt idx="73">
                  <c:v>5.8029999999999998E-2</c:v>
                </c:pt>
                <c:pt idx="74">
                  <c:v>5.45E-2</c:v>
                </c:pt>
                <c:pt idx="75">
                  <c:v>4.897E-2</c:v>
                </c:pt>
                <c:pt idx="76">
                  <c:v>4.7480000000000001E-2</c:v>
                </c:pt>
                <c:pt idx="77">
                  <c:v>4.8120000000000003E-2</c:v>
                </c:pt>
                <c:pt idx="78">
                  <c:v>4.0689999999999997E-2</c:v>
                </c:pt>
                <c:pt idx="79">
                  <c:v>4.3830000000000001E-2</c:v>
                </c:pt>
                <c:pt idx="80">
                  <c:v>4.8599999999999997E-2</c:v>
                </c:pt>
                <c:pt idx="81">
                  <c:v>4.487E-2</c:v>
                </c:pt>
                <c:pt idx="82">
                  <c:v>4.2040000000000001E-2</c:v>
                </c:pt>
                <c:pt idx="83">
                  <c:v>4.6280000000000002E-2</c:v>
                </c:pt>
                <c:pt idx="84">
                  <c:v>4.0340000000000001E-2</c:v>
                </c:pt>
                <c:pt idx="85">
                  <c:v>4.3860000000000003E-2</c:v>
                </c:pt>
                <c:pt idx="86">
                  <c:v>5.0909999999999997E-2</c:v>
                </c:pt>
                <c:pt idx="87">
                  <c:v>5.7180000000000002E-2</c:v>
                </c:pt>
                <c:pt idx="88">
                  <c:v>5.33E-2</c:v>
                </c:pt>
                <c:pt idx="89">
                  <c:v>4.2099999999999999E-2</c:v>
                </c:pt>
                <c:pt idx="90">
                  <c:v>4.496E-2</c:v>
                </c:pt>
                <c:pt idx="91">
                  <c:v>4.2509999999999999E-2</c:v>
                </c:pt>
                <c:pt idx="92">
                  <c:v>4.8869999999999997E-2</c:v>
                </c:pt>
                <c:pt idx="93">
                  <c:v>5.1290000000000002E-2</c:v>
                </c:pt>
                <c:pt idx="94">
                  <c:v>5.7439999999999998E-2</c:v>
                </c:pt>
                <c:pt idx="95">
                  <c:v>5.3830000000000003E-2</c:v>
                </c:pt>
                <c:pt idx="96">
                  <c:v>5.5390000000000002E-2</c:v>
                </c:pt>
                <c:pt idx="97">
                  <c:v>7.2650000000000006E-2</c:v>
                </c:pt>
                <c:pt idx="98">
                  <c:v>6.1190000000000001E-2</c:v>
                </c:pt>
                <c:pt idx="99">
                  <c:v>6.2960000000000002E-2</c:v>
                </c:pt>
                <c:pt idx="100">
                  <c:v>6.6570000000000004E-2</c:v>
                </c:pt>
                <c:pt idx="101">
                  <c:v>7.5209999999999999E-2</c:v>
                </c:pt>
                <c:pt idx="102">
                  <c:v>8.1250000000000003E-2</c:v>
                </c:pt>
                <c:pt idx="103">
                  <c:v>8.6449999999999999E-2</c:v>
                </c:pt>
                <c:pt idx="104">
                  <c:v>0.11215</c:v>
                </c:pt>
                <c:pt idx="105">
                  <c:v>0.12429999999999999</c:v>
                </c:pt>
                <c:pt idx="106">
                  <c:v>0.12246</c:v>
                </c:pt>
                <c:pt idx="107">
                  <c:v>0.10424</c:v>
                </c:pt>
                <c:pt idx="108">
                  <c:v>0.10843</c:v>
                </c:pt>
                <c:pt idx="109">
                  <c:v>0.13178000000000001</c:v>
                </c:pt>
                <c:pt idx="110">
                  <c:v>0.13564000000000001</c:v>
                </c:pt>
                <c:pt idx="111">
                  <c:v>0.13188</c:v>
                </c:pt>
                <c:pt idx="112">
                  <c:v>0.13816000000000001</c:v>
                </c:pt>
                <c:pt idx="113">
                  <c:v>0.13883999999999999</c:v>
                </c:pt>
                <c:pt idx="114">
                  <c:v>0.11681</c:v>
                </c:pt>
                <c:pt idx="115">
                  <c:v>0.10829999999999999</c:v>
                </c:pt>
                <c:pt idx="116">
                  <c:v>0.10044</c:v>
                </c:pt>
                <c:pt idx="117">
                  <c:v>8.2070000000000004E-2</c:v>
                </c:pt>
                <c:pt idx="118">
                  <c:v>9.3350000000000002E-2</c:v>
                </c:pt>
                <c:pt idx="119">
                  <c:v>8.4620000000000001E-2</c:v>
                </c:pt>
                <c:pt idx="120">
                  <c:v>8.294E-2</c:v>
                </c:pt>
                <c:pt idx="121">
                  <c:v>8.4860000000000005E-2</c:v>
                </c:pt>
                <c:pt idx="122">
                  <c:v>0.10255</c:v>
                </c:pt>
                <c:pt idx="123">
                  <c:v>0.12207999999999999</c:v>
                </c:pt>
                <c:pt idx="124">
                  <c:v>0.11333</c:v>
                </c:pt>
                <c:pt idx="125">
                  <c:v>0.12548999999999999</c:v>
                </c:pt>
                <c:pt idx="126">
                  <c:v>0.13789999999999999</c:v>
                </c:pt>
                <c:pt idx="127">
                  <c:v>0.13965</c:v>
                </c:pt>
                <c:pt idx="128">
                  <c:v>0.16103999999999999</c:v>
                </c:pt>
                <c:pt idx="129">
                  <c:v>0.16206000000000001</c:v>
                </c:pt>
                <c:pt idx="130">
                  <c:v>0.17519999999999999</c:v>
                </c:pt>
                <c:pt idx="131">
                  <c:v>0.17935999999999999</c:v>
                </c:pt>
                <c:pt idx="132">
                  <c:v>0.17247000000000001</c:v>
                </c:pt>
                <c:pt idx="133">
                  <c:v>0.17266000000000001</c:v>
                </c:pt>
                <c:pt idx="134">
                  <c:v>0.16633000000000001</c:v>
                </c:pt>
                <c:pt idx="135">
                  <c:v>0.16975999999999999</c:v>
                </c:pt>
                <c:pt idx="136">
                  <c:v>0.16263</c:v>
                </c:pt>
                <c:pt idx="137">
                  <c:v>0.16952</c:v>
                </c:pt>
                <c:pt idx="138">
                  <c:v>0.17322000000000001</c:v>
                </c:pt>
                <c:pt idx="139">
                  <c:v>0.15765999999999999</c:v>
                </c:pt>
                <c:pt idx="140">
                  <c:v>0.16663</c:v>
                </c:pt>
                <c:pt idx="141">
                  <c:v>0.18484999999999999</c:v>
                </c:pt>
                <c:pt idx="142">
                  <c:v>0.1618</c:v>
                </c:pt>
                <c:pt idx="143">
                  <c:v>0.15307000000000001</c:v>
                </c:pt>
                <c:pt idx="144">
                  <c:v>0.14804</c:v>
                </c:pt>
                <c:pt idx="145">
                  <c:v>0.15731999999999999</c:v>
                </c:pt>
                <c:pt idx="146">
                  <c:v>0.15775</c:v>
                </c:pt>
                <c:pt idx="147">
                  <c:v>0.14879999999999999</c:v>
                </c:pt>
                <c:pt idx="148">
                  <c:v>0.16214999999999999</c:v>
                </c:pt>
                <c:pt idx="149">
                  <c:v>0.14909</c:v>
                </c:pt>
                <c:pt idx="150">
                  <c:v>0.15021999999999999</c:v>
                </c:pt>
                <c:pt idx="151">
                  <c:v>0.12169000000000001</c:v>
                </c:pt>
                <c:pt idx="152">
                  <c:v>0.12128</c:v>
                </c:pt>
                <c:pt idx="153">
                  <c:v>0.12026000000000001</c:v>
                </c:pt>
                <c:pt idx="154">
                  <c:v>9.7720000000000001E-2</c:v>
                </c:pt>
                <c:pt idx="155">
                  <c:v>9.6640000000000004E-2</c:v>
                </c:pt>
                <c:pt idx="156">
                  <c:v>9.5689999999999997E-2</c:v>
                </c:pt>
                <c:pt idx="157">
                  <c:v>0.10745</c:v>
                </c:pt>
                <c:pt idx="158">
                  <c:v>0.10246</c:v>
                </c:pt>
                <c:pt idx="159">
                  <c:v>9.7589999999999996E-2</c:v>
                </c:pt>
                <c:pt idx="160">
                  <c:v>8.7489999999999998E-2</c:v>
                </c:pt>
                <c:pt idx="161">
                  <c:v>7.9589999999999994E-2</c:v>
                </c:pt>
                <c:pt idx="162">
                  <c:v>7.3969999999999994E-2</c:v>
                </c:pt>
                <c:pt idx="163">
                  <c:v>8.3159999999999998E-2</c:v>
                </c:pt>
                <c:pt idx="164">
                  <c:v>8.3309999999999995E-2</c:v>
                </c:pt>
                <c:pt idx="165">
                  <c:v>7.8380000000000005E-2</c:v>
                </c:pt>
                <c:pt idx="166">
                  <c:v>8.3529999999999993E-2</c:v>
                </c:pt>
                <c:pt idx="167">
                  <c:v>8.7150000000000005E-2</c:v>
                </c:pt>
                <c:pt idx="168">
                  <c:v>8.3220000000000002E-2</c:v>
                </c:pt>
                <c:pt idx="169">
                  <c:v>7.6819999999999999E-2</c:v>
                </c:pt>
                <c:pt idx="170">
                  <c:v>7.8049999999999994E-2</c:v>
                </c:pt>
                <c:pt idx="171">
                  <c:v>8.004E-2</c:v>
                </c:pt>
                <c:pt idx="172">
                  <c:v>6.0220000000000003E-2</c:v>
                </c:pt>
                <c:pt idx="173">
                  <c:v>4.9889999999999997E-2</c:v>
                </c:pt>
                <c:pt idx="174">
                  <c:v>5.8450000000000002E-2</c:v>
                </c:pt>
                <c:pt idx="175">
                  <c:v>6.0580000000000002E-2</c:v>
                </c:pt>
                <c:pt idx="176">
                  <c:v>5.6919999999999998E-2</c:v>
                </c:pt>
                <c:pt idx="177">
                  <c:v>5.5960000000000003E-2</c:v>
                </c:pt>
                <c:pt idx="178">
                  <c:v>5.7430000000000002E-2</c:v>
                </c:pt>
                <c:pt idx="179">
                  <c:v>4.9340000000000002E-2</c:v>
                </c:pt>
                <c:pt idx="180">
                  <c:v>4.4790000000000003E-2</c:v>
                </c:pt>
                <c:pt idx="181">
                  <c:v>4.5789999999999997E-2</c:v>
                </c:pt>
                <c:pt idx="182">
                  <c:v>5.4609999999999999E-2</c:v>
                </c:pt>
                <c:pt idx="183">
                  <c:v>6.0789999999999997E-2</c:v>
                </c:pt>
                <c:pt idx="184">
                  <c:v>7.3480000000000004E-2</c:v>
                </c:pt>
                <c:pt idx="185">
                  <c:v>6.1260000000000002E-2</c:v>
                </c:pt>
                <c:pt idx="186">
                  <c:v>5.8680000000000003E-2</c:v>
                </c:pt>
                <c:pt idx="187">
                  <c:v>5.4739999999999997E-2</c:v>
                </c:pt>
                <c:pt idx="188">
                  <c:v>5.117E-2</c:v>
                </c:pt>
                <c:pt idx="189">
                  <c:v>6.166E-2</c:v>
                </c:pt>
                <c:pt idx="190">
                  <c:v>5.5059999999999998E-2</c:v>
                </c:pt>
                <c:pt idx="191">
                  <c:v>5.9540000000000003E-2</c:v>
                </c:pt>
                <c:pt idx="192">
                  <c:v>6.5070000000000003E-2</c:v>
                </c:pt>
                <c:pt idx="193">
                  <c:v>6.3600000000000004E-2</c:v>
                </c:pt>
                <c:pt idx="194">
                  <c:v>5.7799999999999997E-2</c:v>
                </c:pt>
                <c:pt idx="195">
                  <c:v>5.7149999999999999E-2</c:v>
                </c:pt>
                <c:pt idx="196">
                  <c:v>5.5190000000000003E-2</c:v>
                </c:pt>
                <c:pt idx="197">
                  <c:v>6.0319999999999999E-2</c:v>
                </c:pt>
                <c:pt idx="198">
                  <c:v>6.6699999999999995E-2</c:v>
                </c:pt>
                <c:pt idx="199">
                  <c:v>6.8919999999999995E-2</c:v>
                </c:pt>
                <c:pt idx="200">
                  <c:v>6.8820000000000006E-2</c:v>
                </c:pt>
                <c:pt idx="201">
                  <c:v>8.9190000000000005E-2</c:v>
                </c:pt>
                <c:pt idx="202">
                  <c:v>8.8400000000000006E-2</c:v>
                </c:pt>
                <c:pt idx="203">
                  <c:v>7.4099999999999999E-2</c:v>
                </c:pt>
                <c:pt idx="204">
                  <c:v>7.979E-2</c:v>
                </c:pt>
                <c:pt idx="205">
                  <c:v>0.1057</c:v>
                </c:pt>
                <c:pt idx="206">
                  <c:v>0.11248</c:v>
                </c:pt>
                <c:pt idx="207">
                  <c:v>0.11842999999999999</c:v>
                </c:pt>
                <c:pt idx="208">
                  <c:v>0.11055</c:v>
                </c:pt>
                <c:pt idx="209">
                  <c:v>0.10965999999999999</c:v>
                </c:pt>
                <c:pt idx="210">
                  <c:v>0.11039</c:v>
                </c:pt>
              </c:numCache>
            </c:numRef>
          </c:val>
          <c:extLst>
            <c:ext xmlns:c16="http://schemas.microsoft.com/office/drawing/2014/chart" uri="{C3380CC4-5D6E-409C-BE32-E72D297353CC}">
              <c16:uniqueId val="{00000006-423A-44AC-9604-7967E678A370}"/>
            </c:ext>
          </c:extLst>
        </c:ser>
        <c:dLbls>
          <c:showLegendKey val="0"/>
          <c:showVal val="0"/>
          <c:showCatName val="0"/>
          <c:showSerName val="0"/>
          <c:showPercent val="0"/>
          <c:showBubbleSize val="0"/>
        </c:dLbls>
        <c:axId val="2094734554"/>
        <c:axId val="2094734552"/>
      </c:area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tickLblSkip val="52"/>
        <c:noMultiLvlLbl val="1"/>
      </c:catAx>
      <c:valAx>
        <c:axId val="2094734552"/>
        <c:scaling>
          <c:orientation val="minMax"/>
          <c:max val="1"/>
          <c:min val="0"/>
        </c:scaling>
        <c:delete val="0"/>
        <c:axPos val="l"/>
        <c:majorGridlines>
          <c:spPr>
            <a:ln w="9525" cap="flat">
              <a:solidFill>
                <a:srgbClr val="E1E7EC"/>
              </a:solidFill>
              <a:prstDash val="solid"/>
              <a:round/>
            </a:ln>
          </c:spPr>
        </c:majorGridlines>
        <c:numFmt formatCode="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0.25"/>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1" i="0" u="none" strike="noStrike">
                <a:solidFill>
                  <a:schemeClr val="tx2"/>
                </a:solidFill>
                <a:latin typeface="+mn-lt"/>
              </a:defRPr>
            </a:pPr>
            <a:r>
              <a:rPr lang="en-US" sz="1300" b="1" i="0" u="none" strike="noStrike">
                <a:solidFill>
                  <a:schemeClr val="tx2"/>
                </a:solidFill>
                <a:latin typeface="+mn-lt"/>
              </a:rPr>
              <a:t>P(UP) for the next trading day (last close ₹1,994.50)</a:t>
            </a:r>
          </a:p>
        </c:rich>
      </c:tx>
      <c:overlay val="0"/>
    </c:title>
    <c:autoTitleDeleted val="0"/>
    <c:plotArea>
      <c:layout/>
      <c:barChart>
        <c:barDir val="col"/>
        <c:grouping val="stacked"/>
        <c:varyColors val="0"/>
        <c:ser>
          <c:idx val="0"/>
          <c:order val="0"/>
          <c:tx>
            <c:strRef>
              <c:f>Sheet1!$B$1</c:f>
              <c:strCache>
                <c:ptCount val="1"/>
                <c:pt idx="0">
                  <c:v>Predicts UP</c:v>
                </c:pt>
              </c:strCache>
            </c:strRef>
          </c:tx>
          <c:spPr>
            <a:solidFill>
              <a:schemeClr val="accent1"/>
            </a:solidFill>
            <a:effectLst/>
          </c:spPr>
          <c:invertIfNegative val="0"/>
          <c:dLbls>
            <c:numFmt formatCode="0.00;;;" sourceLinked="0"/>
            <c:spPr>
              <a:noFill/>
              <a:ln>
                <a:noFill/>
              </a:ln>
              <a:effectLst/>
            </c:spPr>
            <c:txPr>
              <a:bodyPr/>
              <a:lstStyle/>
              <a:p>
                <a:pPr>
                  <a:defRPr sz="1100" b="1" i="0" u="none" strike="noStrike">
                    <a:solidFill>
                      <a:schemeClr val="bg1"/>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LogReg</c:v>
                </c:pt>
                <c:pt idx="1">
                  <c:v>RF</c:v>
                </c:pt>
                <c:pt idx="2">
                  <c:v>GB</c:v>
                </c:pt>
                <c:pt idx="3">
                  <c:v>XGBoost</c:v>
                </c:pt>
                <c:pt idx="4">
                  <c:v>SVM</c:v>
                </c:pt>
                <c:pt idx="5">
                  <c:v>KNN</c:v>
                </c:pt>
                <c:pt idx="6">
                  <c:v>LSTM</c:v>
                </c:pt>
                <c:pt idx="7">
                  <c:v>ViT</c:v>
                </c:pt>
              </c:strCache>
            </c:strRef>
          </c:cat>
          <c:val>
            <c:numRef>
              <c:f>Sheet1!$B$2:$B$9</c:f>
              <c:numCache>
                <c:formatCode>General</c:formatCode>
                <c:ptCount val="8"/>
                <c:pt idx="0">
                  <c:v>0.52400000000000002</c:v>
                </c:pt>
                <c:pt idx="1">
                  <c:v>0.50600000000000001</c:v>
                </c:pt>
                <c:pt idx="2">
                  <c:v>0</c:v>
                </c:pt>
                <c:pt idx="3">
                  <c:v>0</c:v>
                </c:pt>
                <c:pt idx="4">
                  <c:v>0.51800000000000002</c:v>
                </c:pt>
                <c:pt idx="5">
                  <c:v>0.61599999999999999</c:v>
                </c:pt>
                <c:pt idx="6">
                  <c:v>0</c:v>
                </c:pt>
                <c:pt idx="7">
                  <c:v>0.54200000000000004</c:v>
                </c:pt>
              </c:numCache>
            </c:numRef>
          </c:val>
          <c:extLst>
            <c:ext xmlns:c16="http://schemas.microsoft.com/office/drawing/2014/chart" uri="{C3380CC4-5D6E-409C-BE32-E72D297353CC}">
              <c16:uniqueId val="{00000000-7CC6-42C3-913E-8515258F5223}"/>
            </c:ext>
          </c:extLst>
        </c:ser>
        <c:ser>
          <c:idx val="1"/>
          <c:order val="1"/>
          <c:tx>
            <c:strRef>
              <c:f>Sheet1!$C$1</c:f>
              <c:strCache>
                <c:ptCount val="1"/>
                <c:pt idx="0">
                  <c:v>Predicts DOWN</c:v>
                </c:pt>
              </c:strCache>
            </c:strRef>
          </c:tx>
          <c:spPr>
            <a:solidFill>
              <a:schemeClr val="accent2"/>
            </a:solidFill>
            <a:effectLst/>
          </c:spPr>
          <c:invertIfNegative val="0"/>
          <c:dLbls>
            <c:numFmt formatCode="0.00;;;" sourceLinked="0"/>
            <c:spPr>
              <a:noFill/>
              <a:ln>
                <a:noFill/>
              </a:ln>
              <a:effectLst/>
            </c:spPr>
            <c:txPr>
              <a:bodyPr/>
              <a:lstStyle/>
              <a:p>
                <a:pPr>
                  <a:defRPr sz="1100" b="1" i="0" u="none" strike="noStrike">
                    <a:solidFill>
                      <a:schemeClr val="bg1"/>
                    </a:solidFill>
                    <a:latin typeface="+mn-lt"/>
                  </a:defRPr>
                </a:pPr>
                <a:endParaRPr lang="en-US"/>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Sheet1!$A$2:$A$9</c:f>
              <c:strCache>
                <c:ptCount val="8"/>
                <c:pt idx="0">
                  <c:v>LogReg</c:v>
                </c:pt>
                <c:pt idx="1">
                  <c:v>RF</c:v>
                </c:pt>
                <c:pt idx="2">
                  <c:v>GB</c:v>
                </c:pt>
                <c:pt idx="3">
                  <c:v>XGBoost</c:v>
                </c:pt>
                <c:pt idx="4">
                  <c:v>SVM</c:v>
                </c:pt>
                <c:pt idx="5">
                  <c:v>KNN</c:v>
                </c:pt>
                <c:pt idx="6">
                  <c:v>LSTM</c:v>
                </c:pt>
                <c:pt idx="7">
                  <c:v>ViT</c:v>
                </c:pt>
              </c:strCache>
            </c:strRef>
          </c:cat>
          <c:val>
            <c:numRef>
              <c:f>Sheet1!$C$2:$C$9</c:f>
              <c:numCache>
                <c:formatCode>General</c:formatCode>
                <c:ptCount val="8"/>
                <c:pt idx="0">
                  <c:v>0</c:v>
                </c:pt>
                <c:pt idx="1">
                  <c:v>0</c:v>
                </c:pt>
                <c:pt idx="2">
                  <c:v>0.38900000000000001</c:v>
                </c:pt>
                <c:pt idx="3">
                  <c:v>0.29599999999999999</c:v>
                </c:pt>
                <c:pt idx="4">
                  <c:v>0</c:v>
                </c:pt>
                <c:pt idx="5">
                  <c:v>0</c:v>
                </c:pt>
                <c:pt idx="6">
                  <c:v>0.49199999999999999</c:v>
                </c:pt>
                <c:pt idx="7">
                  <c:v>0</c:v>
                </c:pt>
              </c:numCache>
            </c:numRef>
          </c:val>
          <c:extLst>
            <c:ext xmlns:c16="http://schemas.microsoft.com/office/drawing/2014/chart" uri="{C3380CC4-5D6E-409C-BE32-E72D297353CC}">
              <c16:uniqueId val="{00000001-7CC6-42C3-913E-8515258F5223}"/>
            </c:ext>
          </c:extLst>
        </c:ser>
        <c:dLbls>
          <c:dLblPos val="ctr"/>
          <c:showLegendKey val="0"/>
          <c:showVal val="1"/>
          <c:showCatName val="0"/>
          <c:showSerName val="0"/>
          <c:showPercent val="0"/>
          <c:showBubbleSize val="0"/>
        </c:dLbls>
        <c:gapWidth val="50"/>
        <c:overlap val="100"/>
        <c:axId val="2094734554"/>
        <c:axId val="2094734552"/>
      </c:barChart>
      <c:lineChart>
        <c:grouping val="standard"/>
        <c:varyColors val="0"/>
        <c:ser>
          <c:idx val="2"/>
          <c:order val="2"/>
          <c:tx>
            <c:strRef>
              <c:f>Sheet1!$D$1</c:f>
              <c:strCache>
                <c:ptCount val="1"/>
                <c:pt idx="0">
                  <c:v>Threshold 0.5</c:v>
                </c:pt>
              </c:strCache>
            </c:strRef>
          </c:tx>
          <c:spPr>
            <a:ln w="19050" cap="flat">
              <a:solidFill>
                <a:schemeClr val="tx2"/>
              </a:solidFill>
              <a:prstDash val="dash"/>
              <a:round/>
            </a:ln>
            <a:effectLst/>
          </c:spPr>
          <c:marker>
            <c:symbol val="none"/>
          </c:marker>
          <c:cat>
            <c:strRef>
              <c:f>Sheet1!$A$2:$A$9</c:f>
              <c:strCache>
                <c:ptCount val="8"/>
                <c:pt idx="0">
                  <c:v>LogReg</c:v>
                </c:pt>
                <c:pt idx="1">
                  <c:v>RF</c:v>
                </c:pt>
                <c:pt idx="2">
                  <c:v>GB</c:v>
                </c:pt>
                <c:pt idx="3">
                  <c:v>XGBoost</c:v>
                </c:pt>
                <c:pt idx="4">
                  <c:v>SVM</c:v>
                </c:pt>
                <c:pt idx="5">
                  <c:v>KNN</c:v>
                </c:pt>
                <c:pt idx="6">
                  <c:v>LSTM</c:v>
                </c:pt>
                <c:pt idx="7">
                  <c:v>ViT</c:v>
                </c:pt>
              </c:strCache>
            </c:strRef>
          </c:cat>
          <c:val>
            <c:numRef>
              <c:f>Sheet1!$D$2:$D$9</c:f>
              <c:numCache>
                <c:formatCode>General</c:formatCode>
                <c:ptCount val="8"/>
                <c:pt idx="0">
                  <c:v>0.5</c:v>
                </c:pt>
                <c:pt idx="1">
                  <c:v>0.5</c:v>
                </c:pt>
                <c:pt idx="2">
                  <c:v>0.5</c:v>
                </c:pt>
                <c:pt idx="3">
                  <c:v>0.5</c:v>
                </c:pt>
                <c:pt idx="4">
                  <c:v>0.5</c:v>
                </c:pt>
                <c:pt idx="5">
                  <c:v>0.5</c:v>
                </c:pt>
                <c:pt idx="6">
                  <c:v>0.5</c:v>
                </c:pt>
                <c:pt idx="7">
                  <c:v>0.5</c:v>
                </c:pt>
              </c:numCache>
            </c:numRef>
          </c:val>
          <c:smooth val="0"/>
          <c:extLst>
            <c:ext xmlns:c16="http://schemas.microsoft.com/office/drawing/2014/chart" uri="{C3380CC4-5D6E-409C-BE32-E72D297353CC}">
              <c16:uniqueId val="{00000002-7CC6-42C3-913E-8515258F5223}"/>
            </c:ext>
          </c:extLst>
        </c:ser>
        <c:dLbls>
          <c:showLegendKey val="0"/>
          <c:showVal val="0"/>
          <c:showCatName val="0"/>
          <c:showSerName val="0"/>
          <c:showPercent val="0"/>
          <c:showBubbleSize val="0"/>
        </c:dLbls>
        <c:marker val="1"/>
        <c:smooth val="0"/>
        <c:axId val="2094734554"/>
        <c:axId val="2094734552"/>
      </c:lineChart>
      <c:catAx>
        <c:axId val="2094734554"/>
        <c:scaling>
          <c:orientation val="minMax"/>
        </c:scaling>
        <c:delete val="0"/>
        <c:axPos val="b"/>
        <c:numFmt formatCode="General" sourceLinked="1"/>
        <c:majorTickMark val="none"/>
        <c:minorTickMark val="none"/>
        <c:tickLblPos val="low"/>
        <c:spPr>
          <a:ln w="12700" cap="flat">
            <a:solidFill>
              <a:schemeClr val="accent6"/>
            </a:solidFill>
            <a:prstDash val="solid"/>
            <a:round/>
          </a:ln>
        </c:spPr>
        <c:txPr>
          <a:bodyPr/>
          <a:lstStyle/>
          <a:p>
            <a:pPr>
              <a:defRPr sz="1100" b="0" i="0" u="none" strike="noStrike">
                <a:solidFill>
                  <a:schemeClr val="accent6"/>
                </a:solidFill>
                <a:latin typeface="+mn-lt"/>
              </a:defRPr>
            </a:pPr>
            <a:endParaRPr lang="en-US"/>
          </a:p>
        </c:txPr>
        <c:crossAx val="2094734552"/>
        <c:crosses val="autoZero"/>
        <c:auto val="1"/>
        <c:lblAlgn val="ctr"/>
        <c:lblOffset val="100"/>
        <c:noMultiLvlLbl val="1"/>
      </c:catAx>
      <c:valAx>
        <c:axId val="2094734552"/>
        <c:scaling>
          <c:orientation val="minMax"/>
          <c:max val="0.7"/>
          <c:min val="0"/>
        </c:scaling>
        <c:delete val="0"/>
        <c:axPos val="l"/>
        <c:majorGridlines>
          <c:spPr>
            <a:ln w="9525" cap="flat">
              <a:solidFill>
                <a:srgbClr val="E1E7EC"/>
              </a:solidFill>
              <a:prstDash val="solid"/>
              <a:round/>
            </a:ln>
          </c:spPr>
        </c:majorGridlines>
        <c:numFmt formatCode="0.0" sourceLinked="0"/>
        <c:majorTickMark val="none"/>
        <c:minorTickMark val="none"/>
        <c:tickLblPos val="nextTo"/>
        <c:spPr>
          <a:ln w="12700" cap="flat">
            <a:noFill/>
            <a:prstDash val="solid"/>
            <a:round/>
          </a:ln>
        </c:spPr>
        <c:txPr>
          <a:bodyPr/>
          <a:lstStyle/>
          <a:p>
            <a:pPr>
              <a:defRPr sz="1100" b="0" i="0" u="none" strike="noStrike">
                <a:solidFill>
                  <a:schemeClr val="accent6"/>
                </a:solidFill>
                <a:latin typeface="+mn-lt"/>
              </a:defRPr>
            </a:pPr>
            <a:endParaRPr lang="en-US"/>
          </a:p>
        </c:txPr>
        <c:crossAx val="2094734554"/>
        <c:crosses val="autoZero"/>
        <c:crossBetween val="between"/>
        <c:majorUnit val="0.1"/>
      </c:valAx>
      <c:spPr>
        <a:noFill/>
        <a:ln>
          <a:noFill/>
        </a:ln>
        <a:effectLst/>
      </c:spPr>
    </c:plotArea>
    <c:legend>
      <c:legendPos val="b"/>
      <c:overlay val="0"/>
      <c:txPr>
        <a:bodyPr/>
        <a:lstStyle/>
        <a:p>
          <a:pPr>
            <a:defRPr sz="1100">
              <a:solidFill>
                <a:schemeClr val="tx1"/>
              </a:solidFill>
              <a:latin typeface="+mn-lt"/>
              <a:cs typeface="+mn-lt"/>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7718040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My project is QuantPredict: a system that predicts whether a NIFTY-50 stock will close higher or lower on the next trading day. It compares eight models, including an LSTM and a Vision Transformer adapted to financial data, and several ways of combining them, under a strictly leakage-free evaluation. The line in the background is the actual adjusted price history of Reliance Industries that the experiments use.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talk follows the report: background and problem, literature and research gap, the system design, the models and ensembles, the results, and finally a live demo and the conclusion.</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Stock prices are noisy and react to news we do not see, so instead of forecasting the exact price I predict only the direction of the next day. Each green bar here is an UP day and each red bar a DOWN day; that is the label the models must learn. The baseline matters: in the test period 51.9 percent of days were UP, so a useful model has to beat roughly 52 percent, not 50.</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things motivated the project. First, many published pipelines leak future information without anyone noticing. Second, markets change, so the best model changes, which questions equal voting. Third, a 20-day window of indicators is a small 2-D grid, so I wanted to see whether a Vision Transformer can read it. Fourth, an honest baseline that reports negative results is useful in itself.</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eight objectives. The left column builds the data and the models; the right column is about evaluation: leakage-safe feature selection, weights learned only from out-of-fold predictions, a fair comparison of ensembles, and automated checks that prove there is no look-ahead.</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reviewed twenty open-access studies from 2024 to 2026. Six representative ones are here. Sequence models, news fusion and ML-DL ensembles are all established, and Indian-market studies exist. The two most important for my question are Kundu and Pinsky, who found deep learning does not help everywhere, and Kulkarni et al., who found the best model depends on context, which motivates weights that change over time.</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gap is not a missing algorithm; it is missing evidence. The pieces exist, but few studies prove their pipeline never saw the test period, and most ensembles keep fixed weights although the best model changes. So my contribution is a transparent framework and four research questions: do the models beat the baseline, does the ViT help, do the ensembles help, and does feature selection help.</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data is the public Kaggle NIFTY-50 collection of NSE daily files. The main experiment uses Reliance Industries, 5,306 trading days from January 2000 to April 2021, but any of the 49 stock files can be selected with one constant. Everything is in Python; the deep models run on PyTorch or TensorFlow, whichever is installed. A full run takes about four minutes on my laptop CPU.</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system is a left-to-right pipeline. Raw NSE data is cleaned and adjusted for corporate actions, turned into 37 stationary features, split chronologically, and fed to three families of models. A walk-forward validation layer produces out-of-fold predictions, and only those are used to build the ensembles. The output is the metrics, the figures, an integrity checklist and a next-day prediction. One rule shapes everything: nothing fitted ever sees the test period.</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implementation is one Python file with eighteen numbered steps in four phases: prepare the data, train the models, combine them, and report. Each step uses variables created by the earlier ones, so the whole file runs top to bottom, either in Colab or locally.</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NSE files hold raw traded prices. When Reliance issued 1-to-1 bonus shares in 2009 and 2017, the raw price halved overnight; the red line shows these cliffs. Left alone they become fake 50 percent crashes and wrong DOWN labels. Step 2a detects them with a simple rule and rescales the older prices; the green line is the adjusted series. The real March 2020 crash is kept, because it opened near 0.9 of the previous close.</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Eight standard indicators are computed with the ta library. Raw price levels are a problem over 21 years: the adjusted price rose about fifty times, so a scaler fitted on the early years would see the test years far out of range. So every feature is made stationary: returns, ratios to the current close, bounded oscillators and volume ratios. That gives 37 features in five groups, including lags of 1, 2, 3 and 5 days.</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the heart of the evaluation. The first 80 percent of days train the models and the last 20 percent, from January 2017 to April 2021, are the test set. Inside the training period, four expanding walk-forward folds retrain every model and predict the next block, which gives out-of-fold predictions for 2,102 days. Those predictions, never the test set, are used to set the ensemble weights, tune adaptive voting and train the stacking model.</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classical models form the baseline, from a linear model to boosting, a kernel SVM and nearest neighbours, all with standard settings. A factory function creates fresh models so that walk-forward folds never share fitted objects. For feature selection, mutual information and random-forest importance each keep 20 features, chosen on training data only. Mutual information won in validation, but on the test set the effect was mixed.</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LSTM reads the last 20 trading days, each with 37 features, through 64 memory units, then dropout and two dense layers give the probability of UP. The window alignment is important: it includes today's features and never tomorrow's price. The training curve tells the story of this problem: training loss keeps falling, but validation loss is lowest at epoch 5 and then rises, so the network memorises noise. Early stopping restores the epoch-5 weights.</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not an image model and no chart images are used. The same 20 by 37 window that the LSTM reads is treated like a small one-channel image and cut into a 4 by 2 grid of patches, each five days by 19 features. Each patch becomes a 64-dimensional token, positional embeddings are added, and two transformer encoder blocks let every patch attend to every other one. Because the inputs, split and scaler are identical, the ViT is directly comparable with the LSTM.</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model gives a probability and a label for each day. Majority voting counts labels; soft voting averages probabilities; static weighted voting weights each model by its walk-forward F1-score; adaptive weighted voting recomputes the weights every day from each model's recent accuracy; and stacking learns the combination with a logistic meta-model trained on out-of-fold probabilities. Each rule has a 7-model version and an experimental 8-model version that adds the ViT.</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Adaptive voting recomputes each model's weight every day as a softmax of its accuracy over the last W days whose outcomes are already known. Timing is the critical detail: the vote for day t is cast after the close of day t, so the newest label it may use is yesterday's. The window and the sharpness beta were tuned on the out-of-fold period only; the best setting was a one-year window with beta 20, and short windows were clearly worse because 20 days is too noisy.</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bars show accuracy above 50 percent on the 1,052 test days. Gradient Boosting is clearly best at 53.6 percent and is the only model above the 51.9 percent majority-class line; KNN only matches it. Logistic regression and the LSTM fall below a coin flip. F1 can mislead here: the ViT has the highest F1 only because it predicts UP on 86 percent of days.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 ensemble beat Gradient Boosting; the best, eight-model stacking, reached 52.4 percent. But that comparison picks the best of eight models after seeing the test results. The ensembles are much more consistent: their spread is 1.6 points against 4.7 for single models, and the average ensemble is better than the average model. Also, every rule that uses probabilities beat its label-based version.</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head-to-head the Review-I proposal asked for, on identical base predictions. Adaptive weighting reached 52.09 percent, static weighting 51.52 and majority voting 50.86, the order we hypothesised. The right chart shows why: the adaptive weights moved towards Gradient Boosting and KNN, which turned out to be the best test models, using only past outcomes. But the gain is 13 days out of 1,052, inside the noise band, so it is suggestive rather than proven.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Two kinds of trust. First, leakage: STEP 17 re-checks 18 conditions in code, from the chronological split to a test that scrambles future labels and confirms the adaptive weights do not change. All 18 pass. Second, luck: with 1,052 test days the noise band is about plus or minus 3 points. Only Gradient Boosting beats a coin flip at the 5 percent level, and nothing beats the majority-class rate significantly. I report this openly rather than overstate the results.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the demo, the pipeline takes the last row in the data, 30 April 2021, which was never used for training or testing, and predicts the next trading day. Five of eight models lean slightly UP, so the label-based rules say UP; but the two boosting models are fairly confident about DOWN, so the probability-based rules, including adaptive voting, say DOWN. The program prints a warning that this is a statistical estimate, not financial advice.</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Gradient Boosting was the strongest single model; the Vision Transformer and LSTM stayed near 50 percent; ensembles did not beat the best model but were far steadier, and adaptive weighting ranked first among the voting rules; feature selection was mixed. The main contribution is a framework where such claims can be tested honestly. Next steps: run all 49 stocks, use rolling-origin tests, switch the weighting metric, add a trading layer, and give the ViT more data.</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Thank you. The key references are listed here; the full APA reference list is in the report. I am happy to take questions, and I can run the pipeline live if the panel would like to see it.</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QP_TITLE">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2057400"/>
            <a:ext cx="7498080" cy="1005840"/>
          </a:xfrm>
          <a:prstGeom prst="rect">
            <a:avLst/>
          </a:prstGeom>
          <a:noFill/>
          <a:ln/>
        </p:spPr>
        <p:txBody>
          <a:bodyPr wrap="square" rtlCol="0"/>
          <a:lstStyle>
            <a:lvl1pPr marL="0" indent="0" algn="l">
              <a:buNone/>
              <a:defRPr lang="en-US" sz="6000" b="1" dirty="0">
                <a:solidFill>
                  <a:schemeClr val="bg1"/>
                </a:solidFill>
              </a:defRPr>
            </a:lvl1pPr>
          </a:lstStyle>
          <a:p>
            <a:pPr marL="0" indent="0" algn="l">
              <a:buNone/>
            </a:pPr>
            <a:endParaRPr lang="en-US" sz="6000" dirty="0"/>
          </a:p>
        </p:txBody>
      </p:sp>
      <p:sp>
        <p:nvSpPr>
          <p:cNvPr id="3" name="Text 0"/>
          <p:cNvSpPr>
            <a:spLocks noGrp="1"/>
          </p:cNvSpPr>
          <p:nvPr>
            <p:ph type="body" idx="101" hasCustomPrompt="1"/>
          </p:nvPr>
        </p:nvSpPr>
        <p:spPr>
          <a:xfrm>
            <a:off x="731520" y="3154680"/>
            <a:ext cx="7040880" cy="1051560"/>
          </a:xfrm>
          <a:prstGeom prst="rect">
            <a:avLst/>
          </a:prstGeom>
          <a:noFill/>
          <a:ln/>
        </p:spPr>
        <p:txBody>
          <a:bodyPr wrap="square" rtlCol="0"/>
          <a:lstStyle>
            <a:lvl1pPr marL="0" indent="0" algn="l">
              <a:buNone/>
              <a:defRPr lang="en-US" sz="2000" dirty="0">
                <a:solidFill>
                  <a:schemeClr val="bg2"/>
                </a:solidFill>
              </a:defRPr>
            </a:lvl1pPr>
          </a:lstStyle>
          <a:p>
            <a:pPr marL="0" indent="0" algn="l">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QP_CONTENT">
    <p:bg>
      <p:bgPr>
        <a:solidFill>
          <a:schemeClr val="bg1"/>
        </a:solidFill>
        <a:effectLst/>
      </p:bgPr>
    </p:bg>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rtlCol="0"/>
          <a:lstStyle>
            <a:lvl1pPr marL="0" indent="0" algn="l">
              <a:buNone/>
              <a:defRPr lang="en-US" sz="1200" b="1" kern="0" spc="200" dirty="0">
                <a:solidFill>
                  <a:schemeClr val="accent1"/>
                </a:solidFill>
              </a:defRPr>
            </a:lvl1pPr>
          </a:lstStyle>
          <a:p>
            <a:pPr marL="0" indent="0" algn="l">
              <a:buNone/>
            </a:pP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rtlCol="0"/>
          <a:lstStyle>
            <a:lvl1pPr marL="0" indent="0" algn="l">
              <a:buNone/>
              <a:defRPr lang="en-US" sz="3200" b="1" dirty="0">
                <a:solidFill>
                  <a:schemeClr val="tx2"/>
                </a:solidFill>
              </a:defRPr>
            </a:lvl1pPr>
          </a:lstStyle>
          <a:p>
            <a:pPr marL="0" indent="0" algn="l">
              <a:buNone/>
            </a:pPr>
            <a:endParaRPr lang="en-US" sz="3200" dirty="0"/>
          </a:p>
        </p:txBody>
      </p:sp>
      <p:sp>
        <p:nvSpPr>
          <p:cNvPr id="4" name="Text 0"/>
          <p:cNvSpPr/>
          <p:nvPr/>
        </p:nvSpPr>
        <p:spPr>
          <a:xfrm>
            <a:off x="548640" y="6419088"/>
            <a:ext cx="7315200" cy="274320"/>
          </a:xfrm>
          <a:prstGeom prst="rect">
            <a:avLst/>
          </a:prstGeom>
          <a:noFill/>
          <a:ln/>
        </p:spPr>
        <p:txBody>
          <a:bodyPr wrap="square" lIns="0" tIns="0" rIns="0" bIns="0" rtlCol="0" anchor="ctr"/>
          <a:lstStyle/>
          <a:p>
            <a:pPr marL="0" indent="0">
              <a:buNone/>
            </a:pPr>
            <a:r>
              <a:rPr lang="en-US" sz="1000" dirty="0">
                <a:solidFill>
                  <a:schemeClr val="accent6"/>
                </a:solidFill>
              </a:rPr>
              <a:t>QuantPredict  ·  Aditya Rai (23BIT0019)  ·  BITE497J Project I</a:t>
            </a:r>
            <a:endParaRPr lang="en-US" sz="10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QP_DARK">
    <p:bg>
      <p:bgPr>
        <a:solidFill>
          <a:schemeClr val="tx2"/>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731520" y="1097280"/>
            <a:ext cx="5120640" cy="1005840"/>
          </a:xfrm>
          <a:prstGeom prst="rect">
            <a:avLst/>
          </a:prstGeom>
          <a:noFill/>
          <a:ln/>
        </p:spPr>
        <p:txBody>
          <a:bodyPr wrap="square" rtlCol="0"/>
          <a:lstStyle>
            <a:lvl1pPr marL="0" indent="0" algn="l">
              <a:buNone/>
              <a:defRPr lang="en-US" sz="5400" b="1" dirty="0">
                <a:solidFill>
                  <a:schemeClr val="bg1"/>
                </a:solidFill>
              </a:defRPr>
            </a:lvl1pPr>
          </a:lstStyle>
          <a:p>
            <a:pPr marL="0" indent="0" algn="l">
              <a:buNone/>
            </a:pPr>
            <a:endParaRPr lang="en-US" sz="5400" dirty="0"/>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2.jpeg"/></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3.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5.png"/></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chart" Target="../charts/chart3.xml"/><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3.xml"/><Relationship Id="rId1" Type="http://schemas.openxmlformats.org/officeDocument/2006/relationships/slideLayout" Target="../slideLayouts/slideLayout3.xml"/><Relationship Id="rId5" Type="http://schemas.openxmlformats.org/officeDocument/2006/relationships/image" Target="../media/image20.png"/><Relationship Id="rId4" Type="http://schemas.openxmlformats.org/officeDocument/2006/relationships/image" Target="../media/image19.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5.xml"/><Relationship Id="rId1" Type="http://schemas.openxmlformats.org/officeDocument/2006/relationships/slideLayout" Target="../slideLayouts/slideLayout3.xml"/><Relationship Id="rId4" Type="http://schemas.openxmlformats.org/officeDocument/2006/relationships/chart" Target="../charts/char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23.png"/><Relationship Id="rId7" Type="http://schemas.openxmlformats.org/officeDocument/2006/relationships/image" Target="../media/image26.png"/><Relationship Id="rId2" Type="http://schemas.openxmlformats.org/officeDocument/2006/relationships/notesSlide" Target="../notesSlides/notesSlide17.xml"/><Relationship Id="rId1" Type="http://schemas.openxmlformats.org/officeDocument/2006/relationships/slideLayout" Target="../slideLayouts/slideLayout3.xml"/><Relationship Id="rId6" Type="http://schemas.openxmlformats.org/officeDocument/2006/relationships/image" Target="../media/image25.png"/><Relationship Id="rId5" Type="http://schemas.openxmlformats.org/officeDocument/2006/relationships/image" Target="../media/image12.png"/><Relationship Id="rId4" Type="http://schemas.openxmlformats.org/officeDocument/2006/relationships/image" Target="../media/image24.png"/></Relationships>
</file>

<file path=ppt/slides/_rels/slide18.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18.xml"/><Relationship Id="rId1" Type="http://schemas.openxmlformats.org/officeDocument/2006/relationships/slideLayout" Target="../slideLayouts/slideLayout3.xml"/><Relationship Id="rId4" Type="http://schemas.openxmlformats.org/officeDocument/2006/relationships/image" Target="../media/image18.png"/></Relationships>
</file>

<file path=ppt/slides/_rels/slide19.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1.xml"/><Relationship Id="rId1" Type="http://schemas.openxmlformats.org/officeDocument/2006/relationships/slideLayout" Target="../slideLayouts/slideLayout3.xml"/><Relationship Id="rId4" Type="http://schemas.openxmlformats.org/officeDocument/2006/relationships/chart" Target="../charts/chart8.xml"/></Relationships>
</file>

<file path=ppt/slides/_rels/slide2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chart" Target="../charts/chart9.xml"/><Relationship Id="rId2" Type="http://schemas.openxmlformats.org/officeDocument/2006/relationships/notesSlide" Target="../notesSlides/notesSlide23.xml"/><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24.xml.rels><?xml version="1.0" encoding="UTF-8" standalone="yes"?>
<Relationships xmlns="http://schemas.openxmlformats.org/package/2006/relationships"><Relationship Id="rId3" Type="http://schemas.openxmlformats.org/officeDocument/2006/relationships/image" Target="../media/image30.png"/><Relationship Id="rId7" Type="http://schemas.openxmlformats.org/officeDocument/2006/relationships/image" Target="../media/image32.png"/><Relationship Id="rId2" Type="http://schemas.openxmlformats.org/officeDocument/2006/relationships/notesSlide" Target="../notesSlides/notesSlide24.xml"/><Relationship Id="rId1" Type="http://schemas.openxmlformats.org/officeDocument/2006/relationships/slideLayout" Target="../slideLayouts/slideLayout3.xml"/><Relationship Id="rId6" Type="http://schemas.openxmlformats.org/officeDocument/2006/relationships/image" Target="../media/image31.png"/><Relationship Id="rId5" Type="http://schemas.openxmlformats.org/officeDocument/2006/relationships/image" Target="../media/image12.png"/><Relationship Id="rId4" Type="http://schemas.openxmlformats.org/officeDocument/2006/relationships/image" Target="../media/image20.pn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price-line" descr="RELIANCE adjusted close price, 2000-2021"/>
          <p:cNvPicPr>
            <a:picLocks noChangeAspect="1"/>
          </p:cNvPicPr>
          <p:nvPr/>
        </p:nvPicPr>
        <p:blipFill>
          <a:blip r:embed="rId3"/>
          <a:stretch>
            <a:fillRect/>
          </a:stretch>
        </p:blipFill>
        <p:spPr>
          <a:xfrm>
            <a:off x="0" y="4526280"/>
            <a:ext cx="12191695" cy="2331720"/>
          </a:xfrm>
          <a:prstGeom prst="rect">
            <a:avLst/>
          </a:prstGeom>
        </p:spPr>
      </p:pic>
      <p:sp>
        <p:nvSpPr>
          <p:cNvPr id="3" name="logo-badge"/>
          <p:cNvSpPr/>
          <p:nvPr/>
        </p:nvSpPr>
        <p:spPr>
          <a:xfrm>
            <a:off x="731520" y="502920"/>
            <a:ext cx="2514600" cy="841248"/>
          </a:xfrm>
          <a:prstGeom prst="roundRect">
            <a:avLst>
              <a:gd name="adj" fmla="val 13043"/>
            </a:avLst>
          </a:prstGeom>
          <a:solidFill>
            <a:schemeClr val="bg1"/>
          </a:solidFill>
          <a:ln/>
        </p:spPr>
        <p:txBody>
          <a:bodyPr/>
          <a:lstStyle/>
          <a:p>
            <a:endParaRPr lang="en-IN"/>
          </a:p>
        </p:txBody>
      </p:sp>
      <p:pic>
        <p:nvPicPr>
          <p:cNvPr id="4" name="vit-logo" descr="VIT logo"/>
          <p:cNvPicPr>
            <a:picLocks noChangeAspect="1"/>
          </p:cNvPicPr>
          <p:nvPr/>
        </p:nvPicPr>
        <p:blipFill>
          <a:blip r:embed="rId4"/>
          <a:stretch>
            <a:fillRect/>
          </a:stretch>
        </p:blipFill>
        <p:spPr>
          <a:xfrm>
            <a:off x="850392" y="612648"/>
            <a:ext cx="2276856" cy="621792"/>
          </a:xfrm>
          <a:prstGeom prst="rect">
            <a:avLst/>
          </a:prstGeom>
        </p:spPr>
      </p:pic>
      <p:sp>
        <p:nvSpPr>
          <p:cNvPr id="5" name="pill-2"/>
          <p:cNvSpPr txBox="1"/>
          <p:nvPr/>
        </p:nvSpPr>
        <p:spPr>
          <a:xfrm>
            <a:off x="731520" y="1572768"/>
            <a:ext cx="4023360" cy="365760"/>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kern="0" spc="100" dirty="0">
                <a:solidFill>
                  <a:schemeClr val="bg1"/>
                </a:solidFill>
              </a:rPr>
              <a:t>BITE497J  ·  PROJECT I  ·  FINAL REVIEW</a:t>
            </a:r>
            <a:endParaRPr lang="en-US" sz="1200" dirty="0"/>
          </a:p>
        </p:txBody>
      </p:sp>
      <p:sp>
        <p:nvSpPr>
          <p:cNvPr id="6" name="Text 0"/>
          <p:cNvSpPr>
            <a:spLocks noGrp="1"/>
          </p:cNvSpPr>
          <p:nvPr>
            <p:ph type="title" idx="100" hasCustomPrompt="1"/>
          </p:nvPr>
        </p:nvSpPr>
        <p:spPr>
          <a:xfrm>
            <a:off x="731520" y="2057400"/>
            <a:ext cx="7498080" cy="1005840"/>
          </a:xfrm>
          <a:prstGeom prst="rect">
            <a:avLst/>
          </a:prstGeom>
          <a:noFill/>
          <a:ln/>
        </p:spPr>
        <p:txBody>
          <a:bodyPr wrap="square" lIns="0" tIns="0" rIns="0" bIns="0" rtlCol="0" anchor="b"/>
          <a:lstStyle/>
          <a:p>
            <a:pPr marL="0" indent="0" algn="l">
              <a:buNone/>
            </a:pPr>
            <a:r>
              <a:rPr lang="en-US" sz="6000" b="1" dirty="0">
                <a:solidFill>
                  <a:schemeClr val="bg1"/>
                </a:solidFill>
              </a:rPr>
              <a:t>QuantPredict</a:t>
            </a:r>
            <a:endParaRPr lang="en-US" sz="6000" dirty="0"/>
          </a:p>
        </p:txBody>
      </p:sp>
      <p:sp>
        <p:nvSpPr>
          <p:cNvPr id="7" name="Text 0"/>
          <p:cNvSpPr>
            <a:spLocks noGrp="1"/>
          </p:cNvSpPr>
          <p:nvPr>
            <p:ph type="body" idx="101" hasCustomPrompt="1"/>
          </p:nvPr>
        </p:nvSpPr>
        <p:spPr>
          <a:xfrm>
            <a:off x="731520" y="3154680"/>
            <a:ext cx="7040880" cy="1051560"/>
          </a:xfrm>
          <a:prstGeom prst="rect">
            <a:avLst/>
          </a:prstGeom>
          <a:noFill/>
          <a:ln/>
        </p:spPr>
        <p:txBody>
          <a:bodyPr wrap="square" lIns="0" tIns="0" rIns="0" bIns="0" rtlCol="0" anchor="t"/>
          <a:lstStyle/>
          <a:p>
            <a:pPr marL="0" indent="0" algn="l">
              <a:buNone/>
            </a:pPr>
            <a:r>
              <a:rPr lang="en-US" sz="2000" dirty="0">
                <a:solidFill>
                  <a:schemeClr val="bg2"/>
                </a:solidFill>
              </a:rPr>
              <a:t>Next-day stock direction prediction with machine learning, LSTM, a Vision Transformer and adaptive ensemble voting</a:t>
            </a:r>
            <a:endParaRPr lang="en-US" sz="2000" dirty="0"/>
          </a:p>
        </p:txBody>
      </p:sp>
      <p:sp>
        <p:nvSpPr>
          <p:cNvPr id="8" name="presenter-card"/>
          <p:cNvSpPr/>
          <p:nvPr/>
        </p:nvSpPr>
        <p:spPr>
          <a:xfrm>
            <a:off x="8366760" y="1572768"/>
            <a:ext cx="3108960" cy="2331720"/>
          </a:xfrm>
          <a:prstGeom prst="roundRect">
            <a:avLst>
              <a:gd name="adj" fmla="val 3922"/>
            </a:avLst>
          </a:prstGeom>
          <a:solidFill>
            <a:schemeClr val="bg1">
              <a:alpha val="10000"/>
            </a:schemeClr>
          </a:solidFill>
          <a:ln/>
        </p:spPr>
        <p:txBody>
          <a:bodyPr/>
          <a:lstStyle/>
          <a:p>
            <a:endParaRPr lang="en-IN"/>
          </a:p>
        </p:txBody>
      </p:sp>
      <p:sp>
        <p:nvSpPr>
          <p:cNvPr id="9" name="text-4"/>
          <p:cNvSpPr txBox="1"/>
          <p:nvPr/>
        </p:nvSpPr>
        <p:spPr>
          <a:xfrm>
            <a:off x="8641080" y="1783080"/>
            <a:ext cx="2697480" cy="2286000"/>
          </a:xfrm>
          <a:prstGeom prst="rect">
            <a:avLst/>
          </a:prstGeom>
          <a:noFill/>
          <a:ln/>
        </p:spPr>
        <p:txBody>
          <a:bodyPr wrap="square" lIns="0" tIns="0" rIns="0" bIns="0" rtlCol="0" anchor="t"/>
          <a:lstStyle/>
          <a:p>
            <a:pPr marL="0" indent="0">
              <a:buNone/>
            </a:pPr>
            <a:r>
              <a:rPr lang="en-US" sz="1100" b="1" kern="0" spc="200" dirty="0">
                <a:solidFill>
                  <a:schemeClr val="accent3"/>
                </a:solidFill>
              </a:rPr>
              <a:t>PRESENTED BY</a:t>
            </a:r>
            <a:endParaRPr lang="en-US" sz="1400" dirty="0"/>
          </a:p>
          <a:p>
            <a:pPr marL="0" indent="0">
              <a:buNone/>
            </a:pPr>
            <a:r>
              <a:rPr lang="en-US" sz="2200" b="1" dirty="0">
                <a:solidFill>
                  <a:schemeClr val="bg1"/>
                </a:solidFill>
              </a:rPr>
              <a:t>Aditya Rai</a:t>
            </a:r>
            <a:endParaRPr lang="en-US" sz="1400" dirty="0"/>
          </a:p>
          <a:p>
            <a:pPr marL="0" indent="0">
              <a:buNone/>
            </a:pPr>
            <a:r>
              <a:rPr lang="en-US" sz="1400" dirty="0">
                <a:solidFill>
                  <a:schemeClr val="bg2"/>
                </a:solidFill>
              </a:rPr>
              <a:t>23BIT0019</a:t>
            </a:r>
            <a:endParaRPr lang="en-US" sz="1400" dirty="0"/>
          </a:p>
          <a:p>
            <a:pPr marL="0" indent="0">
              <a:buNone/>
            </a:pPr>
            <a:r>
              <a:rPr lang="en-US" sz="1000" dirty="0">
                <a:solidFill>
                  <a:schemeClr val="tx1"/>
                </a:solidFill>
              </a:rPr>
              <a:t> </a:t>
            </a:r>
            <a:endParaRPr lang="en-US" sz="1400" dirty="0"/>
          </a:p>
          <a:p>
            <a:pPr marL="0" indent="0">
              <a:buNone/>
            </a:pPr>
            <a:r>
              <a:rPr lang="en-US" sz="1100" b="1" kern="0" spc="200" dirty="0">
                <a:solidFill>
                  <a:schemeClr val="accent3"/>
                </a:solidFill>
              </a:rPr>
              <a:t>GUIDE</a:t>
            </a:r>
            <a:endParaRPr lang="en-US" sz="1400" dirty="0"/>
          </a:p>
          <a:p>
            <a:pPr marL="0" indent="0">
              <a:buNone/>
            </a:pPr>
            <a:r>
              <a:rPr lang="en-US" sz="1800" b="1" dirty="0">
                <a:solidFill>
                  <a:schemeClr val="bg1"/>
                </a:solidFill>
              </a:rPr>
              <a:t>Dr. Brijendra Singh</a:t>
            </a:r>
            <a:endParaRPr lang="en-US" sz="1400" dirty="0"/>
          </a:p>
          <a:p>
            <a:pPr marL="0" indent="0">
              <a:buNone/>
            </a:pPr>
            <a:r>
              <a:rPr lang="en-US" sz="1300" dirty="0">
                <a:solidFill>
                  <a:schemeClr val="bg2"/>
                </a:solidFill>
              </a:rPr>
              <a:t>Department of Information Technology</a:t>
            </a:r>
            <a:endParaRPr lang="en-US" sz="1400" dirty="0"/>
          </a:p>
        </p:txBody>
      </p:sp>
      <p:sp>
        <p:nvSpPr>
          <p:cNvPr id="10" name="text-5"/>
          <p:cNvSpPr txBox="1"/>
          <p:nvPr/>
        </p:nvSpPr>
        <p:spPr>
          <a:xfrm>
            <a:off x="731520" y="4315968"/>
            <a:ext cx="8686800" cy="274320"/>
          </a:xfrm>
          <a:prstGeom prst="rect">
            <a:avLst/>
          </a:prstGeom>
          <a:noFill/>
          <a:ln/>
        </p:spPr>
        <p:txBody>
          <a:bodyPr wrap="square" lIns="0" tIns="0" rIns="0" bIns="0" rtlCol="0" anchor="t"/>
          <a:lstStyle/>
          <a:p>
            <a:pPr marL="0" indent="0">
              <a:buNone/>
            </a:pPr>
            <a:r>
              <a:rPr lang="en-US" sz="1300" dirty="0">
                <a:solidFill>
                  <a:schemeClr val="bg2"/>
                </a:solidFill>
              </a:rPr>
              <a:t>School of Computer Science Engineering and Information Systems  ·  VIT, Vellore  ·  November 2026</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OUTLINE</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What this presentation covers</a:t>
            </a:r>
            <a:endParaRPr lang="en-US" sz="3200" dirty="0"/>
          </a:p>
        </p:txBody>
      </p:sp>
      <p:sp>
        <p:nvSpPr>
          <p:cNvPr id="4" name="card-6"/>
          <p:cNvSpPr/>
          <p:nvPr/>
        </p:nvSpPr>
        <p:spPr>
          <a:xfrm>
            <a:off x="548640" y="1508760"/>
            <a:ext cx="3514954" cy="2148840"/>
          </a:xfrm>
          <a:prstGeom prst="roundRect">
            <a:avLst>
              <a:gd name="adj" fmla="val 4255"/>
            </a:avLst>
          </a:prstGeom>
          <a:solidFill>
            <a:schemeClr val="bg2"/>
          </a:solidFill>
          <a:ln/>
        </p:spPr>
        <p:txBody>
          <a:bodyPr/>
          <a:lstStyle/>
          <a:p>
            <a:endParaRPr lang="en-IN"/>
          </a:p>
        </p:txBody>
      </p:sp>
      <p:sp>
        <p:nvSpPr>
          <p:cNvPr id="5" name="text-7"/>
          <p:cNvSpPr txBox="1"/>
          <p:nvPr/>
        </p:nvSpPr>
        <p:spPr>
          <a:xfrm>
            <a:off x="868680" y="178308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01</a:t>
            </a:r>
            <a:endParaRPr lang="en-US" sz="3000" dirty="0"/>
          </a:p>
        </p:txBody>
      </p:sp>
      <p:sp>
        <p:nvSpPr>
          <p:cNvPr id="6" name="icon-circle-8"/>
          <p:cNvSpPr/>
          <p:nvPr/>
        </p:nvSpPr>
        <p:spPr>
          <a:xfrm>
            <a:off x="3194914" y="1783080"/>
            <a:ext cx="548640" cy="548640"/>
          </a:xfrm>
          <a:prstGeom prst="ellipse">
            <a:avLst/>
          </a:prstGeom>
          <a:solidFill>
            <a:schemeClr val="tx2"/>
          </a:solidFill>
          <a:ln/>
        </p:spPr>
        <p:txBody>
          <a:bodyPr/>
          <a:lstStyle/>
          <a:p>
            <a:endParaRPr lang="en-IN"/>
          </a:p>
        </p:txBody>
      </p:sp>
      <p:pic>
        <p:nvPicPr>
          <p:cNvPr id="7" name="icon-9" descr="FaBullseye"/>
          <p:cNvPicPr>
            <a:picLocks noChangeAspect="1"/>
          </p:cNvPicPr>
          <p:nvPr/>
        </p:nvPicPr>
        <p:blipFill>
          <a:blip r:embed="rId3"/>
          <a:stretch>
            <a:fillRect/>
          </a:stretch>
        </p:blipFill>
        <p:spPr>
          <a:xfrm>
            <a:off x="3326587" y="1914754"/>
            <a:ext cx="285293" cy="285293"/>
          </a:xfrm>
          <a:prstGeom prst="rect">
            <a:avLst/>
          </a:prstGeom>
        </p:spPr>
      </p:pic>
      <p:sp>
        <p:nvSpPr>
          <p:cNvPr id="8" name="text-10"/>
          <p:cNvSpPr txBox="1"/>
          <p:nvPr/>
        </p:nvSpPr>
        <p:spPr>
          <a:xfrm>
            <a:off x="868680" y="2468880"/>
            <a:ext cx="2874874" cy="411480"/>
          </a:xfrm>
          <a:prstGeom prst="rect">
            <a:avLst/>
          </a:prstGeom>
          <a:noFill/>
          <a:ln/>
        </p:spPr>
        <p:txBody>
          <a:bodyPr wrap="square" lIns="0" tIns="0" rIns="0" bIns="0" rtlCol="0" anchor="t"/>
          <a:lstStyle/>
          <a:p>
            <a:pPr marL="0" indent="0">
              <a:buNone/>
            </a:pPr>
            <a:r>
              <a:rPr lang="en-US" sz="1900" b="1" dirty="0">
                <a:solidFill>
                  <a:schemeClr val="tx2"/>
                </a:solidFill>
              </a:rPr>
              <a:t>Background &amp; problem</a:t>
            </a:r>
            <a:endParaRPr lang="en-US" sz="1900" dirty="0"/>
          </a:p>
        </p:txBody>
      </p:sp>
      <p:sp>
        <p:nvSpPr>
          <p:cNvPr id="9" name="text-11"/>
          <p:cNvSpPr txBox="1"/>
          <p:nvPr/>
        </p:nvSpPr>
        <p:spPr>
          <a:xfrm>
            <a:off x="868680" y="2926080"/>
            <a:ext cx="2874874" cy="640080"/>
          </a:xfrm>
          <a:prstGeom prst="rect">
            <a:avLst/>
          </a:prstGeom>
          <a:noFill/>
          <a:ln/>
        </p:spPr>
        <p:txBody>
          <a:bodyPr wrap="square" lIns="0" tIns="0" rIns="0" bIns="0" rtlCol="0" anchor="t"/>
          <a:lstStyle/>
          <a:p>
            <a:pPr marL="0" indent="0">
              <a:buNone/>
            </a:pPr>
            <a:r>
              <a:rPr lang="en-US" sz="1400" dirty="0">
                <a:solidFill>
                  <a:schemeClr val="tx1"/>
                </a:solidFill>
              </a:rPr>
              <a:t>Next-day direction, motivation and objectives</a:t>
            </a:r>
            <a:endParaRPr lang="en-US" sz="1400" dirty="0"/>
          </a:p>
        </p:txBody>
      </p:sp>
      <p:sp>
        <p:nvSpPr>
          <p:cNvPr id="10" name="card-12"/>
          <p:cNvSpPr/>
          <p:nvPr/>
        </p:nvSpPr>
        <p:spPr>
          <a:xfrm>
            <a:off x="4337914" y="1508760"/>
            <a:ext cx="3514954" cy="2148840"/>
          </a:xfrm>
          <a:prstGeom prst="roundRect">
            <a:avLst>
              <a:gd name="adj" fmla="val 4255"/>
            </a:avLst>
          </a:prstGeom>
          <a:solidFill>
            <a:schemeClr val="bg2"/>
          </a:solidFill>
          <a:ln/>
        </p:spPr>
        <p:txBody>
          <a:bodyPr/>
          <a:lstStyle/>
          <a:p>
            <a:endParaRPr lang="en-IN"/>
          </a:p>
        </p:txBody>
      </p:sp>
      <p:sp>
        <p:nvSpPr>
          <p:cNvPr id="11" name="text-13"/>
          <p:cNvSpPr txBox="1"/>
          <p:nvPr/>
        </p:nvSpPr>
        <p:spPr>
          <a:xfrm>
            <a:off x="4657954" y="178308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02</a:t>
            </a:r>
            <a:endParaRPr lang="en-US" sz="3000" dirty="0"/>
          </a:p>
        </p:txBody>
      </p:sp>
      <p:sp>
        <p:nvSpPr>
          <p:cNvPr id="12" name="icon-circle-14"/>
          <p:cNvSpPr/>
          <p:nvPr/>
        </p:nvSpPr>
        <p:spPr>
          <a:xfrm>
            <a:off x="6984187" y="1783080"/>
            <a:ext cx="548640" cy="548640"/>
          </a:xfrm>
          <a:prstGeom prst="ellipse">
            <a:avLst/>
          </a:prstGeom>
          <a:solidFill>
            <a:schemeClr val="tx2"/>
          </a:solidFill>
          <a:ln/>
        </p:spPr>
        <p:txBody>
          <a:bodyPr/>
          <a:lstStyle/>
          <a:p>
            <a:endParaRPr lang="en-IN"/>
          </a:p>
        </p:txBody>
      </p:sp>
      <p:pic>
        <p:nvPicPr>
          <p:cNvPr id="13" name="icon-15" descr="FaBookOpen"/>
          <p:cNvPicPr>
            <a:picLocks noChangeAspect="1"/>
          </p:cNvPicPr>
          <p:nvPr/>
        </p:nvPicPr>
        <p:blipFill>
          <a:blip r:embed="rId4"/>
          <a:stretch>
            <a:fillRect/>
          </a:stretch>
        </p:blipFill>
        <p:spPr>
          <a:xfrm>
            <a:off x="7115861" y="1914754"/>
            <a:ext cx="285293" cy="285293"/>
          </a:xfrm>
          <a:prstGeom prst="rect">
            <a:avLst/>
          </a:prstGeom>
        </p:spPr>
      </p:pic>
      <p:sp>
        <p:nvSpPr>
          <p:cNvPr id="14" name="text-16"/>
          <p:cNvSpPr txBox="1"/>
          <p:nvPr/>
        </p:nvSpPr>
        <p:spPr>
          <a:xfrm>
            <a:off x="4657954" y="2468880"/>
            <a:ext cx="2874874" cy="411480"/>
          </a:xfrm>
          <a:prstGeom prst="rect">
            <a:avLst/>
          </a:prstGeom>
          <a:noFill/>
          <a:ln/>
        </p:spPr>
        <p:txBody>
          <a:bodyPr wrap="square" lIns="0" tIns="0" rIns="0" bIns="0" rtlCol="0" anchor="t"/>
          <a:lstStyle/>
          <a:p>
            <a:pPr marL="0" indent="0">
              <a:buNone/>
            </a:pPr>
            <a:r>
              <a:rPr lang="en-US" sz="1900" b="1" dirty="0">
                <a:solidFill>
                  <a:schemeClr val="tx2"/>
                </a:solidFill>
              </a:rPr>
              <a:t>Literature &amp; gap</a:t>
            </a:r>
            <a:endParaRPr lang="en-US" sz="1900" dirty="0"/>
          </a:p>
        </p:txBody>
      </p:sp>
      <p:sp>
        <p:nvSpPr>
          <p:cNvPr id="15" name="text-17"/>
          <p:cNvSpPr txBox="1"/>
          <p:nvPr/>
        </p:nvSpPr>
        <p:spPr>
          <a:xfrm>
            <a:off x="4657954" y="2926080"/>
            <a:ext cx="2874874" cy="640080"/>
          </a:xfrm>
          <a:prstGeom prst="rect">
            <a:avLst/>
          </a:prstGeom>
          <a:noFill/>
          <a:ln/>
        </p:spPr>
        <p:txBody>
          <a:bodyPr wrap="square" lIns="0" tIns="0" rIns="0" bIns="0" rtlCol="0" anchor="t"/>
          <a:lstStyle/>
          <a:p>
            <a:pPr marL="0" indent="0">
              <a:buNone/>
            </a:pPr>
            <a:r>
              <a:rPr lang="en-US" sz="1400" dirty="0">
                <a:solidFill>
                  <a:schemeClr val="tx1"/>
                </a:solidFill>
              </a:rPr>
              <a:t>20 recent studies, the research gap and four research questions</a:t>
            </a:r>
            <a:endParaRPr lang="en-US" sz="1400" dirty="0"/>
          </a:p>
        </p:txBody>
      </p:sp>
      <p:sp>
        <p:nvSpPr>
          <p:cNvPr id="16" name="card-18"/>
          <p:cNvSpPr/>
          <p:nvPr/>
        </p:nvSpPr>
        <p:spPr>
          <a:xfrm>
            <a:off x="8128102" y="1508760"/>
            <a:ext cx="3514954" cy="2148840"/>
          </a:xfrm>
          <a:prstGeom prst="roundRect">
            <a:avLst>
              <a:gd name="adj" fmla="val 4255"/>
            </a:avLst>
          </a:prstGeom>
          <a:solidFill>
            <a:schemeClr val="bg2"/>
          </a:solidFill>
          <a:ln/>
        </p:spPr>
        <p:txBody>
          <a:bodyPr/>
          <a:lstStyle/>
          <a:p>
            <a:endParaRPr lang="en-IN"/>
          </a:p>
        </p:txBody>
      </p:sp>
      <p:sp>
        <p:nvSpPr>
          <p:cNvPr id="17" name="text-19"/>
          <p:cNvSpPr txBox="1"/>
          <p:nvPr/>
        </p:nvSpPr>
        <p:spPr>
          <a:xfrm>
            <a:off x="8448142" y="178308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03</a:t>
            </a:r>
            <a:endParaRPr lang="en-US" sz="3000" dirty="0"/>
          </a:p>
        </p:txBody>
      </p:sp>
      <p:sp>
        <p:nvSpPr>
          <p:cNvPr id="18" name="icon-circle-20"/>
          <p:cNvSpPr/>
          <p:nvPr/>
        </p:nvSpPr>
        <p:spPr>
          <a:xfrm>
            <a:off x="10774375" y="1783080"/>
            <a:ext cx="548640" cy="548640"/>
          </a:xfrm>
          <a:prstGeom prst="ellipse">
            <a:avLst/>
          </a:prstGeom>
          <a:solidFill>
            <a:schemeClr val="tx2"/>
          </a:solidFill>
          <a:ln/>
        </p:spPr>
        <p:txBody>
          <a:bodyPr/>
          <a:lstStyle/>
          <a:p>
            <a:endParaRPr lang="en-IN"/>
          </a:p>
        </p:txBody>
      </p:sp>
      <p:pic>
        <p:nvPicPr>
          <p:cNvPr id="19" name="icon-21" descr="FaSitemap"/>
          <p:cNvPicPr>
            <a:picLocks noChangeAspect="1"/>
          </p:cNvPicPr>
          <p:nvPr/>
        </p:nvPicPr>
        <p:blipFill>
          <a:blip r:embed="rId5"/>
          <a:stretch>
            <a:fillRect/>
          </a:stretch>
        </p:blipFill>
        <p:spPr>
          <a:xfrm>
            <a:off x="10906049" y="1914754"/>
            <a:ext cx="285293" cy="285293"/>
          </a:xfrm>
          <a:prstGeom prst="rect">
            <a:avLst/>
          </a:prstGeom>
        </p:spPr>
      </p:pic>
      <p:sp>
        <p:nvSpPr>
          <p:cNvPr id="20" name="text-22"/>
          <p:cNvSpPr txBox="1"/>
          <p:nvPr/>
        </p:nvSpPr>
        <p:spPr>
          <a:xfrm>
            <a:off x="8448142" y="2468880"/>
            <a:ext cx="2874874" cy="411480"/>
          </a:xfrm>
          <a:prstGeom prst="rect">
            <a:avLst/>
          </a:prstGeom>
          <a:noFill/>
          <a:ln/>
        </p:spPr>
        <p:txBody>
          <a:bodyPr wrap="square" lIns="0" tIns="0" rIns="0" bIns="0" rtlCol="0" anchor="t"/>
          <a:lstStyle/>
          <a:p>
            <a:pPr marL="0" indent="0">
              <a:buNone/>
            </a:pPr>
            <a:r>
              <a:rPr lang="en-US" sz="1900" b="1" dirty="0">
                <a:solidFill>
                  <a:schemeClr val="tx2"/>
                </a:solidFill>
              </a:rPr>
              <a:t>System design</a:t>
            </a:r>
            <a:endParaRPr lang="en-US" sz="1900" dirty="0"/>
          </a:p>
        </p:txBody>
      </p:sp>
      <p:sp>
        <p:nvSpPr>
          <p:cNvPr id="21" name="text-23"/>
          <p:cNvSpPr txBox="1"/>
          <p:nvPr/>
        </p:nvSpPr>
        <p:spPr>
          <a:xfrm>
            <a:off x="8448142" y="2926080"/>
            <a:ext cx="2874874" cy="640080"/>
          </a:xfrm>
          <a:prstGeom prst="rect">
            <a:avLst/>
          </a:prstGeom>
          <a:noFill/>
          <a:ln/>
        </p:spPr>
        <p:txBody>
          <a:bodyPr wrap="square" lIns="0" tIns="0" rIns="0" bIns="0" rtlCol="0" anchor="t"/>
          <a:lstStyle/>
          <a:p>
            <a:pPr marL="0" indent="0">
              <a:buNone/>
            </a:pPr>
            <a:r>
              <a:rPr lang="en-US" sz="1400" dirty="0">
                <a:solidFill>
                  <a:schemeClr val="tx1"/>
                </a:solidFill>
              </a:rPr>
              <a:t>Data, corporate actions, 37 features, leakage-free evaluation</a:t>
            </a:r>
            <a:endParaRPr lang="en-US" sz="1400" dirty="0"/>
          </a:p>
        </p:txBody>
      </p:sp>
      <p:sp>
        <p:nvSpPr>
          <p:cNvPr id="22" name="card-24"/>
          <p:cNvSpPr/>
          <p:nvPr/>
        </p:nvSpPr>
        <p:spPr>
          <a:xfrm>
            <a:off x="548640" y="3931920"/>
            <a:ext cx="3514954" cy="2148840"/>
          </a:xfrm>
          <a:prstGeom prst="roundRect">
            <a:avLst>
              <a:gd name="adj" fmla="val 4255"/>
            </a:avLst>
          </a:prstGeom>
          <a:solidFill>
            <a:schemeClr val="bg2"/>
          </a:solidFill>
          <a:ln/>
        </p:spPr>
        <p:txBody>
          <a:bodyPr/>
          <a:lstStyle/>
          <a:p>
            <a:endParaRPr lang="en-IN"/>
          </a:p>
        </p:txBody>
      </p:sp>
      <p:sp>
        <p:nvSpPr>
          <p:cNvPr id="23" name="text-25"/>
          <p:cNvSpPr txBox="1"/>
          <p:nvPr/>
        </p:nvSpPr>
        <p:spPr>
          <a:xfrm>
            <a:off x="868680" y="420624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04</a:t>
            </a:r>
            <a:endParaRPr lang="en-US" sz="3000" dirty="0"/>
          </a:p>
        </p:txBody>
      </p:sp>
      <p:sp>
        <p:nvSpPr>
          <p:cNvPr id="24" name="icon-circle-26"/>
          <p:cNvSpPr/>
          <p:nvPr/>
        </p:nvSpPr>
        <p:spPr>
          <a:xfrm>
            <a:off x="3194914" y="4206240"/>
            <a:ext cx="548640" cy="548640"/>
          </a:xfrm>
          <a:prstGeom prst="ellipse">
            <a:avLst/>
          </a:prstGeom>
          <a:solidFill>
            <a:schemeClr val="tx2"/>
          </a:solidFill>
          <a:ln/>
        </p:spPr>
        <p:txBody>
          <a:bodyPr/>
          <a:lstStyle/>
          <a:p>
            <a:endParaRPr lang="en-IN"/>
          </a:p>
        </p:txBody>
      </p:sp>
      <p:pic>
        <p:nvPicPr>
          <p:cNvPr id="25" name="icon-27" descr="FaBrain"/>
          <p:cNvPicPr>
            <a:picLocks noChangeAspect="1"/>
          </p:cNvPicPr>
          <p:nvPr/>
        </p:nvPicPr>
        <p:blipFill>
          <a:blip r:embed="rId6"/>
          <a:stretch>
            <a:fillRect/>
          </a:stretch>
        </p:blipFill>
        <p:spPr>
          <a:xfrm>
            <a:off x="3326587" y="4337914"/>
            <a:ext cx="285293" cy="285293"/>
          </a:xfrm>
          <a:prstGeom prst="rect">
            <a:avLst/>
          </a:prstGeom>
        </p:spPr>
      </p:pic>
      <p:sp>
        <p:nvSpPr>
          <p:cNvPr id="26" name="text-28"/>
          <p:cNvSpPr txBox="1"/>
          <p:nvPr/>
        </p:nvSpPr>
        <p:spPr>
          <a:xfrm>
            <a:off x="868680" y="4892040"/>
            <a:ext cx="2874874" cy="411480"/>
          </a:xfrm>
          <a:prstGeom prst="rect">
            <a:avLst/>
          </a:prstGeom>
          <a:noFill/>
          <a:ln/>
        </p:spPr>
        <p:txBody>
          <a:bodyPr wrap="square" lIns="0" tIns="0" rIns="0" bIns="0" rtlCol="0" anchor="t"/>
          <a:lstStyle/>
          <a:p>
            <a:pPr marL="0" indent="0">
              <a:buNone/>
            </a:pPr>
            <a:r>
              <a:rPr lang="en-US" sz="1900" b="1" dirty="0">
                <a:solidFill>
                  <a:schemeClr val="tx2"/>
                </a:solidFill>
              </a:rPr>
              <a:t>Models &amp; ensembles</a:t>
            </a:r>
            <a:endParaRPr lang="en-US" sz="1900" dirty="0"/>
          </a:p>
        </p:txBody>
      </p:sp>
      <p:sp>
        <p:nvSpPr>
          <p:cNvPr id="27" name="text-29"/>
          <p:cNvSpPr txBox="1"/>
          <p:nvPr/>
        </p:nvSpPr>
        <p:spPr>
          <a:xfrm>
            <a:off x="868680" y="5349240"/>
            <a:ext cx="2874874" cy="640080"/>
          </a:xfrm>
          <a:prstGeom prst="rect">
            <a:avLst/>
          </a:prstGeom>
          <a:noFill/>
          <a:ln/>
        </p:spPr>
        <p:txBody>
          <a:bodyPr wrap="square" lIns="0" tIns="0" rIns="0" bIns="0" rtlCol="0" anchor="t"/>
          <a:lstStyle/>
          <a:p>
            <a:pPr marL="0" indent="0">
              <a:buNone/>
            </a:pPr>
            <a:r>
              <a:rPr lang="en-US" sz="1400" dirty="0">
                <a:solidFill>
                  <a:schemeClr val="tx1"/>
                </a:solidFill>
              </a:rPr>
              <a:t>6 classical models, LSTM, Vision Transformer, 5 voting strategies</a:t>
            </a:r>
            <a:endParaRPr lang="en-US" sz="1400" dirty="0"/>
          </a:p>
        </p:txBody>
      </p:sp>
      <p:sp>
        <p:nvSpPr>
          <p:cNvPr id="28" name="card-30"/>
          <p:cNvSpPr/>
          <p:nvPr/>
        </p:nvSpPr>
        <p:spPr>
          <a:xfrm>
            <a:off x="4337914" y="3931920"/>
            <a:ext cx="3514954" cy="2148840"/>
          </a:xfrm>
          <a:prstGeom prst="roundRect">
            <a:avLst>
              <a:gd name="adj" fmla="val 4255"/>
            </a:avLst>
          </a:prstGeom>
          <a:solidFill>
            <a:schemeClr val="bg2"/>
          </a:solidFill>
          <a:ln/>
        </p:spPr>
        <p:txBody>
          <a:bodyPr/>
          <a:lstStyle/>
          <a:p>
            <a:endParaRPr lang="en-IN"/>
          </a:p>
        </p:txBody>
      </p:sp>
      <p:sp>
        <p:nvSpPr>
          <p:cNvPr id="29" name="text-31"/>
          <p:cNvSpPr txBox="1"/>
          <p:nvPr/>
        </p:nvSpPr>
        <p:spPr>
          <a:xfrm>
            <a:off x="4657954" y="420624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05</a:t>
            </a:r>
            <a:endParaRPr lang="en-US" sz="3000" dirty="0"/>
          </a:p>
        </p:txBody>
      </p:sp>
      <p:sp>
        <p:nvSpPr>
          <p:cNvPr id="30" name="icon-circle-32"/>
          <p:cNvSpPr/>
          <p:nvPr/>
        </p:nvSpPr>
        <p:spPr>
          <a:xfrm>
            <a:off x="6984187" y="4206240"/>
            <a:ext cx="548640" cy="548640"/>
          </a:xfrm>
          <a:prstGeom prst="ellipse">
            <a:avLst/>
          </a:prstGeom>
          <a:solidFill>
            <a:schemeClr val="tx2"/>
          </a:solidFill>
          <a:ln/>
        </p:spPr>
        <p:txBody>
          <a:bodyPr/>
          <a:lstStyle/>
          <a:p>
            <a:endParaRPr lang="en-IN"/>
          </a:p>
        </p:txBody>
      </p:sp>
      <p:pic>
        <p:nvPicPr>
          <p:cNvPr id="31" name="icon-33" descr="FaChartColumn"/>
          <p:cNvPicPr>
            <a:picLocks noChangeAspect="1"/>
          </p:cNvPicPr>
          <p:nvPr/>
        </p:nvPicPr>
        <p:blipFill>
          <a:blip r:embed="rId7"/>
          <a:stretch>
            <a:fillRect/>
          </a:stretch>
        </p:blipFill>
        <p:spPr>
          <a:xfrm>
            <a:off x="7115861" y="4337914"/>
            <a:ext cx="285293" cy="285293"/>
          </a:xfrm>
          <a:prstGeom prst="rect">
            <a:avLst/>
          </a:prstGeom>
        </p:spPr>
      </p:pic>
      <p:sp>
        <p:nvSpPr>
          <p:cNvPr id="32" name="text-34"/>
          <p:cNvSpPr txBox="1"/>
          <p:nvPr/>
        </p:nvSpPr>
        <p:spPr>
          <a:xfrm>
            <a:off x="4657954" y="4892040"/>
            <a:ext cx="2874874" cy="411480"/>
          </a:xfrm>
          <a:prstGeom prst="rect">
            <a:avLst/>
          </a:prstGeom>
          <a:noFill/>
          <a:ln/>
        </p:spPr>
        <p:txBody>
          <a:bodyPr wrap="square" lIns="0" tIns="0" rIns="0" bIns="0" rtlCol="0" anchor="t"/>
          <a:lstStyle/>
          <a:p>
            <a:pPr marL="0" indent="0">
              <a:buNone/>
            </a:pPr>
            <a:r>
              <a:rPr lang="en-US" sz="1900" b="1" dirty="0">
                <a:solidFill>
                  <a:schemeClr val="tx2"/>
                </a:solidFill>
              </a:rPr>
              <a:t>Results</a:t>
            </a:r>
            <a:endParaRPr lang="en-US" sz="1900" dirty="0"/>
          </a:p>
        </p:txBody>
      </p:sp>
      <p:sp>
        <p:nvSpPr>
          <p:cNvPr id="33" name="text-35"/>
          <p:cNvSpPr txBox="1"/>
          <p:nvPr/>
        </p:nvSpPr>
        <p:spPr>
          <a:xfrm>
            <a:off x="4657954" y="5349240"/>
            <a:ext cx="2874874" cy="640080"/>
          </a:xfrm>
          <a:prstGeom prst="rect">
            <a:avLst/>
          </a:prstGeom>
          <a:noFill/>
          <a:ln/>
        </p:spPr>
        <p:txBody>
          <a:bodyPr wrap="square" lIns="0" tIns="0" rIns="0" bIns="0" rtlCol="0" anchor="t"/>
          <a:lstStyle/>
          <a:p>
            <a:pPr marL="0" indent="0">
              <a:buNone/>
            </a:pPr>
            <a:r>
              <a:rPr lang="en-US" sz="1400" dirty="0">
                <a:solidFill>
                  <a:schemeClr val="tx1"/>
                </a:solidFill>
              </a:rPr>
              <a:t>Individual models, ensembles, adaptive voting, validity checks</a:t>
            </a:r>
            <a:endParaRPr lang="en-US" sz="1400" dirty="0"/>
          </a:p>
        </p:txBody>
      </p:sp>
      <p:sp>
        <p:nvSpPr>
          <p:cNvPr id="34" name="card-36"/>
          <p:cNvSpPr/>
          <p:nvPr/>
        </p:nvSpPr>
        <p:spPr>
          <a:xfrm>
            <a:off x="8128102" y="3931920"/>
            <a:ext cx="3514954" cy="2148840"/>
          </a:xfrm>
          <a:prstGeom prst="roundRect">
            <a:avLst>
              <a:gd name="adj" fmla="val 4255"/>
            </a:avLst>
          </a:prstGeom>
          <a:solidFill>
            <a:schemeClr val="bg2"/>
          </a:solidFill>
          <a:ln/>
        </p:spPr>
        <p:txBody>
          <a:bodyPr/>
          <a:lstStyle/>
          <a:p>
            <a:endParaRPr lang="en-IN"/>
          </a:p>
        </p:txBody>
      </p:sp>
      <p:sp>
        <p:nvSpPr>
          <p:cNvPr id="35" name="text-37"/>
          <p:cNvSpPr txBox="1"/>
          <p:nvPr/>
        </p:nvSpPr>
        <p:spPr>
          <a:xfrm>
            <a:off x="8448142" y="4206240"/>
            <a:ext cx="1188720" cy="548640"/>
          </a:xfrm>
          <a:prstGeom prst="rect">
            <a:avLst/>
          </a:prstGeom>
          <a:noFill/>
          <a:ln/>
        </p:spPr>
        <p:txBody>
          <a:bodyPr wrap="square" lIns="0" tIns="0" rIns="0" bIns="0" rtlCol="0" anchor="t"/>
          <a:lstStyle/>
          <a:p>
            <a:pPr marL="0" indent="0">
              <a:buNone/>
            </a:pPr>
            <a:r>
              <a:rPr lang="en-US" sz="3000" b="1" dirty="0">
                <a:solidFill>
                  <a:schemeClr val="accent1"/>
                </a:solidFill>
                <a:latin typeface="+mj-lt" pitchFamily="34" charset="0"/>
                <a:ea typeface="+mj-lt" pitchFamily="34" charset="-122"/>
                <a:cs typeface="+mj-lt" pitchFamily="34" charset="-120"/>
              </a:rPr>
              <a:t>06</a:t>
            </a:r>
            <a:endParaRPr lang="en-US" sz="3000" dirty="0"/>
          </a:p>
        </p:txBody>
      </p:sp>
      <p:sp>
        <p:nvSpPr>
          <p:cNvPr id="36" name="icon-circle-38"/>
          <p:cNvSpPr/>
          <p:nvPr/>
        </p:nvSpPr>
        <p:spPr>
          <a:xfrm>
            <a:off x="10774375" y="4206240"/>
            <a:ext cx="548640" cy="548640"/>
          </a:xfrm>
          <a:prstGeom prst="ellipse">
            <a:avLst/>
          </a:prstGeom>
          <a:solidFill>
            <a:schemeClr val="tx2"/>
          </a:solidFill>
          <a:ln/>
        </p:spPr>
        <p:txBody>
          <a:bodyPr/>
          <a:lstStyle/>
          <a:p>
            <a:endParaRPr lang="en-IN"/>
          </a:p>
        </p:txBody>
      </p:sp>
      <p:pic>
        <p:nvPicPr>
          <p:cNvPr id="37" name="icon-39" descr="FaRocket"/>
          <p:cNvPicPr>
            <a:picLocks noChangeAspect="1"/>
          </p:cNvPicPr>
          <p:nvPr/>
        </p:nvPicPr>
        <p:blipFill>
          <a:blip r:embed="rId8"/>
          <a:stretch>
            <a:fillRect/>
          </a:stretch>
        </p:blipFill>
        <p:spPr>
          <a:xfrm>
            <a:off x="10906049" y="4337914"/>
            <a:ext cx="285293" cy="285293"/>
          </a:xfrm>
          <a:prstGeom prst="rect">
            <a:avLst/>
          </a:prstGeom>
        </p:spPr>
      </p:pic>
      <p:sp>
        <p:nvSpPr>
          <p:cNvPr id="38" name="text-40"/>
          <p:cNvSpPr txBox="1"/>
          <p:nvPr/>
        </p:nvSpPr>
        <p:spPr>
          <a:xfrm>
            <a:off x="8448142" y="4892040"/>
            <a:ext cx="2874874" cy="411480"/>
          </a:xfrm>
          <a:prstGeom prst="rect">
            <a:avLst/>
          </a:prstGeom>
          <a:noFill/>
          <a:ln/>
        </p:spPr>
        <p:txBody>
          <a:bodyPr wrap="square" lIns="0" tIns="0" rIns="0" bIns="0" rtlCol="0" anchor="t"/>
          <a:lstStyle/>
          <a:p>
            <a:pPr marL="0" indent="0">
              <a:buNone/>
            </a:pPr>
            <a:r>
              <a:rPr lang="en-US" sz="1900" b="1" dirty="0">
                <a:solidFill>
                  <a:schemeClr val="tx2"/>
                </a:solidFill>
              </a:rPr>
              <a:t>Demo &amp; conclusion</a:t>
            </a:r>
            <a:endParaRPr lang="en-US" sz="1900" dirty="0"/>
          </a:p>
        </p:txBody>
      </p:sp>
      <p:sp>
        <p:nvSpPr>
          <p:cNvPr id="39" name="text-41"/>
          <p:cNvSpPr txBox="1"/>
          <p:nvPr/>
        </p:nvSpPr>
        <p:spPr>
          <a:xfrm>
            <a:off x="8448142" y="5349240"/>
            <a:ext cx="2874874" cy="640080"/>
          </a:xfrm>
          <a:prstGeom prst="rect">
            <a:avLst/>
          </a:prstGeom>
          <a:noFill/>
          <a:ln/>
        </p:spPr>
        <p:txBody>
          <a:bodyPr wrap="square" lIns="0" tIns="0" rIns="0" bIns="0" rtlCol="0" anchor="t"/>
          <a:lstStyle/>
          <a:p>
            <a:pPr marL="0" indent="0">
              <a:buNone/>
            </a:pPr>
            <a:r>
              <a:rPr lang="en-US" sz="1400" dirty="0">
                <a:solidFill>
                  <a:schemeClr val="tx1"/>
                </a:solidFill>
              </a:rPr>
              <a:t>Next-day prediction, findings and future work</a:t>
            </a:r>
            <a:endParaRPr lang="en-US" sz="14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01 · BACKGROUND</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Predicting tomorrow's direction, not its price</a:t>
            </a:r>
            <a:endParaRPr lang="en-US" sz="3200" dirty="0"/>
          </a:p>
        </p:txBody>
      </p:sp>
      <p:sp>
        <p:nvSpPr>
          <p:cNvPr id="4" name="text-42"/>
          <p:cNvSpPr txBox="1"/>
          <p:nvPr/>
        </p:nvSpPr>
        <p:spPr>
          <a:xfrm>
            <a:off x="548640" y="1463040"/>
            <a:ext cx="5394960" cy="868680"/>
          </a:xfrm>
          <a:prstGeom prst="rect">
            <a:avLst/>
          </a:prstGeom>
          <a:noFill/>
          <a:ln/>
        </p:spPr>
        <p:txBody>
          <a:bodyPr wrap="square" lIns="0" tIns="0" rIns="0" bIns="0" rtlCol="0" anchor="t"/>
          <a:lstStyle/>
          <a:p>
            <a:pPr marL="0" indent="0">
              <a:buNone/>
            </a:pPr>
            <a:r>
              <a:rPr lang="en-US" sz="2600" i="1" dirty="0">
                <a:solidFill>
                  <a:schemeClr val="tx2"/>
                </a:solidFill>
                <a:latin typeface="+mj-lt" pitchFamily="34" charset="0"/>
                <a:ea typeface="+mj-lt" pitchFamily="34" charset="-122"/>
                <a:cs typeface="+mj-lt" pitchFamily="34" charset="-120"/>
              </a:rPr>
              <a:t>Will tomorrow's close be higher than today's?</a:t>
            </a:r>
            <a:endParaRPr lang="en-US" sz="2600" dirty="0"/>
          </a:p>
        </p:txBody>
      </p:sp>
      <p:sp>
        <p:nvSpPr>
          <p:cNvPr id="5" name="text-43"/>
          <p:cNvSpPr txBox="1"/>
          <p:nvPr/>
        </p:nvSpPr>
        <p:spPr>
          <a:xfrm>
            <a:off x="548640" y="2423160"/>
            <a:ext cx="5394960" cy="1828800"/>
          </a:xfrm>
          <a:prstGeom prst="rect">
            <a:avLst/>
          </a:prstGeom>
          <a:noFill/>
          <a:ln/>
        </p:spPr>
        <p:txBody>
          <a:bodyPr wrap="square" lIns="0" tIns="0" rIns="0" bIns="0" rtlCol="0" anchor="t"/>
          <a:lstStyle/>
          <a:p>
            <a:pPr marL="342900" indent="-342900">
              <a:spcAft>
                <a:spcPts val="600"/>
              </a:spcAft>
              <a:buSzPct val="100000"/>
              <a:buChar char="•"/>
            </a:pPr>
            <a:r>
              <a:rPr lang="en-US" sz="1500" dirty="0">
                <a:solidFill>
                  <a:schemeClr val="tx1"/>
                </a:solidFill>
              </a:rPr>
              <a:t>Daily NSE prices are long, noisy and non-stationary, and they react to news the data never sees.</a:t>
            </a:r>
            <a:endParaRPr lang="en-US" sz="1500" dirty="0"/>
          </a:p>
          <a:p>
            <a:pPr marL="342900" indent="-342900">
              <a:spcAft>
                <a:spcPts val="600"/>
              </a:spcAft>
              <a:buSzPct val="100000"/>
              <a:buChar char="•"/>
            </a:pPr>
            <a:r>
              <a:rPr lang="en-US" sz="1500" dirty="0">
                <a:solidFill>
                  <a:schemeClr val="tx1"/>
                </a:solidFill>
              </a:rPr>
              <a:t>QuantPredict treats the task as binary classification: UP or DOWN for the next trading day.</a:t>
            </a:r>
            <a:endParaRPr lang="en-US" sz="1500" dirty="0"/>
          </a:p>
          <a:p>
            <a:pPr marL="342900" indent="-342900">
              <a:spcAft>
                <a:spcPts val="600"/>
              </a:spcAft>
              <a:buSzPct val="100000"/>
              <a:buChar char="•"/>
            </a:pPr>
            <a:r>
              <a:rPr lang="en-US" sz="1500" dirty="0">
                <a:solidFill>
                  <a:schemeClr val="tx1"/>
                </a:solidFill>
              </a:rPr>
              <a:t>Direction is what a trader acts on, it is scale-free, and it has an honest baseline: 51.9% of test days were UP.</a:t>
            </a:r>
            <a:endParaRPr lang="en-US" sz="1500" dirty="0"/>
          </a:p>
        </p:txBody>
      </p:sp>
      <p:sp>
        <p:nvSpPr>
          <p:cNvPr id="6" name="card-44"/>
          <p:cNvSpPr/>
          <p:nvPr/>
        </p:nvSpPr>
        <p:spPr>
          <a:xfrm>
            <a:off x="548640" y="4389120"/>
            <a:ext cx="5394960" cy="1783080"/>
          </a:xfrm>
          <a:prstGeom prst="roundRect">
            <a:avLst>
              <a:gd name="adj" fmla="val 5128"/>
            </a:avLst>
          </a:prstGeom>
          <a:solidFill>
            <a:schemeClr val="bg2"/>
          </a:solidFill>
          <a:ln/>
        </p:spPr>
        <p:txBody>
          <a:bodyPr/>
          <a:lstStyle/>
          <a:p>
            <a:endParaRPr lang="en-IN"/>
          </a:p>
        </p:txBody>
      </p:sp>
      <p:sp>
        <p:nvSpPr>
          <p:cNvPr id="7" name="text-45"/>
          <p:cNvSpPr txBox="1"/>
          <p:nvPr/>
        </p:nvSpPr>
        <p:spPr>
          <a:xfrm>
            <a:off x="822960" y="4553712"/>
            <a:ext cx="484632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PROBLEM STATEMENT</a:t>
            </a:r>
            <a:endParaRPr lang="en-US" sz="1100" dirty="0"/>
          </a:p>
        </p:txBody>
      </p:sp>
      <p:sp>
        <p:nvSpPr>
          <p:cNvPr id="8" name="text-46"/>
          <p:cNvSpPr txBox="1"/>
          <p:nvPr/>
        </p:nvSpPr>
        <p:spPr>
          <a:xfrm>
            <a:off x="822960" y="4846320"/>
            <a:ext cx="4892040" cy="1234440"/>
          </a:xfrm>
          <a:prstGeom prst="rect">
            <a:avLst/>
          </a:prstGeom>
          <a:noFill/>
          <a:ln/>
        </p:spPr>
        <p:txBody>
          <a:bodyPr wrap="square" lIns="0" tIns="0" rIns="0" bIns="0" rtlCol="0" anchor="t"/>
          <a:lstStyle/>
          <a:p>
            <a:pPr marL="0" indent="0">
              <a:buNone/>
            </a:pPr>
            <a:r>
              <a:rPr lang="en-US" sz="1400" dirty="0">
                <a:solidFill>
                  <a:schemeClr val="tx1"/>
                </a:solidFill>
              </a:rPr>
              <a:t>Build and evaluate a leakage-free system that predicts next-day UP/DOWN for a NIFTY-50 stock, compares eight different models on one protocol, and tests whether weighted, adaptive or stacked ensembles beat majority voting and the best single model.</a:t>
            </a:r>
            <a:endParaRPr lang="en-US" sz="1400" dirty="0"/>
          </a:p>
        </p:txBody>
      </p:sp>
      <p:graphicFrame>
        <p:nvGraphicFramePr>
          <p:cNvPr id="9" name="chart-47"/>
          <p:cNvGraphicFramePr/>
          <p:nvPr/>
        </p:nvGraphicFramePr>
        <p:xfrm>
          <a:off x="6263640" y="1417320"/>
          <a:ext cx="5376672" cy="3429000"/>
        </p:xfrm>
        <a:graphic>
          <a:graphicData uri="http://schemas.openxmlformats.org/drawingml/2006/chart">
            <c:chart xmlns:c="http://schemas.openxmlformats.org/drawingml/2006/chart" xmlns:r="http://schemas.openxmlformats.org/officeDocument/2006/relationships" r:id="rId3"/>
          </a:graphicData>
        </a:graphic>
      </p:graphicFrame>
      <p:sp>
        <p:nvSpPr>
          <p:cNvPr id="10" name="card-48"/>
          <p:cNvSpPr/>
          <p:nvPr/>
        </p:nvSpPr>
        <p:spPr>
          <a:xfrm>
            <a:off x="6263640" y="4983480"/>
            <a:ext cx="5376672" cy="1188720"/>
          </a:xfrm>
          <a:prstGeom prst="roundRect">
            <a:avLst>
              <a:gd name="adj" fmla="val 7692"/>
            </a:avLst>
          </a:prstGeom>
          <a:solidFill>
            <a:schemeClr val="bg2"/>
          </a:solidFill>
          <a:ln/>
        </p:spPr>
        <p:txBody>
          <a:bodyPr/>
          <a:lstStyle/>
          <a:p>
            <a:endParaRPr lang="en-IN"/>
          </a:p>
        </p:txBody>
      </p:sp>
      <p:sp>
        <p:nvSpPr>
          <p:cNvPr id="11" name="text-49"/>
          <p:cNvSpPr txBox="1"/>
          <p:nvPr/>
        </p:nvSpPr>
        <p:spPr>
          <a:xfrm>
            <a:off x="6537960" y="5120640"/>
            <a:ext cx="484632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TARGET  ·  STEP 4</a:t>
            </a:r>
            <a:endParaRPr lang="en-US" sz="1100" dirty="0"/>
          </a:p>
        </p:txBody>
      </p:sp>
      <p:sp>
        <p:nvSpPr>
          <p:cNvPr id="12" name="text-50"/>
          <p:cNvSpPr txBox="1"/>
          <p:nvPr/>
        </p:nvSpPr>
        <p:spPr>
          <a:xfrm>
            <a:off x="6537960" y="5413248"/>
            <a:ext cx="4983480" cy="548640"/>
          </a:xfrm>
          <a:prstGeom prst="rect">
            <a:avLst/>
          </a:prstGeom>
          <a:noFill/>
          <a:ln/>
        </p:spPr>
        <p:txBody>
          <a:bodyPr wrap="square" lIns="0" tIns="0" rIns="0" bIns="0" rtlCol="0" anchor="ctr"/>
          <a:lstStyle/>
          <a:p>
            <a:pPr marL="0" indent="0">
              <a:buNone/>
            </a:pPr>
            <a:r>
              <a:rPr lang="en-US" sz="1900" dirty="0">
                <a:solidFill>
                  <a:schemeClr val="tx2"/>
                </a:solidFill>
                <a:latin typeface="Cambria Math" pitchFamily="34" charset="0"/>
                <a:ea typeface="Cambria Math" pitchFamily="34" charset="-122"/>
                <a:cs typeface="Cambria Math" pitchFamily="34" charset="-120"/>
              </a:rPr>
              <a:t>yₜ = 1 (UP) if Cₜ₊₁ &gt; Cₜ, otherwise 0 (DOWN)</a:t>
            </a:r>
            <a:endParaRPr lang="en-US" sz="19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01 · BACKGROUND</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Why this project</a:t>
            </a:r>
            <a:endParaRPr lang="en-US" sz="3200" dirty="0"/>
          </a:p>
        </p:txBody>
      </p:sp>
      <p:sp>
        <p:nvSpPr>
          <p:cNvPr id="4" name="card-51"/>
          <p:cNvSpPr/>
          <p:nvPr/>
        </p:nvSpPr>
        <p:spPr>
          <a:xfrm>
            <a:off x="548640" y="1554480"/>
            <a:ext cx="2567635" cy="3749040"/>
          </a:xfrm>
          <a:prstGeom prst="roundRect">
            <a:avLst>
              <a:gd name="adj" fmla="val 3561"/>
            </a:avLst>
          </a:prstGeom>
          <a:solidFill>
            <a:schemeClr val="bg2"/>
          </a:solidFill>
          <a:ln/>
        </p:spPr>
        <p:txBody>
          <a:bodyPr/>
          <a:lstStyle/>
          <a:p>
            <a:endParaRPr lang="en-IN"/>
          </a:p>
        </p:txBody>
      </p:sp>
      <p:sp>
        <p:nvSpPr>
          <p:cNvPr id="5" name="icon-circle-52"/>
          <p:cNvSpPr/>
          <p:nvPr/>
        </p:nvSpPr>
        <p:spPr>
          <a:xfrm>
            <a:off x="822960" y="1874520"/>
            <a:ext cx="731520" cy="731520"/>
          </a:xfrm>
          <a:prstGeom prst="ellipse">
            <a:avLst/>
          </a:prstGeom>
          <a:solidFill>
            <a:schemeClr val="accent2"/>
          </a:solidFill>
          <a:ln/>
        </p:spPr>
        <p:txBody>
          <a:bodyPr/>
          <a:lstStyle/>
          <a:p>
            <a:endParaRPr lang="en-IN"/>
          </a:p>
        </p:txBody>
      </p:sp>
      <p:pic>
        <p:nvPicPr>
          <p:cNvPr id="6" name="icon-53" descr="FaShieldHalved"/>
          <p:cNvPicPr>
            <a:picLocks noChangeAspect="1"/>
          </p:cNvPicPr>
          <p:nvPr/>
        </p:nvPicPr>
        <p:blipFill>
          <a:blip r:embed="rId3"/>
          <a:stretch>
            <a:fillRect/>
          </a:stretch>
        </p:blipFill>
        <p:spPr>
          <a:xfrm>
            <a:off x="998525" y="2050085"/>
            <a:ext cx="380390" cy="380390"/>
          </a:xfrm>
          <a:prstGeom prst="rect">
            <a:avLst/>
          </a:prstGeom>
        </p:spPr>
      </p:pic>
      <p:sp>
        <p:nvSpPr>
          <p:cNvPr id="7" name="text-54"/>
          <p:cNvSpPr txBox="1"/>
          <p:nvPr/>
        </p:nvSpPr>
        <p:spPr>
          <a:xfrm>
            <a:off x="822960" y="2788920"/>
            <a:ext cx="2064715" cy="685800"/>
          </a:xfrm>
          <a:prstGeom prst="rect">
            <a:avLst/>
          </a:prstGeom>
          <a:noFill/>
          <a:ln/>
        </p:spPr>
        <p:txBody>
          <a:bodyPr wrap="square" lIns="0" tIns="0" rIns="0" bIns="0" rtlCol="0" anchor="t"/>
          <a:lstStyle/>
          <a:p>
            <a:pPr marL="0" indent="0">
              <a:buNone/>
            </a:pPr>
            <a:r>
              <a:rPr lang="en-US" sz="1800" b="1" dirty="0">
                <a:solidFill>
                  <a:schemeClr val="tx2"/>
                </a:solidFill>
              </a:rPr>
              <a:t>Leakage hides in pipelines</a:t>
            </a:r>
            <a:endParaRPr lang="en-US" sz="1800" dirty="0"/>
          </a:p>
        </p:txBody>
      </p:sp>
      <p:sp>
        <p:nvSpPr>
          <p:cNvPr id="8" name="text-55"/>
          <p:cNvSpPr txBox="1"/>
          <p:nvPr/>
        </p:nvSpPr>
        <p:spPr>
          <a:xfrm>
            <a:off x="822960" y="3520440"/>
            <a:ext cx="2110435" cy="1691640"/>
          </a:xfrm>
          <a:prstGeom prst="rect">
            <a:avLst/>
          </a:prstGeom>
          <a:noFill/>
          <a:ln/>
        </p:spPr>
        <p:txBody>
          <a:bodyPr wrap="square" lIns="0" tIns="0" rIns="0" bIns="0" rtlCol="0" anchor="t"/>
          <a:lstStyle/>
          <a:p>
            <a:pPr marL="0" indent="0">
              <a:buNone/>
            </a:pPr>
            <a:r>
              <a:rPr lang="en-US" sz="1500" dirty="0">
                <a:solidFill>
                  <a:schemeClr val="tx1"/>
                </a:solidFill>
              </a:rPr>
              <a:t>Random splits, scalers fitted on all rows and windows that end one day late all inflate accuracy, and none of them shows up in the final table.</a:t>
            </a:r>
            <a:endParaRPr lang="en-US" sz="1500" dirty="0"/>
          </a:p>
        </p:txBody>
      </p:sp>
      <p:sp>
        <p:nvSpPr>
          <p:cNvPr id="9" name="card-56"/>
          <p:cNvSpPr/>
          <p:nvPr/>
        </p:nvSpPr>
        <p:spPr>
          <a:xfrm>
            <a:off x="3390595" y="1554480"/>
            <a:ext cx="2567635" cy="3749040"/>
          </a:xfrm>
          <a:prstGeom prst="roundRect">
            <a:avLst>
              <a:gd name="adj" fmla="val 3561"/>
            </a:avLst>
          </a:prstGeom>
          <a:solidFill>
            <a:schemeClr val="bg2"/>
          </a:solidFill>
          <a:ln/>
        </p:spPr>
        <p:txBody>
          <a:bodyPr/>
          <a:lstStyle/>
          <a:p>
            <a:endParaRPr lang="en-IN"/>
          </a:p>
        </p:txBody>
      </p:sp>
      <p:sp>
        <p:nvSpPr>
          <p:cNvPr id="10" name="icon-circle-57"/>
          <p:cNvSpPr/>
          <p:nvPr/>
        </p:nvSpPr>
        <p:spPr>
          <a:xfrm>
            <a:off x="3664915" y="1874520"/>
            <a:ext cx="731520" cy="731520"/>
          </a:xfrm>
          <a:prstGeom prst="ellipse">
            <a:avLst/>
          </a:prstGeom>
          <a:solidFill>
            <a:schemeClr val="accent3"/>
          </a:solidFill>
          <a:ln/>
        </p:spPr>
        <p:txBody>
          <a:bodyPr/>
          <a:lstStyle/>
          <a:p>
            <a:endParaRPr lang="en-IN"/>
          </a:p>
        </p:txBody>
      </p:sp>
      <p:pic>
        <p:nvPicPr>
          <p:cNvPr id="11" name="icon-58" descr="FaShuffle"/>
          <p:cNvPicPr>
            <a:picLocks noChangeAspect="1"/>
          </p:cNvPicPr>
          <p:nvPr/>
        </p:nvPicPr>
        <p:blipFill>
          <a:blip r:embed="rId4"/>
          <a:stretch>
            <a:fillRect/>
          </a:stretch>
        </p:blipFill>
        <p:spPr>
          <a:xfrm>
            <a:off x="3840480" y="2050085"/>
            <a:ext cx="380390" cy="380390"/>
          </a:xfrm>
          <a:prstGeom prst="rect">
            <a:avLst/>
          </a:prstGeom>
        </p:spPr>
      </p:pic>
      <p:sp>
        <p:nvSpPr>
          <p:cNvPr id="12" name="text-59"/>
          <p:cNvSpPr txBox="1"/>
          <p:nvPr/>
        </p:nvSpPr>
        <p:spPr>
          <a:xfrm>
            <a:off x="3664915" y="2788920"/>
            <a:ext cx="2064715" cy="685800"/>
          </a:xfrm>
          <a:prstGeom prst="rect">
            <a:avLst/>
          </a:prstGeom>
          <a:noFill/>
          <a:ln/>
        </p:spPr>
        <p:txBody>
          <a:bodyPr wrap="square" lIns="0" tIns="0" rIns="0" bIns="0" rtlCol="0" anchor="t"/>
          <a:lstStyle/>
          <a:p>
            <a:pPr marL="0" indent="0">
              <a:buNone/>
            </a:pPr>
            <a:r>
              <a:rPr lang="en-US" sz="1800" b="1" dirty="0">
                <a:solidFill>
                  <a:schemeClr val="tx2"/>
                </a:solidFill>
              </a:rPr>
              <a:t>Markets drift</a:t>
            </a:r>
            <a:endParaRPr lang="en-US" sz="1800" dirty="0"/>
          </a:p>
        </p:txBody>
      </p:sp>
      <p:sp>
        <p:nvSpPr>
          <p:cNvPr id="13" name="text-60"/>
          <p:cNvSpPr txBox="1"/>
          <p:nvPr/>
        </p:nvSpPr>
        <p:spPr>
          <a:xfrm>
            <a:off x="3664915" y="3520440"/>
            <a:ext cx="2110435" cy="1691640"/>
          </a:xfrm>
          <a:prstGeom prst="rect">
            <a:avLst/>
          </a:prstGeom>
          <a:noFill/>
          <a:ln/>
        </p:spPr>
        <p:txBody>
          <a:bodyPr wrap="square" lIns="0" tIns="0" rIns="0" bIns="0" rtlCol="0" anchor="t"/>
          <a:lstStyle/>
          <a:p>
            <a:pPr marL="0" indent="0">
              <a:buNone/>
            </a:pPr>
            <a:r>
              <a:rPr lang="en-US" sz="1500" dirty="0">
                <a:solidFill>
                  <a:schemeClr val="tx1"/>
                </a:solidFill>
              </a:rPr>
              <a:t>The model that works in a calm, trending year can fail in a volatile one. Giving every model a fixed, equal vote is a strong assumption.</a:t>
            </a:r>
            <a:endParaRPr lang="en-US" sz="1500" dirty="0"/>
          </a:p>
        </p:txBody>
      </p:sp>
      <p:sp>
        <p:nvSpPr>
          <p:cNvPr id="14" name="card-61"/>
          <p:cNvSpPr/>
          <p:nvPr/>
        </p:nvSpPr>
        <p:spPr>
          <a:xfrm>
            <a:off x="6232550" y="1554480"/>
            <a:ext cx="2567635" cy="3749040"/>
          </a:xfrm>
          <a:prstGeom prst="roundRect">
            <a:avLst>
              <a:gd name="adj" fmla="val 3561"/>
            </a:avLst>
          </a:prstGeom>
          <a:solidFill>
            <a:schemeClr val="bg2"/>
          </a:solidFill>
          <a:ln/>
        </p:spPr>
        <p:txBody>
          <a:bodyPr/>
          <a:lstStyle/>
          <a:p>
            <a:endParaRPr lang="en-IN"/>
          </a:p>
        </p:txBody>
      </p:sp>
      <p:sp>
        <p:nvSpPr>
          <p:cNvPr id="15" name="icon-circle-62"/>
          <p:cNvSpPr/>
          <p:nvPr/>
        </p:nvSpPr>
        <p:spPr>
          <a:xfrm>
            <a:off x="6506870" y="1874520"/>
            <a:ext cx="731520" cy="731520"/>
          </a:xfrm>
          <a:prstGeom prst="ellipse">
            <a:avLst/>
          </a:prstGeom>
          <a:solidFill>
            <a:schemeClr val="accent5"/>
          </a:solidFill>
          <a:ln/>
        </p:spPr>
        <p:txBody>
          <a:bodyPr/>
          <a:lstStyle/>
          <a:p>
            <a:endParaRPr lang="en-IN"/>
          </a:p>
        </p:txBody>
      </p:sp>
      <p:pic>
        <p:nvPicPr>
          <p:cNvPr id="16" name="icon-63" descr="FaTableCellsLarge"/>
          <p:cNvPicPr>
            <a:picLocks noChangeAspect="1"/>
          </p:cNvPicPr>
          <p:nvPr/>
        </p:nvPicPr>
        <p:blipFill>
          <a:blip r:embed="rId5"/>
          <a:stretch>
            <a:fillRect/>
          </a:stretch>
        </p:blipFill>
        <p:spPr>
          <a:xfrm>
            <a:off x="6682435" y="2050085"/>
            <a:ext cx="380390" cy="380390"/>
          </a:xfrm>
          <a:prstGeom prst="rect">
            <a:avLst/>
          </a:prstGeom>
        </p:spPr>
      </p:pic>
      <p:sp>
        <p:nvSpPr>
          <p:cNvPr id="17" name="text-64"/>
          <p:cNvSpPr txBox="1"/>
          <p:nvPr/>
        </p:nvSpPr>
        <p:spPr>
          <a:xfrm>
            <a:off x="6506870" y="2788920"/>
            <a:ext cx="2064715" cy="685800"/>
          </a:xfrm>
          <a:prstGeom prst="rect">
            <a:avLst/>
          </a:prstGeom>
          <a:noFill/>
          <a:ln/>
        </p:spPr>
        <p:txBody>
          <a:bodyPr wrap="square" lIns="0" tIns="0" rIns="0" bIns="0" rtlCol="0" anchor="t"/>
          <a:lstStyle/>
          <a:p>
            <a:pPr marL="0" indent="0">
              <a:buNone/>
            </a:pPr>
            <a:r>
              <a:rPr lang="en-US" sz="1800" b="1" dirty="0">
                <a:solidFill>
                  <a:schemeClr val="tx2"/>
                </a:solidFill>
              </a:rPr>
              <a:t>Transformers on feature matrices</a:t>
            </a:r>
            <a:endParaRPr lang="en-US" sz="1800" dirty="0"/>
          </a:p>
        </p:txBody>
      </p:sp>
      <p:sp>
        <p:nvSpPr>
          <p:cNvPr id="18" name="text-65"/>
          <p:cNvSpPr txBox="1"/>
          <p:nvPr/>
        </p:nvSpPr>
        <p:spPr>
          <a:xfrm>
            <a:off x="6506870" y="3520440"/>
            <a:ext cx="2110435" cy="1691640"/>
          </a:xfrm>
          <a:prstGeom prst="rect">
            <a:avLst/>
          </a:prstGeom>
          <a:noFill/>
          <a:ln/>
        </p:spPr>
        <p:txBody>
          <a:bodyPr wrap="square" lIns="0" tIns="0" rIns="0" bIns="0" rtlCol="0" anchor="t"/>
          <a:lstStyle/>
          <a:p>
            <a:pPr marL="0" indent="0">
              <a:buNone/>
            </a:pPr>
            <a:r>
              <a:rPr lang="en-US" sz="1500" dirty="0">
                <a:solidFill>
                  <a:schemeClr val="tx1"/>
                </a:solidFill>
              </a:rPr>
              <a:t>A 20-day × 37-feature window is a small two-dimensional grid. Can a Vision Transformer read it the way it reads image patches?</a:t>
            </a:r>
            <a:endParaRPr lang="en-US" sz="1500" dirty="0"/>
          </a:p>
        </p:txBody>
      </p:sp>
      <p:sp>
        <p:nvSpPr>
          <p:cNvPr id="19" name="card-66"/>
          <p:cNvSpPr/>
          <p:nvPr/>
        </p:nvSpPr>
        <p:spPr>
          <a:xfrm>
            <a:off x="9074506" y="1554480"/>
            <a:ext cx="2567635" cy="3749040"/>
          </a:xfrm>
          <a:prstGeom prst="roundRect">
            <a:avLst>
              <a:gd name="adj" fmla="val 3561"/>
            </a:avLst>
          </a:prstGeom>
          <a:solidFill>
            <a:schemeClr val="bg2"/>
          </a:solidFill>
          <a:ln/>
        </p:spPr>
        <p:txBody>
          <a:bodyPr/>
          <a:lstStyle/>
          <a:p>
            <a:endParaRPr lang="en-IN"/>
          </a:p>
        </p:txBody>
      </p:sp>
      <p:sp>
        <p:nvSpPr>
          <p:cNvPr id="20" name="icon-circle-67"/>
          <p:cNvSpPr/>
          <p:nvPr/>
        </p:nvSpPr>
        <p:spPr>
          <a:xfrm>
            <a:off x="9348826" y="1874520"/>
            <a:ext cx="731520" cy="731520"/>
          </a:xfrm>
          <a:prstGeom prst="ellipse">
            <a:avLst/>
          </a:prstGeom>
          <a:solidFill>
            <a:schemeClr val="accent1"/>
          </a:solidFill>
          <a:ln/>
        </p:spPr>
        <p:txBody>
          <a:bodyPr/>
          <a:lstStyle/>
          <a:p>
            <a:endParaRPr lang="en-IN"/>
          </a:p>
        </p:txBody>
      </p:sp>
      <p:pic>
        <p:nvPicPr>
          <p:cNvPr id="21" name="icon-68" descr="FaScaleBalanced"/>
          <p:cNvPicPr>
            <a:picLocks noChangeAspect="1"/>
          </p:cNvPicPr>
          <p:nvPr/>
        </p:nvPicPr>
        <p:blipFill>
          <a:blip r:embed="rId6"/>
          <a:stretch>
            <a:fillRect/>
          </a:stretch>
        </p:blipFill>
        <p:spPr>
          <a:xfrm>
            <a:off x="9524390" y="2050085"/>
            <a:ext cx="380390" cy="380390"/>
          </a:xfrm>
          <a:prstGeom prst="rect">
            <a:avLst/>
          </a:prstGeom>
        </p:spPr>
      </p:pic>
      <p:sp>
        <p:nvSpPr>
          <p:cNvPr id="22" name="text-69"/>
          <p:cNvSpPr txBox="1"/>
          <p:nvPr/>
        </p:nvSpPr>
        <p:spPr>
          <a:xfrm>
            <a:off x="9348826" y="2788920"/>
            <a:ext cx="2064715" cy="685800"/>
          </a:xfrm>
          <a:prstGeom prst="rect">
            <a:avLst/>
          </a:prstGeom>
          <a:noFill/>
          <a:ln/>
        </p:spPr>
        <p:txBody>
          <a:bodyPr wrap="square" lIns="0" tIns="0" rIns="0" bIns="0" rtlCol="0" anchor="t"/>
          <a:lstStyle/>
          <a:p>
            <a:pPr marL="0" indent="0">
              <a:buNone/>
            </a:pPr>
            <a:r>
              <a:rPr lang="en-US" sz="1800" b="1" dirty="0">
                <a:solidFill>
                  <a:schemeClr val="tx2"/>
                </a:solidFill>
              </a:rPr>
              <a:t>An honest baseline</a:t>
            </a:r>
            <a:endParaRPr lang="en-US" sz="1800" dirty="0"/>
          </a:p>
        </p:txBody>
      </p:sp>
      <p:sp>
        <p:nvSpPr>
          <p:cNvPr id="23" name="text-70"/>
          <p:cNvSpPr txBox="1"/>
          <p:nvPr/>
        </p:nvSpPr>
        <p:spPr>
          <a:xfrm>
            <a:off x="9348826" y="3520440"/>
            <a:ext cx="2110435" cy="1691640"/>
          </a:xfrm>
          <a:prstGeom prst="rect">
            <a:avLst/>
          </a:prstGeom>
          <a:noFill/>
          <a:ln/>
        </p:spPr>
        <p:txBody>
          <a:bodyPr wrap="square" lIns="0" tIns="0" rIns="0" bIns="0" rtlCol="0" anchor="t"/>
          <a:lstStyle/>
          <a:p>
            <a:pPr marL="0" indent="0">
              <a:buNone/>
            </a:pPr>
            <a:r>
              <a:rPr lang="en-US" sz="1500" dirty="0">
                <a:solidFill>
                  <a:schemeClr val="tx1"/>
                </a:solidFill>
              </a:rPr>
              <a:t>Reporting when a method does not help gives later work (news, more stocks, trading rules) a reference it can trust.</a:t>
            </a:r>
            <a:endParaRPr lang="en-US" sz="1500" dirty="0"/>
          </a:p>
        </p:txBody>
      </p:sp>
      <p:sp>
        <p:nvSpPr>
          <p:cNvPr id="24" name="text-71"/>
          <p:cNvSpPr txBox="1"/>
          <p:nvPr/>
        </p:nvSpPr>
        <p:spPr>
          <a:xfrm>
            <a:off x="548640" y="5596128"/>
            <a:ext cx="11091672" cy="365760"/>
          </a:xfrm>
          <a:prstGeom prst="rect">
            <a:avLst/>
          </a:prstGeom>
          <a:noFill/>
          <a:ln/>
        </p:spPr>
        <p:txBody>
          <a:bodyPr wrap="square" lIns="0" tIns="0" rIns="0" bIns="0" rtlCol="0" anchor="t"/>
          <a:lstStyle/>
          <a:p>
            <a:pPr marL="0" indent="0">
              <a:buNone/>
            </a:pPr>
            <a:r>
              <a:rPr lang="en-US" sz="1500" i="1" dirty="0">
                <a:solidFill>
                  <a:schemeClr val="tx2"/>
                </a:solidFill>
              </a:rPr>
              <a:t>Aim: a framework in which every claim about a model or an ensemble can actually be checked.</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01 · BACKGROUND</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Project objectives</a:t>
            </a:r>
            <a:endParaRPr lang="en-US" sz="3200" dirty="0"/>
          </a:p>
        </p:txBody>
      </p:sp>
      <p:sp>
        <p:nvSpPr>
          <p:cNvPr id="4" name="card-72"/>
          <p:cNvSpPr/>
          <p:nvPr/>
        </p:nvSpPr>
        <p:spPr>
          <a:xfrm>
            <a:off x="548640" y="1554480"/>
            <a:ext cx="5394960" cy="914400"/>
          </a:xfrm>
          <a:prstGeom prst="roundRect">
            <a:avLst>
              <a:gd name="adj" fmla="val 10000"/>
            </a:avLst>
          </a:prstGeom>
          <a:solidFill>
            <a:schemeClr val="bg2"/>
          </a:solidFill>
          <a:ln/>
        </p:spPr>
        <p:txBody>
          <a:bodyPr/>
          <a:lstStyle/>
          <a:p>
            <a:endParaRPr lang="en-IN"/>
          </a:p>
        </p:txBody>
      </p:sp>
      <p:sp>
        <p:nvSpPr>
          <p:cNvPr id="5" name="num-73"/>
          <p:cNvSpPr txBox="1"/>
          <p:nvPr/>
        </p:nvSpPr>
        <p:spPr>
          <a:xfrm>
            <a:off x="777240" y="1737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1</a:t>
            </a:r>
            <a:endParaRPr lang="en-US" sz="1800" dirty="0"/>
          </a:p>
        </p:txBody>
      </p:sp>
      <p:sp>
        <p:nvSpPr>
          <p:cNvPr id="6" name="text-74"/>
          <p:cNvSpPr txBox="1"/>
          <p:nvPr/>
        </p:nvSpPr>
        <p:spPr>
          <a:xfrm>
            <a:off x="1554480" y="1645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Clean and corporate-action-adjust 21 years of NSE daily prices</a:t>
            </a:r>
            <a:endParaRPr lang="en-US" sz="1500" dirty="0"/>
          </a:p>
        </p:txBody>
      </p:sp>
      <p:sp>
        <p:nvSpPr>
          <p:cNvPr id="7" name="card-75"/>
          <p:cNvSpPr/>
          <p:nvPr/>
        </p:nvSpPr>
        <p:spPr>
          <a:xfrm>
            <a:off x="548640" y="2697480"/>
            <a:ext cx="5394960" cy="914400"/>
          </a:xfrm>
          <a:prstGeom prst="roundRect">
            <a:avLst>
              <a:gd name="adj" fmla="val 10000"/>
            </a:avLst>
          </a:prstGeom>
          <a:solidFill>
            <a:schemeClr val="bg2"/>
          </a:solidFill>
          <a:ln/>
        </p:spPr>
        <p:txBody>
          <a:bodyPr/>
          <a:lstStyle/>
          <a:p>
            <a:endParaRPr lang="en-IN"/>
          </a:p>
        </p:txBody>
      </p:sp>
      <p:sp>
        <p:nvSpPr>
          <p:cNvPr id="8" name="num-76"/>
          <p:cNvSpPr txBox="1"/>
          <p:nvPr/>
        </p:nvSpPr>
        <p:spPr>
          <a:xfrm>
            <a:off x="777240" y="2880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2</a:t>
            </a:r>
            <a:endParaRPr lang="en-US" sz="1800" dirty="0"/>
          </a:p>
        </p:txBody>
      </p:sp>
      <p:sp>
        <p:nvSpPr>
          <p:cNvPr id="9" name="text-77"/>
          <p:cNvSpPr txBox="1"/>
          <p:nvPr/>
        </p:nvSpPr>
        <p:spPr>
          <a:xfrm>
            <a:off x="1554480" y="2788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Turn 8 technical indicators into 37 stationary, scale-free features</a:t>
            </a:r>
            <a:endParaRPr lang="en-US" sz="1500" dirty="0"/>
          </a:p>
        </p:txBody>
      </p:sp>
      <p:sp>
        <p:nvSpPr>
          <p:cNvPr id="10" name="card-78"/>
          <p:cNvSpPr/>
          <p:nvPr/>
        </p:nvSpPr>
        <p:spPr>
          <a:xfrm>
            <a:off x="548640" y="3840480"/>
            <a:ext cx="5394960" cy="914400"/>
          </a:xfrm>
          <a:prstGeom prst="roundRect">
            <a:avLst>
              <a:gd name="adj" fmla="val 10000"/>
            </a:avLst>
          </a:prstGeom>
          <a:solidFill>
            <a:schemeClr val="bg2"/>
          </a:solidFill>
          <a:ln/>
        </p:spPr>
        <p:txBody>
          <a:bodyPr/>
          <a:lstStyle/>
          <a:p>
            <a:endParaRPr lang="en-IN"/>
          </a:p>
        </p:txBody>
      </p:sp>
      <p:sp>
        <p:nvSpPr>
          <p:cNvPr id="11" name="num-79"/>
          <p:cNvSpPr txBox="1"/>
          <p:nvPr/>
        </p:nvSpPr>
        <p:spPr>
          <a:xfrm>
            <a:off x="777240" y="4023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3</a:t>
            </a:r>
            <a:endParaRPr lang="en-US" sz="1800" dirty="0"/>
          </a:p>
        </p:txBody>
      </p:sp>
      <p:sp>
        <p:nvSpPr>
          <p:cNvPr id="12" name="text-80"/>
          <p:cNvSpPr txBox="1"/>
          <p:nvPr/>
        </p:nvSpPr>
        <p:spPr>
          <a:xfrm>
            <a:off x="1554480" y="3931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Train 6 classical classifiers as baselines on a chronological split</a:t>
            </a:r>
            <a:endParaRPr lang="en-US" sz="1500" dirty="0"/>
          </a:p>
        </p:txBody>
      </p:sp>
      <p:sp>
        <p:nvSpPr>
          <p:cNvPr id="13" name="card-81"/>
          <p:cNvSpPr/>
          <p:nvPr/>
        </p:nvSpPr>
        <p:spPr>
          <a:xfrm>
            <a:off x="548640" y="4983480"/>
            <a:ext cx="5394960" cy="914400"/>
          </a:xfrm>
          <a:prstGeom prst="roundRect">
            <a:avLst>
              <a:gd name="adj" fmla="val 10000"/>
            </a:avLst>
          </a:prstGeom>
          <a:solidFill>
            <a:schemeClr val="bg2"/>
          </a:solidFill>
          <a:ln/>
        </p:spPr>
        <p:txBody>
          <a:bodyPr/>
          <a:lstStyle/>
          <a:p>
            <a:endParaRPr lang="en-IN"/>
          </a:p>
        </p:txBody>
      </p:sp>
      <p:sp>
        <p:nvSpPr>
          <p:cNvPr id="14" name="num-82"/>
          <p:cNvSpPr txBox="1"/>
          <p:nvPr/>
        </p:nvSpPr>
        <p:spPr>
          <a:xfrm>
            <a:off x="777240" y="5166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4</a:t>
            </a:r>
            <a:endParaRPr lang="en-US" sz="1800" dirty="0"/>
          </a:p>
        </p:txBody>
      </p:sp>
      <p:sp>
        <p:nvSpPr>
          <p:cNvPr id="15" name="text-83"/>
          <p:cNvSpPr txBox="1"/>
          <p:nvPr/>
        </p:nvSpPr>
        <p:spPr>
          <a:xfrm>
            <a:off x="1554480" y="5074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Add an LSTM and an adapted Vision Transformer on 20-day windows</a:t>
            </a:r>
            <a:endParaRPr lang="en-US" sz="1500" dirty="0"/>
          </a:p>
        </p:txBody>
      </p:sp>
      <p:sp>
        <p:nvSpPr>
          <p:cNvPr id="16" name="card-84"/>
          <p:cNvSpPr/>
          <p:nvPr/>
        </p:nvSpPr>
        <p:spPr>
          <a:xfrm>
            <a:off x="6248095" y="1554480"/>
            <a:ext cx="5394960" cy="914400"/>
          </a:xfrm>
          <a:prstGeom prst="roundRect">
            <a:avLst>
              <a:gd name="adj" fmla="val 10000"/>
            </a:avLst>
          </a:prstGeom>
          <a:solidFill>
            <a:schemeClr val="bg2"/>
          </a:solidFill>
          <a:ln/>
        </p:spPr>
        <p:txBody>
          <a:bodyPr/>
          <a:lstStyle/>
          <a:p>
            <a:endParaRPr lang="en-IN"/>
          </a:p>
        </p:txBody>
      </p:sp>
      <p:sp>
        <p:nvSpPr>
          <p:cNvPr id="17" name="num-85"/>
          <p:cNvSpPr txBox="1"/>
          <p:nvPr/>
        </p:nvSpPr>
        <p:spPr>
          <a:xfrm>
            <a:off x="6476695" y="1737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5</a:t>
            </a:r>
            <a:endParaRPr lang="en-US" sz="1800" dirty="0"/>
          </a:p>
        </p:txBody>
      </p:sp>
      <p:sp>
        <p:nvSpPr>
          <p:cNvPr id="18" name="text-86"/>
          <p:cNvSpPr txBox="1"/>
          <p:nvPr/>
        </p:nvSpPr>
        <p:spPr>
          <a:xfrm>
            <a:off x="7253935" y="1645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Test leakage-safe feature selection: mutual information vs tree importance</a:t>
            </a:r>
            <a:endParaRPr lang="en-US" sz="1500" dirty="0"/>
          </a:p>
        </p:txBody>
      </p:sp>
      <p:sp>
        <p:nvSpPr>
          <p:cNvPr id="19" name="card-87"/>
          <p:cNvSpPr/>
          <p:nvPr/>
        </p:nvSpPr>
        <p:spPr>
          <a:xfrm>
            <a:off x="6248095" y="2697480"/>
            <a:ext cx="5394960" cy="914400"/>
          </a:xfrm>
          <a:prstGeom prst="roundRect">
            <a:avLst>
              <a:gd name="adj" fmla="val 10000"/>
            </a:avLst>
          </a:prstGeom>
          <a:solidFill>
            <a:schemeClr val="bg2"/>
          </a:solidFill>
          <a:ln/>
        </p:spPr>
        <p:txBody>
          <a:bodyPr/>
          <a:lstStyle/>
          <a:p>
            <a:endParaRPr lang="en-IN"/>
          </a:p>
        </p:txBody>
      </p:sp>
      <p:sp>
        <p:nvSpPr>
          <p:cNvPr id="20" name="num-88"/>
          <p:cNvSpPr txBox="1"/>
          <p:nvPr/>
        </p:nvSpPr>
        <p:spPr>
          <a:xfrm>
            <a:off x="6476695" y="2880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6</a:t>
            </a:r>
            <a:endParaRPr lang="en-US" sz="1800" dirty="0"/>
          </a:p>
        </p:txBody>
      </p:sp>
      <p:sp>
        <p:nvSpPr>
          <p:cNvPr id="21" name="text-89"/>
          <p:cNvSpPr txBox="1"/>
          <p:nvPr/>
        </p:nvSpPr>
        <p:spPr>
          <a:xfrm>
            <a:off x="7253935" y="2788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Learn every ensemble weight from walk-forward out-of-fold predictions only</a:t>
            </a:r>
            <a:endParaRPr lang="en-US" sz="1500" dirty="0"/>
          </a:p>
        </p:txBody>
      </p:sp>
      <p:sp>
        <p:nvSpPr>
          <p:cNvPr id="22" name="card-90"/>
          <p:cNvSpPr/>
          <p:nvPr/>
        </p:nvSpPr>
        <p:spPr>
          <a:xfrm>
            <a:off x="6248095" y="3840480"/>
            <a:ext cx="5394960" cy="914400"/>
          </a:xfrm>
          <a:prstGeom prst="roundRect">
            <a:avLst>
              <a:gd name="adj" fmla="val 10000"/>
            </a:avLst>
          </a:prstGeom>
          <a:solidFill>
            <a:schemeClr val="bg2"/>
          </a:solidFill>
          <a:ln/>
        </p:spPr>
        <p:txBody>
          <a:bodyPr/>
          <a:lstStyle/>
          <a:p>
            <a:endParaRPr lang="en-IN"/>
          </a:p>
        </p:txBody>
      </p:sp>
      <p:sp>
        <p:nvSpPr>
          <p:cNvPr id="23" name="num-91"/>
          <p:cNvSpPr txBox="1"/>
          <p:nvPr/>
        </p:nvSpPr>
        <p:spPr>
          <a:xfrm>
            <a:off x="6476695" y="4023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7</a:t>
            </a:r>
            <a:endParaRPr lang="en-US" sz="1800" dirty="0"/>
          </a:p>
        </p:txBody>
      </p:sp>
      <p:sp>
        <p:nvSpPr>
          <p:cNvPr id="24" name="text-92"/>
          <p:cNvSpPr txBox="1"/>
          <p:nvPr/>
        </p:nvSpPr>
        <p:spPr>
          <a:xfrm>
            <a:off x="7253935" y="3931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Compare majority, soft, weighted, adaptive and stacked voting on one test period</a:t>
            </a:r>
            <a:endParaRPr lang="en-US" sz="1500" dirty="0"/>
          </a:p>
        </p:txBody>
      </p:sp>
      <p:sp>
        <p:nvSpPr>
          <p:cNvPr id="25" name="card-93"/>
          <p:cNvSpPr/>
          <p:nvPr/>
        </p:nvSpPr>
        <p:spPr>
          <a:xfrm>
            <a:off x="6248095" y="4983480"/>
            <a:ext cx="5394960" cy="914400"/>
          </a:xfrm>
          <a:prstGeom prst="roundRect">
            <a:avLst>
              <a:gd name="adj" fmla="val 10000"/>
            </a:avLst>
          </a:prstGeom>
          <a:solidFill>
            <a:schemeClr val="bg2"/>
          </a:solidFill>
          <a:ln/>
        </p:spPr>
        <p:txBody>
          <a:bodyPr/>
          <a:lstStyle/>
          <a:p>
            <a:endParaRPr lang="en-IN"/>
          </a:p>
        </p:txBody>
      </p:sp>
      <p:sp>
        <p:nvSpPr>
          <p:cNvPr id="26" name="num-94"/>
          <p:cNvSpPr txBox="1"/>
          <p:nvPr/>
        </p:nvSpPr>
        <p:spPr>
          <a:xfrm>
            <a:off x="6476695" y="5166360"/>
            <a:ext cx="548640" cy="548640"/>
          </a:xfrm>
          <a:prstGeom prst="ellipse">
            <a:avLst/>
          </a:prstGeom>
          <a:solidFill>
            <a:schemeClr val="accent1"/>
          </a:solidFill>
          <a:ln/>
        </p:spPr>
        <p:txBody>
          <a:bodyPr wrap="square" lIns="0" tIns="0" rIns="0" bIns="0" rtlCol="0" anchor="ctr"/>
          <a:lstStyle/>
          <a:p>
            <a:pPr marL="0" indent="0" algn="ctr">
              <a:buNone/>
            </a:pPr>
            <a:r>
              <a:rPr lang="en-US" sz="1800" b="1" dirty="0">
                <a:solidFill>
                  <a:schemeClr val="bg1"/>
                </a:solidFill>
              </a:rPr>
              <a:t>8</a:t>
            </a:r>
            <a:endParaRPr lang="en-US" sz="1800" dirty="0"/>
          </a:p>
        </p:txBody>
      </p:sp>
      <p:sp>
        <p:nvSpPr>
          <p:cNvPr id="27" name="text-95"/>
          <p:cNvSpPr txBox="1"/>
          <p:nvPr/>
        </p:nvSpPr>
        <p:spPr>
          <a:xfrm>
            <a:off x="7253935" y="5074920"/>
            <a:ext cx="4206240" cy="731520"/>
          </a:xfrm>
          <a:prstGeom prst="rect">
            <a:avLst/>
          </a:prstGeom>
          <a:noFill/>
          <a:ln/>
        </p:spPr>
        <p:txBody>
          <a:bodyPr wrap="square" lIns="0" tIns="0" rIns="0" bIns="0" rtlCol="0" anchor="ctr"/>
          <a:lstStyle/>
          <a:p>
            <a:pPr marL="0" indent="0">
              <a:buNone/>
            </a:pPr>
            <a:r>
              <a:rPr lang="en-US" sz="1500" dirty="0">
                <a:solidFill>
                  <a:schemeClr val="tx1"/>
                </a:solidFill>
              </a:rPr>
              <a:t>Prove there is no look-ahead with automated checks, then predict the next day</a:t>
            </a:r>
            <a:endParaRPr lang="en-US" sz="15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02 · LITERATURE</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What recent studies show (2024–2026)</a:t>
            </a:r>
            <a:endParaRPr lang="en-US" sz="3200" dirty="0"/>
          </a:p>
        </p:txBody>
      </p:sp>
      <p:graphicFrame>
        <p:nvGraphicFramePr>
          <p:cNvPr id="7" name="literature-table"/>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4018280"/>
        </p:xfrm>
        <a:graphic>
          <a:graphicData uri="http://schemas.openxmlformats.org/drawingml/2006/table">
            <a:tbl>
              <a:tblPr/>
              <a:tblGrid>
                <a:gridCol w="1965960">
                  <a:extLst>
                    <a:ext uri="{9D8B030D-6E8A-4147-A177-3AD203B41FA5}">
                      <a16:colId xmlns:a16="http://schemas.microsoft.com/office/drawing/2014/main" val="20000"/>
                    </a:ext>
                  </a:extLst>
                </a:gridCol>
                <a:gridCol w="3063240">
                  <a:extLst>
                    <a:ext uri="{9D8B030D-6E8A-4147-A177-3AD203B41FA5}">
                      <a16:colId xmlns:a16="http://schemas.microsoft.com/office/drawing/2014/main" val="20001"/>
                    </a:ext>
                  </a:extLst>
                </a:gridCol>
                <a:gridCol w="2743200">
                  <a:extLst>
                    <a:ext uri="{9D8B030D-6E8A-4147-A177-3AD203B41FA5}">
                      <a16:colId xmlns:a16="http://schemas.microsoft.com/office/drawing/2014/main" val="20002"/>
                    </a:ext>
                  </a:extLst>
                </a:gridCol>
                <a:gridCol w="3319272">
                  <a:extLst>
                    <a:ext uri="{9D8B030D-6E8A-4147-A177-3AD203B41FA5}">
                      <a16:colId xmlns:a16="http://schemas.microsoft.com/office/drawing/2014/main" val="20003"/>
                    </a:ext>
                  </a:extLst>
                </a:gridCol>
              </a:tblGrid>
              <a:tr h="0">
                <a:tc>
                  <a:txBody>
                    <a:bodyPr/>
                    <a:lstStyle/>
                    <a:p>
                      <a:pPr marL="0" indent="0">
                        <a:buNone/>
                      </a:pPr>
                      <a:r>
                        <a:rPr lang="en-US" sz="1400" b="1" dirty="0">
                          <a:solidFill>
                            <a:schemeClr val="bg1"/>
                          </a:solidFill>
                        </a:rPr>
                        <a:t>Study</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Approach</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Limitation</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400" b="1" dirty="0">
                          <a:solidFill>
                            <a:schemeClr val="bg1"/>
                          </a:solidFill>
                        </a:rPr>
                        <a:t>What QuantPredict takes from it</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buNone/>
                      </a:pPr>
                      <a:r>
                        <a:rPr lang="en-US" sz="1400" b="1" dirty="0">
                          <a:solidFill>
                            <a:schemeClr val="tx2"/>
                          </a:solidFill>
                        </a:rPr>
                        <a:t>Tang et al. (2024)</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Multi-input LSTM with wavelet denoising</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Several input streams; one market</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Test sequence models against classical ones fairly</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buNone/>
                      </a:pPr>
                      <a:r>
                        <a:rPr lang="en-US" sz="1400" b="1" dirty="0">
                          <a:solidFill>
                            <a:schemeClr val="tx2"/>
                          </a:solidFill>
                        </a:rPr>
                        <a:t>Chen et al. (2024)</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Fuses news headlines with prices (LSTM + BERT)</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Heavy NLP and time-alignment effort</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Keep inputs numeric; leave news for future work</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buNone/>
                      </a:pPr>
                      <a:r>
                        <a:rPr lang="en-US" sz="1400" b="1" dirty="0">
                          <a:solidFill>
                            <a:schemeClr val="tx2"/>
                          </a:solidFill>
                        </a:rPr>
                        <a:t>Din et al. (2025)</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Attention-BiLSTM + XGBoost decision ensemble</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One fixed combination; Bitcoin prices</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ML–DL ensembles exist; test how to weight them</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buNone/>
                      </a:pPr>
                      <a:r>
                        <a:rPr lang="en-US" sz="1400" b="1" dirty="0">
                          <a:solidFill>
                            <a:schemeClr val="tx2"/>
                          </a:solidFill>
                        </a:rPr>
                        <a:t>Mohapatra et al. (2025)</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RF, GB and XGBoost on 20 Indian bank stocks</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Longer horizons, richer inputs</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Indian evidence; we study next-day direction</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buNone/>
                      </a:pPr>
                      <a:r>
                        <a:rPr lang="en-US" sz="1400" b="1" dirty="0">
                          <a:solidFill>
                            <a:schemeClr val="tx2"/>
                          </a:solidFill>
                        </a:rPr>
                        <a:t>Kundu &amp; Pinsky (2025)</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LSTM, CNN and RNN for daily direction</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Deep learning not better everywhere</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buNone/>
                      </a:pPr>
                      <a:r>
                        <a:rPr lang="en-US" sz="1400" dirty="0">
                          <a:solidFill>
                            <a:schemeClr val="tx1"/>
                          </a:solidFill>
                        </a:rPr>
                        <a:t>Don't assume the deep model wins</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0">
                <a:tc>
                  <a:txBody>
                    <a:bodyPr/>
                    <a:lstStyle/>
                    <a:p>
                      <a:pPr marL="0" indent="0">
                        <a:buNone/>
                      </a:pPr>
                      <a:r>
                        <a:rPr lang="en-US" sz="1400" b="1" dirty="0">
                          <a:solidFill>
                            <a:schemeClr val="tx2"/>
                          </a:solidFill>
                        </a:rPr>
                        <a:t>Kulkarni et al. (2025)</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Time-series vs ML vs DL comparison</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The best model depends on context</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buNone/>
                      </a:pPr>
                      <a:r>
                        <a:rPr lang="en-US" sz="1400" dirty="0">
                          <a:solidFill>
                            <a:schemeClr val="tx1"/>
                          </a:solidFill>
                        </a:rPr>
                        <a:t>Motivates adaptive, time-varying weights</a:t>
                      </a:r>
                      <a:endParaRPr lang="en-US" sz="1400" dirty="0"/>
                    </a:p>
                  </a:txBody>
                  <a:tcPr marL="101600" marR="101600" marT="88900" marB="889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bl>
          </a:graphicData>
        </a:graphic>
      </p:graphicFrame>
      <p:sp>
        <p:nvSpPr>
          <p:cNvPr id="5" name="text-96"/>
          <p:cNvSpPr txBox="1"/>
          <p:nvPr/>
        </p:nvSpPr>
        <p:spPr>
          <a:xfrm>
            <a:off x="548640" y="5943600"/>
            <a:ext cx="11091672" cy="320040"/>
          </a:xfrm>
          <a:prstGeom prst="rect">
            <a:avLst/>
          </a:prstGeom>
          <a:noFill/>
          <a:ln/>
        </p:spPr>
        <p:txBody>
          <a:bodyPr wrap="square" lIns="0" tIns="0" rIns="0" bIns="0" rtlCol="0" anchor="t"/>
          <a:lstStyle/>
          <a:p>
            <a:pPr marL="0" indent="0">
              <a:buNone/>
            </a:pPr>
            <a:r>
              <a:rPr lang="en-US" sz="1200" i="1" dirty="0">
                <a:solidFill>
                  <a:schemeClr val="accent6"/>
                </a:solidFill>
              </a:rPr>
              <a:t>20 open-access studies were reviewed in total (Table 2.1 of the report); six representative ones are shown here.</a:t>
            </a:r>
            <a:endParaRPr lang="en-US" sz="12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02 · LITERATURE</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Research gap and research questions</a:t>
            </a:r>
            <a:endParaRPr lang="en-US" sz="3200" dirty="0"/>
          </a:p>
        </p:txBody>
      </p:sp>
      <p:sp>
        <p:nvSpPr>
          <p:cNvPr id="4" name="icon-circle-97"/>
          <p:cNvSpPr/>
          <p:nvPr/>
        </p:nvSpPr>
        <p:spPr>
          <a:xfrm>
            <a:off x="548640" y="1517904"/>
            <a:ext cx="502920" cy="502920"/>
          </a:xfrm>
          <a:prstGeom prst="ellipse">
            <a:avLst/>
          </a:prstGeom>
          <a:solidFill>
            <a:schemeClr val="tx2"/>
          </a:solidFill>
          <a:ln/>
        </p:spPr>
        <p:txBody>
          <a:bodyPr/>
          <a:lstStyle/>
          <a:p>
            <a:endParaRPr lang="en-IN"/>
          </a:p>
        </p:txBody>
      </p:sp>
      <p:pic>
        <p:nvPicPr>
          <p:cNvPr id="5" name="icon-98" descr="FaMagnifyingGlassChart"/>
          <p:cNvPicPr>
            <a:picLocks noChangeAspect="1"/>
          </p:cNvPicPr>
          <p:nvPr/>
        </p:nvPicPr>
        <p:blipFill>
          <a:blip r:embed="rId3"/>
          <a:stretch>
            <a:fillRect/>
          </a:stretch>
        </p:blipFill>
        <p:spPr>
          <a:xfrm>
            <a:off x="669341" y="1638605"/>
            <a:ext cx="261518" cy="261518"/>
          </a:xfrm>
          <a:prstGeom prst="rect">
            <a:avLst/>
          </a:prstGeom>
        </p:spPr>
      </p:pic>
      <p:sp>
        <p:nvSpPr>
          <p:cNvPr id="6" name="text-99"/>
          <p:cNvSpPr txBox="1"/>
          <p:nvPr/>
        </p:nvSpPr>
        <p:spPr>
          <a:xfrm>
            <a:off x="1188720" y="1554480"/>
            <a:ext cx="4114800" cy="438912"/>
          </a:xfrm>
          <a:prstGeom prst="rect">
            <a:avLst/>
          </a:prstGeom>
          <a:noFill/>
          <a:ln/>
        </p:spPr>
        <p:txBody>
          <a:bodyPr wrap="square" lIns="0" tIns="0" rIns="0" bIns="0" rtlCol="0" anchor="ctr"/>
          <a:lstStyle/>
          <a:p>
            <a:pPr marL="0" indent="0">
              <a:buNone/>
            </a:pPr>
            <a:r>
              <a:rPr lang="en-US" sz="2000" b="1" dirty="0">
                <a:solidFill>
                  <a:schemeClr val="tx2"/>
                </a:solidFill>
              </a:rPr>
              <a:t>The gap</a:t>
            </a:r>
            <a:endParaRPr lang="en-US" sz="2000" dirty="0"/>
          </a:p>
        </p:txBody>
      </p:sp>
      <p:sp>
        <p:nvSpPr>
          <p:cNvPr id="7" name="text-100"/>
          <p:cNvSpPr txBox="1"/>
          <p:nvPr/>
        </p:nvSpPr>
        <p:spPr>
          <a:xfrm>
            <a:off x="548640" y="2194560"/>
            <a:ext cx="5120640" cy="2240280"/>
          </a:xfrm>
          <a:prstGeom prst="rect">
            <a:avLst/>
          </a:prstGeom>
          <a:noFill/>
          <a:ln/>
        </p:spPr>
        <p:txBody>
          <a:bodyPr wrap="square" lIns="0" tIns="0" rIns="0" bIns="0" rtlCol="0" anchor="t"/>
          <a:lstStyle/>
          <a:p>
            <a:pPr marL="342900" indent="-342900">
              <a:spcAft>
                <a:spcPts val="800"/>
              </a:spcAft>
              <a:buSzPct val="100000"/>
              <a:buChar char="•"/>
            </a:pPr>
            <a:r>
              <a:rPr lang="en-US" sz="1500" dirty="0">
                <a:solidFill>
                  <a:schemeClr val="tx1"/>
                </a:solidFill>
              </a:rPr>
              <a:t>LSTMs, hybrid ML–DL models and weighted ensembles all exist; none of them is new on its own.</a:t>
            </a:r>
            <a:endParaRPr lang="en-US" sz="1500" dirty="0"/>
          </a:p>
          <a:p>
            <a:pPr marL="342900" indent="-342900">
              <a:spcAft>
                <a:spcPts val="800"/>
              </a:spcAft>
              <a:buSzPct val="100000"/>
              <a:buChar char="•"/>
            </a:pPr>
            <a:r>
              <a:rPr lang="en-US" sz="1500" dirty="0">
                <a:solidFill>
                  <a:schemeClr val="tx1"/>
                </a:solidFill>
              </a:rPr>
              <a:t>Few studies show that their scalers, feature selectors and weights never saw the test period.</a:t>
            </a:r>
            <a:endParaRPr lang="en-US" sz="1500" dirty="0"/>
          </a:p>
          <a:p>
            <a:pPr marL="342900" indent="-342900">
              <a:spcAft>
                <a:spcPts val="800"/>
              </a:spcAft>
              <a:buSzPct val="100000"/>
              <a:buChar char="•"/>
            </a:pPr>
            <a:r>
              <a:rPr lang="en-US" sz="1500" dirty="0">
                <a:solidFill>
                  <a:schemeClr val="tx1"/>
                </a:solidFill>
              </a:rPr>
              <a:t>The useful model changes over time, yet most ensembles keep fixed weights.</a:t>
            </a:r>
            <a:endParaRPr lang="en-US" sz="1500" dirty="0"/>
          </a:p>
        </p:txBody>
      </p:sp>
      <p:sp>
        <p:nvSpPr>
          <p:cNvPr id="8" name="card-101"/>
          <p:cNvSpPr/>
          <p:nvPr/>
        </p:nvSpPr>
        <p:spPr>
          <a:xfrm>
            <a:off x="548640" y="4572000"/>
            <a:ext cx="5120640" cy="1600200"/>
          </a:xfrm>
          <a:prstGeom prst="roundRect">
            <a:avLst>
              <a:gd name="adj" fmla="val 5714"/>
            </a:avLst>
          </a:prstGeom>
          <a:solidFill>
            <a:schemeClr val="tx2"/>
          </a:solidFill>
          <a:ln/>
        </p:spPr>
        <p:txBody>
          <a:bodyPr/>
          <a:lstStyle/>
          <a:p>
            <a:endParaRPr lang="en-IN"/>
          </a:p>
        </p:txBody>
      </p:sp>
      <p:sp>
        <p:nvSpPr>
          <p:cNvPr id="9" name="text-102"/>
          <p:cNvSpPr txBox="1"/>
          <p:nvPr/>
        </p:nvSpPr>
        <p:spPr>
          <a:xfrm>
            <a:off x="822960" y="4727448"/>
            <a:ext cx="4572000" cy="274320"/>
          </a:xfrm>
          <a:prstGeom prst="rect">
            <a:avLst/>
          </a:prstGeom>
          <a:noFill/>
          <a:ln/>
        </p:spPr>
        <p:txBody>
          <a:bodyPr wrap="square" lIns="0" tIns="0" rIns="0" bIns="0" rtlCol="0" anchor="t"/>
          <a:lstStyle/>
          <a:p>
            <a:pPr marL="0" indent="0">
              <a:buNone/>
            </a:pPr>
            <a:r>
              <a:rPr lang="en-US" sz="1100" b="1" kern="0" spc="200" dirty="0">
                <a:solidFill>
                  <a:schemeClr val="accent3"/>
                </a:solidFill>
              </a:rPr>
              <a:t>CONTRIBUTION</a:t>
            </a:r>
            <a:endParaRPr lang="en-US" sz="1100" dirty="0"/>
          </a:p>
        </p:txBody>
      </p:sp>
      <p:sp>
        <p:nvSpPr>
          <p:cNvPr id="10" name="text-103"/>
          <p:cNvSpPr txBox="1"/>
          <p:nvPr/>
        </p:nvSpPr>
        <p:spPr>
          <a:xfrm>
            <a:off x="822960" y="5029200"/>
            <a:ext cx="4617720" cy="1051560"/>
          </a:xfrm>
          <a:prstGeom prst="rect">
            <a:avLst/>
          </a:prstGeom>
          <a:noFill/>
          <a:ln/>
        </p:spPr>
        <p:txBody>
          <a:bodyPr wrap="square" lIns="0" tIns="0" rIns="0" bIns="0" rtlCol="0" anchor="t"/>
          <a:lstStyle/>
          <a:p>
            <a:pPr marL="0" indent="0">
              <a:buNone/>
            </a:pPr>
            <a:r>
              <a:rPr lang="en-US" sz="1500" dirty="0">
                <a:solidFill>
                  <a:schemeClr val="bg1"/>
                </a:solidFill>
              </a:rPr>
              <a:t>A transparent, leakage-checked framework for Indian equity data that measures what heterogeneous models, a ViT and adaptive weighting really add.</a:t>
            </a:r>
            <a:endParaRPr lang="en-US" sz="1500" dirty="0"/>
          </a:p>
        </p:txBody>
      </p:sp>
      <p:sp>
        <p:nvSpPr>
          <p:cNvPr id="11" name="card-104"/>
          <p:cNvSpPr/>
          <p:nvPr/>
        </p:nvSpPr>
        <p:spPr>
          <a:xfrm>
            <a:off x="6035040" y="1508760"/>
            <a:ext cx="5605272" cy="1005840"/>
          </a:xfrm>
          <a:prstGeom prst="roundRect">
            <a:avLst>
              <a:gd name="adj" fmla="val 9091"/>
            </a:avLst>
          </a:prstGeom>
          <a:solidFill>
            <a:schemeClr val="bg2"/>
          </a:solidFill>
          <a:ln/>
        </p:spPr>
        <p:txBody>
          <a:bodyPr/>
          <a:lstStyle/>
          <a:p>
            <a:endParaRPr lang="en-IN"/>
          </a:p>
        </p:txBody>
      </p:sp>
      <p:sp>
        <p:nvSpPr>
          <p:cNvPr id="12" name="pill-105"/>
          <p:cNvSpPr txBox="1"/>
          <p:nvPr/>
        </p:nvSpPr>
        <p:spPr>
          <a:xfrm>
            <a:off x="6263640" y="1810512"/>
            <a:ext cx="731520" cy="402336"/>
          </a:xfrm>
          <a:prstGeom prst="roundRect">
            <a:avLst>
              <a:gd name="adj" fmla="val 50000"/>
            </a:avLst>
          </a:prstGeom>
          <a:solidFill>
            <a:schemeClr val="accent1"/>
          </a:solidFill>
          <a:ln/>
        </p:spPr>
        <p:txBody>
          <a:bodyPr wrap="square" lIns="0" tIns="0" rIns="0" bIns="0" rtlCol="0" anchor="ctr"/>
          <a:lstStyle/>
          <a:p>
            <a:pPr marL="0" indent="0" algn="ctr">
              <a:buNone/>
            </a:pPr>
            <a:r>
              <a:rPr lang="en-US" sz="1400" b="1" dirty="0">
                <a:solidFill>
                  <a:schemeClr val="bg1"/>
                </a:solidFill>
              </a:rPr>
              <a:t>RQ1</a:t>
            </a:r>
            <a:endParaRPr lang="en-US" sz="1400" dirty="0"/>
          </a:p>
        </p:txBody>
      </p:sp>
      <p:sp>
        <p:nvSpPr>
          <p:cNvPr id="13" name="text-106"/>
          <p:cNvSpPr txBox="1"/>
          <p:nvPr/>
        </p:nvSpPr>
        <p:spPr>
          <a:xfrm>
            <a:off x="7223760" y="1581912"/>
            <a:ext cx="4206240" cy="859536"/>
          </a:xfrm>
          <a:prstGeom prst="rect">
            <a:avLst/>
          </a:prstGeom>
          <a:noFill/>
          <a:ln/>
        </p:spPr>
        <p:txBody>
          <a:bodyPr wrap="square" lIns="0" tIns="0" rIns="0" bIns="0" rtlCol="0" anchor="ctr"/>
          <a:lstStyle/>
          <a:p>
            <a:pPr marL="0" indent="0">
              <a:buNone/>
            </a:pPr>
            <a:r>
              <a:rPr lang="en-US" sz="1500" dirty="0">
                <a:solidFill>
                  <a:schemeClr val="tx1"/>
                </a:solidFill>
              </a:rPr>
              <a:t>Do six classical models, an LSTM and an adapted ViT beat the majority-class baseline on the same test days?</a:t>
            </a:r>
            <a:endParaRPr lang="en-US" sz="1500" dirty="0"/>
          </a:p>
        </p:txBody>
      </p:sp>
      <p:sp>
        <p:nvSpPr>
          <p:cNvPr id="14" name="card-107"/>
          <p:cNvSpPr/>
          <p:nvPr/>
        </p:nvSpPr>
        <p:spPr>
          <a:xfrm>
            <a:off x="6035040" y="2679192"/>
            <a:ext cx="5605272" cy="1005840"/>
          </a:xfrm>
          <a:prstGeom prst="roundRect">
            <a:avLst>
              <a:gd name="adj" fmla="val 9091"/>
            </a:avLst>
          </a:prstGeom>
          <a:solidFill>
            <a:schemeClr val="bg2"/>
          </a:solidFill>
          <a:ln/>
        </p:spPr>
        <p:txBody>
          <a:bodyPr/>
          <a:lstStyle/>
          <a:p>
            <a:endParaRPr lang="en-IN"/>
          </a:p>
        </p:txBody>
      </p:sp>
      <p:sp>
        <p:nvSpPr>
          <p:cNvPr id="15" name="pill-108"/>
          <p:cNvSpPr txBox="1"/>
          <p:nvPr/>
        </p:nvSpPr>
        <p:spPr>
          <a:xfrm>
            <a:off x="6263640" y="2980944"/>
            <a:ext cx="731520" cy="402336"/>
          </a:xfrm>
          <a:prstGeom prst="roundRect">
            <a:avLst>
              <a:gd name="adj" fmla="val 50000"/>
            </a:avLst>
          </a:prstGeom>
          <a:solidFill>
            <a:schemeClr val="accent5"/>
          </a:solidFill>
          <a:ln/>
        </p:spPr>
        <p:txBody>
          <a:bodyPr wrap="square" lIns="0" tIns="0" rIns="0" bIns="0" rtlCol="0" anchor="ctr"/>
          <a:lstStyle/>
          <a:p>
            <a:pPr marL="0" indent="0" algn="ctr">
              <a:buNone/>
            </a:pPr>
            <a:r>
              <a:rPr lang="en-US" sz="1400" b="1" dirty="0">
                <a:solidFill>
                  <a:schemeClr val="bg1"/>
                </a:solidFill>
              </a:rPr>
              <a:t>RQ2</a:t>
            </a:r>
            <a:endParaRPr lang="en-US" sz="1400" dirty="0"/>
          </a:p>
        </p:txBody>
      </p:sp>
      <p:sp>
        <p:nvSpPr>
          <p:cNvPr id="16" name="text-109"/>
          <p:cNvSpPr txBox="1"/>
          <p:nvPr/>
        </p:nvSpPr>
        <p:spPr>
          <a:xfrm>
            <a:off x="7223760" y="2752344"/>
            <a:ext cx="4206240" cy="859536"/>
          </a:xfrm>
          <a:prstGeom prst="rect">
            <a:avLst/>
          </a:prstGeom>
          <a:noFill/>
          <a:ln/>
        </p:spPr>
        <p:txBody>
          <a:bodyPr wrap="square" lIns="0" tIns="0" rIns="0" bIns="0" rtlCol="0" anchor="ctr"/>
          <a:lstStyle/>
          <a:p>
            <a:pPr marL="0" indent="0">
              <a:buNone/>
            </a:pPr>
            <a:r>
              <a:rPr lang="en-US" sz="1500" dirty="0">
                <a:solidFill>
                  <a:schemeClr val="tx1"/>
                </a:solidFill>
              </a:rPr>
              <a:t>Does a ViT that reads 20-day feature matrices add value, alone or inside an ensemble?</a:t>
            </a:r>
            <a:endParaRPr lang="en-US" sz="1500" dirty="0"/>
          </a:p>
        </p:txBody>
      </p:sp>
      <p:sp>
        <p:nvSpPr>
          <p:cNvPr id="17" name="card-110"/>
          <p:cNvSpPr/>
          <p:nvPr/>
        </p:nvSpPr>
        <p:spPr>
          <a:xfrm>
            <a:off x="6035040" y="3849624"/>
            <a:ext cx="5605272" cy="1005840"/>
          </a:xfrm>
          <a:prstGeom prst="roundRect">
            <a:avLst>
              <a:gd name="adj" fmla="val 9091"/>
            </a:avLst>
          </a:prstGeom>
          <a:solidFill>
            <a:schemeClr val="bg2"/>
          </a:solidFill>
          <a:ln/>
        </p:spPr>
        <p:txBody>
          <a:bodyPr/>
          <a:lstStyle/>
          <a:p>
            <a:endParaRPr lang="en-IN"/>
          </a:p>
        </p:txBody>
      </p:sp>
      <p:sp>
        <p:nvSpPr>
          <p:cNvPr id="18" name="pill-111"/>
          <p:cNvSpPr txBox="1"/>
          <p:nvPr/>
        </p:nvSpPr>
        <p:spPr>
          <a:xfrm>
            <a:off x="6263640" y="4151376"/>
            <a:ext cx="731520" cy="402336"/>
          </a:xfrm>
          <a:prstGeom prst="roundRect">
            <a:avLst>
              <a:gd name="adj" fmla="val 50000"/>
            </a:avLst>
          </a:prstGeom>
          <a:solidFill>
            <a:schemeClr val="accent3"/>
          </a:solidFill>
          <a:ln/>
        </p:spPr>
        <p:txBody>
          <a:bodyPr wrap="square" lIns="0" tIns="0" rIns="0" bIns="0" rtlCol="0" anchor="ctr"/>
          <a:lstStyle/>
          <a:p>
            <a:pPr marL="0" indent="0" algn="ctr">
              <a:buNone/>
            </a:pPr>
            <a:r>
              <a:rPr lang="en-US" sz="1400" b="1" dirty="0">
                <a:solidFill>
                  <a:schemeClr val="tx2"/>
                </a:solidFill>
              </a:rPr>
              <a:t>RQ3</a:t>
            </a:r>
            <a:endParaRPr lang="en-US" sz="1400" dirty="0"/>
          </a:p>
        </p:txBody>
      </p:sp>
      <p:sp>
        <p:nvSpPr>
          <p:cNvPr id="19" name="text-112"/>
          <p:cNvSpPr txBox="1"/>
          <p:nvPr/>
        </p:nvSpPr>
        <p:spPr>
          <a:xfrm>
            <a:off x="7223760" y="3922776"/>
            <a:ext cx="4206240" cy="859536"/>
          </a:xfrm>
          <a:prstGeom prst="rect">
            <a:avLst/>
          </a:prstGeom>
          <a:noFill/>
          <a:ln/>
        </p:spPr>
        <p:txBody>
          <a:bodyPr wrap="square" lIns="0" tIns="0" rIns="0" bIns="0" rtlCol="0" anchor="ctr"/>
          <a:lstStyle/>
          <a:p>
            <a:pPr marL="0" indent="0">
              <a:buNone/>
            </a:pPr>
            <a:r>
              <a:rPr lang="en-US" sz="1500" dirty="0">
                <a:solidFill>
                  <a:schemeClr val="tx1"/>
                </a:solidFill>
              </a:rPr>
              <a:t>Do soft, weighted, adaptive or stacked ensembles beat majority voting and the best single model?</a:t>
            </a:r>
            <a:endParaRPr lang="en-US" sz="1500" dirty="0"/>
          </a:p>
        </p:txBody>
      </p:sp>
      <p:sp>
        <p:nvSpPr>
          <p:cNvPr id="20" name="card-113"/>
          <p:cNvSpPr/>
          <p:nvPr/>
        </p:nvSpPr>
        <p:spPr>
          <a:xfrm>
            <a:off x="6035040" y="5020056"/>
            <a:ext cx="5605272" cy="1005840"/>
          </a:xfrm>
          <a:prstGeom prst="roundRect">
            <a:avLst>
              <a:gd name="adj" fmla="val 9091"/>
            </a:avLst>
          </a:prstGeom>
          <a:solidFill>
            <a:schemeClr val="bg2"/>
          </a:solidFill>
          <a:ln/>
        </p:spPr>
        <p:txBody>
          <a:bodyPr/>
          <a:lstStyle/>
          <a:p>
            <a:endParaRPr lang="en-IN"/>
          </a:p>
        </p:txBody>
      </p:sp>
      <p:sp>
        <p:nvSpPr>
          <p:cNvPr id="21" name="pill-114"/>
          <p:cNvSpPr txBox="1"/>
          <p:nvPr/>
        </p:nvSpPr>
        <p:spPr>
          <a:xfrm>
            <a:off x="6263640" y="5321808"/>
            <a:ext cx="731520" cy="402336"/>
          </a:xfrm>
          <a:prstGeom prst="roundRect">
            <a:avLst>
              <a:gd name="adj" fmla="val 50000"/>
            </a:avLst>
          </a:prstGeom>
          <a:solidFill>
            <a:schemeClr val="accent4"/>
          </a:solidFill>
          <a:ln/>
        </p:spPr>
        <p:txBody>
          <a:bodyPr wrap="square" lIns="0" tIns="0" rIns="0" bIns="0" rtlCol="0" anchor="ctr"/>
          <a:lstStyle/>
          <a:p>
            <a:pPr marL="0" indent="0" algn="ctr">
              <a:buNone/>
            </a:pPr>
            <a:r>
              <a:rPr lang="en-US" sz="1400" b="1" dirty="0">
                <a:solidFill>
                  <a:schemeClr val="bg1"/>
                </a:solidFill>
              </a:rPr>
              <a:t>RQ4</a:t>
            </a:r>
            <a:endParaRPr lang="en-US" sz="1400" dirty="0"/>
          </a:p>
        </p:txBody>
      </p:sp>
      <p:sp>
        <p:nvSpPr>
          <p:cNvPr id="22" name="text-115"/>
          <p:cNvSpPr txBox="1"/>
          <p:nvPr/>
        </p:nvSpPr>
        <p:spPr>
          <a:xfrm>
            <a:off x="7223760" y="5093208"/>
            <a:ext cx="4206240" cy="859536"/>
          </a:xfrm>
          <a:prstGeom prst="rect">
            <a:avLst/>
          </a:prstGeom>
          <a:noFill/>
          <a:ln/>
        </p:spPr>
        <p:txBody>
          <a:bodyPr wrap="square" lIns="0" tIns="0" rIns="0" bIns="0" rtlCol="0" anchor="ctr"/>
          <a:lstStyle/>
          <a:p>
            <a:pPr marL="0" indent="0">
              <a:buNone/>
            </a:pPr>
            <a:r>
              <a:rPr lang="en-US" sz="1500" dirty="0">
                <a:solidFill>
                  <a:schemeClr val="tx1"/>
                </a:solidFill>
              </a:rPr>
              <a:t>Does leakage-safe feature selection improve on the full 37-feature set?</a:t>
            </a:r>
            <a:endParaRPr lang="en-US" sz="15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Dataset and technical stack</a:t>
            </a:r>
            <a:endParaRPr lang="en-US" sz="3200" dirty="0"/>
          </a:p>
        </p:txBody>
      </p:sp>
      <p:sp>
        <p:nvSpPr>
          <p:cNvPr id="4" name="card-116"/>
          <p:cNvSpPr/>
          <p:nvPr/>
        </p:nvSpPr>
        <p:spPr>
          <a:xfrm>
            <a:off x="548640" y="1508760"/>
            <a:ext cx="2651760" cy="1965960"/>
          </a:xfrm>
          <a:prstGeom prst="roundRect">
            <a:avLst>
              <a:gd name="adj" fmla="val 4651"/>
            </a:avLst>
          </a:prstGeom>
          <a:solidFill>
            <a:schemeClr val="bg2"/>
          </a:solidFill>
          <a:ln/>
        </p:spPr>
        <p:txBody>
          <a:bodyPr/>
          <a:lstStyle/>
          <a:p>
            <a:endParaRPr lang="en-IN"/>
          </a:p>
        </p:txBody>
      </p:sp>
      <p:sp>
        <p:nvSpPr>
          <p:cNvPr id="5" name="text-117"/>
          <p:cNvSpPr txBox="1"/>
          <p:nvPr/>
        </p:nvSpPr>
        <p:spPr>
          <a:xfrm>
            <a:off x="822960" y="1709928"/>
            <a:ext cx="2194560" cy="77724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5,306</a:t>
            </a:r>
            <a:endParaRPr lang="en-US" sz="4400" dirty="0"/>
          </a:p>
        </p:txBody>
      </p:sp>
      <p:sp>
        <p:nvSpPr>
          <p:cNvPr id="6" name="text-118"/>
          <p:cNvSpPr txBox="1"/>
          <p:nvPr/>
        </p:nvSpPr>
        <p:spPr>
          <a:xfrm>
            <a:off x="822960" y="2532888"/>
            <a:ext cx="2148840" cy="822960"/>
          </a:xfrm>
          <a:prstGeom prst="rect">
            <a:avLst/>
          </a:prstGeom>
          <a:noFill/>
          <a:ln/>
        </p:spPr>
        <p:txBody>
          <a:bodyPr wrap="square" lIns="0" tIns="0" rIns="0" bIns="0" rtlCol="0" anchor="t"/>
          <a:lstStyle/>
          <a:p>
            <a:pPr marL="0" indent="0">
              <a:buNone/>
            </a:pPr>
            <a:r>
              <a:rPr lang="en-US" sz="1300" dirty="0">
                <a:solidFill>
                  <a:schemeClr val="tx1"/>
                </a:solidFill>
              </a:rPr>
              <a:t>daily rows of RELIANCE OHLCV data, 3 Jan 2000 – 30 Apr 2021</a:t>
            </a:r>
            <a:endParaRPr lang="en-US" sz="1300" dirty="0"/>
          </a:p>
        </p:txBody>
      </p:sp>
      <p:sp>
        <p:nvSpPr>
          <p:cNvPr id="7" name="card-119"/>
          <p:cNvSpPr/>
          <p:nvPr/>
        </p:nvSpPr>
        <p:spPr>
          <a:xfrm>
            <a:off x="3429000" y="1508760"/>
            <a:ext cx="2651760" cy="1965960"/>
          </a:xfrm>
          <a:prstGeom prst="roundRect">
            <a:avLst>
              <a:gd name="adj" fmla="val 4651"/>
            </a:avLst>
          </a:prstGeom>
          <a:solidFill>
            <a:schemeClr val="bg2"/>
          </a:solidFill>
          <a:ln/>
        </p:spPr>
        <p:txBody>
          <a:bodyPr/>
          <a:lstStyle/>
          <a:p>
            <a:endParaRPr lang="en-IN"/>
          </a:p>
        </p:txBody>
      </p:sp>
      <p:sp>
        <p:nvSpPr>
          <p:cNvPr id="8" name="text-120"/>
          <p:cNvSpPr txBox="1"/>
          <p:nvPr/>
        </p:nvSpPr>
        <p:spPr>
          <a:xfrm>
            <a:off x="3703320" y="1709928"/>
            <a:ext cx="2194560" cy="77724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49</a:t>
            </a:r>
            <a:endParaRPr lang="en-US" sz="4400" dirty="0"/>
          </a:p>
        </p:txBody>
      </p:sp>
      <p:sp>
        <p:nvSpPr>
          <p:cNvPr id="9" name="text-121"/>
          <p:cNvSpPr txBox="1"/>
          <p:nvPr/>
        </p:nvSpPr>
        <p:spPr>
          <a:xfrm>
            <a:off x="3703320" y="2532888"/>
            <a:ext cx="2148840" cy="822960"/>
          </a:xfrm>
          <a:prstGeom prst="rect">
            <a:avLst/>
          </a:prstGeom>
          <a:noFill/>
          <a:ln/>
        </p:spPr>
        <p:txBody>
          <a:bodyPr wrap="square" lIns="0" tIns="0" rIns="0" bIns="0" rtlCol="0" anchor="t"/>
          <a:lstStyle/>
          <a:p>
            <a:pPr marL="0" indent="0">
              <a:buNone/>
            </a:pPr>
            <a:r>
              <a:rPr lang="en-US" sz="1300" dirty="0">
                <a:solidFill>
                  <a:schemeClr val="tx1"/>
                </a:solidFill>
              </a:rPr>
              <a:t>usable NIFTY-50 stock files; any one is chosen with a single constant</a:t>
            </a:r>
            <a:endParaRPr lang="en-US" sz="1300" dirty="0"/>
          </a:p>
        </p:txBody>
      </p:sp>
      <p:sp>
        <p:nvSpPr>
          <p:cNvPr id="10" name="card-122"/>
          <p:cNvSpPr/>
          <p:nvPr/>
        </p:nvSpPr>
        <p:spPr>
          <a:xfrm>
            <a:off x="548640" y="3657600"/>
            <a:ext cx="2651760" cy="1965960"/>
          </a:xfrm>
          <a:prstGeom prst="roundRect">
            <a:avLst>
              <a:gd name="adj" fmla="val 4651"/>
            </a:avLst>
          </a:prstGeom>
          <a:solidFill>
            <a:schemeClr val="bg2"/>
          </a:solidFill>
          <a:ln/>
        </p:spPr>
        <p:txBody>
          <a:bodyPr/>
          <a:lstStyle/>
          <a:p>
            <a:endParaRPr lang="en-IN"/>
          </a:p>
        </p:txBody>
      </p:sp>
      <p:sp>
        <p:nvSpPr>
          <p:cNvPr id="11" name="text-123"/>
          <p:cNvSpPr txBox="1"/>
          <p:nvPr/>
        </p:nvSpPr>
        <p:spPr>
          <a:xfrm>
            <a:off x="822960" y="3858768"/>
            <a:ext cx="2194560" cy="77724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37</a:t>
            </a:r>
            <a:endParaRPr lang="en-US" sz="4400" dirty="0"/>
          </a:p>
        </p:txBody>
      </p:sp>
      <p:sp>
        <p:nvSpPr>
          <p:cNvPr id="12" name="text-124"/>
          <p:cNvSpPr txBox="1"/>
          <p:nvPr/>
        </p:nvSpPr>
        <p:spPr>
          <a:xfrm>
            <a:off x="822960" y="4681728"/>
            <a:ext cx="2148840" cy="822960"/>
          </a:xfrm>
          <a:prstGeom prst="rect">
            <a:avLst/>
          </a:prstGeom>
          <a:noFill/>
          <a:ln/>
        </p:spPr>
        <p:txBody>
          <a:bodyPr wrap="square" lIns="0" tIns="0" rIns="0" bIns="0" rtlCol="0" anchor="t"/>
          <a:lstStyle/>
          <a:p>
            <a:pPr marL="0" indent="0">
              <a:buNone/>
            </a:pPr>
            <a:r>
              <a:rPr lang="en-US" sz="1300" dirty="0">
                <a:solidFill>
                  <a:schemeClr val="tx1"/>
                </a:solidFill>
              </a:rPr>
              <a:t>stationary features engineered for every trading day</a:t>
            </a:r>
            <a:endParaRPr lang="en-US" sz="1300" dirty="0"/>
          </a:p>
        </p:txBody>
      </p:sp>
      <p:sp>
        <p:nvSpPr>
          <p:cNvPr id="13" name="card-125"/>
          <p:cNvSpPr/>
          <p:nvPr/>
        </p:nvSpPr>
        <p:spPr>
          <a:xfrm>
            <a:off x="3429000" y="3657600"/>
            <a:ext cx="2651760" cy="1965960"/>
          </a:xfrm>
          <a:prstGeom prst="roundRect">
            <a:avLst>
              <a:gd name="adj" fmla="val 4651"/>
            </a:avLst>
          </a:prstGeom>
          <a:solidFill>
            <a:schemeClr val="bg2"/>
          </a:solidFill>
          <a:ln/>
        </p:spPr>
        <p:txBody>
          <a:bodyPr/>
          <a:lstStyle/>
          <a:p>
            <a:endParaRPr lang="en-IN"/>
          </a:p>
        </p:txBody>
      </p:sp>
      <p:sp>
        <p:nvSpPr>
          <p:cNvPr id="14" name="text-126"/>
          <p:cNvSpPr txBox="1"/>
          <p:nvPr/>
        </p:nvSpPr>
        <p:spPr>
          <a:xfrm>
            <a:off x="3703320" y="3858768"/>
            <a:ext cx="2194560" cy="777240"/>
          </a:xfrm>
          <a:prstGeom prst="rect">
            <a:avLst/>
          </a:prstGeom>
          <a:noFill/>
          <a:ln/>
        </p:spPr>
        <p:txBody>
          <a:bodyPr wrap="square" lIns="0" tIns="0" rIns="0" bIns="0" rtlCol="0" anchor="t"/>
          <a:lstStyle/>
          <a:p>
            <a:pPr marL="0" indent="0">
              <a:buNone/>
            </a:pPr>
            <a:r>
              <a:rPr lang="en-US" sz="4400" b="1" dirty="0">
                <a:solidFill>
                  <a:schemeClr val="accent1"/>
                </a:solidFill>
                <a:latin typeface="+mj-lt" pitchFamily="34" charset="0"/>
                <a:ea typeface="+mj-lt" pitchFamily="34" charset="-122"/>
                <a:cs typeface="+mj-lt" pitchFamily="34" charset="-120"/>
              </a:rPr>
              <a:t>3</a:t>
            </a:r>
            <a:endParaRPr lang="en-US" sz="4400" dirty="0"/>
          </a:p>
        </p:txBody>
      </p:sp>
      <p:sp>
        <p:nvSpPr>
          <p:cNvPr id="15" name="text-127"/>
          <p:cNvSpPr txBox="1"/>
          <p:nvPr/>
        </p:nvSpPr>
        <p:spPr>
          <a:xfrm>
            <a:off x="3703320" y="4681728"/>
            <a:ext cx="2148840" cy="822960"/>
          </a:xfrm>
          <a:prstGeom prst="rect">
            <a:avLst/>
          </a:prstGeom>
          <a:noFill/>
          <a:ln/>
        </p:spPr>
        <p:txBody>
          <a:bodyPr wrap="square" lIns="0" tIns="0" rIns="0" bIns="0" rtlCol="0" anchor="t"/>
          <a:lstStyle/>
          <a:p>
            <a:pPr marL="0" indent="0">
              <a:buNone/>
            </a:pPr>
            <a:r>
              <a:rPr lang="en-US" sz="1300" dirty="0">
                <a:solidFill>
                  <a:schemeClr val="tx1"/>
                </a:solidFill>
              </a:rPr>
              <a:t>corporate actions detected and adjusted automatically</a:t>
            </a:r>
            <a:endParaRPr lang="en-US" sz="1300" dirty="0"/>
          </a:p>
        </p:txBody>
      </p:sp>
      <p:sp>
        <p:nvSpPr>
          <p:cNvPr id="16" name="text-128"/>
          <p:cNvSpPr txBox="1"/>
          <p:nvPr/>
        </p:nvSpPr>
        <p:spPr>
          <a:xfrm>
            <a:off x="548640" y="5806440"/>
            <a:ext cx="5532120" cy="411480"/>
          </a:xfrm>
          <a:prstGeom prst="rect">
            <a:avLst/>
          </a:prstGeom>
          <a:noFill/>
          <a:ln/>
        </p:spPr>
        <p:txBody>
          <a:bodyPr wrap="square" lIns="0" tIns="0" rIns="0" bIns="0" rtlCol="0" anchor="t"/>
          <a:lstStyle/>
          <a:p>
            <a:pPr marL="0" indent="0">
              <a:buNone/>
            </a:pPr>
            <a:r>
              <a:rPr lang="en-US" sz="1200" i="1" dirty="0">
                <a:solidFill>
                  <a:schemeClr val="accent6"/>
                </a:solidFill>
              </a:rPr>
              <a:t>Source: Kaggle “NIFTY-50 Stock Market Data (2000–2021)”, NSE daily files (Rao, 2021)</a:t>
            </a:r>
            <a:endParaRPr lang="en-US" sz="1200" dirty="0"/>
          </a:p>
        </p:txBody>
      </p:sp>
      <p:sp>
        <p:nvSpPr>
          <p:cNvPr id="17" name="icon-circle-129"/>
          <p:cNvSpPr/>
          <p:nvPr/>
        </p:nvSpPr>
        <p:spPr>
          <a:xfrm>
            <a:off x="6492240" y="1481328"/>
            <a:ext cx="457200" cy="457200"/>
          </a:xfrm>
          <a:prstGeom prst="ellipse">
            <a:avLst/>
          </a:prstGeom>
          <a:solidFill>
            <a:schemeClr val="accent4"/>
          </a:solidFill>
          <a:ln/>
        </p:spPr>
        <p:txBody>
          <a:bodyPr/>
          <a:lstStyle/>
          <a:p>
            <a:endParaRPr lang="en-IN"/>
          </a:p>
        </p:txBody>
      </p:sp>
      <p:pic>
        <p:nvPicPr>
          <p:cNvPr id="18" name="icon-130" descr="FaPython"/>
          <p:cNvPicPr>
            <a:picLocks noChangeAspect="1"/>
          </p:cNvPicPr>
          <p:nvPr/>
        </p:nvPicPr>
        <p:blipFill>
          <a:blip r:embed="rId3"/>
          <a:stretch>
            <a:fillRect/>
          </a:stretch>
        </p:blipFill>
        <p:spPr>
          <a:xfrm>
            <a:off x="6601968" y="1591056"/>
            <a:ext cx="237744" cy="237744"/>
          </a:xfrm>
          <a:prstGeom prst="rect">
            <a:avLst/>
          </a:prstGeom>
        </p:spPr>
      </p:pic>
      <p:sp>
        <p:nvSpPr>
          <p:cNvPr id="19" name="text-131"/>
          <p:cNvSpPr txBox="1"/>
          <p:nvPr/>
        </p:nvSpPr>
        <p:spPr>
          <a:xfrm>
            <a:off x="7086600" y="1481328"/>
            <a:ext cx="4114800" cy="457200"/>
          </a:xfrm>
          <a:prstGeom prst="rect">
            <a:avLst/>
          </a:prstGeom>
          <a:noFill/>
          <a:ln/>
        </p:spPr>
        <p:txBody>
          <a:bodyPr wrap="square" lIns="0" tIns="0" rIns="0" bIns="0" rtlCol="0" anchor="ctr"/>
          <a:lstStyle/>
          <a:p>
            <a:pPr marL="0" indent="0">
              <a:buNone/>
            </a:pPr>
            <a:r>
              <a:rPr lang="en-US" sz="1700" b="1" dirty="0">
                <a:solidFill>
                  <a:schemeClr val="tx2"/>
                </a:solidFill>
              </a:rPr>
              <a:t>Software</a:t>
            </a:r>
            <a:endParaRPr lang="en-US" sz="1700" dirty="0"/>
          </a:p>
        </p:txBody>
      </p:sp>
      <p:sp>
        <p:nvSpPr>
          <p:cNvPr id="20" name="pill-132"/>
          <p:cNvSpPr txBox="1"/>
          <p:nvPr/>
        </p:nvSpPr>
        <p:spPr>
          <a:xfrm>
            <a:off x="6492240" y="2103120"/>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Python 3.14</a:t>
            </a:r>
            <a:endParaRPr lang="en-US" sz="1400" dirty="0"/>
          </a:p>
        </p:txBody>
      </p:sp>
      <p:sp>
        <p:nvSpPr>
          <p:cNvPr id="21" name="pill-133"/>
          <p:cNvSpPr txBox="1"/>
          <p:nvPr/>
        </p:nvSpPr>
        <p:spPr>
          <a:xfrm>
            <a:off x="9125712" y="2103120"/>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pandas 3.0 · NumPy 2.5</a:t>
            </a:r>
            <a:endParaRPr lang="en-US" sz="1400" dirty="0"/>
          </a:p>
        </p:txBody>
      </p:sp>
      <p:sp>
        <p:nvSpPr>
          <p:cNvPr id="22" name="pill-134"/>
          <p:cNvSpPr txBox="1"/>
          <p:nvPr/>
        </p:nvSpPr>
        <p:spPr>
          <a:xfrm>
            <a:off x="6492240" y="2670048"/>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ta 0.11 (indicators)</a:t>
            </a:r>
            <a:endParaRPr lang="en-US" sz="1400" dirty="0"/>
          </a:p>
        </p:txBody>
      </p:sp>
      <p:sp>
        <p:nvSpPr>
          <p:cNvPr id="23" name="pill-135"/>
          <p:cNvSpPr txBox="1"/>
          <p:nvPr/>
        </p:nvSpPr>
        <p:spPr>
          <a:xfrm>
            <a:off x="9125712" y="2670048"/>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scikit-learn 1.9</a:t>
            </a:r>
            <a:endParaRPr lang="en-US" sz="1400" dirty="0"/>
          </a:p>
        </p:txBody>
      </p:sp>
      <p:sp>
        <p:nvSpPr>
          <p:cNvPr id="24" name="pill-136"/>
          <p:cNvSpPr txBox="1"/>
          <p:nvPr/>
        </p:nvSpPr>
        <p:spPr>
          <a:xfrm>
            <a:off x="6492240" y="3236976"/>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XGBoost 3.4</a:t>
            </a:r>
            <a:endParaRPr lang="en-US" sz="1400" dirty="0"/>
          </a:p>
        </p:txBody>
      </p:sp>
      <p:sp>
        <p:nvSpPr>
          <p:cNvPr id="25" name="pill-137"/>
          <p:cNvSpPr txBox="1"/>
          <p:nvPr/>
        </p:nvSpPr>
        <p:spPr>
          <a:xfrm>
            <a:off x="9125712" y="3236976"/>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PyTorch 2.13 / TensorFlow</a:t>
            </a:r>
            <a:endParaRPr lang="en-US" sz="1400" dirty="0"/>
          </a:p>
        </p:txBody>
      </p:sp>
      <p:sp>
        <p:nvSpPr>
          <p:cNvPr id="26" name="pill-138"/>
          <p:cNvSpPr txBox="1"/>
          <p:nvPr/>
        </p:nvSpPr>
        <p:spPr>
          <a:xfrm>
            <a:off x="6492240" y="3803904"/>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matplotlib · seaborn</a:t>
            </a:r>
            <a:endParaRPr lang="en-US" sz="1400" dirty="0"/>
          </a:p>
        </p:txBody>
      </p:sp>
      <p:sp>
        <p:nvSpPr>
          <p:cNvPr id="27" name="pill-139"/>
          <p:cNvSpPr txBox="1"/>
          <p:nvPr/>
        </p:nvSpPr>
        <p:spPr>
          <a:xfrm>
            <a:off x="9125712" y="3803904"/>
            <a:ext cx="2514600" cy="438912"/>
          </a:xfrm>
          <a:prstGeom prst="roundRect">
            <a:avLst>
              <a:gd name="adj" fmla="val 25000"/>
            </a:avLst>
          </a:prstGeom>
          <a:solidFill>
            <a:schemeClr val="bg2"/>
          </a:solidFill>
          <a:ln/>
        </p:spPr>
        <p:txBody>
          <a:bodyPr wrap="square" lIns="0" tIns="0" rIns="0" bIns="0" rtlCol="0" anchor="ctr"/>
          <a:lstStyle/>
          <a:p>
            <a:pPr marL="0" indent="0" algn="ctr">
              <a:buNone/>
            </a:pPr>
            <a:r>
              <a:rPr lang="en-US" sz="1400" dirty="0">
                <a:solidFill>
                  <a:schemeClr val="tx2"/>
                </a:solidFill>
              </a:rPr>
              <a:t>Google Colab or local</a:t>
            </a:r>
            <a:endParaRPr lang="en-US" sz="1400" dirty="0"/>
          </a:p>
        </p:txBody>
      </p:sp>
      <p:sp>
        <p:nvSpPr>
          <p:cNvPr id="28" name="icon-circle-140"/>
          <p:cNvSpPr/>
          <p:nvPr/>
        </p:nvSpPr>
        <p:spPr>
          <a:xfrm>
            <a:off x="6492240" y="4498848"/>
            <a:ext cx="457200" cy="457200"/>
          </a:xfrm>
          <a:prstGeom prst="ellipse">
            <a:avLst/>
          </a:prstGeom>
          <a:solidFill>
            <a:schemeClr val="accent4"/>
          </a:solidFill>
          <a:ln/>
        </p:spPr>
        <p:txBody>
          <a:bodyPr/>
          <a:lstStyle/>
          <a:p>
            <a:endParaRPr lang="en-IN"/>
          </a:p>
        </p:txBody>
      </p:sp>
      <p:pic>
        <p:nvPicPr>
          <p:cNvPr id="29" name="icon-141" descr="FaMicrochip"/>
          <p:cNvPicPr>
            <a:picLocks noChangeAspect="1"/>
          </p:cNvPicPr>
          <p:nvPr/>
        </p:nvPicPr>
        <p:blipFill>
          <a:blip r:embed="rId4"/>
          <a:stretch>
            <a:fillRect/>
          </a:stretch>
        </p:blipFill>
        <p:spPr>
          <a:xfrm>
            <a:off x="6601968" y="4608576"/>
            <a:ext cx="237744" cy="237744"/>
          </a:xfrm>
          <a:prstGeom prst="rect">
            <a:avLst/>
          </a:prstGeom>
        </p:spPr>
      </p:pic>
      <p:sp>
        <p:nvSpPr>
          <p:cNvPr id="30" name="text-142"/>
          <p:cNvSpPr txBox="1"/>
          <p:nvPr/>
        </p:nvSpPr>
        <p:spPr>
          <a:xfrm>
            <a:off x="7086600" y="4498848"/>
            <a:ext cx="4114800" cy="457200"/>
          </a:xfrm>
          <a:prstGeom prst="rect">
            <a:avLst/>
          </a:prstGeom>
          <a:noFill/>
          <a:ln/>
        </p:spPr>
        <p:txBody>
          <a:bodyPr wrap="square" lIns="0" tIns="0" rIns="0" bIns="0" rtlCol="0" anchor="ctr"/>
          <a:lstStyle/>
          <a:p>
            <a:pPr marL="0" indent="0">
              <a:buNone/>
            </a:pPr>
            <a:r>
              <a:rPr lang="en-US" sz="1700" b="1" dirty="0">
                <a:solidFill>
                  <a:schemeClr val="tx2"/>
                </a:solidFill>
              </a:rPr>
              <a:t>Hardware and runtime</a:t>
            </a:r>
            <a:endParaRPr lang="en-US" sz="1700" dirty="0"/>
          </a:p>
        </p:txBody>
      </p:sp>
      <p:pic>
        <p:nvPicPr>
          <p:cNvPr id="31" name="icon-143" descr="FaMicrochip"/>
          <p:cNvPicPr>
            <a:picLocks noChangeAspect="1"/>
          </p:cNvPicPr>
          <p:nvPr/>
        </p:nvPicPr>
        <p:blipFill>
          <a:blip r:embed="rId5"/>
          <a:stretch>
            <a:fillRect/>
          </a:stretch>
        </p:blipFill>
        <p:spPr>
          <a:xfrm>
            <a:off x="6537960" y="5184648"/>
            <a:ext cx="274320" cy="274320"/>
          </a:xfrm>
          <a:prstGeom prst="rect">
            <a:avLst/>
          </a:prstGeom>
        </p:spPr>
      </p:pic>
      <p:sp>
        <p:nvSpPr>
          <p:cNvPr id="32" name="text-144"/>
          <p:cNvSpPr txBox="1"/>
          <p:nvPr/>
        </p:nvSpPr>
        <p:spPr>
          <a:xfrm>
            <a:off x="6995160" y="5120640"/>
            <a:ext cx="4617720" cy="411480"/>
          </a:xfrm>
          <a:prstGeom prst="rect">
            <a:avLst/>
          </a:prstGeom>
          <a:noFill/>
          <a:ln/>
        </p:spPr>
        <p:txBody>
          <a:bodyPr wrap="square" lIns="0" tIns="0" rIns="0" bIns="0" rtlCol="0" anchor="ctr"/>
          <a:lstStyle/>
          <a:p>
            <a:pPr marL="0" indent="0">
              <a:buNone/>
            </a:pPr>
            <a:r>
              <a:rPr lang="en-US" sz="1400" dirty="0">
                <a:solidFill>
                  <a:schemeClr val="tx1"/>
                </a:solidFill>
              </a:rPr>
              <a:t>Intel Core i9-13900HX · 16 GB RAM · CPU only (PyTorch)</a:t>
            </a:r>
            <a:endParaRPr lang="en-US" sz="1400" dirty="0"/>
          </a:p>
        </p:txBody>
      </p:sp>
      <p:pic>
        <p:nvPicPr>
          <p:cNvPr id="33" name="icon-145" descr="FaStopwatch"/>
          <p:cNvPicPr>
            <a:picLocks noChangeAspect="1"/>
          </p:cNvPicPr>
          <p:nvPr/>
        </p:nvPicPr>
        <p:blipFill>
          <a:blip r:embed="rId6"/>
          <a:stretch>
            <a:fillRect/>
          </a:stretch>
        </p:blipFill>
        <p:spPr>
          <a:xfrm>
            <a:off x="6537960" y="5687568"/>
            <a:ext cx="274320" cy="274320"/>
          </a:xfrm>
          <a:prstGeom prst="rect">
            <a:avLst/>
          </a:prstGeom>
        </p:spPr>
      </p:pic>
      <p:sp>
        <p:nvSpPr>
          <p:cNvPr id="34" name="text-146"/>
          <p:cNvSpPr txBox="1"/>
          <p:nvPr/>
        </p:nvSpPr>
        <p:spPr>
          <a:xfrm>
            <a:off x="6995160" y="5623560"/>
            <a:ext cx="4617720" cy="411480"/>
          </a:xfrm>
          <a:prstGeom prst="rect">
            <a:avLst/>
          </a:prstGeom>
          <a:noFill/>
          <a:ln/>
        </p:spPr>
        <p:txBody>
          <a:bodyPr wrap="square" lIns="0" tIns="0" rIns="0" bIns="0" rtlCol="0" anchor="ctr"/>
          <a:lstStyle/>
          <a:p>
            <a:pPr marL="0" indent="0">
              <a:buNone/>
            </a:pPr>
            <a:r>
              <a:rPr lang="en-US" sz="1400" dirty="0">
                <a:solidFill>
                  <a:schemeClr val="tx1"/>
                </a:solidFill>
              </a:rPr>
              <a:t>Full run (8 models + 4-fold walk-forward): about 4 minutes</a:t>
            </a:r>
            <a:endParaRPr lang="en-US" sz="1400" dirty="0"/>
          </a:p>
        </p:txBody>
      </p:sp>
      <p:sp>
        <p:nvSpPr>
          <p:cNvPr id="3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System architecture</a:t>
            </a:r>
            <a:endParaRPr lang="en-US" sz="3200" dirty="0"/>
          </a:p>
        </p:txBody>
      </p:sp>
      <p:sp>
        <p:nvSpPr>
          <p:cNvPr id="4" name="pill-147"/>
          <p:cNvSpPr txBox="1"/>
          <p:nvPr/>
        </p:nvSpPr>
        <p:spPr>
          <a:xfrm>
            <a:off x="548640" y="1600200"/>
            <a:ext cx="1604772" cy="438912"/>
          </a:xfrm>
          <a:prstGeom prst="roundRect">
            <a:avLst>
              <a:gd name="adj" fmla="val 25000"/>
            </a:avLst>
          </a:prstGeom>
          <a:solidFill>
            <a:schemeClr val="accent4"/>
          </a:solidFill>
          <a:ln/>
        </p:spPr>
        <p:txBody>
          <a:bodyPr wrap="square" lIns="0" tIns="0" rIns="0" bIns="0" rtlCol="0" anchor="ctr"/>
          <a:lstStyle/>
          <a:p>
            <a:pPr marL="0" indent="0" algn="ctr">
              <a:buNone/>
            </a:pPr>
            <a:r>
              <a:rPr lang="en-US" sz="1200" b="1" dirty="0">
                <a:solidFill>
                  <a:schemeClr val="bg1"/>
                </a:solidFill>
              </a:rPr>
              <a:t>DATA</a:t>
            </a:r>
            <a:endParaRPr lang="en-US" sz="1200" dirty="0"/>
          </a:p>
        </p:txBody>
      </p:sp>
      <p:sp>
        <p:nvSpPr>
          <p:cNvPr id="5" name="card-148"/>
          <p:cNvSpPr/>
          <p:nvPr/>
        </p:nvSpPr>
        <p:spPr>
          <a:xfrm>
            <a:off x="548640" y="2221992"/>
            <a:ext cx="1604772" cy="841248"/>
          </a:xfrm>
          <a:prstGeom prst="roundRect">
            <a:avLst>
              <a:gd name="adj" fmla="val 10870"/>
            </a:avLst>
          </a:prstGeom>
          <a:solidFill>
            <a:schemeClr val="bg2"/>
          </a:solidFill>
          <a:ln/>
        </p:spPr>
        <p:txBody>
          <a:bodyPr/>
          <a:lstStyle/>
          <a:p>
            <a:endParaRPr lang="en-IN"/>
          </a:p>
        </p:txBody>
      </p:sp>
      <p:sp>
        <p:nvSpPr>
          <p:cNvPr id="6" name="text-149"/>
          <p:cNvSpPr txBox="1"/>
          <p:nvPr/>
        </p:nvSpPr>
        <p:spPr>
          <a:xfrm>
            <a:off x="64008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NSE daily CSV (OHLCV)</a:t>
            </a:r>
            <a:endParaRPr lang="en-US" sz="1300" dirty="0"/>
          </a:p>
        </p:txBody>
      </p:sp>
      <p:sp>
        <p:nvSpPr>
          <p:cNvPr id="7" name="card-150"/>
          <p:cNvSpPr/>
          <p:nvPr/>
        </p:nvSpPr>
        <p:spPr>
          <a:xfrm>
            <a:off x="548640" y="3209544"/>
            <a:ext cx="1604772" cy="841248"/>
          </a:xfrm>
          <a:prstGeom prst="roundRect">
            <a:avLst>
              <a:gd name="adj" fmla="val 10870"/>
            </a:avLst>
          </a:prstGeom>
          <a:solidFill>
            <a:schemeClr val="bg2"/>
          </a:solidFill>
          <a:ln/>
        </p:spPr>
        <p:txBody>
          <a:bodyPr/>
          <a:lstStyle/>
          <a:p>
            <a:endParaRPr lang="en-IN"/>
          </a:p>
        </p:txBody>
      </p:sp>
      <p:sp>
        <p:nvSpPr>
          <p:cNvPr id="8" name="text-151"/>
          <p:cNvSpPr txBox="1"/>
          <p:nvPr/>
        </p:nvSpPr>
        <p:spPr>
          <a:xfrm>
            <a:off x="64008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Clean and sort rows</a:t>
            </a:r>
            <a:endParaRPr lang="en-US" sz="1300" dirty="0"/>
          </a:p>
        </p:txBody>
      </p:sp>
      <p:sp>
        <p:nvSpPr>
          <p:cNvPr id="9" name="card-152"/>
          <p:cNvSpPr/>
          <p:nvPr/>
        </p:nvSpPr>
        <p:spPr>
          <a:xfrm>
            <a:off x="548640" y="4197096"/>
            <a:ext cx="1604772" cy="841248"/>
          </a:xfrm>
          <a:prstGeom prst="roundRect">
            <a:avLst>
              <a:gd name="adj" fmla="val 10870"/>
            </a:avLst>
          </a:prstGeom>
          <a:solidFill>
            <a:schemeClr val="bg2"/>
          </a:solidFill>
          <a:ln/>
        </p:spPr>
        <p:txBody>
          <a:bodyPr/>
          <a:lstStyle/>
          <a:p>
            <a:endParaRPr lang="en-IN"/>
          </a:p>
        </p:txBody>
      </p:sp>
      <p:sp>
        <p:nvSpPr>
          <p:cNvPr id="10" name="text-153"/>
          <p:cNvSpPr txBox="1"/>
          <p:nvPr/>
        </p:nvSpPr>
        <p:spPr>
          <a:xfrm>
            <a:off x="64008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Split / bonus adjustment</a:t>
            </a:r>
            <a:endParaRPr lang="en-US" sz="1300" dirty="0"/>
          </a:p>
        </p:txBody>
      </p:sp>
      <p:sp>
        <p:nvSpPr>
          <p:cNvPr id="11" name="arrow-154"/>
          <p:cNvSpPr/>
          <p:nvPr/>
        </p:nvSpPr>
        <p:spPr>
          <a:xfrm>
            <a:off x="2199132" y="3630168"/>
            <a:ext cx="201168" cy="0"/>
          </a:xfrm>
          <a:prstGeom prst="line">
            <a:avLst/>
          </a:prstGeom>
          <a:noFill/>
          <a:ln w="22225">
            <a:solidFill>
              <a:schemeClr val="accent6"/>
            </a:solidFill>
            <a:prstDash val="solid"/>
            <a:tailEnd type="triangle"/>
          </a:ln>
        </p:spPr>
        <p:txBody>
          <a:bodyPr/>
          <a:lstStyle/>
          <a:p>
            <a:endParaRPr lang="en-IN"/>
          </a:p>
        </p:txBody>
      </p:sp>
      <p:sp>
        <p:nvSpPr>
          <p:cNvPr id="12" name="pill-155"/>
          <p:cNvSpPr txBox="1"/>
          <p:nvPr/>
        </p:nvSpPr>
        <p:spPr>
          <a:xfrm>
            <a:off x="2446020" y="1600200"/>
            <a:ext cx="1604772" cy="438912"/>
          </a:xfrm>
          <a:prstGeom prst="roundRect">
            <a:avLst>
              <a:gd name="adj" fmla="val 25000"/>
            </a:avLst>
          </a:prstGeom>
          <a:solidFill>
            <a:schemeClr val="accent1"/>
          </a:solidFill>
          <a:ln/>
        </p:spPr>
        <p:txBody>
          <a:bodyPr wrap="square" lIns="0" tIns="0" rIns="0" bIns="0" rtlCol="0" anchor="ctr"/>
          <a:lstStyle/>
          <a:p>
            <a:pPr marL="0" indent="0" algn="ctr">
              <a:buNone/>
            </a:pPr>
            <a:r>
              <a:rPr lang="en-US" sz="1200" b="1" dirty="0">
                <a:solidFill>
                  <a:schemeClr val="bg1"/>
                </a:solidFill>
              </a:rPr>
              <a:t>FEATURES</a:t>
            </a:r>
            <a:endParaRPr lang="en-US" sz="1200" dirty="0"/>
          </a:p>
        </p:txBody>
      </p:sp>
      <p:sp>
        <p:nvSpPr>
          <p:cNvPr id="13" name="card-156"/>
          <p:cNvSpPr/>
          <p:nvPr/>
        </p:nvSpPr>
        <p:spPr>
          <a:xfrm>
            <a:off x="2446020" y="2221992"/>
            <a:ext cx="1604772" cy="841248"/>
          </a:xfrm>
          <a:prstGeom prst="roundRect">
            <a:avLst>
              <a:gd name="adj" fmla="val 10870"/>
            </a:avLst>
          </a:prstGeom>
          <a:solidFill>
            <a:schemeClr val="bg2"/>
          </a:solidFill>
          <a:ln/>
        </p:spPr>
        <p:txBody>
          <a:bodyPr/>
          <a:lstStyle/>
          <a:p>
            <a:endParaRPr lang="en-IN"/>
          </a:p>
        </p:txBody>
      </p:sp>
      <p:sp>
        <p:nvSpPr>
          <p:cNvPr id="14" name="text-157"/>
          <p:cNvSpPr txBox="1"/>
          <p:nvPr/>
        </p:nvSpPr>
        <p:spPr>
          <a:xfrm>
            <a:off x="253746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8 technical indicators</a:t>
            </a:r>
            <a:endParaRPr lang="en-US" sz="1300" dirty="0"/>
          </a:p>
        </p:txBody>
      </p:sp>
      <p:sp>
        <p:nvSpPr>
          <p:cNvPr id="15" name="card-158"/>
          <p:cNvSpPr/>
          <p:nvPr/>
        </p:nvSpPr>
        <p:spPr>
          <a:xfrm>
            <a:off x="2446020" y="3209544"/>
            <a:ext cx="1604772" cy="841248"/>
          </a:xfrm>
          <a:prstGeom prst="roundRect">
            <a:avLst>
              <a:gd name="adj" fmla="val 10870"/>
            </a:avLst>
          </a:prstGeom>
          <a:solidFill>
            <a:schemeClr val="bg2"/>
          </a:solidFill>
          <a:ln/>
        </p:spPr>
        <p:txBody>
          <a:bodyPr/>
          <a:lstStyle/>
          <a:p>
            <a:endParaRPr lang="en-IN"/>
          </a:p>
        </p:txBody>
      </p:sp>
      <p:sp>
        <p:nvSpPr>
          <p:cNvPr id="16" name="text-159"/>
          <p:cNvSpPr txBox="1"/>
          <p:nvPr/>
        </p:nvSpPr>
        <p:spPr>
          <a:xfrm>
            <a:off x="253746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37 stationary features</a:t>
            </a:r>
            <a:endParaRPr lang="en-US" sz="1300" dirty="0"/>
          </a:p>
        </p:txBody>
      </p:sp>
      <p:sp>
        <p:nvSpPr>
          <p:cNvPr id="17" name="card-160"/>
          <p:cNvSpPr/>
          <p:nvPr/>
        </p:nvSpPr>
        <p:spPr>
          <a:xfrm>
            <a:off x="2446020" y="4197096"/>
            <a:ext cx="1604772" cy="841248"/>
          </a:xfrm>
          <a:prstGeom prst="roundRect">
            <a:avLst>
              <a:gd name="adj" fmla="val 10870"/>
            </a:avLst>
          </a:prstGeom>
          <a:solidFill>
            <a:schemeClr val="bg2"/>
          </a:solidFill>
          <a:ln/>
        </p:spPr>
        <p:txBody>
          <a:bodyPr/>
          <a:lstStyle/>
          <a:p>
            <a:endParaRPr lang="en-IN"/>
          </a:p>
        </p:txBody>
      </p:sp>
      <p:sp>
        <p:nvSpPr>
          <p:cNvPr id="18" name="text-161"/>
          <p:cNvSpPr txBox="1"/>
          <p:nvPr/>
        </p:nvSpPr>
        <p:spPr>
          <a:xfrm>
            <a:off x="253746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Target: next-day UP/DOWN</a:t>
            </a:r>
            <a:endParaRPr lang="en-US" sz="1300" dirty="0"/>
          </a:p>
        </p:txBody>
      </p:sp>
      <p:sp>
        <p:nvSpPr>
          <p:cNvPr id="19" name="arrow-162"/>
          <p:cNvSpPr/>
          <p:nvPr/>
        </p:nvSpPr>
        <p:spPr>
          <a:xfrm>
            <a:off x="4096512" y="3630168"/>
            <a:ext cx="201168" cy="0"/>
          </a:xfrm>
          <a:prstGeom prst="line">
            <a:avLst/>
          </a:prstGeom>
          <a:noFill/>
          <a:ln w="22225">
            <a:solidFill>
              <a:schemeClr val="accent6"/>
            </a:solidFill>
            <a:prstDash val="solid"/>
            <a:tailEnd type="triangle"/>
          </a:ln>
        </p:spPr>
        <p:txBody>
          <a:bodyPr/>
          <a:lstStyle/>
          <a:p>
            <a:endParaRPr lang="en-IN"/>
          </a:p>
        </p:txBody>
      </p:sp>
      <p:sp>
        <p:nvSpPr>
          <p:cNvPr id="20" name="pill-163"/>
          <p:cNvSpPr txBox="1"/>
          <p:nvPr/>
        </p:nvSpPr>
        <p:spPr>
          <a:xfrm>
            <a:off x="4343400" y="1600200"/>
            <a:ext cx="1604772" cy="438912"/>
          </a:xfrm>
          <a:prstGeom prst="roundRect">
            <a:avLst>
              <a:gd name="adj" fmla="val 25000"/>
            </a:avLst>
          </a:prstGeom>
          <a:solidFill>
            <a:schemeClr val="accent6"/>
          </a:solidFill>
          <a:ln/>
        </p:spPr>
        <p:txBody>
          <a:bodyPr wrap="square" lIns="0" tIns="0" rIns="0" bIns="0" rtlCol="0" anchor="ctr"/>
          <a:lstStyle/>
          <a:p>
            <a:pPr marL="0" indent="0" algn="ctr">
              <a:buNone/>
            </a:pPr>
            <a:r>
              <a:rPr lang="en-US" sz="1200" b="1" dirty="0">
                <a:solidFill>
                  <a:schemeClr val="bg1"/>
                </a:solidFill>
              </a:rPr>
              <a:t>SPLIT &amp; SELECT</a:t>
            </a:r>
            <a:endParaRPr lang="en-US" sz="1200" dirty="0"/>
          </a:p>
        </p:txBody>
      </p:sp>
      <p:sp>
        <p:nvSpPr>
          <p:cNvPr id="21" name="card-164"/>
          <p:cNvSpPr/>
          <p:nvPr/>
        </p:nvSpPr>
        <p:spPr>
          <a:xfrm>
            <a:off x="4343400" y="2221992"/>
            <a:ext cx="1604772" cy="841248"/>
          </a:xfrm>
          <a:prstGeom prst="roundRect">
            <a:avLst>
              <a:gd name="adj" fmla="val 10870"/>
            </a:avLst>
          </a:prstGeom>
          <a:solidFill>
            <a:schemeClr val="bg2"/>
          </a:solidFill>
          <a:ln/>
        </p:spPr>
        <p:txBody>
          <a:bodyPr/>
          <a:lstStyle/>
          <a:p>
            <a:endParaRPr lang="en-IN"/>
          </a:p>
        </p:txBody>
      </p:sp>
      <p:sp>
        <p:nvSpPr>
          <p:cNvPr id="22" name="text-165"/>
          <p:cNvSpPr txBox="1"/>
          <p:nvPr/>
        </p:nvSpPr>
        <p:spPr>
          <a:xfrm>
            <a:off x="443484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Chronological 80/20</a:t>
            </a:r>
            <a:endParaRPr lang="en-US" sz="1300" dirty="0"/>
          </a:p>
        </p:txBody>
      </p:sp>
      <p:sp>
        <p:nvSpPr>
          <p:cNvPr id="23" name="card-166"/>
          <p:cNvSpPr/>
          <p:nvPr/>
        </p:nvSpPr>
        <p:spPr>
          <a:xfrm>
            <a:off x="4343400" y="3209544"/>
            <a:ext cx="1604772" cy="841248"/>
          </a:xfrm>
          <a:prstGeom prst="roundRect">
            <a:avLst>
              <a:gd name="adj" fmla="val 10870"/>
            </a:avLst>
          </a:prstGeom>
          <a:solidFill>
            <a:schemeClr val="bg2"/>
          </a:solidFill>
          <a:ln/>
        </p:spPr>
        <p:txBody>
          <a:bodyPr/>
          <a:lstStyle/>
          <a:p>
            <a:endParaRPr lang="en-IN"/>
          </a:p>
        </p:txBody>
      </p:sp>
      <p:sp>
        <p:nvSpPr>
          <p:cNvPr id="24" name="text-167"/>
          <p:cNvSpPr txBox="1"/>
          <p:nvPr/>
        </p:nvSpPr>
        <p:spPr>
          <a:xfrm>
            <a:off x="443484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Scaler fitted on train</a:t>
            </a:r>
            <a:endParaRPr lang="en-US" sz="1300" dirty="0"/>
          </a:p>
        </p:txBody>
      </p:sp>
      <p:sp>
        <p:nvSpPr>
          <p:cNvPr id="25" name="card-168"/>
          <p:cNvSpPr/>
          <p:nvPr/>
        </p:nvSpPr>
        <p:spPr>
          <a:xfrm>
            <a:off x="4343400" y="4197096"/>
            <a:ext cx="1604772" cy="841248"/>
          </a:xfrm>
          <a:prstGeom prst="roundRect">
            <a:avLst>
              <a:gd name="adj" fmla="val 10870"/>
            </a:avLst>
          </a:prstGeom>
          <a:solidFill>
            <a:schemeClr val="bg2"/>
          </a:solidFill>
          <a:ln/>
        </p:spPr>
        <p:txBody>
          <a:bodyPr/>
          <a:lstStyle/>
          <a:p>
            <a:endParaRPr lang="en-IN"/>
          </a:p>
        </p:txBody>
      </p:sp>
      <p:sp>
        <p:nvSpPr>
          <p:cNvPr id="26" name="text-169"/>
          <p:cNvSpPr txBox="1"/>
          <p:nvPr/>
        </p:nvSpPr>
        <p:spPr>
          <a:xfrm>
            <a:off x="443484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MI / Tree Top-20</a:t>
            </a:r>
            <a:endParaRPr lang="en-US" sz="1300" dirty="0"/>
          </a:p>
        </p:txBody>
      </p:sp>
      <p:sp>
        <p:nvSpPr>
          <p:cNvPr id="27" name="arrow-170"/>
          <p:cNvSpPr/>
          <p:nvPr/>
        </p:nvSpPr>
        <p:spPr>
          <a:xfrm>
            <a:off x="5993892" y="3630168"/>
            <a:ext cx="201168" cy="0"/>
          </a:xfrm>
          <a:prstGeom prst="line">
            <a:avLst/>
          </a:prstGeom>
          <a:noFill/>
          <a:ln w="22225">
            <a:solidFill>
              <a:schemeClr val="accent6"/>
            </a:solidFill>
            <a:prstDash val="solid"/>
            <a:tailEnd type="triangle"/>
          </a:ln>
        </p:spPr>
        <p:txBody>
          <a:bodyPr/>
          <a:lstStyle/>
          <a:p>
            <a:endParaRPr lang="en-IN"/>
          </a:p>
        </p:txBody>
      </p:sp>
      <p:sp>
        <p:nvSpPr>
          <p:cNvPr id="28" name="pill-171"/>
          <p:cNvSpPr txBox="1"/>
          <p:nvPr/>
        </p:nvSpPr>
        <p:spPr>
          <a:xfrm>
            <a:off x="6240780" y="1600200"/>
            <a:ext cx="1604772" cy="438912"/>
          </a:xfrm>
          <a:prstGeom prst="roundRect">
            <a:avLst>
              <a:gd name="adj" fmla="val 25000"/>
            </a:avLst>
          </a:prstGeom>
          <a:solidFill>
            <a:schemeClr val="accent5"/>
          </a:solidFill>
          <a:ln/>
        </p:spPr>
        <p:txBody>
          <a:bodyPr wrap="square" lIns="0" tIns="0" rIns="0" bIns="0" rtlCol="0" anchor="ctr"/>
          <a:lstStyle/>
          <a:p>
            <a:pPr marL="0" indent="0" algn="ctr">
              <a:buNone/>
            </a:pPr>
            <a:r>
              <a:rPr lang="en-US" sz="1200" b="1" dirty="0">
                <a:solidFill>
                  <a:schemeClr val="bg1"/>
                </a:solidFill>
              </a:rPr>
              <a:t>MODELS</a:t>
            </a:r>
            <a:endParaRPr lang="en-US" sz="1200" dirty="0"/>
          </a:p>
        </p:txBody>
      </p:sp>
      <p:sp>
        <p:nvSpPr>
          <p:cNvPr id="29" name="card-172"/>
          <p:cNvSpPr/>
          <p:nvPr/>
        </p:nvSpPr>
        <p:spPr>
          <a:xfrm>
            <a:off x="6240780" y="2221992"/>
            <a:ext cx="1604772" cy="841248"/>
          </a:xfrm>
          <a:prstGeom prst="roundRect">
            <a:avLst>
              <a:gd name="adj" fmla="val 10870"/>
            </a:avLst>
          </a:prstGeom>
          <a:solidFill>
            <a:schemeClr val="bg2"/>
          </a:solidFill>
          <a:ln/>
        </p:spPr>
        <p:txBody>
          <a:bodyPr/>
          <a:lstStyle/>
          <a:p>
            <a:endParaRPr lang="en-IN"/>
          </a:p>
        </p:txBody>
      </p:sp>
      <p:sp>
        <p:nvSpPr>
          <p:cNvPr id="30" name="text-173"/>
          <p:cNvSpPr txBox="1"/>
          <p:nvPr/>
        </p:nvSpPr>
        <p:spPr>
          <a:xfrm>
            <a:off x="633222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6 classical models</a:t>
            </a:r>
            <a:endParaRPr lang="en-US" sz="1300" dirty="0"/>
          </a:p>
        </p:txBody>
      </p:sp>
      <p:sp>
        <p:nvSpPr>
          <p:cNvPr id="31" name="card-174"/>
          <p:cNvSpPr/>
          <p:nvPr/>
        </p:nvSpPr>
        <p:spPr>
          <a:xfrm>
            <a:off x="6240780" y="3209544"/>
            <a:ext cx="1604772" cy="841248"/>
          </a:xfrm>
          <a:prstGeom prst="roundRect">
            <a:avLst>
              <a:gd name="adj" fmla="val 10870"/>
            </a:avLst>
          </a:prstGeom>
          <a:solidFill>
            <a:schemeClr val="bg2"/>
          </a:solidFill>
          <a:ln/>
        </p:spPr>
        <p:txBody>
          <a:bodyPr/>
          <a:lstStyle/>
          <a:p>
            <a:endParaRPr lang="en-IN"/>
          </a:p>
        </p:txBody>
      </p:sp>
      <p:sp>
        <p:nvSpPr>
          <p:cNvPr id="32" name="text-175"/>
          <p:cNvSpPr txBox="1"/>
          <p:nvPr/>
        </p:nvSpPr>
        <p:spPr>
          <a:xfrm>
            <a:off x="633222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LSTM (20 × 37)</a:t>
            </a:r>
            <a:endParaRPr lang="en-US" sz="1300" dirty="0"/>
          </a:p>
        </p:txBody>
      </p:sp>
      <p:sp>
        <p:nvSpPr>
          <p:cNvPr id="33" name="card-176"/>
          <p:cNvSpPr/>
          <p:nvPr/>
        </p:nvSpPr>
        <p:spPr>
          <a:xfrm>
            <a:off x="6240780" y="4197096"/>
            <a:ext cx="1604772" cy="841248"/>
          </a:xfrm>
          <a:prstGeom prst="roundRect">
            <a:avLst>
              <a:gd name="adj" fmla="val 10870"/>
            </a:avLst>
          </a:prstGeom>
          <a:solidFill>
            <a:schemeClr val="bg2"/>
          </a:solidFill>
          <a:ln/>
        </p:spPr>
        <p:txBody>
          <a:bodyPr/>
          <a:lstStyle/>
          <a:p>
            <a:endParaRPr lang="en-IN"/>
          </a:p>
        </p:txBody>
      </p:sp>
      <p:sp>
        <p:nvSpPr>
          <p:cNvPr id="34" name="text-177"/>
          <p:cNvSpPr txBox="1"/>
          <p:nvPr/>
        </p:nvSpPr>
        <p:spPr>
          <a:xfrm>
            <a:off x="633222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ViT (8 patches)</a:t>
            </a:r>
            <a:endParaRPr lang="en-US" sz="1300" dirty="0"/>
          </a:p>
        </p:txBody>
      </p:sp>
      <p:sp>
        <p:nvSpPr>
          <p:cNvPr id="35" name="arrow-178"/>
          <p:cNvSpPr/>
          <p:nvPr/>
        </p:nvSpPr>
        <p:spPr>
          <a:xfrm>
            <a:off x="7891272" y="3630168"/>
            <a:ext cx="201168" cy="0"/>
          </a:xfrm>
          <a:prstGeom prst="line">
            <a:avLst/>
          </a:prstGeom>
          <a:noFill/>
          <a:ln w="22225">
            <a:solidFill>
              <a:schemeClr val="accent6"/>
            </a:solidFill>
            <a:prstDash val="solid"/>
            <a:tailEnd type="triangle"/>
          </a:ln>
        </p:spPr>
        <p:txBody>
          <a:bodyPr/>
          <a:lstStyle/>
          <a:p>
            <a:endParaRPr lang="en-IN"/>
          </a:p>
        </p:txBody>
      </p:sp>
      <p:sp>
        <p:nvSpPr>
          <p:cNvPr id="36" name="pill-179"/>
          <p:cNvSpPr txBox="1"/>
          <p:nvPr/>
        </p:nvSpPr>
        <p:spPr>
          <a:xfrm>
            <a:off x="8138160" y="1600200"/>
            <a:ext cx="1604772" cy="438912"/>
          </a:xfrm>
          <a:prstGeom prst="roundRect">
            <a:avLst>
              <a:gd name="adj" fmla="val 25000"/>
            </a:avLst>
          </a:prstGeom>
          <a:solidFill>
            <a:schemeClr val="accent3"/>
          </a:solidFill>
          <a:ln/>
        </p:spPr>
        <p:txBody>
          <a:bodyPr wrap="square" lIns="0" tIns="0" rIns="0" bIns="0" rtlCol="0" anchor="ctr"/>
          <a:lstStyle/>
          <a:p>
            <a:pPr marL="0" indent="0" algn="ctr">
              <a:buNone/>
            </a:pPr>
            <a:r>
              <a:rPr lang="en-US" sz="1200" b="1" dirty="0">
                <a:solidFill>
                  <a:schemeClr val="tx2"/>
                </a:solidFill>
              </a:rPr>
              <a:t>ENSEMBLES</a:t>
            </a:r>
            <a:endParaRPr lang="en-US" sz="1200" dirty="0"/>
          </a:p>
        </p:txBody>
      </p:sp>
      <p:sp>
        <p:nvSpPr>
          <p:cNvPr id="37" name="card-180"/>
          <p:cNvSpPr/>
          <p:nvPr/>
        </p:nvSpPr>
        <p:spPr>
          <a:xfrm>
            <a:off x="8138160" y="2221992"/>
            <a:ext cx="1604772" cy="841248"/>
          </a:xfrm>
          <a:prstGeom prst="roundRect">
            <a:avLst>
              <a:gd name="adj" fmla="val 10870"/>
            </a:avLst>
          </a:prstGeom>
          <a:solidFill>
            <a:schemeClr val="bg2"/>
          </a:solidFill>
          <a:ln/>
        </p:spPr>
        <p:txBody>
          <a:bodyPr/>
          <a:lstStyle/>
          <a:p>
            <a:endParaRPr lang="en-IN"/>
          </a:p>
        </p:txBody>
      </p:sp>
      <p:sp>
        <p:nvSpPr>
          <p:cNvPr id="38" name="text-181"/>
          <p:cNvSpPr txBox="1"/>
          <p:nvPr/>
        </p:nvSpPr>
        <p:spPr>
          <a:xfrm>
            <a:off x="822960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Walk-forward OOF (4 folds)</a:t>
            </a:r>
            <a:endParaRPr lang="en-US" sz="1300" dirty="0"/>
          </a:p>
        </p:txBody>
      </p:sp>
      <p:sp>
        <p:nvSpPr>
          <p:cNvPr id="39" name="card-182"/>
          <p:cNvSpPr/>
          <p:nvPr/>
        </p:nvSpPr>
        <p:spPr>
          <a:xfrm>
            <a:off x="8138160" y="3209544"/>
            <a:ext cx="1604772" cy="841248"/>
          </a:xfrm>
          <a:prstGeom prst="roundRect">
            <a:avLst>
              <a:gd name="adj" fmla="val 10870"/>
            </a:avLst>
          </a:prstGeom>
          <a:solidFill>
            <a:schemeClr val="bg2"/>
          </a:solidFill>
          <a:ln/>
        </p:spPr>
        <p:txBody>
          <a:bodyPr/>
          <a:lstStyle/>
          <a:p>
            <a:endParaRPr lang="en-IN"/>
          </a:p>
        </p:txBody>
      </p:sp>
      <p:sp>
        <p:nvSpPr>
          <p:cNvPr id="40" name="text-183"/>
          <p:cNvSpPr txBox="1"/>
          <p:nvPr/>
        </p:nvSpPr>
        <p:spPr>
          <a:xfrm>
            <a:off x="822960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Majority · soft · weighted</a:t>
            </a:r>
            <a:endParaRPr lang="en-US" sz="1300" dirty="0"/>
          </a:p>
        </p:txBody>
      </p:sp>
      <p:sp>
        <p:nvSpPr>
          <p:cNvPr id="41" name="card-184"/>
          <p:cNvSpPr/>
          <p:nvPr/>
        </p:nvSpPr>
        <p:spPr>
          <a:xfrm>
            <a:off x="8138160" y="4197096"/>
            <a:ext cx="1604772" cy="841248"/>
          </a:xfrm>
          <a:prstGeom prst="roundRect">
            <a:avLst>
              <a:gd name="adj" fmla="val 10870"/>
            </a:avLst>
          </a:prstGeom>
          <a:solidFill>
            <a:schemeClr val="bg2"/>
          </a:solidFill>
          <a:ln/>
        </p:spPr>
        <p:txBody>
          <a:bodyPr/>
          <a:lstStyle/>
          <a:p>
            <a:endParaRPr lang="en-IN"/>
          </a:p>
        </p:txBody>
      </p:sp>
      <p:sp>
        <p:nvSpPr>
          <p:cNvPr id="42" name="text-185"/>
          <p:cNvSpPr txBox="1"/>
          <p:nvPr/>
        </p:nvSpPr>
        <p:spPr>
          <a:xfrm>
            <a:off x="822960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Adaptive · stacking</a:t>
            </a:r>
            <a:endParaRPr lang="en-US" sz="1300" dirty="0"/>
          </a:p>
        </p:txBody>
      </p:sp>
      <p:sp>
        <p:nvSpPr>
          <p:cNvPr id="43" name="arrow-186"/>
          <p:cNvSpPr/>
          <p:nvPr/>
        </p:nvSpPr>
        <p:spPr>
          <a:xfrm>
            <a:off x="9788652" y="3630168"/>
            <a:ext cx="201168" cy="0"/>
          </a:xfrm>
          <a:prstGeom prst="line">
            <a:avLst/>
          </a:prstGeom>
          <a:noFill/>
          <a:ln w="22225">
            <a:solidFill>
              <a:schemeClr val="accent6"/>
            </a:solidFill>
            <a:prstDash val="solid"/>
            <a:tailEnd type="triangle"/>
          </a:ln>
        </p:spPr>
        <p:txBody>
          <a:bodyPr/>
          <a:lstStyle/>
          <a:p>
            <a:endParaRPr lang="en-IN"/>
          </a:p>
        </p:txBody>
      </p:sp>
      <p:sp>
        <p:nvSpPr>
          <p:cNvPr id="44" name="pill-187"/>
          <p:cNvSpPr txBox="1"/>
          <p:nvPr/>
        </p:nvSpPr>
        <p:spPr>
          <a:xfrm>
            <a:off x="10035540" y="1600200"/>
            <a:ext cx="1604772" cy="438912"/>
          </a:xfrm>
          <a:prstGeom prst="roundRect">
            <a:avLst>
              <a:gd name="adj" fmla="val 25000"/>
            </a:avLst>
          </a:prstGeom>
          <a:solidFill>
            <a:schemeClr val="tx2"/>
          </a:solidFill>
          <a:ln/>
        </p:spPr>
        <p:txBody>
          <a:bodyPr wrap="square" lIns="0" tIns="0" rIns="0" bIns="0" rtlCol="0" anchor="ctr"/>
          <a:lstStyle/>
          <a:p>
            <a:pPr marL="0" indent="0" algn="ctr">
              <a:buNone/>
            </a:pPr>
            <a:r>
              <a:rPr lang="en-US" sz="1200" b="1" dirty="0">
                <a:solidFill>
                  <a:schemeClr val="bg1"/>
                </a:solidFill>
              </a:rPr>
              <a:t>OUTPUT</a:t>
            </a:r>
            <a:endParaRPr lang="en-US" sz="1200" dirty="0"/>
          </a:p>
        </p:txBody>
      </p:sp>
      <p:sp>
        <p:nvSpPr>
          <p:cNvPr id="45" name="card-188"/>
          <p:cNvSpPr/>
          <p:nvPr/>
        </p:nvSpPr>
        <p:spPr>
          <a:xfrm>
            <a:off x="10035540" y="2221992"/>
            <a:ext cx="1604772" cy="841248"/>
          </a:xfrm>
          <a:prstGeom prst="roundRect">
            <a:avLst>
              <a:gd name="adj" fmla="val 10870"/>
            </a:avLst>
          </a:prstGeom>
          <a:solidFill>
            <a:schemeClr val="bg2"/>
          </a:solidFill>
          <a:ln/>
        </p:spPr>
        <p:txBody>
          <a:bodyPr/>
          <a:lstStyle/>
          <a:p>
            <a:endParaRPr lang="en-IN"/>
          </a:p>
        </p:txBody>
      </p:sp>
      <p:sp>
        <p:nvSpPr>
          <p:cNvPr id="46" name="text-189"/>
          <p:cNvSpPr txBox="1"/>
          <p:nvPr/>
        </p:nvSpPr>
        <p:spPr>
          <a:xfrm>
            <a:off x="10126980" y="2258568"/>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Metrics + 10 figures</a:t>
            </a:r>
            <a:endParaRPr lang="en-US" sz="1300" dirty="0"/>
          </a:p>
        </p:txBody>
      </p:sp>
      <p:sp>
        <p:nvSpPr>
          <p:cNvPr id="47" name="card-190"/>
          <p:cNvSpPr/>
          <p:nvPr/>
        </p:nvSpPr>
        <p:spPr>
          <a:xfrm>
            <a:off x="10035540" y="3209544"/>
            <a:ext cx="1604772" cy="841248"/>
          </a:xfrm>
          <a:prstGeom prst="roundRect">
            <a:avLst>
              <a:gd name="adj" fmla="val 10870"/>
            </a:avLst>
          </a:prstGeom>
          <a:solidFill>
            <a:schemeClr val="bg2"/>
          </a:solidFill>
          <a:ln/>
        </p:spPr>
        <p:txBody>
          <a:bodyPr/>
          <a:lstStyle/>
          <a:p>
            <a:endParaRPr lang="en-IN"/>
          </a:p>
        </p:txBody>
      </p:sp>
      <p:sp>
        <p:nvSpPr>
          <p:cNvPr id="48" name="text-191"/>
          <p:cNvSpPr txBox="1"/>
          <p:nvPr/>
        </p:nvSpPr>
        <p:spPr>
          <a:xfrm>
            <a:off x="10126980" y="3246120"/>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18 integrity checks</a:t>
            </a:r>
            <a:endParaRPr lang="en-US" sz="1300" dirty="0"/>
          </a:p>
        </p:txBody>
      </p:sp>
      <p:sp>
        <p:nvSpPr>
          <p:cNvPr id="49" name="card-192"/>
          <p:cNvSpPr/>
          <p:nvPr/>
        </p:nvSpPr>
        <p:spPr>
          <a:xfrm>
            <a:off x="10035540" y="4197096"/>
            <a:ext cx="1604772" cy="841248"/>
          </a:xfrm>
          <a:prstGeom prst="roundRect">
            <a:avLst>
              <a:gd name="adj" fmla="val 10870"/>
            </a:avLst>
          </a:prstGeom>
          <a:solidFill>
            <a:schemeClr val="bg2"/>
          </a:solidFill>
          <a:ln/>
        </p:spPr>
        <p:txBody>
          <a:bodyPr/>
          <a:lstStyle/>
          <a:p>
            <a:endParaRPr lang="en-IN"/>
          </a:p>
        </p:txBody>
      </p:sp>
      <p:sp>
        <p:nvSpPr>
          <p:cNvPr id="50" name="text-193"/>
          <p:cNvSpPr txBox="1"/>
          <p:nvPr/>
        </p:nvSpPr>
        <p:spPr>
          <a:xfrm>
            <a:off x="10126980" y="4233672"/>
            <a:ext cx="1421892" cy="768096"/>
          </a:xfrm>
          <a:prstGeom prst="rect">
            <a:avLst/>
          </a:prstGeom>
          <a:noFill/>
          <a:ln/>
        </p:spPr>
        <p:txBody>
          <a:bodyPr wrap="square" lIns="0" tIns="0" rIns="0" bIns="0" rtlCol="0" anchor="ctr"/>
          <a:lstStyle/>
          <a:p>
            <a:pPr marL="0" indent="0" algn="ctr">
              <a:buNone/>
            </a:pPr>
            <a:r>
              <a:rPr lang="en-US" sz="1300" dirty="0">
                <a:solidFill>
                  <a:schemeClr val="tx2"/>
                </a:solidFill>
              </a:rPr>
              <a:t>Next-day prediction</a:t>
            </a:r>
            <a:endParaRPr lang="en-US" sz="1300" dirty="0"/>
          </a:p>
        </p:txBody>
      </p:sp>
      <p:sp>
        <p:nvSpPr>
          <p:cNvPr id="51" name="card-194"/>
          <p:cNvSpPr/>
          <p:nvPr/>
        </p:nvSpPr>
        <p:spPr>
          <a:xfrm>
            <a:off x="548640" y="5349240"/>
            <a:ext cx="11091672" cy="777240"/>
          </a:xfrm>
          <a:prstGeom prst="roundRect">
            <a:avLst>
              <a:gd name="adj" fmla="val 11765"/>
            </a:avLst>
          </a:prstGeom>
          <a:solidFill>
            <a:schemeClr val="tx2"/>
          </a:solidFill>
          <a:ln/>
        </p:spPr>
        <p:txBody>
          <a:bodyPr/>
          <a:lstStyle/>
          <a:p>
            <a:endParaRPr lang="en-IN"/>
          </a:p>
        </p:txBody>
      </p:sp>
      <p:sp>
        <p:nvSpPr>
          <p:cNvPr id="52" name="icon-circle-195"/>
          <p:cNvSpPr/>
          <p:nvPr/>
        </p:nvSpPr>
        <p:spPr>
          <a:xfrm>
            <a:off x="777240" y="5477256"/>
            <a:ext cx="521208" cy="521208"/>
          </a:xfrm>
          <a:prstGeom prst="ellipse">
            <a:avLst/>
          </a:prstGeom>
          <a:solidFill>
            <a:schemeClr val="accent1"/>
          </a:solidFill>
          <a:ln/>
        </p:spPr>
        <p:txBody>
          <a:bodyPr/>
          <a:lstStyle/>
          <a:p>
            <a:endParaRPr lang="en-IN"/>
          </a:p>
        </p:txBody>
      </p:sp>
      <p:pic>
        <p:nvPicPr>
          <p:cNvPr id="53" name="icon-196" descr="FaShieldHalved"/>
          <p:cNvPicPr>
            <a:picLocks noChangeAspect="1"/>
          </p:cNvPicPr>
          <p:nvPr/>
        </p:nvPicPr>
        <p:blipFill>
          <a:blip r:embed="rId3"/>
          <a:stretch>
            <a:fillRect/>
          </a:stretch>
        </p:blipFill>
        <p:spPr>
          <a:xfrm>
            <a:off x="902330" y="5602346"/>
            <a:ext cx="271028" cy="271028"/>
          </a:xfrm>
          <a:prstGeom prst="rect">
            <a:avLst/>
          </a:prstGeom>
        </p:spPr>
      </p:pic>
      <p:sp>
        <p:nvSpPr>
          <p:cNvPr id="54" name="text-197"/>
          <p:cNvSpPr txBox="1"/>
          <p:nvPr/>
        </p:nvSpPr>
        <p:spPr>
          <a:xfrm>
            <a:off x="1508760" y="5349240"/>
            <a:ext cx="9921240" cy="777240"/>
          </a:xfrm>
          <a:prstGeom prst="rect">
            <a:avLst/>
          </a:prstGeom>
          <a:noFill/>
          <a:ln/>
        </p:spPr>
        <p:txBody>
          <a:bodyPr wrap="square" lIns="0" tIns="0" rIns="0" bIns="0" rtlCol="0" anchor="ctr"/>
          <a:lstStyle/>
          <a:p>
            <a:pPr marL="0" indent="0">
              <a:buNone/>
            </a:pPr>
            <a:r>
              <a:rPr lang="en-US" sz="1500" dirty="0">
                <a:solidFill>
                  <a:schemeClr val="bg1"/>
                </a:solidFill>
              </a:rPr>
              <a:t>Golden rule: nothing that is fitted (scaler, feature selector, ensemble weights or meta-model) ever sees the test period.</a:t>
            </a:r>
            <a:endParaRPr lang="en-US" sz="1500" dirty="0"/>
          </a:p>
        </p:txBody>
      </p:sp>
      <p:sp>
        <p:nvSpPr>
          <p:cNvPr id="5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One script, eighteen steps</a:t>
            </a:r>
            <a:endParaRPr lang="en-US" sz="3200" dirty="0"/>
          </a:p>
        </p:txBody>
      </p:sp>
      <p:sp>
        <p:nvSpPr>
          <p:cNvPr id="4" name="phase-198"/>
          <p:cNvSpPr txBox="1"/>
          <p:nvPr/>
        </p:nvSpPr>
        <p:spPr>
          <a:xfrm>
            <a:off x="548640" y="1554480"/>
            <a:ext cx="2788920" cy="548640"/>
          </a:xfrm>
          <a:prstGeom prst="homePlate">
            <a:avLst/>
          </a:prstGeom>
          <a:solidFill>
            <a:schemeClr val="accent4"/>
          </a:solidFill>
          <a:ln/>
        </p:spPr>
        <p:txBody>
          <a:bodyPr wrap="square" lIns="0" tIns="0" rIns="0" bIns="0" rtlCol="0" anchor="ctr"/>
          <a:lstStyle/>
          <a:p>
            <a:pPr marL="0" indent="0" algn="ctr">
              <a:buNone/>
            </a:pPr>
            <a:r>
              <a:rPr lang="en-US" sz="1300" b="1" dirty="0">
                <a:solidFill>
                  <a:schemeClr val="bg1"/>
                </a:solidFill>
              </a:rPr>
              <a:t>PREPARE · STEP 1–6</a:t>
            </a:r>
            <a:endParaRPr lang="en-US" sz="1300" dirty="0"/>
          </a:p>
        </p:txBody>
      </p:sp>
      <p:sp>
        <p:nvSpPr>
          <p:cNvPr id="5" name="card-199"/>
          <p:cNvSpPr/>
          <p:nvPr/>
        </p:nvSpPr>
        <p:spPr>
          <a:xfrm>
            <a:off x="548640" y="2286000"/>
            <a:ext cx="2606040" cy="3657600"/>
          </a:xfrm>
          <a:prstGeom prst="roundRect">
            <a:avLst>
              <a:gd name="adj" fmla="val 3509"/>
            </a:avLst>
          </a:prstGeom>
          <a:solidFill>
            <a:schemeClr val="bg2"/>
          </a:solidFill>
          <a:ln/>
        </p:spPr>
        <p:txBody>
          <a:bodyPr/>
          <a:lstStyle/>
          <a:p>
            <a:endParaRPr lang="en-IN"/>
          </a:p>
        </p:txBody>
      </p:sp>
      <p:sp>
        <p:nvSpPr>
          <p:cNvPr id="6" name="pill-200"/>
          <p:cNvSpPr txBox="1"/>
          <p:nvPr/>
        </p:nvSpPr>
        <p:spPr>
          <a:xfrm>
            <a:off x="713232" y="2450592"/>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1</a:t>
            </a:r>
            <a:endParaRPr lang="en-US" sz="1100" dirty="0"/>
          </a:p>
        </p:txBody>
      </p:sp>
      <p:sp>
        <p:nvSpPr>
          <p:cNvPr id="7" name="text-201"/>
          <p:cNvSpPr txBox="1"/>
          <p:nvPr/>
        </p:nvSpPr>
        <p:spPr>
          <a:xfrm>
            <a:off x="1371600" y="2414016"/>
            <a:ext cx="1737360" cy="347472"/>
          </a:xfrm>
          <a:prstGeom prst="rect">
            <a:avLst/>
          </a:prstGeom>
          <a:noFill/>
          <a:ln/>
        </p:spPr>
        <p:txBody>
          <a:bodyPr wrap="square" lIns="0" tIns="0" rIns="0" bIns="0" rtlCol="0" anchor="ctr"/>
          <a:lstStyle/>
          <a:p>
            <a:pPr marL="0" indent="0">
              <a:buNone/>
            </a:pPr>
            <a:r>
              <a:rPr lang="en-US" sz="1300" dirty="0">
                <a:solidFill>
                  <a:schemeClr val="tx1"/>
                </a:solidFill>
              </a:rPr>
              <a:t>Load stock CSV</a:t>
            </a:r>
            <a:endParaRPr lang="en-US" sz="1300" dirty="0"/>
          </a:p>
        </p:txBody>
      </p:sp>
      <p:sp>
        <p:nvSpPr>
          <p:cNvPr id="8" name="pill-202"/>
          <p:cNvSpPr txBox="1"/>
          <p:nvPr/>
        </p:nvSpPr>
        <p:spPr>
          <a:xfrm>
            <a:off x="713232" y="2834640"/>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2</a:t>
            </a:r>
            <a:endParaRPr lang="en-US" sz="1100" dirty="0"/>
          </a:p>
        </p:txBody>
      </p:sp>
      <p:sp>
        <p:nvSpPr>
          <p:cNvPr id="9" name="text-203"/>
          <p:cNvSpPr txBox="1"/>
          <p:nvPr/>
        </p:nvSpPr>
        <p:spPr>
          <a:xfrm>
            <a:off x="1371600" y="2798064"/>
            <a:ext cx="1737360" cy="347472"/>
          </a:xfrm>
          <a:prstGeom prst="rect">
            <a:avLst/>
          </a:prstGeom>
          <a:noFill/>
          <a:ln/>
        </p:spPr>
        <p:txBody>
          <a:bodyPr wrap="square" lIns="0" tIns="0" rIns="0" bIns="0" rtlCol="0" anchor="ctr"/>
          <a:lstStyle/>
          <a:p>
            <a:pPr marL="0" indent="0">
              <a:buNone/>
            </a:pPr>
            <a:r>
              <a:rPr lang="en-US" sz="1300" dirty="0">
                <a:solidFill>
                  <a:schemeClr val="tx1"/>
                </a:solidFill>
              </a:rPr>
              <a:t>Clean and sort rows</a:t>
            </a:r>
            <a:endParaRPr lang="en-US" sz="1300" dirty="0"/>
          </a:p>
        </p:txBody>
      </p:sp>
      <p:sp>
        <p:nvSpPr>
          <p:cNvPr id="10" name="pill-204"/>
          <p:cNvSpPr txBox="1"/>
          <p:nvPr/>
        </p:nvSpPr>
        <p:spPr>
          <a:xfrm>
            <a:off x="713232" y="3218688"/>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2a</a:t>
            </a:r>
            <a:endParaRPr lang="en-US" sz="1100" dirty="0"/>
          </a:p>
        </p:txBody>
      </p:sp>
      <p:sp>
        <p:nvSpPr>
          <p:cNvPr id="11" name="text-205"/>
          <p:cNvSpPr txBox="1"/>
          <p:nvPr/>
        </p:nvSpPr>
        <p:spPr>
          <a:xfrm>
            <a:off x="1371600" y="3182112"/>
            <a:ext cx="1737360" cy="347472"/>
          </a:xfrm>
          <a:prstGeom prst="rect">
            <a:avLst/>
          </a:prstGeom>
          <a:noFill/>
          <a:ln/>
        </p:spPr>
        <p:txBody>
          <a:bodyPr wrap="square" lIns="0" tIns="0" rIns="0" bIns="0" rtlCol="0" anchor="ctr"/>
          <a:lstStyle/>
          <a:p>
            <a:pPr marL="0" indent="0">
              <a:buNone/>
            </a:pPr>
            <a:r>
              <a:rPr lang="en-US" sz="1300" dirty="0">
                <a:solidFill>
                  <a:schemeClr val="tx1"/>
                </a:solidFill>
              </a:rPr>
              <a:t>Split/bonus adjustment</a:t>
            </a:r>
            <a:endParaRPr lang="en-US" sz="1300" dirty="0"/>
          </a:p>
        </p:txBody>
      </p:sp>
      <p:sp>
        <p:nvSpPr>
          <p:cNvPr id="12" name="pill-206"/>
          <p:cNvSpPr txBox="1"/>
          <p:nvPr/>
        </p:nvSpPr>
        <p:spPr>
          <a:xfrm>
            <a:off x="713232" y="3602736"/>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2b</a:t>
            </a:r>
            <a:endParaRPr lang="en-US" sz="1100" dirty="0"/>
          </a:p>
        </p:txBody>
      </p:sp>
      <p:sp>
        <p:nvSpPr>
          <p:cNvPr id="13" name="text-207"/>
          <p:cNvSpPr txBox="1"/>
          <p:nvPr/>
        </p:nvSpPr>
        <p:spPr>
          <a:xfrm>
            <a:off x="1371600" y="3566160"/>
            <a:ext cx="1737360" cy="347472"/>
          </a:xfrm>
          <a:prstGeom prst="rect">
            <a:avLst/>
          </a:prstGeom>
          <a:noFill/>
          <a:ln/>
        </p:spPr>
        <p:txBody>
          <a:bodyPr wrap="square" lIns="0" tIns="0" rIns="0" bIns="0" rtlCol="0" anchor="ctr"/>
          <a:lstStyle/>
          <a:p>
            <a:pPr marL="0" indent="0">
              <a:buNone/>
            </a:pPr>
            <a:r>
              <a:rPr lang="en-US" sz="1300" dirty="0">
                <a:solidFill>
                  <a:schemeClr val="tx1"/>
                </a:solidFill>
              </a:rPr>
              <a:t>Price &amp; volume plots</a:t>
            </a:r>
            <a:endParaRPr lang="en-US" sz="1300" dirty="0"/>
          </a:p>
        </p:txBody>
      </p:sp>
      <p:sp>
        <p:nvSpPr>
          <p:cNvPr id="14" name="pill-208"/>
          <p:cNvSpPr txBox="1"/>
          <p:nvPr/>
        </p:nvSpPr>
        <p:spPr>
          <a:xfrm>
            <a:off x="713232" y="3986784"/>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3</a:t>
            </a:r>
            <a:endParaRPr lang="en-US" sz="1100" dirty="0"/>
          </a:p>
        </p:txBody>
      </p:sp>
      <p:sp>
        <p:nvSpPr>
          <p:cNvPr id="15" name="text-209"/>
          <p:cNvSpPr txBox="1"/>
          <p:nvPr/>
        </p:nvSpPr>
        <p:spPr>
          <a:xfrm>
            <a:off x="1371600" y="3950208"/>
            <a:ext cx="1737360" cy="347472"/>
          </a:xfrm>
          <a:prstGeom prst="rect">
            <a:avLst/>
          </a:prstGeom>
          <a:noFill/>
          <a:ln/>
        </p:spPr>
        <p:txBody>
          <a:bodyPr wrap="square" lIns="0" tIns="0" rIns="0" bIns="0" rtlCol="0" anchor="ctr"/>
          <a:lstStyle/>
          <a:p>
            <a:pPr marL="0" indent="0">
              <a:buNone/>
            </a:pPr>
            <a:r>
              <a:rPr lang="en-US" sz="1300" dirty="0">
                <a:solidFill>
                  <a:schemeClr val="tx1"/>
                </a:solidFill>
              </a:rPr>
              <a:t>Technical indicators</a:t>
            </a:r>
            <a:endParaRPr lang="en-US" sz="1300" dirty="0"/>
          </a:p>
        </p:txBody>
      </p:sp>
      <p:sp>
        <p:nvSpPr>
          <p:cNvPr id="16" name="pill-210"/>
          <p:cNvSpPr txBox="1"/>
          <p:nvPr/>
        </p:nvSpPr>
        <p:spPr>
          <a:xfrm>
            <a:off x="713232" y="4370832"/>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4</a:t>
            </a:r>
            <a:endParaRPr lang="en-US" sz="1100" dirty="0"/>
          </a:p>
        </p:txBody>
      </p:sp>
      <p:sp>
        <p:nvSpPr>
          <p:cNvPr id="17" name="text-211"/>
          <p:cNvSpPr txBox="1"/>
          <p:nvPr/>
        </p:nvSpPr>
        <p:spPr>
          <a:xfrm>
            <a:off x="1371600" y="4334256"/>
            <a:ext cx="1737360" cy="347472"/>
          </a:xfrm>
          <a:prstGeom prst="rect">
            <a:avLst/>
          </a:prstGeom>
          <a:noFill/>
          <a:ln/>
        </p:spPr>
        <p:txBody>
          <a:bodyPr wrap="square" lIns="0" tIns="0" rIns="0" bIns="0" rtlCol="0" anchor="ctr"/>
          <a:lstStyle/>
          <a:p>
            <a:pPr marL="0" indent="0">
              <a:buNone/>
            </a:pPr>
            <a:r>
              <a:rPr lang="en-US" sz="1300" dirty="0">
                <a:solidFill>
                  <a:schemeClr val="tx1"/>
                </a:solidFill>
              </a:rPr>
              <a:t>Target + 37 features</a:t>
            </a:r>
            <a:endParaRPr lang="en-US" sz="1300" dirty="0"/>
          </a:p>
        </p:txBody>
      </p:sp>
      <p:sp>
        <p:nvSpPr>
          <p:cNvPr id="18" name="pill-212"/>
          <p:cNvSpPr txBox="1"/>
          <p:nvPr/>
        </p:nvSpPr>
        <p:spPr>
          <a:xfrm>
            <a:off x="713232" y="4754880"/>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5</a:t>
            </a:r>
            <a:endParaRPr lang="en-US" sz="1100" dirty="0"/>
          </a:p>
        </p:txBody>
      </p:sp>
      <p:sp>
        <p:nvSpPr>
          <p:cNvPr id="19" name="text-213"/>
          <p:cNvSpPr txBox="1"/>
          <p:nvPr/>
        </p:nvSpPr>
        <p:spPr>
          <a:xfrm>
            <a:off x="1371600" y="4718304"/>
            <a:ext cx="1737360" cy="347472"/>
          </a:xfrm>
          <a:prstGeom prst="rect">
            <a:avLst/>
          </a:prstGeom>
          <a:noFill/>
          <a:ln/>
        </p:spPr>
        <p:txBody>
          <a:bodyPr wrap="square" lIns="0" tIns="0" rIns="0" bIns="0" rtlCol="0" anchor="ctr"/>
          <a:lstStyle/>
          <a:p>
            <a:pPr marL="0" indent="0">
              <a:buNone/>
            </a:pPr>
            <a:r>
              <a:rPr lang="en-US" sz="1300" dirty="0">
                <a:solidFill>
                  <a:schemeClr val="tx1"/>
                </a:solidFill>
              </a:rPr>
              <a:t>80/20 split + scaling</a:t>
            </a:r>
            <a:endParaRPr lang="en-US" sz="1300" dirty="0"/>
          </a:p>
        </p:txBody>
      </p:sp>
      <p:sp>
        <p:nvSpPr>
          <p:cNvPr id="20" name="pill-214"/>
          <p:cNvSpPr txBox="1"/>
          <p:nvPr/>
        </p:nvSpPr>
        <p:spPr>
          <a:xfrm>
            <a:off x="713232" y="5138928"/>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5b</a:t>
            </a:r>
            <a:endParaRPr lang="en-US" sz="1100" dirty="0"/>
          </a:p>
        </p:txBody>
      </p:sp>
      <p:sp>
        <p:nvSpPr>
          <p:cNvPr id="21" name="text-215"/>
          <p:cNvSpPr txBox="1"/>
          <p:nvPr/>
        </p:nvSpPr>
        <p:spPr>
          <a:xfrm>
            <a:off x="1371600" y="5102352"/>
            <a:ext cx="1737360" cy="347472"/>
          </a:xfrm>
          <a:prstGeom prst="rect">
            <a:avLst/>
          </a:prstGeom>
          <a:noFill/>
          <a:ln/>
        </p:spPr>
        <p:txBody>
          <a:bodyPr wrap="square" lIns="0" tIns="0" rIns="0" bIns="0" rtlCol="0" anchor="ctr"/>
          <a:lstStyle/>
          <a:p>
            <a:pPr marL="0" indent="0">
              <a:buNone/>
            </a:pPr>
            <a:r>
              <a:rPr lang="en-US" sz="1300" dirty="0">
                <a:solidFill>
                  <a:schemeClr val="tx1"/>
                </a:solidFill>
              </a:rPr>
              <a:t>Shared utilities</a:t>
            </a:r>
            <a:endParaRPr lang="en-US" sz="1300" dirty="0"/>
          </a:p>
        </p:txBody>
      </p:sp>
      <p:sp>
        <p:nvSpPr>
          <p:cNvPr id="22" name="pill-216"/>
          <p:cNvSpPr txBox="1"/>
          <p:nvPr/>
        </p:nvSpPr>
        <p:spPr>
          <a:xfrm>
            <a:off x="713232" y="5522976"/>
            <a:ext cx="54864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6</a:t>
            </a:r>
            <a:endParaRPr lang="en-US" sz="1100" dirty="0"/>
          </a:p>
        </p:txBody>
      </p:sp>
      <p:sp>
        <p:nvSpPr>
          <p:cNvPr id="23" name="text-217"/>
          <p:cNvSpPr txBox="1"/>
          <p:nvPr/>
        </p:nvSpPr>
        <p:spPr>
          <a:xfrm>
            <a:off x="1371600" y="5486400"/>
            <a:ext cx="1737360" cy="347472"/>
          </a:xfrm>
          <a:prstGeom prst="rect">
            <a:avLst/>
          </a:prstGeom>
          <a:noFill/>
          <a:ln/>
        </p:spPr>
        <p:txBody>
          <a:bodyPr wrap="square" lIns="0" tIns="0" rIns="0" bIns="0" rtlCol="0" anchor="ctr"/>
          <a:lstStyle/>
          <a:p>
            <a:pPr marL="0" indent="0">
              <a:buNone/>
            </a:pPr>
            <a:r>
              <a:rPr lang="en-US" sz="1300" dirty="0">
                <a:solidFill>
                  <a:schemeClr val="tx1"/>
                </a:solidFill>
              </a:rPr>
              <a:t>Feature selection</a:t>
            </a:r>
            <a:endParaRPr lang="en-US" sz="1300" dirty="0"/>
          </a:p>
        </p:txBody>
      </p:sp>
      <p:sp>
        <p:nvSpPr>
          <p:cNvPr id="24" name="phase-218"/>
          <p:cNvSpPr txBox="1"/>
          <p:nvPr/>
        </p:nvSpPr>
        <p:spPr>
          <a:xfrm>
            <a:off x="3377794" y="1554480"/>
            <a:ext cx="2788920" cy="548640"/>
          </a:xfrm>
          <a:prstGeom prst="chevron">
            <a:avLst/>
          </a:prstGeom>
          <a:solidFill>
            <a:schemeClr val="accent5"/>
          </a:solidFill>
          <a:ln/>
        </p:spPr>
        <p:txBody>
          <a:bodyPr wrap="square" lIns="0" tIns="0" rIns="0" bIns="0" rtlCol="0" anchor="ctr"/>
          <a:lstStyle/>
          <a:p>
            <a:pPr marL="0" indent="0" algn="ctr">
              <a:buNone/>
            </a:pPr>
            <a:r>
              <a:rPr lang="en-US" sz="1300" b="1" dirty="0">
                <a:solidFill>
                  <a:schemeClr val="bg1"/>
                </a:solidFill>
              </a:rPr>
              <a:t>MODEL · STEP 7–10A</a:t>
            </a:r>
            <a:endParaRPr lang="en-US" sz="1300" dirty="0"/>
          </a:p>
        </p:txBody>
      </p:sp>
      <p:sp>
        <p:nvSpPr>
          <p:cNvPr id="25" name="card-219"/>
          <p:cNvSpPr/>
          <p:nvPr/>
        </p:nvSpPr>
        <p:spPr>
          <a:xfrm>
            <a:off x="3377794" y="2286000"/>
            <a:ext cx="2606040" cy="3657600"/>
          </a:xfrm>
          <a:prstGeom prst="roundRect">
            <a:avLst>
              <a:gd name="adj" fmla="val 3509"/>
            </a:avLst>
          </a:prstGeom>
          <a:solidFill>
            <a:schemeClr val="bg2"/>
          </a:solidFill>
          <a:ln/>
        </p:spPr>
        <p:txBody>
          <a:bodyPr/>
          <a:lstStyle/>
          <a:p>
            <a:endParaRPr lang="en-IN"/>
          </a:p>
        </p:txBody>
      </p:sp>
      <p:sp>
        <p:nvSpPr>
          <p:cNvPr id="26" name="pill-220"/>
          <p:cNvSpPr txBox="1"/>
          <p:nvPr/>
        </p:nvSpPr>
        <p:spPr>
          <a:xfrm>
            <a:off x="3542386" y="2450592"/>
            <a:ext cx="54864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7</a:t>
            </a:r>
            <a:endParaRPr lang="en-US" sz="1100" dirty="0"/>
          </a:p>
        </p:txBody>
      </p:sp>
      <p:sp>
        <p:nvSpPr>
          <p:cNvPr id="27" name="text-221"/>
          <p:cNvSpPr txBox="1"/>
          <p:nvPr/>
        </p:nvSpPr>
        <p:spPr>
          <a:xfrm>
            <a:off x="4200754" y="2414016"/>
            <a:ext cx="1737360" cy="347472"/>
          </a:xfrm>
          <a:prstGeom prst="rect">
            <a:avLst/>
          </a:prstGeom>
          <a:noFill/>
          <a:ln/>
        </p:spPr>
        <p:txBody>
          <a:bodyPr wrap="square" lIns="0" tIns="0" rIns="0" bIns="0" rtlCol="0" anchor="ctr"/>
          <a:lstStyle/>
          <a:p>
            <a:pPr marL="0" indent="0">
              <a:buNone/>
            </a:pPr>
            <a:r>
              <a:rPr lang="en-US" sz="1300" dirty="0">
                <a:solidFill>
                  <a:schemeClr val="tx1"/>
                </a:solidFill>
              </a:rPr>
              <a:t>Six classical models</a:t>
            </a:r>
            <a:endParaRPr lang="en-US" sz="1300" dirty="0"/>
          </a:p>
        </p:txBody>
      </p:sp>
      <p:sp>
        <p:nvSpPr>
          <p:cNvPr id="28" name="pill-222"/>
          <p:cNvSpPr txBox="1"/>
          <p:nvPr/>
        </p:nvSpPr>
        <p:spPr>
          <a:xfrm>
            <a:off x="3542386" y="2834640"/>
            <a:ext cx="54864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8</a:t>
            </a:r>
            <a:endParaRPr lang="en-US" sz="1100" dirty="0"/>
          </a:p>
        </p:txBody>
      </p:sp>
      <p:sp>
        <p:nvSpPr>
          <p:cNvPr id="29" name="text-223"/>
          <p:cNvSpPr txBox="1"/>
          <p:nvPr/>
        </p:nvSpPr>
        <p:spPr>
          <a:xfrm>
            <a:off x="4200754" y="2798064"/>
            <a:ext cx="1737360" cy="347472"/>
          </a:xfrm>
          <a:prstGeom prst="rect">
            <a:avLst/>
          </a:prstGeom>
          <a:noFill/>
          <a:ln/>
        </p:spPr>
        <p:txBody>
          <a:bodyPr wrap="square" lIns="0" tIns="0" rIns="0" bIns="0" rtlCol="0" anchor="ctr"/>
          <a:lstStyle/>
          <a:p>
            <a:pPr marL="0" indent="0">
              <a:buNone/>
            </a:pPr>
            <a:r>
              <a:rPr lang="en-US" sz="1300" dirty="0">
                <a:solidFill>
                  <a:schemeClr val="tx1"/>
                </a:solidFill>
              </a:rPr>
              <a:t>LSTM, 20-day windows</a:t>
            </a:r>
            <a:endParaRPr lang="en-US" sz="1300" dirty="0"/>
          </a:p>
        </p:txBody>
      </p:sp>
      <p:sp>
        <p:nvSpPr>
          <p:cNvPr id="30" name="pill-224"/>
          <p:cNvSpPr txBox="1"/>
          <p:nvPr/>
        </p:nvSpPr>
        <p:spPr>
          <a:xfrm>
            <a:off x="3542386" y="3218688"/>
            <a:ext cx="54864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8b</a:t>
            </a:r>
            <a:endParaRPr lang="en-US" sz="1100" dirty="0"/>
          </a:p>
        </p:txBody>
      </p:sp>
      <p:sp>
        <p:nvSpPr>
          <p:cNvPr id="31" name="text-225"/>
          <p:cNvSpPr txBox="1"/>
          <p:nvPr/>
        </p:nvSpPr>
        <p:spPr>
          <a:xfrm>
            <a:off x="4200754" y="3182112"/>
            <a:ext cx="1737360" cy="347472"/>
          </a:xfrm>
          <a:prstGeom prst="rect">
            <a:avLst/>
          </a:prstGeom>
          <a:noFill/>
          <a:ln/>
        </p:spPr>
        <p:txBody>
          <a:bodyPr wrap="square" lIns="0" tIns="0" rIns="0" bIns="0" rtlCol="0" anchor="ctr"/>
          <a:lstStyle/>
          <a:p>
            <a:pPr marL="0" indent="0">
              <a:buNone/>
            </a:pPr>
            <a:r>
              <a:rPr lang="en-US" sz="1300" dirty="0">
                <a:solidFill>
                  <a:schemeClr val="tx1"/>
                </a:solidFill>
              </a:rPr>
              <a:t>Reusable LSTM trainer</a:t>
            </a:r>
            <a:endParaRPr lang="en-US" sz="1300" dirty="0"/>
          </a:p>
        </p:txBody>
      </p:sp>
      <p:sp>
        <p:nvSpPr>
          <p:cNvPr id="32" name="pill-226"/>
          <p:cNvSpPr txBox="1"/>
          <p:nvPr/>
        </p:nvSpPr>
        <p:spPr>
          <a:xfrm>
            <a:off x="3542386" y="3602736"/>
            <a:ext cx="54864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9</a:t>
            </a:r>
            <a:endParaRPr lang="en-US" sz="1100" dirty="0"/>
          </a:p>
        </p:txBody>
      </p:sp>
      <p:sp>
        <p:nvSpPr>
          <p:cNvPr id="33" name="text-227"/>
          <p:cNvSpPr txBox="1"/>
          <p:nvPr/>
        </p:nvSpPr>
        <p:spPr>
          <a:xfrm>
            <a:off x="4200754" y="3566160"/>
            <a:ext cx="1737360" cy="347472"/>
          </a:xfrm>
          <a:prstGeom prst="rect">
            <a:avLst/>
          </a:prstGeom>
          <a:noFill/>
          <a:ln/>
        </p:spPr>
        <p:txBody>
          <a:bodyPr wrap="square" lIns="0" tIns="0" rIns="0" bIns="0" rtlCol="0" anchor="ctr"/>
          <a:lstStyle/>
          <a:p>
            <a:pPr marL="0" indent="0">
              <a:buNone/>
            </a:pPr>
            <a:r>
              <a:rPr lang="en-US" sz="1300" dirty="0">
                <a:solidFill>
                  <a:schemeClr val="tx1"/>
                </a:solidFill>
              </a:rPr>
              <a:t>Vision Transformer</a:t>
            </a:r>
            <a:endParaRPr lang="en-US" sz="1300" dirty="0"/>
          </a:p>
        </p:txBody>
      </p:sp>
      <p:sp>
        <p:nvSpPr>
          <p:cNvPr id="34" name="pill-228"/>
          <p:cNvSpPr txBox="1"/>
          <p:nvPr/>
        </p:nvSpPr>
        <p:spPr>
          <a:xfrm>
            <a:off x="3542386" y="3986784"/>
            <a:ext cx="54864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10A</a:t>
            </a:r>
            <a:endParaRPr lang="en-US" sz="1100" dirty="0"/>
          </a:p>
        </p:txBody>
      </p:sp>
      <p:sp>
        <p:nvSpPr>
          <p:cNvPr id="35" name="text-229"/>
          <p:cNvSpPr txBox="1"/>
          <p:nvPr/>
        </p:nvSpPr>
        <p:spPr>
          <a:xfrm>
            <a:off x="4200754" y="3950208"/>
            <a:ext cx="1737360" cy="347472"/>
          </a:xfrm>
          <a:prstGeom prst="rect">
            <a:avLst/>
          </a:prstGeom>
          <a:noFill/>
          <a:ln/>
        </p:spPr>
        <p:txBody>
          <a:bodyPr wrap="square" lIns="0" tIns="0" rIns="0" bIns="0" rtlCol="0" anchor="ctr"/>
          <a:lstStyle/>
          <a:p>
            <a:pPr marL="0" indent="0">
              <a:buNone/>
            </a:pPr>
            <a:r>
              <a:rPr lang="en-US" sz="1300" dirty="0">
                <a:solidFill>
                  <a:schemeClr val="tx1"/>
                </a:solidFill>
              </a:rPr>
              <a:t>Scores + FS variants</a:t>
            </a:r>
            <a:endParaRPr lang="en-US" sz="1300" dirty="0"/>
          </a:p>
        </p:txBody>
      </p:sp>
      <p:sp>
        <p:nvSpPr>
          <p:cNvPr id="36" name="phase-230"/>
          <p:cNvSpPr txBox="1"/>
          <p:nvPr/>
        </p:nvSpPr>
        <p:spPr>
          <a:xfrm>
            <a:off x="6206947" y="1554480"/>
            <a:ext cx="2788920" cy="548640"/>
          </a:xfrm>
          <a:prstGeom prst="chevron">
            <a:avLst/>
          </a:prstGeom>
          <a:solidFill>
            <a:schemeClr val="accent1"/>
          </a:solidFill>
          <a:ln/>
        </p:spPr>
        <p:txBody>
          <a:bodyPr wrap="square" lIns="0" tIns="0" rIns="0" bIns="0" rtlCol="0" anchor="ctr"/>
          <a:lstStyle/>
          <a:p>
            <a:pPr marL="0" indent="0" algn="ctr">
              <a:buNone/>
            </a:pPr>
            <a:r>
              <a:rPr lang="en-US" sz="1300" b="1" dirty="0">
                <a:solidFill>
                  <a:schemeClr val="bg1"/>
                </a:solidFill>
              </a:rPr>
              <a:t>COMBINE · STEP 10B–14</a:t>
            </a:r>
            <a:endParaRPr lang="en-US" sz="1300" dirty="0"/>
          </a:p>
        </p:txBody>
      </p:sp>
      <p:sp>
        <p:nvSpPr>
          <p:cNvPr id="37" name="card-231"/>
          <p:cNvSpPr/>
          <p:nvPr/>
        </p:nvSpPr>
        <p:spPr>
          <a:xfrm>
            <a:off x="6206947" y="2286000"/>
            <a:ext cx="2606040" cy="3657600"/>
          </a:xfrm>
          <a:prstGeom prst="roundRect">
            <a:avLst>
              <a:gd name="adj" fmla="val 3509"/>
            </a:avLst>
          </a:prstGeom>
          <a:solidFill>
            <a:schemeClr val="bg2"/>
          </a:solidFill>
          <a:ln/>
        </p:spPr>
        <p:txBody>
          <a:bodyPr/>
          <a:lstStyle/>
          <a:p>
            <a:endParaRPr lang="en-IN"/>
          </a:p>
        </p:txBody>
      </p:sp>
      <p:sp>
        <p:nvSpPr>
          <p:cNvPr id="38" name="pill-232"/>
          <p:cNvSpPr txBox="1"/>
          <p:nvPr/>
        </p:nvSpPr>
        <p:spPr>
          <a:xfrm>
            <a:off x="6371539" y="2450592"/>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10B</a:t>
            </a:r>
            <a:endParaRPr lang="en-US" sz="1100" dirty="0"/>
          </a:p>
        </p:txBody>
      </p:sp>
      <p:sp>
        <p:nvSpPr>
          <p:cNvPr id="39" name="text-233"/>
          <p:cNvSpPr txBox="1"/>
          <p:nvPr/>
        </p:nvSpPr>
        <p:spPr>
          <a:xfrm>
            <a:off x="7029907" y="2414016"/>
            <a:ext cx="1737360" cy="347472"/>
          </a:xfrm>
          <a:prstGeom prst="rect">
            <a:avLst/>
          </a:prstGeom>
          <a:noFill/>
          <a:ln/>
        </p:spPr>
        <p:txBody>
          <a:bodyPr wrap="square" lIns="0" tIns="0" rIns="0" bIns="0" rtlCol="0" anchor="ctr"/>
          <a:lstStyle/>
          <a:p>
            <a:pPr marL="0" indent="0">
              <a:buNone/>
            </a:pPr>
            <a:r>
              <a:rPr lang="en-US" sz="1300" dirty="0">
                <a:solidFill>
                  <a:schemeClr val="tx1"/>
                </a:solidFill>
              </a:rPr>
              <a:t>Walk-forward OOF</a:t>
            </a:r>
            <a:endParaRPr lang="en-US" sz="1300" dirty="0"/>
          </a:p>
        </p:txBody>
      </p:sp>
      <p:sp>
        <p:nvSpPr>
          <p:cNvPr id="40" name="pill-234"/>
          <p:cNvSpPr txBox="1"/>
          <p:nvPr/>
        </p:nvSpPr>
        <p:spPr>
          <a:xfrm>
            <a:off x="6371539" y="2834640"/>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11</a:t>
            </a:r>
            <a:endParaRPr lang="en-US" sz="1100" dirty="0"/>
          </a:p>
        </p:txBody>
      </p:sp>
      <p:sp>
        <p:nvSpPr>
          <p:cNvPr id="41" name="text-235"/>
          <p:cNvSpPr txBox="1"/>
          <p:nvPr/>
        </p:nvSpPr>
        <p:spPr>
          <a:xfrm>
            <a:off x="7029907" y="2798064"/>
            <a:ext cx="1737360" cy="347472"/>
          </a:xfrm>
          <a:prstGeom prst="rect">
            <a:avLst/>
          </a:prstGeom>
          <a:noFill/>
          <a:ln/>
        </p:spPr>
        <p:txBody>
          <a:bodyPr wrap="square" lIns="0" tIns="0" rIns="0" bIns="0" rtlCol="0" anchor="ctr"/>
          <a:lstStyle/>
          <a:p>
            <a:pPr marL="0" indent="0">
              <a:buNone/>
            </a:pPr>
            <a:r>
              <a:rPr lang="en-US" sz="1300" dirty="0">
                <a:solidFill>
                  <a:schemeClr val="tx1"/>
                </a:solidFill>
              </a:rPr>
              <a:t>Majority voting</a:t>
            </a:r>
            <a:endParaRPr lang="en-US" sz="1300" dirty="0"/>
          </a:p>
        </p:txBody>
      </p:sp>
      <p:sp>
        <p:nvSpPr>
          <p:cNvPr id="42" name="pill-236"/>
          <p:cNvSpPr txBox="1"/>
          <p:nvPr/>
        </p:nvSpPr>
        <p:spPr>
          <a:xfrm>
            <a:off x="6371539" y="3218688"/>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12</a:t>
            </a:r>
            <a:endParaRPr lang="en-US" sz="1100" dirty="0"/>
          </a:p>
        </p:txBody>
      </p:sp>
      <p:sp>
        <p:nvSpPr>
          <p:cNvPr id="43" name="text-237"/>
          <p:cNvSpPr txBox="1"/>
          <p:nvPr/>
        </p:nvSpPr>
        <p:spPr>
          <a:xfrm>
            <a:off x="7029907" y="3182112"/>
            <a:ext cx="1737360" cy="347472"/>
          </a:xfrm>
          <a:prstGeom prst="rect">
            <a:avLst/>
          </a:prstGeom>
          <a:noFill/>
          <a:ln/>
        </p:spPr>
        <p:txBody>
          <a:bodyPr wrap="square" lIns="0" tIns="0" rIns="0" bIns="0" rtlCol="0" anchor="ctr"/>
          <a:lstStyle/>
          <a:p>
            <a:pPr marL="0" indent="0">
              <a:buNone/>
            </a:pPr>
            <a:r>
              <a:rPr lang="en-US" sz="1300" dirty="0">
                <a:solidFill>
                  <a:schemeClr val="tx1"/>
                </a:solidFill>
              </a:rPr>
              <a:t>Soft voting</a:t>
            </a:r>
            <a:endParaRPr lang="en-US" sz="1300" dirty="0"/>
          </a:p>
        </p:txBody>
      </p:sp>
      <p:sp>
        <p:nvSpPr>
          <p:cNvPr id="44" name="pill-238"/>
          <p:cNvSpPr txBox="1"/>
          <p:nvPr/>
        </p:nvSpPr>
        <p:spPr>
          <a:xfrm>
            <a:off x="6371539" y="3602736"/>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13</a:t>
            </a:r>
            <a:endParaRPr lang="en-US" sz="1100" dirty="0"/>
          </a:p>
        </p:txBody>
      </p:sp>
      <p:sp>
        <p:nvSpPr>
          <p:cNvPr id="45" name="text-239"/>
          <p:cNvSpPr txBox="1"/>
          <p:nvPr/>
        </p:nvSpPr>
        <p:spPr>
          <a:xfrm>
            <a:off x="7029907" y="3566160"/>
            <a:ext cx="1737360" cy="347472"/>
          </a:xfrm>
          <a:prstGeom prst="rect">
            <a:avLst/>
          </a:prstGeom>
          <a:noFill/>
          <a:ln/>
        </p:spPr>
        <p:txBody>
          <a:bodyPr wrap="square" lIns="0" tIns="0" rIns="0" bIns="0" rtlCol="0" anchor="ctr"/>
          <a:lstStyle/>
          <a:p>
            <a:pPr marL="0" indent="0">
              <a:buNone/>
            </a:pPr>
            <a:r>
              <a:rPr lang="en-US" sz="1300" dirty="0">
                <a:solidFill>
                  <a:schemeClr val="tx1"/>
                </a:solidFill>
              </a:rPr>
              <a:t>Static weighted voting</a:t>
            </a:r>
            <a:endParaRPr lang="en-US" sz="1300" dirty="0"/>
          </a:p>
        </p:txBody>
      </p:sp>
      <p:sp>
        <p:nvSpPr>
          <p:cNvPr id="46" name="pill-240"/>
          <p:cNvSpPr txBox="1"/>
          <p:nvPr/>
        </p:nvSpPr>
        <p:spPr>
          <a:xfrm>
            <a:off x="6371539" y="3986784"/>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13B</a:t>
            </a:r>
            <a:endParaRPr lang="en-US" sz="1100" dirty="0"/>
          </a:p>
        </p:txBody>
      </p:sp>
      <p:sp>
        <p:nvSpPr>
          <p:cNvPr id="47" name="text-241"/>
          <p:cNvSpPr txBox="1"/>
          <p:nvPr/>
        </p:nvSpPr>
        <p:spPr>
          <a:xfrm>
            <a:off x="7029907" y="3950208"/>
            <a:ext cx="1737360" cy="347472"/>
          </a:xfrm>
          <a:prstGeom prst="rect">
            <a:avLst/>
          </a:prstGeom>
          <a:noFill/>
          <a:ln/>
        </p:spPr>
        <p:txBody>
          <a:bodyPr wrap="square" lIns="0" tIns="0" rIns="0" bIns="0" rtlCol="0" anchor="ctr"/>
          <a:lstStyle/>
          <a:p>
            <a:pPr marL="0" indent="0">
              <a:buNone/>
            </a:pPr>
            <a:r>
              <a:rPr lang="en-US" sz="1300" dirty="0">
                <a:solidFill>
                  <a:schemeClr val="tx1"/>
                </a:solidFill>
              </a:rPr>
              <a:t>Adaptive weighting</a:t>
            </a:r>
            <a:endParaRPr lang="en-US" sz="1300" dirty="0"/>
          </a:p>
        </p:txBody>
      </p:sp>
      <p:sp>
        <p:nvSpPr>
          <p:cNvPr id="48" name="pill-242"/>
          <p:cNvSpPr txBox="1"/>
          <p:nvPr/>
        </p:nvSpPr>
        <p:spPr>
          <a:xfrm>
            <a:off x="6371539" y="4370832"/>
            <a:ext cx="54864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14</a:t>
            </a:r>
            <a:endParaRPr lang="en-US" sz="1100" dirty="0"/>
          </a:p>
        </p:txBody>
      </p:sp>
      <p:sp>
        <p:nvSpPr>
          <p:cNvPr id="49" name="text-243"/>
          <p:cNvSpPr txBox="1"/>
          <p:nvPr/>
        </p:nvSpPr>
        <p:spPr>
          <a:xfrm>
            <a:off x="7029907" y="4334256"/>
            <a:ext cx="1737360" cy="347472"/>
          </a:xfrm>
          <a:prstGeom prst="rect">
            <a:avLst/>
          </a:prstGeom>
          <a:noFill/>
          <a:ln/>
        </p:spPr>
        <p:txBody>
          <a:bodyPr wrap="square" lIns="0" tIns="0" rIns="0" bIns="0" rtlCol="0" anchor="ctr"/>
          <a:lstStyle/>
          <a:p>
            <a:pPr marL="0" indent="0">
              <a:buNone/>
            </a:pPr>
            <a:r>
              <a:rPr lang="en-US" sz="1300" dirty="0">
                <a:solidFill>
                  <a:schemeClr val="tx1"/>
                </a:solidFill>
              </a:rPr>
              <a:t>Stacking</a:t>
            </a:r>
            <a:endParaRPr lang="en-US" sz="1300" dirty="0"/>
          </a:p>
        </p:txBody>
      </p:sp>
      <p:sp>
        <p:nvSpPr>
          <p:cNvPr id="50" name="phase-244"/>
          <p:cNvSpPr txBox="1"/>
          <p:nvPr/>
        </p:nvSpPr>
        <p:spPr>
          <a:xfrm>
            <a:off x="9036101" y="1554480"/>
            <a:ext cx="2788920" cy="548640"/>
          </a:xfrm>
          <a:prstGeom prst="chevron">
            <a:avLst/>
          </a:prstGeom>
          <a:solidFill>
            <a:schemeClr val="tx2"/>
          </a:solidFill>
          <a:ln/>
        </p:spPr>
        <p:txBody>
          <a:bodyPr wrap="square" lIns="0" tIns="0" rIns="0" bIns="0" rtlCol="0" anchor="ctr"/>
          <a:lstStyle/>
          <a:p>
            <a:pPr marL="0" indent="0" algn="ctr">
              <a:buNone/>
            </a:pPr>
            <a:r>
              <a:rPr lang="en-US" sz="1300" b="1" dirty="0">
                <a:solidFill>
                  <a:schemeClr val="bg1"/>
                </a:solidFill>
              </a:rPr>
              <a:t>REPORT · STEP 15–18</a:t>
            </a:r>
            <a:endParaRPr lang="en-US" sz="1300" dirty="0"/>
          </a:p>
        </p:txBody>
      </p:sp>
      <p:sp>
        <p:nvSpPr>
          <p:cNvPr id="51" name="card-245"/>
          <p:cNvSpPr/>
          <p:nvPr/>
        </p:nvSpPr>
        <p:spPr>
          <a:xfrm>
            <a:off x="9036101" y="2286000"/>
            <a:ext cx="2606040" cy="3657600"/>
          </a:xfrm>
          <a:prstGeom prst="roundRect">
            <a:avLst>
              <a:gd name="adj" fmla="val 3509"/>
            </a:avLst>
          </a:prstGeom>
          <a:solidFill>
            <a:schemeClr val="bg2"/>
          </a:solidFill>
          <a:ln/>
        </p:spPr>
        <p:txBody>
          <a:bodyPr/>
          <a:lstStyle/>
          <a:p>
            <a:endParaRPr lang="en-IN"/>
          </a:p>
        </p:txBody>
      </p:sp>
      <p:sp>
        <p:nvSpPr>
          <p:cNvPr id="52" name="pill-246"/>
          <p:cNvSpPr txBox="1"/>
          <p:nvPr/>
        </p:nvSpPr>
        <p:spPr>
          <a:xfrm>
            <a:off x="9200693" y="2450592"/>
            <a:ext cx="548640"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100" b="1" dirty="0">
                <a:solidFill>
                  <a:schemeClr val="bg1"/>
                </a:solidFill>
              </a:rPr>
              <a:t>15</a:t>
            </a:r>
            <a:endParaRPr lang="en-US" sz="1100" dirty="0"/>
          </a:p>
        </p:txBody>
      </p:sp>
      <p:sp>
        <p:nvSpPr>
          <p:cNvPr id="53" name="text-247"/>
          <p:cNvSpPr txBox="1"/>
          <p:nvPr/>
        </p:nvSpPr>
        <p:spPr>
          <a:xfrm>
            <a:off x="9859061" y="2414016"/>
            <a:ext cx="1737360" cy="347472"/>
          </a:xfrm>
          <a:prstGeom prst="rect">
            <a:avLst/>
          </a:prstGeom>
          <a:noFill/>
          <a:ln/>
        </p:spPr>
        <p:txBody>
          <a:bodyPr wrap="square" lIns="0" tIns="0" rIns="0" bIns="0" rtlCol="0" anchor="ctr"/>
          <a:lstStyle/>
          <a:p>
            <a:pPr marL="0" indent="0">
              <a:buNone/>
            </a:pPr>
            <a:r>
              <a:rPr lang="en-US" sz="1300" dirty="0">
                <a:solidFill>
                  <a:schemeClr val="tx1"/>
                </a:solidFill>
              </a:rPr>
              <a:t>Comparison + figures</a:t>
            </a:r>
            <a:endParaRPr lang="en-US" sz="1300" dirty="0"/>
          </a:p>
        </p:txBody>
      </p:sp>
      <p:sp>
        <p:nvSpPr>
          <p:cNvPr id="54" name="pill-248"/>
          <p:cNvSpPr txBox="1"/>
          <p:nvPr/>
        </p:nvSpPr>
        <p:spPr>
          <a:xfrm>
            <a:off x="9200693" y="2834640"/>
            <a:ext cx="548640"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100" b="1" dirty="0">
                <a:solidFill>
                  <a:schemeClr val="bg1"/>
                </a:solidFill>
              </a:rPr>
              <a:t>16</a:t>
            </a:r>
            <a:endParaRPr lang="en-US" sz="1100" dirty="0"/>
          </a:p>
        </p:txBody>
      </p:sp>
      <p:sp>
        <p:nvSpPr>
          <p:cNvPr id="55" name="text-249"/>
          <p:cNvSpPr txBox="1"/>
          <p:nvPr/>
        </p:nvSpPr>
        <p:spPr>
          <a:xfrm>
            <a:off x="9859061" y="2798064"/>
            <a:ext cx="1737360" cy="347472"/>
          </a:xfrm>
          <a:prstGeom prst="rect">
            <a:avLst/>
          </a:prstGeom>
          <a:noFill/>
          <a:ln/>
        </p:spPr>
        <p:txBody>
          <a:bodyPr wrap="square" lIns="0" tIns="0" rIns="0" bIns="0" rtlCol="0" anchor="ctr"/>
          <a:lstStyle/>
          <a:p>
            <a:pPr marL="0" indent="0">
              <a:buNone/>
            </a:pPr>
            <a:r>
              <a:rPr lang="en-US" sz="1300" dirty="0">
                <a:solidFill>
                  <a:schemeClr val="tx1"/>
                </a:solidFill>
              </a:rPr>
              <a:t>Next-day prediction</a:t>
            </a:r>
            <a:endParaRPr lang="en-US" sz="1300" dirty="0"/>
          </a:p>
        </p:txBody>
      </p:sp>
      <p:sp>
        <p:nvSpPr>
          <p:cNvPr id="56" name="pill-250"/>
          <p:cNvSpPr txBox="1"/>
          <p:nvPr/>
        </p:nvSpPr>
        <p:spPr>
          <a:xfrm>
            <a:off x="9200693" y="3218688"/>
            <a:ext cx="548640"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100" b="1" dirty="0">
                <a:solidFill>
                  <a:schemeClr val="bg1"/>
                </a:solidFill>
              </a:rPr>
              <a:t>17</a:t>
            </a:r>
            <a:endParaRPr lang="en-US" sz="1100" dirty="0"/>
          </a:p>
        </p:txBody>
      </p:sp>
      <p:sp>
        <p:nvSpPr>
          <p:cNvPr id="57" name="text-251"/>
          <p:cNvSpPr txBox="1"/>
          <p:nvPr/>
        </p:nvSpPr>
        <p:spPr>
          <a:xfrm>
            <a:off x="9859061" y="3182112"/>
            <a:ext cx="1737360" cy="347472"/>
          </a:xfrm>
          <a:prstGeom prst="rect">
            <a:avLst/>
          </a:prstGeom>
          <a:noFill/>
          <a:ln/>
        </p:spPr>
        <p:txBody>
          <a:bodyPr wrap="square" lIns="0" tIns="0" rIns="0" bIns="0" rtlCol="0" anchor="ctr"/>
          <a:lstStyle/>
          <a:p>
            <a:pPr marL="0" indent="0">
              <a:buNone/>
            </a:pPr>
            <a:r>
              <a:rPr lang="en-US" sz="1300" dirty="0">
                <a:solidFill>
                  <a:schemeClr val="tx1"/>
                </a:solidFill>
              </a:rPr>
              <a:t>Integrity checklist</a:t>
            </a:r>
            <a:endParaRPr lang="en-US" sz="1300" dirty="0"/>
          </a:p>
        </p:txBody>
      </p:sp>
      <p:sp>
        <p:nvSpPr>
          <p:cNvPr id="58" name="pill-252"/>
          <p:cNvSpPr txBox="1"/>
          <p:nvPr/>
        </p:nvSpPr>
        <p:spPr>
          <a:xfrm>
            <a:off x="9200693" y="3602736"/>
            <a:ext cx="548640" cy="274320"/>
          </a:xfrm>
          <a:prstGeom prst="roundRect">
            <a:avLst>
              <a:gd name="adj" fmla="val 50000"/>
            </a:avLst>
          </a:prstGeom>
          <a:solidFill>
            <a:schemeClr val="tx2"/>
          </a:solidFill>
          <a:ln/>
        </p:spPr>
        <p:txBody>
          <a:bodyPr wrap="square" lIns="0" tIns="0" rIns="0" bIns="0" rtlCol="0" anchor="ctr"/>
          <a:lstStyle/>
          <a:p>
            <a:pPr marL="0" indent="0" algn="ctr">
              <a:buNone/>
            </a:pPr>
            <a:r>
              <a:rPr lang="en-US" sz="1100" b="1" dirty="0">
                <a:solidFill>
                  <a:schemeClr val="bg1"/>
                </a:solidFill>
              </a:rPr>
              <a:t>18</a:t>
            </a:r>
            <a:endParaRPr lang="en-US" sz="1100" dirty="0"/>
          </a:p>
        </p:txBody>
      </p:sp>
      <p:sp>
        <p:nvSpPr>
          <p:cNvPr id="59" name="text-253"/>
          <p:cNvSpPr txBox="1"/>
          <p:nvPr/>
        </p:nvSpPr>
        <p:spPr>
          <a:xfrm>
            <a:off x="9859061" y="3566160"/>
            <a:ext cx="1737360" cy="347472"/>
          </a:xfrm>
          <a:prstGeom prst="rect">
            <a:avLst/>
          </a:prstGeom>
          <a:noFill/>
          <a:ln/>
        </p:spPr>
        <p:txBody>
          <a:bodyPr wrap="square" lIns="0" tIns="0" rIns="0" bIns="0" rtlCol="0" anchor="ctr"/>
          <a:lstStyle/>
          <a:p>
            <a:pPr marL="0" indent="0">
              <a:buNone/>
            </a:pPr>
            <a:r>
              <a:rPr lang="en-US" sz="1300" dirty="0">
                <a:solidFill>
                  <a:schemeClr val="tx1"/>
                </a:solidFill>
              </a:rPr>
              <a:t>Voting head-to-head</a:t>
            </a:r>
            <a:endParaRPr lang="en-US" sz="1300" dirty="0"/>
          </a:p>
        </p:txBody>
      </p:sp>
      <p:sp>
        <p:nvSpPr>
          <p:cNvPr id="60" name="text-254"/>
          <p:cNvSpPr txBox="1"/>
          <p:nvPr/>
        </p:nvSpPr>
        <p:spPr>
          <a:xfrm>
            <a:off x="548640" y="6035040"/>
            <a:ext cx="11091672" cy="292608"/>
          </a:xfrm>
          <a:prstGeom prst="rect">
            <a:avLst/>
          </a:prstGeom>
          <a:noFill/>
          <a:ln/>
        </p:spPr>
        <p:txBody>
          <a:bodyPr wrap="square" lIns="0" tIns="0" rIns="0" bIns="0" rtlCol="0" anchor="t"/>
          <a:lstStyle/>
          <a:p>
            <a:pPr marL="0" indent="0">
              <a:buNone/>
            </a:pPr>
            <a:r>
              <a:rPr lang="en-US" sz="1200" i="1" dirty="0">
                <a:solidFill>
                  <a:schemeClr val="accent6"/>
                </a:solidFill>
              </a:rPr>
              <a:t>One Python file, run top to bottom: in Google Colab, or locally with  py Quantpredict.py</a:t>
            </a:r>
            <a:endParaRPr lang="en-US" sz="1200" dirty="0"/>
          </a:p>
        </p:txBody>
      </p:sp>
      <p:sp>
        <p:nvSpPr>
          <p:cNvPr id="6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Removing fake crashes from the raw prices</a:t>
            </a:r>
            <a:endParaRPr lang="en-US" sz="3200" dirty="0"/>
          </a:p>
        </p:txBody>
      </p:sp>
      <p:sp>
        <p:nvSpPr>
          <p:cNvPr id="4" name="card-255"/>
          <p:cNvSpPr/>
          <p:nvPr/>
        </p:nvSpPr>
        <p:spPr>
          <a:xfrm>
            <a:off x="548640" y="1508760"/>
            <a:ext cx="4023360" cy="1874520"/>
          </a:xfrm>
          <a:prstGeom prst="roundRect">
            <a:avLst>
              <a:gd name="adj" fmla="val 4878"/>
            </a:avLst>
          </a:prstGeom>
          <a:solidFill>
            <a:schemeClr val="bg2"/>
          </a:solidFill>
          <a:ln/>
        </p:spPr>
        <p:txBody>
          <a:bodyPr/>
          <a:lstStyle/>
          <a:p>
            <a:endParaRPr lang="en-IN"/>
          </a:p>
        </p:txBody>
      </p:sp>
      <p:sp>
        <p:nvSpPr>
          <p:cNvPr id="5" name="text-256"/>
          <p:cNvSpPr txBox="1"/>
          <p:nvPr/>
        </p:nvSpPr>
        <p:spPr>
          <a:xfrm>
            <a:off x="777240" y="1645920"/>
            <a:ext cx="365760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DETECTION RULE  ·  STEP 2a</a:t>
            </a:r>
            <a:endParaRPr lang="en-US" sz="1100" dirty="0"/>
          </a:p>
        </p:txBody>
      </p:sp>
      <p:sp>
        <p:nvSpPr>
          <p:cNvPr id="6" name="text-257"/>
          <p:cNvSpPr txBox="1"/>
          <p:nvPr/>
        </p:nvSpPr>
        <p:spPr>
          <a:xfrm>
            <a:off x="777240" y="1938528"/>
            <a:ext cx="3611880" cy="685800"/>
          </a:xfrm>
          <a:prstGeom prst="rect">
            <a:avLst/>
          </a:prstGeom>
          <a:noFill/>
          <a:ln/>
        </p:spPr>
        <p:txBody>
          <a:bodyPr wrap="square" lIns="0" tIns="0" rIns="0" bIns="0" rtlCol="0" anchor="t"/>
          <a:lstStyle/>
          <a:p>
            <a:pPr marL="0" indent="0">
              <a:buNone/>
            </a:pPr>
            <a:r>
              <a:rPr lang="en-US" sz="1600" b="1" dirty="0">
                <a:solidFill>
                  <a:schemeClr val="tx2"/>
                </a:solidFill>
              </a:rPr>
              <a:t>Open and close both below 0.78 × the previous close</a:t>
            </a:r>
            <a:endParaRPr lang="en-US" sz="1600" dirty="0"/>
          </a:p>
        </p:txBody>
      </p:sp>
      <p:sp>
        <p:nvSpPr>
          <p:cNvPr id="7" name="text-258"/>
          <p:cNvSpPr txBox="1"/>
          <p:nvPr/>
        </p:nvSpPr>
        <p:spPr>
          <a:xfrm>
            <a:off x="777240" y="2697480"/>
            <a:ext cx="3611880" cy="594360"/>
          </a:xfrm>
          <a:prstGeom prst="rect">
            <a:avLst/>
          </a:prstGeom>
          <a:noFill/>
          <a:ln/>
        </p:spPr>
        <p:txBody>
          <a:bodyPr wrap="square" lIns="0" tIns="0" rIns="0" bIns="0" rtlCol="0" anchor="t"/>
          <a:lstStyle/>
          <a:p>
            <a:pPr marL="0" indent="0">
              <a:buNone/>
            </a:pPr>
            <a:r>
              <a:rPr lang="en-US" sz="1300" dirty="0">
                <a:solidFill>
                  <a:schemeClr val="tx1"/>
                </a:solidFill>
              </a:rPr>
              <a:t>Genuine crashes (e.g. March 2020) open near 0.90× and are kept as real moves.</a:t>
            </a:r>
            <a:endParaRPr lang="en-US" sz="1300" dirty="0"/>
          </a:p>
        </p:txBody>
      </p:sp>
      <p:sp>
        <p:nvSpPr>
          <p:cNvPr id="8" name="pill-259"/>
          <p:cNvSpPr txBox="1"/>
          <p:nvPr/>
        </p:nvSpPr>
        <p:spPr>
          <a:xfrm>
            <a:off x="548640" y="3657600"/>
            <a:ext cx="137160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18 Jan 2006</a:t>
            </a:r>
            <a:endParaRPr lang="en-US" sz="1200" dirty="0"/>
          </a:p>
        </p:txBody>
      </p:sp>
      <p:sp>
        <p:nvSpPr>
          <p:cNvPr id="9" name="text-260"/>
          <p:cNvSpPr txBox="1"/>
          <p:nvPr/>
        </p:nvSpPr>
        <p:spPr>
          <a:xfrm>
            <a:off x="2057400" y="3566160"/>
            <a:ext cx="2514600" cy="566928"/>
          </a:xfrm>
          <a:prstGeom prst="rect">
            <a:avLst/>
          </a:prstGeom>
          <a:noFill/>
          <a:ln/>
        </p:spPr>
        <p:txBody>
          <a:bodyPr wrap="square" lIns="0" tIns="0" rIns="0" bIns="0" rtlCol="0" anchor="ctr"/>
          <a:lstStyle/>
          <a:p>
            <a:pPr marL="0" indent="0">
              <a:buNone/>
            </a:pPr>
            <a:r>
              <a:rPr lang="en-US" sz="1500" b="1" dirty="0">
                <a:solidFill>
                  <a:schemeClr val="tx2"/>
                </a:solidFill>
              </a:rPr>
              <a:t>× 5/8</a:t>
            </a:r>
            <a:r>
              <a:rPr lang="en-US" sz="1500" dirty="0">
                <a:solidFill>
                  <a:schemeClr val="tx1"/>
                </a:solidFill>
              </a:rPr>
              <a:t>  demerger</a:t>
            </a:r>
            <a:endParaRPr lang="en-US" sz="1500" dirty="0"/>
          </a:p>
        </p:txBody>
      </p:sp>
      <p:sp>
        <p:nvSpPr>
          <p:cNvPr id="10" name="pill-261"/>
          <p:cNvSpPr txBox="1"/>
          <p:nvPr/>
        </p:nvSpPr>
        <p:spPr>
          <a:xfrm>
            <a:off x="548640" y="4315968"/>
            <a:ext cx="137160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26 Nov 2009</a:t>
            </a:r>
            <a:endParaRPr lang="en-US" sz="1200" dirty="0"/>
          </a:p>
        </p:txBody>
      </p:sp>
      <p:sp>
        <p:nvSpPr>
          <p:cNvPr id="11" name="text-262"/>
          <p:cNvSpPr txBox="1"/>
          <p:nvPr/>
        </p:nvSpPr>
        <p:spPr>
          <a:xfrm>
            <a:off x="2057400" y="4224528"/>
            <a:ext cx="2514600" cy="566928"/>
          </a:xfrm>
          <a:prstGeom prst="rect">
            <a:avLst/>
          </a:prstGeom>
          <a:noFill/>
          <a:ln/>
        </p:spPr>
        <p:txBody>
          <a:bodyPr wrap="square" lIns="0" tIns="0" rIns="0" bIns="0" rtlCol="0" anchor="ctr"/>
          <a:lstStyle/>
          <a:p>
            <a:pPr marL="0" indent="0">
              <a:buNone/>
            </a:pPr>
            <a:r>
              <a:rPr lang="en-US" sz="1500" b="1" dirty="0">
                <a:solidFill>
                  <a:schemeClr val="tx2"/>
                </a:solidFill>
              </a:rPr>
              <a:t>× 1/2</a:t>
            </a:r>
            <a:r>
              <a:rPr lang="en-US" sz="1500" dirty="0">
                <a:solidFill>
                  <a:schemeClr val="tx1"/>
                </a:solidFill>
              </a:rPr>
              <a:t>  1:1 bonus issue</a:t>
            </a:r>
            <a:endParaRPr lang="en-US" sz="1500" dirty="0"/>
          </a:p>
        </p:txBody>
      </p:sp>
      <p:sp>
        <p:nvSpPr>
          <p:cNvPr id="12" name="pill-263"/>
          <p:cNvSpPr txBox="1"/>
          <p:nvPr/>
        </p:nvSpPr>
        <p:spPr>
          <a:xfrm>
            <a:off x="548640" y="4974336"/>
            <a:ext cx="1371600" cy="384048"/>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07 Sep 2017</a:t>
            </a:r>
            <a:endParaRPr lang="en-US" sz="1200" dirty="0"/>
          </a:p>
        </p:txBody>
      </p:sp>
      <p:sp>
        <p:nvSpPr>
          <p:cNvPr id="13" name="text-264"/>
          <p:cNvSpPr txBox="1"/>
          <p:nvPr/>
        </p:nvSpPr>
        <p:spPr>
          <a:xfrm>
            <a:off x="2057400" y="4882896"/>
            <a:ext cx="2514600" cy="566928"/>
          </a:xfrm>
          <a:prstGeom prst="rect">
            <a:avLst/>
          </a:prstGeom>
          <a:noFill/>
          <a:ln/>
        </p:spPr>
        <p:txBody>
          <a:bodyPr wrap="square" lIns="0" tIns="0" rIns="0" bIns="0" rtlCol="0" anchor="ctr"/>
          <a:lstStyle/>
          <a:p>
            <a:pPr marL="0" indent="0">
              <a:buNone/>
            </a:pPr>
            <a:r>
              <a:rPr lang="en-US" sz="1500" b="1" dirty="0">
                <a:solidFill>
                  <a:schemeClr val="tx2"/>
                </a:solidFill>
              </a:rPr>
              <a:t>× 1/2</a:t>
            </a:r>
            <a:r>
              <a:rPr lang="en-US" sz="1500" dirty="0">
                <a:solidFill>
                  <a:schemeClr val="tx1"/>
                </a:solidFill>
              </a:rPr>
              <a:t>  1:1 bonus issue</a:t>
            </a:r>
            <a:endParaRPr lang="en-US" sz="1500" dirty="0"/>
          </a:p>
        </p:txBody>
      </p:sp>
      <p:sp>
        <p:nvSpPr>
          <p:cNvPr id="14" name="text-265"/>
          <p:cNvSpPr txBox="1"/>
          <p:nvPr/>
        </p:nvSpPr>
        <p:spPr>
          <a:xfrm>
            <a:off x="548640" y="5577840"/>
            <a:ext cx="4023360" cy="594360"/>
          </a:xfrm>
          <a:prstGeom prst="rect">
            <a:avLst/>
          </a:prstGeom>
          <a:noFill/>
          <a:ln/>
        </p:spPr>
        <p:txBody>
          <a:bodyPr wrap="square" lIns="0" tIns="0" rIns="0" bIns="0" rtlCol="0" anchor="t"/>
          <a:lstStyle/>
          <a:p>
            <a:pPr marL="0" indent="0">
              <a:buNone/>
            </a:pPr>
            <a:r>
              <a:rPr lang="en-US" sz="1300" i="1" dirty="0">
                <a:solidFill>
                  <a:schemeClr val="accent6"/>
                </a:solidFill>
              </a:rPr>
              <a:t>Earlier prices × factor, earlier volume ÷ factor; recent prices stay exactly as traded.</a:t>
            </a:r>
            <a:endParaRPr lang="en-US" sz="1300" dirty="0"/>
          </a:p>
        </p:txBody>
      </p:sp>
      <p:graphicFrame>
        <p:nvGraphicFramePr>
          <p:cNvPr id="15" name="chart-266"/>
          <p:cNvGraphicFramePr/>
          <p:nvPr/>
        </p:nvGraphicFramePr>
        <p:xfrm>
          <a:off x="4846320" y="1417320"/>
          <a:ext cx="6793992"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37 stationary features from 8 indicators</a:t>
            </a:r>
            <a:endParaRPr lang="en-US" sz="3200" dirty="0"/>
          </a:p>
        </p:txBody>
      </p:sp>
      <p:sp>
        <p:nvSpPr>
          <p:cNvPr id="4" name="text-267"/>
          <p:cNvSpPr txBox="1"/>
          <p:nvPr/>
        </p:nvSpPr>
        <p:spPr>
          <a:xfrm>
            <a:off x="548640" y="1481328"/>
            <a:ext cx="3840480" cy="384048"/>
          </a:xfrm>
          <a:prstGeom prst="rect">
            <a:avLst/>
          </a:prstGeom>
          <a:noFill/>
          <a:ln/>
        </p:spPr>
        <p:txBody>
          <a:bodyPr wrap="square" lIns="0" tIns="0" rIns="0" bIns="0" rtlCol="0" anchor="t"/>
          <a:lstStyle/>
          <a:p>
            <a:pPr marL="0" indent="0">
              <a:buNone/>
            </a:pPr>
            <a:r>
              <a:rPr lang="en-US" sz="1700" b="1" dirty="0">
                <a:solidFill>
                  <a:schemeClr val="tx2"/>
                </a:solidFill>
              </a:rPr>
              <a:t>8 technical indicators</a:t>
            </a:r>
            <a:endParaRPr lang="en-US" sz="1700" dirty="0"/>
          </a:p>
        </p:txBody>
      </p:sp>
      <p:sp>
        <p:nvSpPr>
          <p:cNvPr id="5" name="text-268"/>
          <p:cNvSpPr txBox="1"/>
          <p:nvPr/>
        </p:nvSpPr>
        <p:spPr>
          <a:xfrm>
            <a:off x="548640" y="1874520"/>
            <a:ext cx="3840480" cy="320040"/>
          </a:xfrm>
          <a:prstGeom prst="rect">
            <a:avLst/>
          </a:prstGeom>
          <a:noFill/>
          <a:ln/>
        </p:spPr>
        <p:txBody>
          <a:bodyPr wrap="square" lIns="0" tIns="0" rIns="0" bIns="0" rtlCol="0" anchor="t"/>
          <a:lstStyle/>
          <a:p>
            <a:pPr marL="0" indent="0">
              <a:buNone/>
            </a:pPr>
            <a:r>
              <a:rPr lang="en-US" sz="1200" i="1" dirty="0">
                <a:solidFill>
                  <a:schemeClr val="accent6"/>
                </a:solidFill>
              </a:rPr>
              <a:t>computed with the ta library from past prices only</a:t>
            </a:r>
            <a:endParaRPr lang="en-US" sz="1200" dirty="0"/>
          </a:p>
        </p:txBody>
      </p:sp>
      <p:sp>
        <p:nvSpPr>
          <p:cNvPr id="6" name="pill-269"/>
          <p:cNvSpPr txBox="1"/>
          <p:nvPr/>
        </p:nvSpPr>
        <p:spPr>
          <a:xfrm>
            <a:off x="548640" y="2331720"/>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MACD 12/26/9</a:t>
            </a:r>
            <a:endParaRPr lang="en-US" sz="1400" dirty="0"/>
          </a:p>
        </p:txBody>
      </p:sp>
      <p:sp>
        <p:nvSpPr>
          <p:cNvPr id="7" name="pill-270"/>
          <p:cNvSpPr txBox="1"/>
          <p:nvPr/>
        </p:nvSpPr>
        <p:spPr>
          <a:xfrm>
            <a:off x="2560320" y="2331720"/>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RSI 14</a:t>
            </a:r>
            <a:endParaRPr lang="en-US" sz="1400" dirty="0"/>
          </a:p>
        </p:txBody>
      </p:sp>
      <p:sp>
        <p:nvSpPr>
          <p:cNvPr id="8" name="pill-271"/>
          <p:cNvSpPr txBox="1"/>
          <p:nvPr/>
        </p:nvSpPr>
        <p:spPr>
          <a:xfrm>
            <a:off x="548640" y="3035808"/>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SMA 20 · 50</a:t>
            </a:r>
            <a:endParaRPr lang="en-US" sz="1400" dirty="0"/>
          </a:p>
        </p:txBody>
      </p:sp>
      <p:sp>
        <p:nvSpPr>
          <p:cNvPr id="9" name="pill-272"/>
          <p:cNvSpPr txBox="1"/>
          <p:nvPr/>
        </p:nvSpPr>
        <p:spPr>
          <a:xfrm>
            <a:off x="2560320" y="3035808"/>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EMA 12 · 26</a:t>
            </a:r>
            <a:endParaRPr lang="en-US" sz="1400" dirty="0"/>
          </a:p>
        </p:txBody>
      </p:sp>
      <p:sp>
        <p:nvSpPr>
          <p:cNvPr id="10" name="pill-273"/>
          <p:cNvSpPr txBox="1"/>
          <p:nvPr/>
        </p:nvSpPr>
        <p:spPr>
          <a:xfrm>
            <a:off x="548640" y="3739896"/>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Bollinger 20, 2σ</a:t>
            </a:r>
            <a:endParaRPr lang="en-US" sz="1400" dirty="0"/>
          </a:p>
        </p:txBody>
      </p:sp>
      <p:sp>
        <p:nvSpPr>
          <p:cNvPr id="11" name="pill-274"/>
          <p:cNvSpPr txBox="1"/>
          <p:nvPr/>
        </p:nvSpPr>
        <p:spPr>
          <a:xfrm>
            <a:off x="2560320" y="3739896"/>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ATR 14</a:t>
            </a:r>
            <a:endParaRPr lang="en-US" sz="1400" dirty="0"/>
          </a:p>
        </p:txBody>
      </p:sp>
      <p:sp>
        <p:nvSpPr>
          <p:cNvPr id="12" name="pill-275"/>
          <p:cNvSpPr txBox="1"/>
          <p:nvPr/>
        </p:nvSpPr>
        <p:spPr>
          <a:xfrm>
            <a:off x="548640" y="4443984"/>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OBV</a:t>
            </a:r>
            <a:endParaRPr lang="en-US" sz="1400" dirty="0"/>
          </a:p>
        </p:txBody>
      </p:sp>
      <p:sp>
        <p:nvSpPr>
          <p:cNvPr id="13" name="pill-276"/>
          <p:cNvSpPr txBox="1"/>
          <p:nvPr/>
        </p:nvSpPr>
        <p:spPr>
          <a:xfrm>
            <a:off x="2560320" y="4443984"/>
            <a:ext cx="1828800" cy="566928"/>
          </a:xfrm>
          <a:prstGeom prst="roundRect">
            <a:avLst>
              <a:gd name="adj" fmla="val 19355"/>
            </a:avLst>
          </a:prstGeom>
          <a:solidFill>
            <a:schemeClr val="bg2"/>
          </a:solidFill>
          <a:ln/>
        </p:spPr>
        <p:txBody>
          <a:bodyPr wrap="square" lIns="0" tIns="0" rIns="0" bIns="0" rtlCol="0" anchor="ctr"/>
          <a:lstStyle/>
          <a:p>
            <a:pPr marL="0" indent="0" algn="ctr">
              <a:buNone/>
            </a:pPr>
            <a:r>
              <a:rPr lang="en-US" sz="1400" b="1" dirty="0">
                <a:solidFill>
                  <a:schemeClr val="tx2"/>
                </a:solidFill>
              </a:rPr>
              <a:t>ADX 14</a:t>
            </a:r>
            <a:endParaRPr lang="en-US" sz="1400" dirty="0"/>
          </a:p>
        </p:txBody>
      </p:sp>
      <p:sp>
        <p:nvSpPr>
          <p:cNvPr id="14" name="text-277"/>
          <p:cNvSpPr txBox="1"/>
          <p:nvPr/>
        </p:nvSpPr>
        <p:spPr>
          <a:xfrm>
            <a:off x="4343400" y="2852928"/>
            <a:ext cx="1097280" cy="320040"/>
          </a:xfrm>
          <a:prstGeom prst="rect">
            <a:avLst/>
          </a:prstGeom>
          <a:noFill/>
          <a:ln/>
        </p:spPr>
        <p:txBody>
          <a:bodyPr wrap="square" lIns="0" tIns="0" rIns="0" bIns="0" rtlCol="0" anchor="t"/>
          <a:lstStyle/>
          <a:p>
            <a:pPr marL="0" indent="0" algn="ctr">
              <a:buNone/>
            </a:pPr>
            <a:r>
              <a:rPr lang="en-US" sz="1200" i="1" dirty="0">
                <a:solidFill>
                  <a:schemeClr val="accent6"/>
                </a:solidFill>
              </a:rPr>
              <a:t>made scale-free</a:t>
            </a:r>
            <a:endParaRPr lang="en-US" sz="1200" dirty="0"/>
          </a:p>
        </p:txBody>
      </p:sp>
      <p:sp>
        <p:nvSpPr>
          <p:cNvPr id="15" name="arrow-278"/>
          <p:cNvSpPr/>
          <p:nvPr/>
        </p:nvSpPr>
        <p:spPr>
          <a:xfrm>
            <a:off x="4526280" y="3200400"/>
            <a:ext cx="731520" cy="502920"/>
          </a:xfrm>
          <a:prstGeom prst="rightArrow">
            <a:avLst/>
          </a:prstGeom>
          <a:solidFill>
            <a:schemeClr val="accent6"/>
          </a:solidFill>
          <a:ln/>
        </p:spPr>
        <p:txBody>
          <a:bodyPr/>
          <a:lstStyle/>
          <a:p>
            <a:endParaRPr lang="en-IN"/>
          </a:p>
        </p:txBody>
      </p:sp>
      <p:sp>
        <p:nvSpPr>
          <p:cNvPr id="16" name="text-279"/>
          <p:cNvSpPr txBox="1"/>
          <p:nvPr/>
        </p:nvSpPr>
        <p:spPr>
          <a:xfrm>
            <a:off x="548640" y="5257800"/>
            <a:ext cx="3886200" cy="914400"/>
          </a:xfrm>
          <a:prstGeom prst="rect">
            <a:avLst/>
          </a:prstGeom>
          <a:noFill/>
          <a:ln/>
        </p:spPr>
        <p:txBody>
          <a:bodyPr wrap="square" lIns="0" tIns="0" rIns="0" bIns="0" rtlCol="0" anchor="t"/>
          <a:lstStyle/>
          <a:p>
            <a:pPr marL="0" indent="0">
              <a:buNone/>
            </a:pPr>
            <a:r>
              <a:rPr lang="en-US" sz="1300" dirty="0">
                <a:solidFill>
                  <a:schemeClr val="tx1"/>
                </a:solidFill>
              </a:rPr>
              <a:t>Why: the adjusted price rose about 50× (₹39 → ₹1,995). Raw levels drift outside the training range; returns and ratios stay comparable across decades.</a:t>
            </a:r>
            <a:endParaRPr lang="en-US" sz="1300" dirty="0"/>
          </a:p>
        </p:txBody>
      </p:sp>
      <p:graphicFrame>
        <p:nvGraphicFramePr>
          <p:cNvPr id="17" name="feature-doughnut"/>
          <p:cNvGraphicFramePr/>
          <p:nvPr/>
        </p:nvGraphicFramePr>
        <p:xfrm>
          <a:off x="5486400" y="1463040"/>
          <a:ext cx="3291840" cy="3246120"/>
        </p:xfrm>
        <a:graphic>
          <a:graphicData uri="http://schemas.openxmlformats.org/drawingml/2006/chart">
            <c:chart xmlns:c="http://schemas.openxmlformats.org/drawingml/2006/chart" xmlns:r="http://schemas.openxmlformats.org/officeDocument/2006/relationships" r:id="rId3"/>
          </a:graphicData>
        </a:graphic>
      </p:graphicFrame>
      <p:sp>
        <p:nvSpPr>
          <p:cNvPr id="18" name="text-280"/>
          <p:cNvSpPr txBox="1"/>
          <p:nvPr/>
        </p:nvSpPr>
        <p:spPr>
          <a:xfrm>
            <a:off x="6446520" y="2578608"/>
            <a:ext cx="1371600" cy="1005840"/>
          </a:xfrm>
          <a:prstGeom prst="rect">
            <a:avLst/>
          </a:prstGeom>
          <a:noFill/>
          <a:ln/>
        </p:spPr>
        <p:txBody>
          <a:bodyPr wrap="square" lIns="0" tIns="0" rIns="0" bIns="0" rtlCol="0" anchor="ctr"/>
          <a:lstStyle/>
          <a:p>
            <a:pPr marL="0" indent="0" algn="ctr">
              <a:buNone/>
            </a:pPr>
            <a:r>
              <a:rPr lang="en-US" sz="3400" b="1" dirty="0">
                <a:solidFill>
                  <a:schemeClr val="tx2"/>
                </a:solidFill>
                <a:latin typeface="+mj-lt" pitchFamily="34" charset="0"/>
                <a:ea typeface="+mj-lt" pitchFamily="34" charset="-122"/>
                <a:cs typeface="+mj-lt" pitchFamily="34" charset="-120"/>
              </a:rPr>
              <a:t>37</a:t>
            </a:r>
            <a:endParaRPr lang="en-US" sz="1400" dirty="0"/>
          </a:p>
          <a:p>
            <a:pPr marL="0" indent="0" algn="ctr">
              <a:buNone/>
            </a:pPr>
            <a:r>
              <a:rPr lang="en-US" sz="1300" dirty="0">
                <a:solidFill>
                  <a:schemeClr val="accent6"/>
                </a:solidFill>
              </a:rPr>
              <a:t>features</a:t>
            </a:r>
            <a:endParaRPr lang="en-US" sz="1400" dirty="0"/>
          </a:p>
        </p:txBody>
      </p:sp>
      <p:sp>
        <p:nvSpPr>
          <p:cNvPr id="19" name="legend-key-281"/>
          <p:cNvSpPr/>
          <p:nvPr/>
        </p:nvSpPr>
        <p:spPr>
          <a:xfrm>
            <a:off x="9006840" y="1874520"/>
            <a:ext cx="274320" cy="274320"/>
          </a:xfrm>
          <a:prstGeom prst="roundRect">
            <a:avLst>
              <a:gd name="adj" fmla="val 16667"/>
            </a:avLst>
          </a:prstGeom>
          <a:solidFill>
            <a:schemeClr val="accent4"/>
          </a:solidFill>
          <a:ln/>
        </p:spPr>
        <p:txBody>
          <a:bodyPr/>
          <a:lstStyle/>
          <a:p>
            <a:endParaRPr lang="en-IN"/>
          </a:p>
        </p:txBody>
      </p:sp>
      <p:sp>
        <p:nvSpPr>
          <p:cNvPr id="20" name="text-282"/>
          <p:cNvSpPr txBox="1"/>
          <p:nvPr/>
        </p:nvSpPr>
        <p:spPr>
          <a:xfrm>
            <a:off x="9418320" y="1783080"/>
            <a:ext cx="2240280" cy="457200"/>
          </a:xfrm>
          <a:prstGeom prst="rect">
            <a:avLst/>
          </a:prstGeom>
          <a:noFill/>
          <a:ln/>
        </p:spPr>
        <p:txBody>
          <a:bodyPr wrap="square" lIns="0" tIns="0" rIns="0" bIns="0" rtlCol="0" anchor="ctr"/>
          <a:lstStyle/>
          <a:p>
            <a:pPr marL="0" indent="0">
              <a:buNone/>
            </a:pPr>
            <a:r>
              <a:rPr lang="en-US" sz="1400" b="1" dirty="0">
                <a:solidFill>
                  <a:schemeClr val="tx2"/>
                </a:solidFill>
              </a:rPr>
              <a:t>7</a:t>
            </a:r>
            <a:r>
              <a:rPr lang="en-US" sz="1400" dirty="0">
                <a:solidFill>
                  <a:schemeClr val="tx1"/>
                </a:solidFill>
              </a:rPr>
              <a:t>  Price action</a:t>
            </a:r>
            <a:endParaRPr lang="en-US" sz="1400" dirty="0"/>
          </a:p>
        </p:txBody>
      </p:sp>
      <p:sp>
        <p:nvSpPr>
          <p:cNvPr id="21" name="legend-key-283"/>
          <p:cNvSpPr/>
          <p:nvPr/>
        </p:nvSpPr>
        <p:spPr>
          <a:xfrm>
            <a:off x="9006840" y="2423160"/>
            <a:ext cx="274320" cy="274320"/>
          </a:xfrm>
          <a:prstGeom prst="roundRect">
            <a:avLst>
              <a:gd name="adj" fmla="val 16667"/>
            </a:avLst>
          </a:prstGeom>
          <a:solidFill>
            <a:schemeClr val="accent1"/>
          </a:solidFill>
          <a:ln/>
        </p:spPr>
        <p:txBody>
          <a:bodyPr/>
          <a:lstStyle/>
          <a:p>
            <a:endParaRPr lang="en-IN"/>
          </a:p>
        </p:txBody>
      </p:sp>
      <p:sp>
        <p:nvSpPr>
          <p:cNvPr id="22" name="text-284"/>
          <p:cNvSpPr txBox="1"/>
          <p:nvPr/>
        </p:nvSpPr>
        <p:spPr>
          <a:xfrm>
            <a:off x="9418320" y="2331720"/>
            <a:ext cx="2240280" cy="457200"/>
          </a:xfrm>
          <a:prstGeom prst="rect">
            <a:avLst/>
          </a:prstGeom>
          <a:noFill/>
          <a:ln/>
        </p:spPr>
        <p:txBody>
          <a:bodyPr wrap="square" lIns="0" tIns="0" rIns="0" bIns="0" rtlCol="0" anchor="ctr"/>
          <a:lstStyle/>
          <a:p>
            <a:pPr marL="0" indent="0">
              <a:buNone/>
            </a:pPr>
            <a:r>
              <a:rPr lang="en-US" sz="1400" b="1" dirty="0">
                <a:solidFill>
                  <a:schemeClr val="tx2"/>
                </a:solidFill>
              </a:rPr>
              <a:t>14</a:t>
            </a:r>
            <a:r>
              <a:rPr lang="en-US" sz="1400" dirty="0">
                <a:solidFill>
                  <a:schemeClr val="tx1"/>
                </a:solidFill>
              </a:rPr>
              <a:t>  Indicators (scale-free)</a:t>
            </a:r>
            <a:endParaRPr lang="en-US" sz="1400" dirty="0"/>
          </a:p>
        </p:txBody>
      </p:sp>
      <p:sp>
        <p:nvSpPr>
          <p:cNvPr id="23" name="legend-key-285"/>
          <p:cNvSpPr/>
          <p:nvPr/>
        </p:nvSpPr>
        <p:spPr>
          <a:xfrm>
            <a:off x="9006840" y="2971800"/>
            <a:ext cx="274320" cy="274320"/>
          </a:xfrm>
          <a:prstGeom prst="roundRect">
            <a:avLst>
              <a:gd name="adj" fmla="val 16667"/>
            </a:avLst>
          </a:prstGeom>
          <a:solidFill>
            <a:schemeClr val="accent5"/>
          </a:solidFill>
          <a:ln/>
        </p:spPr>
        <p:txBody>
          <a:bodyPr/>
          <a:lstStyle/>
          <a:p>
            <a:endParaRPr lang="en-IN"/>
          </a:p>
        </p:txBody>
      </p:sp>
      <p:sp>
        <p:nvSpPr>
          <p:cNvPr id="24" name="text-286"/>
          <p:cNvSpPr txBox="1"/>
          <p:nvPr/>
        </p:nvSpPr>
        <p:spPr>
          <a:xfrm>
            <a:off x="9418320" y="2880360"/>
            <a:ext cx="2240280" cy="457200"/>
          </a:xfrm>
          <a:prstGeom prst="rect">
            <a:avLst/>
          </a:prstGeom>
          <a:noFill/>
          <a:ln/>
        </p:spPr>
        <p:txBody>
          <a:bodyPr wrap="square" lIns="0" tIns="0" rIns="0" bIns="0" rtlCol="0" anchor="ctr"/>
          <a:lstStyle/>
          <a:p>
            <a:pPr marL="0" indent="0">
              <a:buNone/>
            </a:pPr>
            <a:r>
              <a:rPr lang="en-US" sz="1400" b="1" dirty="0">
                <a:solidFill>
                  <a:schemeClr val="tx2"/>
                </a:solidFill>
              </a:rPr>
              <a:t>12</a:t>
            </a:r>
            <a:r>
              <a:rPr lang="en-US" sz="1400" dirty="0">
                <a:solidFill>
                  <a:schemeClr val="tx1"/>
                </a:solidFill>
              </a:rPr>
              <a:t>  Lags (1, 2, 3, 5 days)</a:t>
            </a:r>
            <a:endParaRPr lang="en-US" sz="1400" dirty="0"/>
          </a:p>
        </p:txBody>
      </p:sp>
      <p:sp>
        <p:nvSpPr>
          <p:cNvPr id="25" name="legend-key-287"/>
          <p:cNvSpPr/>
          <p:nvPr/>
        </p:nvSpPr>
        <p:spPr>
          <a:xfrm>
            <a:off x="9006840" y="3520440"/>
            <a:ext cx="274320" cy="274320"/>
          </a:xfrm>
          <a:prstGeom prst="roundRect">
            <a:avLst>
              <a:gd name="adj" fmla="val 16667"/>
            </a:avLst>
          </a:prstGeom>
          <a:solidFill>
            <a:schemeClr val="accent3"/>
          </a:solidFill>
          <a:ln/>
        </p:spPr>
        <p:txBody>
          <a:bodyPr/>
          <a:lstStyle/>
          <a:p>
            <a:endParaRPr lang="en-IN"/>
          </a:p>
        </p:txBody>
      </p:sp>
      <p:sp>
        <p:nvSpPr>
          <p:cNvPr id="26" name="text-288"/>
          <p:cNvSpPr txBox="1"/>
          <p:nvPr/>
        </p:nvSpPr>
        <p:spPr>
          <a:xfrm>
            <a:off x="9418320" y="3429000"/>
            <a:ext cx="2240280" cy="457200"/>
          </a:xfrm>
          <a:prstGeom prst="rect">
            <a:avLst/>
          </a:prstGeom>
          <a:noFill/>
          <a:ln/>
        </p:spPr>
        <p:txBody>
          <a:bodyPr wrap="square" lIns="0" tIns="0" rIns="0" bIns="0" rtlCol="0" anchor="ctr"/>
          <a:lstStyle/>
          <a:p>
            <a:pPr marL="0" indent="0">
              <a:buNone/>
            </a:pPr>
            <a:r>
              <a:rPr lang="en-US" sz="1400" b="1" dirty="0">
                <a:solidFill>
                  <a:schemeClr val="tx2"/>
                </a:solidFill>
              </a:rPr>
              <a:t>2</a:t>
            </a:r>
            <a:r>
              <a:rPr lang="en-US" sz="1400" dirty="0">
                <a:solidFill>
                  <a:schemeClr val="tx1"/>
                </a:solidFill>
              </a:rPr>
              <a:t>  Volatility</a:t>
            </a:r>
            <a:endParaRPr lang="en-US" sz="1400" dirty="0"/>
          </a:p>
        </p:txBody>
      </p:sp>
      <p:sp>
        <p:nvSpPr>
          <p:cNvPr id="27" name="legend-key-289"/>
          <p:cNvSpPr/>
          <p:nvPr/>
        </p:nvSpPr>
        <p:spPr>
          <a:xfrm>
            <a:off x="9006840" y="4069080"/>
            <a:ext cx="274320" cy="274320"/>
          </a:xfrm>
          <a:prstGeom prst="roundRect">
            <a:avLst>
              <a:gd name="adj" fmla="val 16667"/>
            </a:avLst>
          </a:prstGeom>
          <a:solidFill>
            <a:schemeClr val="accent6"/>
          </a:solidFill>
          <a:ln/>
        </p:spPr>
        <p:txBody>
          <a:bodyPr/>
          <a:lstStyle/>
          <a:p>
            <a:endParaRPr lang="en-IN"/>
          </a:p>
        </p:txBody>
      </p:sp>
      <p:sp>
        <p:nvSpPr>
          <p:cNvPr id="28" name="text-290"/>
          <p:cNvSpPr txBox="1"/>
          <p:nvPr/>
        </p:nvSpPr>
        <p:spPr>
          <a:xfrm>
            <a:off x="9418320" y="3977640"/>
            <a:ext cx="2240280" cy="457200"/>
          </a:xfrm>
          <a:prstGeom prst="rect">
            <a:avLst/>
          </a:prstGeom>
          <a:noFill/>
          <a:ln/>
        </p:spPr>
        <p:txBody>
          <a:bodyPr wrap="square" lIns="0" tIns="0" rIns="0" bIns="0" rtlCol="0" anchor="ctr"/>
          <a:lstStyle/>
          <a:p>
            <a:pPr marL="0" indent="0">
              <a:buNone/>
            </a:pPr>
            <a:r>
              <a:rPr lang="en-US" sz="1400" b="1" dirty="0">
                <a:solidFill>
                  <a:schemeClr val="tx2"/>
                </a:solidFill>
              </a:rPr>
              <a:t>2</a:t>
            </a:r>
            <a:r>
              <a:rPr lang="en-US" sz="1400" dirty="0">
                <a:solidFill>
                  <a:schemeClr val="tx1"/>
                </a:solidFill>
              </a:rPr>
              <a:t>  Volume</a:t>
            </a:r>
            <a:endParaRPr lang="en-US" sz="1400" dirty="0"/>
          </a:p>
        </p:txBody>
      </p:sp>
      <p:sp>
        <p:nvSpPr>
          <p:cNvPr id="29" name="card-291"/>
          <p:cNvSpPr/>
          <p:nvPr/>
        </p:nvSpPr>
        <p:spPr>
          <a:xfrm>
            <a:off x="5486400" y="4892040"/>
            <a:ext cx="6153912" cy="1280160"/>
          </a:xfrm>
          <a:prstGeom prst="roundRect">
            <a:avLst>
              <a:gd name="adj" fmla="val 7143"/>
            </a:avLst>
          </a:prstGeom>
          <a:solidFill>
            <a:schemeClr val="bg2"/>
          </a:solidFill>
          <a:ln/>
        </p:spPr>
        <p:txBody>
          <a:bodyPr/>
          <a:lstStyle/>
          <a:p>
            <a:endParaRPr lang="en-IN"/>
          </a:p>
        </p:txBody>
      </p:sp>
      <p:sp>
        <p:nvSpPr>
          <p:cNvPr id="30" name="text-292"/>
          <p:cNvSpPr txBox="1"/>
          <p:nvPr/>
        </p:nvSpPr>
        <p:spPr>
          <a:xfrm>
            <a:off x="5760720" y="5029200"/>
            <a:ext cx="557784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EXAMPLES</a:t>
            </a:r>
            <a:endParaRPr lang="en-US" sz="1100" dirty="0"/>
          </a:p>
        </p:txBody>
      </p:sp>
      <p:sp>
        <p:nvSpPr>
          <p:cNvPr id="31" name="text-293"/>
          <p:cNvSpPr txBox="1"/>
          <p:nvPr/>
        </p:nvSpPr>
        <p:spPr>
          <a:xfrm>
            <a:off x="5760720" y="5321808"/>
            <a:ext cx="5715000" cy="777240"/>
          </a:xfrm>
          <a:prstGeom prst="rect">
            <a:avLst/>
          </a:prstGeom>
          <a:noFill/>
          <a:ln/>
        </p:spPr>
        <p:txBody>
          <a:bodyPr wrap="square" lIns="0" tIns="0" rIns="0" bIns="0" rtlCol="0" anchor="t"/>
          <a:lstStyle/>
          <a:p>
            <a:pPr marL="0" indent="0">
              <a:buNone/>
            </a:pPr>
            <a:r>
              <a:rPr lang="en-US" sz="1500" dirty="0">
                <a:solidFill>
                  <a:schemeClr val="tx2"/>
                </a:solidFill>
                <a:latin typeface="Cambria Math" pitchFamily="34" charset="0"/>
                <a:ea typeface="Cambria Math" pitchFamily="34" charset="-122"/>
                <a:cs typeface="Cambria Math" pitchFamily="34" charset="-120"/>
              </a:rPr>
              <a:t>Return₅ = Cₜ / Cₜ₋₅ − 1        SMA20_Dist = Cₜ / SMA₂₀ − 1</a:t>
            </a:r>
            <a:endParaRPr lang="en-US" sz="1500" dirty="0"/>
          </a:p>
          <a:p>
            <a:pPr marL="0" indent="0">
              <a:buNone/>
            </a:pPr>
            <a:r>
              <a:rPr lang="en-US" sz="1500" dirty="0">
                <a:solidFill>
                  <a:schemeClr val="tx2"/>
                </a:solidFill>
                <a:latin typeface="Cambria Math" pitchFamily="34" charset="0"/>
                <a:ea typeface="Cambria Math" pitchFamily="34" charset="-122"/>
                <a:cs typeface="Cambria Math" pitchFamily="34" charset="-120"/>
              </a:rPr>
              <a:t>Volume_Ratio₂₀ = Vₜ / mean₂₀(V)        RSI, ADX: bounded 0–100</a:t>
            </a:r>
            <a:endParaRPr lang="en-US" sz="1500" dirty="0"/>
          </a:p>
        </p:txBody>
      </p:sp>
      <p:sp>
        <p:nvSpPr>
          <p:cNvPr id="32"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03 · SYSTEM DESIGN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A leakage-free evaluation design</a:t>
            </a:r>
            <a:endParaRPr lang="en-US" sz="3200" dirty="0"/>
          </a:p>
        </p:txBody>
      </p:sp>
      <p:sp>
        <p:nvSpPr>
          <p:cNvPr id="4" name="pill-294"/>
          <p:cNvSpPr txBox="1"/>
          <p:nvPr/>
        </p:nvSpPr>
        <p:spPr>
          <a:xfrm>
            <a:off x="548640" y="1572768"/>
            <a:ext cx="8873844" cy="566928"/>
          </a:xfrm>
          <a:prstGeom prst="roundRect">
            <a:avLst>
              <a:gd name="adj" fmla="val 12903"/>
            </a:avLst>
          </a:prstGeom>
          <a:solidFill>
            <a:schemeClr val="accent4"/>
          </a:solidFill>
          <a:ln/>
        </p:spPr>
        <p:txBody>
          <a:bodyPr wrap="square" lIns="0" tIns="0" rIns="0" bIns="0" rtlCol="0" anchor="ctr"/>
          <a:lstStyle/>
          <a:p>
            <a:pPr marL="0" indent="0" algn="ctr">
              <a:buNone/>
            </a:pPr>
            <a:r>
              <a:rPr lang="en-US" sz="1400" b="1" dirty="0">
                <a:solidFill>
                  <a:schemeClr val="bg1"/>
                </a:solidFill>
              </a:rPr>
              <a:t>TRAINING  ·  4,204 days  ·  13 Mar 2000 – 25 Jan 2017</a:t>
            </a:r>
            <a:endParaRPr lang="en-US" sz="1400" dirty="0"/>
          </a:p>
        </p:txBody>
      </p:sp>
      <p:sp>
        <p:nvSpPr>
          <p:cNvPr id="5" name="test-bar-295"/>
          <p:cNvSpPr txBox="1"/>
          <p:nvPr/>
        </p:nvSpPr>
        <p:spPr>
          <a:xfrm>
            <a:off x="9422484" y="1572768"/>
            <a:ext cx="2220572" cy="566928"/>
          </a:xfrm>
          <a:prstGeom prst="roundRect">
            <a:avLst>
              <a:gd name="adj" fmla="val 12903"/>
            </a:avLst>
          </a:prstGeom>
          <a:solidFill>
            <a:schemeClr val="accent3"/>
          </a:solidFill>
          <a:ln/>
        </p:spPr>
        <p:txBody>
          <a:bodyPr wrap="square" lIns="0" tIns="0" rIns="0" bIns="0" rtlCol="0" anchor="ctr"/>
          <a:lstStyle/>
          <a:p>
            <a:pPr marL="0" indent="0" algn="ctr">
              <a:buNone/>
            </a:pPr>
            <a:r>
              <a:rPr lang="en-US" sz="1200" b="1" dirty="0">
                <a:solidFill>
                  <a:schemeClr val="tx2"/>
                </a:solidFill>
              </a:rPr>
              <a:t>TEST · 1,052 days</a:t>
            </a:r>
            <a:endParaRPr lang="en-US" sz="1200" dirty="0"/>
          </a:p>
          <a:p>
            <a:pPr marL="0" indent="0" algn="ctr">
              <a:buNone/>
            </a:pPr>
            <a:r>
              <a:rPr lang="en-US" sz="1200" dirty="0">
                <a:solidFill>
                  <a:schemeClr val="tx2"/>
                </a:solidFill>
              </a:rPr>
              <a:t>27 Jan 2017 – 29 Apr 2021</a:t>
            </a:r>
            <a:endParaRPr lang="en-US" sz="1200" dirty="0"/>
          </a:p>
        </p:txBody>
      </p:sp>
      <p:sp>
        <p:nvSpPr>
          <p:cNvPr id="6" name="fold-train-296"/>
          <p:cNvSpPr/>
          <p:nvPr/>
        </p:nvSpPr>
        <p:spPr>
          <a:xfrm>
            <a:off x="548640" y="2331720"/>
            <a:ext cx="4436922" cy="347472"/>
          </a:xfrm>
          <a:prstGeom prst="rect">
            <a:avLst/>
          </a:prstGeom>
          <a:solidFill>
            <a:schemeClr val="accent4">
              <a:alpha val="28000"/>
            </a:schemeClr>
          </a:solidFill>
          <a:ln/>
        </p:spPr>
        <p:txBody>
          <a:bodyPr/>
          <a:lstStyle/>
          <a:p>
            <a:endParaRPr lang="en-IN"/>
          </a:p>
        </p:txBody>
      </p:sp>
      <p:sp>
        <p:nvSpPr>
          <p:cNvPr id="7" name="text-297"/>
          <p:cNvSpPr txBox="1"/>
          <p:nvPr/>
        </p:nvSpPr>
        <p:spPr>
          <a:xfrm>
            <a:off x="658368" y="2331720"/>
            <a:ext cx="1828800" cy="347472"/>
          </a:xfrm>
          <a:prstGeom prst="rect">
            <a:avLst/>
          </a:prstGeom>
          <a:noFill/>
          <a:ln/>
        </p:spPr>
        <p:txBody>
          <a:bodyPr wrap="square" lIns="0" tIns="0" rIns="0" bIns="0" rtlCol="0" anchor="ctr"/>
          <a:lstStyle/>
          <a:p>
            <a:pPr marL="0" indent="0">
              <a:buNone/>
            </a:pPr>
            <a:r>
              <a:rPr lang="en-US" sz="1200" b="1" dirty="0">
                <a:solidFill>
                  <a:schemeClr val="tx2"/>
                </a:solidFill>
              </a:rPr>
              <a:t>Fold 1 · train</a:t>
            </a:r>
            <a:endParaRPr lang="en-US" sz="1200" dirty="0"/>
          </a:p>
        </p:txBody>
      </p:sp>
      <p:sp>
        <p:nvSpPr>
          <p:cNvPr id="8" name="fold-val-298"/>
          <p:cNvSpPr txBox="1"/>
          <p:nvPr/>
        </p:nvSpPr>
        <p:spPr>
          <a:xfrm>
            <a:off x="4985562" y="2331720"/>
            <a:ext cx="1108175" cy="347472"/>
          </a:xfrm>
          <a:prstGeom prst="rect">
            <a:avLst/>
          </a:prstGeom>
          <a:solidFill>
            <a:schemeClr val="accent5"/>
          </a:solidFill>
          <a:ln/>
        </p:spPr>
        <p:txBody>
          <a:bodyPr wrap="square" lIns="0" tIns="0" rIns="0" bIns="0" rtlCol="0" anchor="ctr"/>
          <a:lstStyle/>
          <a:p>
            <a:pPr marL="0" indent="0" algn="ctr">
              <a:buNone/>
            </a:pPr>
            <a:r>
              <a:rPr lang="en-US" sz="1100" b="1" dirty="0">
                <a:solidFill>
                  <a:schemeClr val="bg1"/>
                </a:solidFill>
              </a:rPr>
              <a:t>Jul 08 – Sep 10</a:t>
            </a:r>
            <a:endParaRPr lang="en-US" sz="1100" dirty="0"/>
          </a:p>
        </p:txBody>
      </p:sp>
      <p:sp>
        <p:nvSpPr>
          <p:cNvPr id="9" name="fold-train-299"/>
          <p:cNvSpPr/>
          <p:nvPr/>
        </p:nvSpPr>
        <p:spPr>
          <a:xfrm>
            <a:off x="548640" y="2761488"/>
            <a:ext cx="5545097" cy="347472"/>
          </a:xfrm>
          <a:prstGeom prst="rect">
            <a:avLst/>
          </a:prstGeom>
          <a:solidFill>
            <a:schemeClr val="accent4">
              <a:alpha val="28000"/>
            </a:schemeClr>
          </a:solidFill>
          <a:ln/>
        </p:spPr>
        <p:txBody>
          <a:bodyPr/>
          <a:lstStyle/>
          <a:p>
            <a:endParaRPr lang="en-IN"/>
          </a:p>
        </p:txBody>
      </p:sp>
      <p:sp>
        <p:nvSpPr>
          <p:cNvPr id="10" name="text-300"/>
          <p:cNvSpPr txBox="1"/>
          <p:nvPr/>
        </p:nvSpPr>
        <p:spPr>
          <a:xfrm>
            <a:off x="658368" y="2761488"/>
            <a:ext cx="1828800" cy="347472"/>
          </a:xfrm>
          <a:prstGeom prst="rect">
            <a:avLst/>
          </a:prstGeom>
          <a:noFill/>
          <a:ln/>
        </p:spPr>
        <p:txBody>
          <a:bodyPr wrap="square" lIns="0" tIns="0" rIns="0" bIns="0" rtlCol="0" anchor="ctr"/>
          <a:lstStyle/>
          <a:p>
            <a:pPr marL="0" indent="0">
              <a:buNone/>
            </a:pPr>
            <a:r>
              <a:rPr lang="en-US" sz="1200" b="1" dirty="0">
                <a:solidFill>
                  <a:schemeClr val="tx2"/>
                </a:solidFill>
              </a:rPr>
              <a:t>Fold 2 · train</a:t>
            </a:r>
            <a:endParaRPr lang="en-US" sz="1200" dirty="0"/>
          </a:p>
        </p:txBody>
      </p:sp>
      <p:sp>
        <p:nvSpPr>
          <p:cNvPr id="11" name="fold-val-301"/>
          <p:cNvSpPr txBox="1"/>
          <p:nvPr/>
        </p:nvSpPr>
        <p:spPr>
          <a:xfrm>
            <a:off x="6093737" y="2761488"/>
            <a:ext cx="1108175" cy="347472"/>
          </a:xfrm>
          <a:prstGeom prst="rect">
            <a:avLst/>
          </a:prstGeom>
          <a:solidFill>
            <a:schemeClr val="accent5"/>
          </a:solidFill>
          <a:ln/>
        </p:spPr>
        <p:txBody>
          <a:bodyPr wrap="square" lIns="0" tIns="0" rIns="0" bIns="0" rtlCol="0" anchor="ctr"/>
          <a:lstStyle/>
          <a:p>
            <a:pPr marL="0" indent="0" algn="ctr">
              <a:buNone/>
            </a:pPr>
            <a:r>
              <a:rPr lang="en-US" sz="1100" b="1" dirty="0">
                <a:solidFill>
                  <a:schemeClr val="bg1"/>
                </a:solidFill>
              </a:rPr>
              <a:t>Sep 10 – Oct 12</a:t>
            </a:r>
            <a:endParaRPr lang="en-US" sz="1100" dirty="0"/>
          </a:p>
        </p:txBody>
      </p:sp>
      <p:sp>
        <p:nvSpPr>
          <p:cNvPr id="12" name="fold-train-302"/>
          <p:cNvSpPr/>
          <p:nvPr/>
        </p:nvSpPr>
        <p:spPr>
          <a:xfrm>
            <a:off x="548640" y="3191256"/>
            <a:ext cx="6653272" cy="347472"/>
          </a:xfrm>
          <a:prstGeom prst="rect">
            <a:avLst/>
          </a:prstGeom>
          <a:solidFill>
            <a:schemeClr val="accent4">
              <a:alpha val="28000"/>
            </a:schemeClr>
          </a:solidFill>
          <a:ln/>
        </p:spPr>
        <p:txBody>
          <a:bodyPr/>
          <a:lstStyle/>
          <a:p>
            <a:endParaRPr lang="en-IN"/>
          </a:p>
        </p:txBody>
      </p:sp>
      <p:sp>
        <p:nvSpPr>
          <p:cNvPr id="13" name="text-303"/>
          <p:cNvSpPr txBox="1"/>
          <p:nvPr/>
        </p:nvSpPr>
        <p:spPr>
          <a:xfrm>
            <a:off x="658368" y="3191256"/>
            <a:ext cx="1828800" cy="347472"/>
          </a:xfrm>
          <a:prstGeom prst="rect">
            <a:avLst/>
          </a:prstGeom>
          <a:noFill/>
          <a:ln/>
        </p:spPr>
        <p:txBody>
          <a:bodyPr wrap="square" lIns="0" tIns="0" rIns="0" bIns="0" rtlCol="0" anchor="ctr"/>
          <a:lstStyle/>
          <a:p>
            <a:pPr marL="0" indent="0">
              <a:buNone/>
            </a:pPr>
            <a:r>
              <a:rPr lang="en-US" sz="1200" b="1" dirty="0">
                <a:solidFill>
                  <a:schemeClr val="tx2"/>
                </a:solidFill>
              </a:rPr>
              <a:t>Fold 3 · train</a:t>
            </a:r>
            <a:endParaRPr lang="en-US" sz="1200" dirty="0"/>
          </a:p>
        </p:txBody>
      </p:sp>
      <p:sp>
        <p:nvSpPr>
          <p:cNvPr id="14" name="fold-val-304"/>
          <p:cNvSpPr txBox="1"/>
          <p:nvPr/>
        </p:nvSpPr>
        <p:spPr>
          <a:xfrm>
            <a:off x="7201912" y="3191256"/>
            <a:ext cx="1108175" cy="347472"/>
          </a:xfrm>
          <a:prstGeom prst="rect">
            <a:avLst/>
          </a:prstGeom>
          <a:solidFill>
            <a:schemeClr val="accent5"/>
          </a:solidFill>
          <a:ln/>
        </p:spPr>
        <p:txBody>
          <a:bodyPr wrap="square" lIns="0" tIns="0" rIns="0" bIns="0" rtlCol="0" anchor="ctr"/>
          <a:lstStyle/>
          <a:p>
            <a:pPr marL="0" indent="0" algn="ctr">
              <a:buNone/>
            </a:pPr>
            <a:r>
              <a:rPr lang="en-US" sz="1100" b="1" dirty="0">
                <a:solidFill>
                  <a:schemeClr val="bg1"/>
                </a:solidFill>
              </a:rPr>
              <a:t>Oct 12 – Dec 14</a:t>
            </a:r>
            <a:endParaRPr lang="en-US" sz="1100" dirty="0"/>
          </a:p>
        </p:txBody>
      </p:sp>
      <p:sp>
        <p:nvSpPr>
          <p:cNvPr id="15" name="fold-train-305"/>
          <p:cNvSpPr/>
          <p:nvPr/>
        </p:nvSpPr>
        <p:spPr>
          <a:xfrm>
            <a:off x="548640" y="3621024"/>
            <a:ext cx="7761447" cy="347472"/>
          </a:xfrm>
          <a:prstGeom prst="rect">
            <a:avLst/>
          </a:prstGeom>
          <a:solidFill>
            <a:schemeClr val="accent4">
              <a:alpha val="28000"/>
            </a:schemeClr>
          </a:solidFill>
          <a:ln/>
        </p:spPr>
        <p:txBody>
          <a:bodyPr/>
          <a:lstStyle/>
          <a:p>
            <a:endParaRPr lang="en-IN"/>
          </a:p>
        </p:txBody>
      </p:sp>
      <p:sp>
        <p:nvSpPr>
          <p:cNvPr id="16" name="text-306"/>
          <p:cNvSpPr txBox="1"/>
          <p:nvPr/>
        </p:nvSpPr>
        <p:spPr>
          <a:xfrm>
            <a:off x="658368" y="3621024"/>
            <a:ext cx="1828800" cy="347472"/>
          </a:xfrm>
          <a:prstGeom prst="rect">
            <a:avLst/>
          </a:prstGeom>
          <a:noFill/>
          <a:ln/>
        </p:spPr>
        <p:txBody>
          <a:bodyPr wrap="square" lIns="0" tIns="0" rIns="0" bIns="0" rtlCol="0" anchor="ctr"/>
          <a:lstStyle/>
          <a:p>
            <a:pPr marL="0" indent="0">
              <a:buNone/>
            </a:pPr>
            <a:r>
              <a:rPr lang="en-US" sz="1200" b="1" dirty="0">
                <a:solidFill>
                  <a:schemeClr val="tx2"/>
                </a:solidFill>
              </a:rPr>
              <a:t>Fold 4 · train</a:t>
            </a:r>
            <a:endParaRPr lang="en-US" sz="1200" dirty="0"/>
          </a:p>
        </p:txBody>
      </p:sp>
      <p:sp>
        <p:nvSpPr>
          <p:cNvPr id="17" name="fold-val-307"/>
          <p:cNvSpPr txBox="1"/>
          <p:nvPr/>
        </p:nvSpPr>
        <p:spPr>
          <a:xfrm>
            <a:off x="8310087" y="3621024"/>
            <a:ext cx="1112397" cy="347472"/>
          </a:xfrm>
          <a:prstGeom prst="rect">
            <a:avLst/>
          </a:prstGeom>
          <a:solidFill>
            <a:schemeClr val="accent5"/>
          </a:solidFill>
          <a:ln/>
        </p:spPr>
        <p:txBody>
          <a:bodyPr wrap="square" lIns="0" tIns="0" rIns="0" bIns="0" rtlCol="0" anchor="ctr"/>
          <a:lstStyle/>
          <a:p>
            <a:pPr marL="0" indent="0" algn="ctr">
              <a:buNone/>
            </a:pPr>
            <a:r>
              <a:rPr lang="en-US" sz="1100" b="1" dirty="0">
                <a:solidFill>
                  <a:schemeClr val="bg1"/>
                </a:solidFill>
              </a:rPr>
              <a:t>Dec 14 – Jan 17</a:t>
            </a:r>
            <a:endParaRPr lang="en-US" sz="1100" dirty="0"/>
          </a:p>
        </p:txBody>
      </p:sp>
      <p:sp>
        <p:nvSpPr>
          <p:cNvPr id="18" name="card-308"/>
          <p:cNvSpPr/>
          <p:nvPr/>
        </p:nvSpPr>
        <p:spPr>
          <a:xfrm>
            <a:off x="9422484" y="2331720"/>
            <a:ext cx="2220572" cy="1636776"/>
          </a:xfrm>
          <a:prstGeom prst="roundRect">
            <a:avLst>
              <a:gd name="adj" fmla="val 3352"/>
            </a:avLst>
          </a:prstGeom>
          <a:solidFill>
            <a:schemeClr val="bg2"/>
          </a:solidFill>
          <a:ln/>
        </p:spPr>
        <p:txBody>
          <a:bodyPr/>
          <a:lstStyle/>
          <a:p>
            <a:endParaRPr lang="en-IN"/>
          </a:p>
        </p:txBody>
      </p:sp>
      <p:sp>
        <p:nvSpPr>
          <p:cNvPr id="19" name="text-309"/>
          <p:cNvSpPr txBox="1"/>
          <p:nvPr/>
        </p:nvSpPr>
        <p:spPr>
          <a:xfrm>
            <a:off x="9513924" y="2331720"/>
            <a:ext cx="2037692" cy="1636776"/>
          </a:xfrm>
          <a:prstGeom prst="rect">
            <a:avLst/>
          </a:prstGeom>
          <a:noFill/>
          <a:ln/>
        </p:spPr>
        <p:txBody>
          <a:bodyPr wrap="square" lIns="0" tIns="0" rIns="0" bIns="0" rtlCol="0" anchor="ctr"/>
          <a:lstStyle/>
          <a:p>
            <a:pPr marL="0" indent="0" algn="ctr">
              <a:buNone/>
            </a:pPr>
            <a:r>
              <a:rPr lang="en-US" sz="1200" i="1" dirty="0">
                <a:solidFill>
                  <a:schemeClr val="accent6"/>
                </a:solidFill>
              </a:rPr>
              <a:t>Test period: never used for tuning</a:t>
            </a:r>
            <a:endParaRPr lang="en-US" sz="1200" dirty="0"/>
          </a:p>
        </p:txBody>
      </p:sp>
      <p:sp>
        <p:nvSpPr>
          <p:cNvPr id="20" name="text-310"/>
          <p:cNvSpPr txBox="1"/>
          <p:nvPr/>
        </p:nvSpPr>
        <p:spPr>
          <a:xfrm>
            <a:off x="4985562" y="4041648"/>
            <a:ext cx="4436922" cy="502920"/>
          </a:xfrm>
          <a:prstGeom prst="rect">
            <a:avLst/>
          </a:prstGeom>
          <a:noFill/>
          <a:ln/>
        </p:spPr>
        <p:txBody>
          <a:bodyPr wrap="square" lIns="0" tIns="0" rIns="0" bIns="0" rtlCol="0" anchor="t"/>
          <a:lstStyle/>
          <a:p>
            <a:pPr marL="0" indent="0">
              <a:buNone/>
            </a:pPr>
            <a:r>
              <a:rPr lang="en-US" sz="1200" dirty="0">
                <a:solidFill>
                  <a:schemeClr val="accent5"/>
                </a:solidFill>
              </a:rPr>
              <a:t>Out-of-fold predictions on 2,102 days (Jul 2008 – Jan 2017) set every ensemble weight, the adaptive settings and the stacking model.</a:t>
            </a:r>
            <a:endParaRPr lang="en-US" sz="1200" dirty="0"/>
          </a:p>
        </p:txBody>
      </p:sp>
      <p:sp>
        <p:nvSpPr>
          <p:cNvPr id="21" name="card-311"/>
          <p:cNvSpPr/>
          <p:nvPr/>
        </p:nvSpPr>
        <p:spPr>
          <a:xfrm>
            <a:off x="548640" y="4663440"/>
            <a:ext cx="3514954" cy="1508760"/>
          </a:xfrm>
          <a:prstGeom prst="roundRect">
            <a:avLst>
              <a:gd name="adj" fmla="val 6061"/>
            </a:avLst>
          </a:prstGeom>
          <a:solidFill>
            <a:schemeClr val="bg2"/>
          </a:solidFill>
          <a:ln/>
        </p:spPr>
        <p:txBody>
          <a:bodyPr/>
          <a:lstStyle/>
          <a:p>
            <a:endParaRPr lang="en-IN"/>
          </a:p>
        </p:txBody>
      </p:sp>
      <p:sp>
        <p:nvSpPr>
          <p:cNvPr id="22" name="icon-circle-312"/>
          <p:cNvSpPr/>
          <p:nvPr/>
        </p:nvSpPr>
        <p:spPr>
          <a:xfrm>
            <a:off x="777240" y="4919472"/>
            <a:ext cx="502920" cy="502920"/>
          </a:xfrm>
          <a:prstGeom prst="ellipse">
            <a:avLst/>
          </a:prstGeom>
          <a:solidFill>
            <a:schemeClr val="tx2"/>
          </a:solidFill>
          <a:ln/>
        </p:spPr>
        <p:txBody>
          <a:bodyPr/>
          <a:lstStyle/>
          <a:p>
            <a:endParaRPr lang="en-IN"/>
          </a:p>
        </p:txBody>
      </p:sp>
      <p:pic>
        <p:nvPicPr>
          <p:cNvPr id="23" name="icon-313" descr="FaClock"/>
          <p:cNvPicPr>
            <a:picLocks noChangeAspect="1"/>
          </p:cNvPicPr>
          <p:nvPr/>
        </p:nvPicPr>
        <p:blipFill>
          <a:blip r:embed="rId3"/>
          <a:stretch>
            <a:fillRect/>
          </a:stretch>
        </p:blipFill>
        <p:spPr>
          <a:xfrm>
            <a:off x="897941" y="5040173"/>
            <a:ext cx="261518" cy="261518"/>
          </a:xfrm>
          <a:prstGeom prst="rect">
            <a:avLst/>
          </a:prstGeom>
        </p:spPr>
      </p:pic>
      <p:sp>
        <p:nvSpPr>
          <p:cNvPr id="24" name="text-314"/>
          <p:cNvSpPr txBox="1"/>
          <p:nvPr/>
        </p:nvSpPr>
        <p:spPr>
          <a:xfrm>
            <a:off x="1417320" y="4892040"/>
            <a:ext cx="2468880" cy="365760"/>
          </a:xfrm>
          <a:prstGeom prst="rect">
            <a:avLst/>
          </a:prstGeom>
          <a:noFill/>
          <a:ln/>
        </p:spPr>
        <p:txBody>
          <a:bodyPr wrap="square" lIns="0" tIns="0" rIns="0" bIns="0" rtlCol="0" anchor="t"/>
          <a:lstStyle/>
          <a:p>
            <a:pPr marL="0" indent="0">
              <a:buNone/>
            </a:pPr>
            <a:r>
              <a:rPr lang="en-US" sz="1600" b="1" dirty="0">
                <a:solidFill>
                  <a:schemeClr val="tx2"/>
                </a:solidFill>
              </a:rPr>
              <a:t>Chronological split</a:t>
            </a:r>
            <a:endParaRPr lang="en-US" sz="1600" dirty="0"/>
          </a:p>
        </p:txBody>
      </p:sp>
      <p:sp>
        <p:nvSpPr>
          <p:cNvPr id="25" name="text-315"/>
          <p:cNvSpPr txBox="1"/>
          <p:nvPr/>
        </p:nvSpPr>
        <p:spPr>
          <a:xfrm>
            <a:off x="1417320" y="5285232"/>
            <a:ext cx="2487168" cy="822960"/>
          </a:xfrm>
          <a:prstGeom prst="rect">
            <a:avLst/>
          </a:prstGeom>
          <a:noFill/>
          <a:ln/>
        </p:spPr>
        <p:txBody>
          <a:bodyPr wrap="square" lIns="0" tIns="0" rIns="0" bIns="0" rtlCol="0" anchor="t"/>
          <a:lstStyle/>
          <a:p>
            <a:pPr marL="0" indent="0">
              <a:buNone/>
            </a:pPr>
            <a:r>
              <a:rPr lang="en-US" sz="1300" dirty="0">
                <a:solidFill>
                  <a:schemeClr val="tx1"/>
                </a:solidFill>
              </a:rPr>
              <a:t>First 80% trains, last 20% tests. Nothing is shuffled, not even deep-learning batches.</a:t>
            </a:r>
            <a:endParaRPr lang="en-US" sz="1300" dirty="0"/>
          </a:p>
        </p:txBody>
      </p:sp>
      <p:sp>
        <p:nvSpPr>
          <p:cNvPr id="26" name="card-316"/>
          <p:cNvSpPr/>
          <p:nvPr/>
        </p:nvSpPr>
        <p:spPr>
          <a:xfrm>
            <a:off x="4337914" y="4663440"/>
            <a:ext cx="3514954" cy="1508760"/>
          </a:xfrm>
          <a:prstGeom prst="roundRect">
            <a:avLst>
              <a:gd name="adj" fmla="val 6061"/>
            </a:avLst>
          </a:prstGeom>
          <a:solidFill>
            <a:schemeClr val="bg2"/>
          </a:solidFill>
          <a:ln/>
        </p:spPr>
        <p:txBody>
          <a:bodyPr/>
          <a:lstStyle/>
          <a:p>
            <a:endParaRPr lang="en-IN"/>
          </a:p>
        </p:txBody>
      </p:sp>
      <p:sp>
        <p:nvSpPr>
          <p:cNvPr id="27" name="icon-circle-317"/>
          <p:cNvSpPr/>
          <p:nvPr/>
        </p:nvSpPr>
        <p:spPr>
          <a:xfrm>
            <a:off x="4566514" y="4919472"/>
            <a:ext cx="502920" cy="502920"/>
          </a:xfrm>
          <a:prstGeom prst="ellipse">
            <a:avLst/>
          </a:prstGeom>
          <a:solidFill>
            <a:schemeClr val="accent1"/>
          </a:solidFill>
          <a:ln/>
        </p:spPr>
        <p:txBody>
          <a:bodyPr/>
          <a:lstStyle/>
          <a:p>
            <a:endParaRPr lang="en-IN"/>
          </a:p>
        </p:txBody>
      </p:sp>
      <p:pic>
        <p:nvPicPr>
          <p:cNvPr id="28" name="icon-318" descr="FaLock"/>
          <p:cNvPicPr>
            <a:picLocks noChangeAspect="1"/>
          </p:cNvPicPr>
          <p:nvPr/>
        </p:nvPicPr>
        <p:blipFill>
          <a:blip r:embed="rId4"/>
          <a:stretch>
            <a:fillRect/>
          </a:stretch>
        </p:blipFill>
        <p:spPr>
          <a:xfrm>
            <a:off x="4687214" y="5040173"/>
            <a:ext cx="261518" cy="261518"/>
          </a:xfrm>
          <a:prstGeom prst="rect">
            <a:avLst/>
          </a:prstGeom>
        </p:spPr>
      </p:pic>
      <p:sp>
        <p:nvSpPr>
          <p:cNvPr id="29" name="text-319"/>
          <p:cNvSpPr txBox="1"/>
          <p:nvPr/>
        </p:nvSpPr>
        <p:spPr>
          <a:xfrm>
            <a:off x="5206594" y="4892040"/>
            <a:ext cx="2468880" cy="365760"/>
          </a:xfrm>
          <a:prstGeom prst="rect">
            <a:avLst/>
          </a:prstGeom>
          <a:noFill/>
          <a:ln/>
        </p:spPr>
        <p:txBody>
          <a:bodyPr wrap="square" lIns="0" tIns="0" rIns="0" bIns="0" rtlCol="0" anchor="t"/>
          <a:lstStyle/>
          <a:p>
            <a:pPr marL="0" indent="0">
              <a:buNone/>
            </a:pPr>
            <a:r>
              <a:rPr lang="en-US" sz="1600" b="1" dirty="0">
                <a:solidFill>
                  <a:schemeClr val="tx2"/>
                </a:solidFill>
              </a:rPr>
              <a:t>Fit on the past only</a:t>
            </a:r>
            <a:endParaRPr lang="en-US" sz="1600" dirty="0"/>
          </a:p>
        </p:txBody>
      </p:sp>
      <p:sp>
        <p:nvSpPr>
          <p:cNvPr id="30" name="text-320"/>
          <p:cNvSpPr txBox="1"/>
          <p:nvPr/>
        </p:nvSpPr>
        <p:spPr>
          <a:xfrm>
            <a:off x="5206594" y="5285232"/>
            <a:ext cx="2487168" cy="822960"/>
          </a:xfrm>
          <a:prstGeom prst="rect">
            <a:avLst/>
          </a:prstGeom>
          <a:noFill/>
          <a:ln/>
        </p:spPr>
        <p:txBody>
          <a:bodyPr wrap="square" lIns="0" tIns="0" rIns="0" bIns="0" rtlCol="0" anchor="t"/>
          <a:lstStyle/>
          <a:p>
            <a:pPr marL="0" indent="0">
              <a:buNone/>
            </a:pPr>
            <a:r>
              <a:rPr lang="en-US" sz="1300" dirty="0">
                <a:solidFill>
                  <a:schemeClr val="tx1"/>
                </a:solidFill>
              </a:rPr>
              <a:t>Scalers, selectors, weights and the meta-model learn from training (or fold-training) rows.</a:t>
            </a:r>
            <a:endParaRPr lang="en-US" sz="1300" dirty="0"/>
          </a:p>
        </p:txBody>
      </p:sp>
      <p:sp>
        <p:nvSpPr>
          <p:cNvPr id="31" name="card-321"/>
          <p:cNvSpPr/>
          <p:nvPr/>
        </p:nvSpPr>
        <p:spPr>
          <a:xfrm>
            <a:off x="8127187" y="4663440"/>
            <a:ext cx="3514954" cy="1508760"/>
          </a:xfrm>
          <a:prstGeom prst="roundRect">
            <a:avLst>
              <a:gd name="adj" fmla="val 6061"/>
            </a:avLst>
          </a:prstGeom>
          <a:solidFill>
            <a:schemeClr val="bg2"/>
          </a:solidFill>
          <a:ln/>
        </p:spPr>
        <p:txBody>
          <a:bodyPr/>
          <a:lstStyle/>
          <a:p>
            <a:endParaRPr lang="en-IN"/>
          </a:p>
        </p:txBody>
      </p:sp>
      <p:sp>
        <p:nvSpPr>
          <p:cNvPr id="32" name="icon-circle-322"/>
          <p:cNvSpPr/>
          <p:nvPr/>
        </p:nvSpPr>
        <p:spPr>
          <a:xfrm>
            <a:off x="8355787" y="4919472"/>
            <a:ext cx="502920" cy="502920"/>
          </a:xfrm>
          <a:prstGeom prst="ellipse">
            <a:avLst/>
          </a:prstGeom>
          <a:solidFill>
            <a:schemeClr val="accent5"/>
          </a:solidFill>
          <a:ln/>
        </p:spPr>
        <p:txBody>
          <a:bodyPr/>
          <a:lstStyle/>
          <a:p>
            <a:endParaRPr lang="en-IN"/>
          </a:p>
        </p:txBody>
      </p:sp>
      <p:pic>
        <p:nvPicPr>
          <p:cNvPr id="33" name="icon-323" descr="FaArrowsRotate"/>
          <p:cNvPicPr>
            <a:picLocks noChangeAspect="1"/>
          </p:cNvPicPr>
          <p:nvPr/>
        </p:nvPicPr>
        <p:blipFill>
          <a:blip r:embed="rId5"/>
          <a:stretch>
            <a:fillRect/>
          </a:stretch>
        </p:blipFill>
        <p:spPr>
          <a:xfrm>
            <a:off x="8476488" y="5040173"/>
            <a:ext cx="261518" cy="261518"/>
          </a:xfrm>
          <a:prstGeom prst="rect">
            <a:avLst/>
          </a:prstGeom>
        </p:spPr>
      </p:pic>
      <p:sp>
        <p:nvSpPr>
          <p:cNvPr id="34" name="text-324"/>
          <p:cNvSpPr txBox="1"/>
          <p:nvPr/>
        </p:nvSpPr>
        <p:spPr>
          <a:xfrm>
            <a:off x="8995867" y="4892040"/>
            <a:ext cx="2468880" cy="365760"/>
          </a:xfrm>
          <a:prstGeom prst="rect">
            <a:avLst/>
          </a:prstGeom>
          <a:noFill/>
          <a:ln/>
        </p:spPr>
        <p:txBody>
          <a:bodyPr wrap="square" lIns="0" tIns="0" rIns="0" bIns="0" rtlCol="0" anchor="t"/>
          <a:lstStyle/>
          <a:p>
            <a:pPr marL="0" indent="0">
              <a:buNone/>
            </a:pPr>
            <a:r>
              <a:rPr lang="en-US" sz="1600" b="1" dirty="0">
                <a:solidFill>
                  <a:schemeClr val="tx2"/>
                </a:solidFill>
              </a:rPr>
              <a:t>Walk-forward folds</a:t>
            </a:r>
            <a:endParaRPr lang="en-US" sz="1600" dirty="0"/>
          </a:p>
        </p:txBody>
      </p:sp>
      <p:sp>
        <p:nvSpPr>
          <p:cNvPr id="35" name="text-325"/>
          <p:cNvSpPr txBox="1"/>
          <p:nvPr/>
        </p:nvSpPr>
        <p:spPr>
          <a:xfrm>
            <a:off x="8995867" y="5285232"/>
            <a:ext cx="2487168" cy="822960"/>
          </a:xfrm>
          <a:prstGeom prst="rect">
            <a:avLst/>
          </a:prstGeom>
          <a:noFill/>
          <a:ln/>
        </p:spPr>
        <p:txBody>
          <a:bodyPr wrap="square" lIns="0" tIns="0" rIns="0" bIns="0" rtlCol="0" anchor="t"/>
          <a:lstStyle/>
          <a:p>
            <a:pPr marL="0" indent="0">
              <a:buNone/>
            </a:pPr>
            <a:r>
              <a:rPr lang="en-US" sz="1300" dirty="0">
                <a:solidFill>
                  <a:schemeClr val="tx1"/>
                </a:solidFill>
              </a:rPr>
              <a:t>Four expanding folds; every model is retrained per fold with a fresh scaler.</a:t>
            </a:r>
            <a:endParaRPr lang="en-US" sz="13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04 · MODELS &amp; ENSEMBLES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Classical baselines and feature selection</a:t>
            </a:r>
            <a:endParaRPr lang="en-US" sz="3200" dirty="0"/>
          </a:p>
        </p:txBody>
      </p:sp>
      <p:sp>
        <p:nvSpPr>
          <p:cNvPr id="4" name="card-326"/>
          <p:cNvSpPr/>
          <p:nvPr/>
        </p:nvSpPr>
        <p:spPr>
          <a:xfrm>
            <a:off x="548640" y="1554480"/>
            <a:ext cx="1950415" cy="1417320"/>
          </a:xfrm>
          <a:prstGeom prst="roundRect">
            <a:avLst>
              <a:gd name="adj" fmla="val 6452"/>
            </a:avLst>
          </a:prstGeom>
          <a:solidFill>
            <a:schemeClr val="bg2"/>
          </a:solidFill>
          <a:ln/>
        </p:spPr>
        <p:txBody>
          <a:bodyPr/>
          <a:lstStyle/>
          <a:p>
            <a:endParaRPr lang="en-IN"/>
          </a:p>
        </p:txBody>
      </p:sp>
      <p:sp>
        <p:nvSpPr>
          <p:cNvPr id="5" name="pill-327"/>
          <p:cNvSpPr txBox="1"/>
          <p:nvPr/>
        </p:nvSpPr>
        <p:spPr>
          <a:xfrm>
            <a:off x="731520" y="1737360"/>
            <a:ext cx="1188720" cy="274320"/>
          </a:xfrm>
          <a:prstGeom prst="roundRect">
            <a:avLst>
              <a:gd name="adj" fmla="val 50000"/>
            </a:avLst>
          </a:prstGeom>
          <a:solidFill>
            <a:schemeClr val="accent4"/>
          </a:solidFill>
          <a:ln/>
        </p:spPr>
        <p:txBody>
          <a:bodyPr wrap="square" lIns="0" tIns="0" rIns="0" bIns="0" rtlCol="0" anchor="ctr"/>
          <a:lstStyle/>
          <a:p>
            <a:pPr marL="0" indent="0" algn="ctr">
              <a:buNone/>
            </a:pPr>
            <a:r>
              <a:rPr lang="en-US" sz="1100" b="1" dirty="0">
                <a:solidFill>
                  <a:schemeClr val="bg1"/>
                </a:solidFill>
              </a:rPr>
              <a:t>LINEAR</a:t>
            </a:r>
            <a:endParaRPr lang="en-US" sz="1100" dirty="0"/>
          </a:p>
        </p:txBody>
      </p:sp>
      <p:sp>
        <p:nvSpPr>
          <p:cNvPr id="6" name="text-328"/>
          <p:cNvSpPr txBox="1"/>
          <p:nvPr/>
        </p:nvSpPr>
        <p:spPr>
          <a:xfrm>
            <a:off x="731520" y="21031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Logistic Regression</a:t>
            </a:r>
            <a:endParaRPr lang="en-US" sz="1500" dirty="0"/>
          </a:p>
        </p:txBody>
      </p:sp>
      <p:sp>
        <p:nvSpPr>
          <p:cNvPr id="7" name="text-329"/>
          <p:cNvSpPr txBox="1"/>
          <p:nvPr/>
        </p:nvSpPr>
        <p:spPr>
          <a:xfrm>
            <a:off x="731520" y="2468880"/>
            <a:ext cx="1676095" cy="411480"/>
          </a:xfrm>
          <a:prstGeom prst="rect">
            <a:avLst/>
          </a:prstGeom>
          <a:noFill/>
          <a:ln/>
        </p:spPr>
        <p:txBody>
          <a:bodyPr wrap="square" lIns="0" tIns="0" rIns="0" bIns="0" rtlCol="0" anchor="t"/>
          <a:lstStyle/>
          <a:p>
            <a:pPr marL="0" indent="0">
              <a:buNone/>
            </a:pPr>
            <a:r>
              <a:rPr lang="en-US" sz="1300" dirty="0">
                <a:solidFill>
                  <a:schemeClr val="tx1"/>
                </a:solidFill>
              </a:rPr>
              <a:t>L2-regularised, 1,000 iterations</a:t>
            </a:r>
            <a:endParaRPr lang="en-US" sz="1300" dirty="0"/>
          </a:p>
        </p:txBody>
      </p:sp>
      <p:sp>
        <p:nvSpPr>
          <p:cNvPr id="8" name="card-330"/>
          <p:cNvSpPr/>
          <p:nvPr/>
        </p:nvSpPr>
        <p:spPr>
          <a:xfrm>
            <a:off x="2727655" y="1554480"/>
            <a:ext cx="1950415" cy="1417320"/>
          </a:xfrm>
          <a:prstGeom prst="roundRect">
            <a:avLst>
              <a:gd name="adj" fmla="val 6452"/>
            </a:avLst>
          </a:prstGeom>
          <a:solidFill>
            <a:schemeClr val="bg2"/>
          </a:solidFill>
          <a:ln/>
        </p:spPr>
        <p:txBody>
          <a:bodyPr/>
          <a:lstStyle/>
          <a:p>
            <a:endParaRPr lang="en-IN"/>
          </a:p>
        </p:txBody>
      </p:sp>
      <p:sp>
        <p:nvSpPr>
          <p:cNvPr id="9" name="pill-331"/>
          <p:cNvSpPr txBox="1"/>
          <p:nvPr/>
        </p:nvSpPr>
        <p:spPr>
          <a:xfrm>
            <a:off x="2910535" y="1737360"/>
            <a:ext cx="1188720" cy="274320"/>
          </a:xfrm>
          <a:prstGeom prst="roundRect">
            <a:avLst>
              <a:gd name="adj" fmla="val 50000"/>
            </a:avLst>
          </a:prstGeom>
          <a:solidFill>
            <a:schemeClr val="accent1"/>
          </a:solidFill>
          <a:ln/>
        </p:spPr>
        <p:txBody>
          <a:bodyPr wrap="square" lIns="0" tIns="0" rIns="0" bIns="0" rtlCol="0" anchor="ctr"/>
          <a:lstStyle/>
          <a:p>
            <a:pPr marL="0" indent="0" algn="ctr">
              <a:buNone/>
            </a:pPr>
            <a:r>
              <a:rPr lang="en-US" sz="1100" b="1" dirty="0">
                <a:solidFill>
                  <a:schemeClr val="bg1"/>
                </a:solidFill>
              </a:rPr>
              <a:t>BAGGING</a:t>
            </a:r>
            <a:endParaRPr lang="en-US" sz="1100" dirty="0"/>
          </a:p>
        </p:txBody>
      </p:sp>
      <p:sp>
        <p:nvSpPr>
          <p:cNvPr id="10" name="text-332"/>
          <p:cNvSpPr txBox="1"/>
          <p:nvPr/>
        </p:nvSpPr>
        <p:spPr>
          <a:xfrm>
            <a:off x="2910535" y="21031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Random Forest</a:t>
            </a:r>
            <a:endParaRPr lang="en-US" sz="1500" dirty="0"/>
          </a:p>
        </p:txBody>
      </p:sp>
      <p:sp>
        <p:nvSpPr>
          <p:cNvPr id="11" name="text-333"/>
          <p:cNvSpPr txBox="1"/>
          <p:nvPr/>
        </p:nvSpPr>
        <p:spPr>
          <a:xfrm>
            <a:off x="2910535" y="2468880"/>
            <a:ext cx="1676095" cy="411480"/>
          </a:xfrm>
          <a:prstGeom prst="rect">
            <a:avLst/>
          </a:prstGeom>
          <a:noFill/>
          <a:ln/>
        </p:spPr>
        <p:txBody>
          <a:bodyPr wrap="square" lIns="0" tIns="0" rIns="0" bIns="0" rtlCol="0" anchor="t"/>
          <a:lstStyle/>
          <a:p>
            <a:pPr marL="0" indent="0">
              <a:buNone/>
            </a:pPr>
            <a:r>
              <a:rPr lang="en-US" sz="1300" dirty="0">
                <a:solidFill>
                  <a:schemeClr val="tx1"/>
                </a:solidFill>
              </a:rPr>
              <a:t>200 trees, max depth 10</a:t>
            </a:r>
            <a:endParaRPr lang="en-US" sz="1300" dirty="0"/>
          </a:p>
        </p:txBody>
      </p:sp>
      <p:sp>
        <p:nvSpPr>
          <p:cNvPr id="12" name="card-334"/>
          <p:cNvSpPr/>
          <p:nvPr/>
        </p:nvSpPr>
        <p:spPr>
          <a:xfrm>
            <a:off x="4906670" y="1554480"/>
            <a:ext cx="1950415" cy="1417320"/>
          </a:xfrm>
          <a:prstGeom prst="roundRect">
            <a:avLst>
              <a:gd name="adj" fmla="val 6452"/>
            </a:avLst>
          </a:prstGeom>
          <a:solidFill>
            <a:schemeClr val="bg2"/>
          </a:solidFill>
          <a:ln/>
        </p:spPr>
        <p:txBody>
          <a:bodyPr/>
          <a:lstStyle/>
          <a:p>
            <a:endParaRPr lang="en-IN"/>
          </a:p>
        </p:txBody>
      </p:sp>
      <p:sp>
        <p:nvSpPr>
          <p:cNvPr id="13" name="pill-335"/>
          <p:cNvSpPr txBox="1"/>
          <p:nvPr/>
        </p:nvSpPr>
        <p:spPr>
          <a:xfrm>
            <a:off x="5089550" y="1737360"/>
            <a:ext cx="118872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BOOSTING</a:t>
            </a:r>
            <a:endParaRPr lang="en-US" sz="1100" dirty="0"/>
          </a:p>
        </p:txBody>
      </p:sp>
      <p:sp>
        <p:nvSpPr>
          <p:cNvPr id="14" name="text-336"/>
          <p:cNvSpPr txBox="1"/>
          <p:nvPr/>
        </p:nvSpPr>
        <p:spPr>
          <a:xfrm>
            <a:off x="5089550" y="21031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Gradient Boosting</a:t>
            </a:r>
            <a:endParaRPr lang="en-US" sz="1500" dirty="0"/>
          </a:p>
        </p:txBody>
      </p:sp>
      <p:sp>
        <p:nvSpPr>
          <p:cNvPr id="15" name="text-337"/>
          <p:cNvSpPr txBox="1"/>
          <p:nvPr/>
        </p:nvSpPr>
        <p:spPr>
          <a:xfrm>
            <a:off x="5089550" y="2468880"/>
            <a:ext cx="1676095" cy="411480"/>
          </a:xfrm>
          <a:prstGeom prst="rect">
            <a:avLst/>
          </a:prstGeom>
          <a:noFill/>
          <a:ln/>
        </p:spPr>
        <p:txBody>
          <a:bodyPr wrap="square" lIns="0" tIns="0" rIns="0" bIns="0" rtlCol="0" anchor="t"/>
          <a:lstStyle/>
          <a:p>
            <a:pPr marL="0" indent="0">
              <a:buNone/>
            </a:pPr>
            <a:r>
              <a:rPr lang="en-US" sz="1300" dirty="0">
                <a:solidFill>
                  <a:schemeClr val="tx1"/>
                </a:solidFill>
              </a:rPr>
              <a:t>100 trees, lr 0.1, depth 5</a:t>
            </a:r>
            <a:endParaRPr lang="en-US" sz="1300" dirty="0"/>
          </a:p>
        </p:txBody>
      </p:sp>
      <p:sp>
        <p:nvSpPr>
          <p:cNvPr id="16" name="card-338"/>
          <p:cNvSpPr/>
          <p:nvPr/>
        </p:nvSpPr>
        <p:spPr>
          <a:xfrm>
            <a:off x="548640" y="3154680"/>
            <a:ext cx="1950415" cy="1417320"/>
          </a:xfrm>
          <a:prstGeom prst="roundRect">
            <a:avLst>
              <a:gd name="adj" fmla="val 6452"/>
            </a:avLst>
          </a:prstGeom>
          <a:solidFill>
            <a:schemeClr val="bg2"/>
          </a:solidFill>
          <a:ln/>
        </p:spPr>
        <p:txBody>
          <a:bodyPr/>
          <a:lstStyle/>
          <a:p>
            <a:endParaRPr lang="en-IN"/>
          </a:p>
        </p:txBody>
      </p:sp>
      <p:sp>
        <p:nvSpPr>
          <p:cNvPr id="17" name="pill-339"/>
          <p:cNvSpPr txBox="1"/>
          <p:nvPr/>
        </p:nvSpPr>
        <p:spPr>
          <a:xfrm>
            <a:off x="731520" y="3337560"/>
            <a:ext cx="1188720" cy="274320"/>
          </a:xfrm>
          <a:prstGeom prst="roundRect">
            <a:avLst>
              <a:gd name="adj" fmla="val 50000"/>
            </a:avLst>
          </a:prstGeom>
          <a:solidFill>
            <a:schemeClr val="accent5"/>
          </a:solidFill>
          <a:ln/>
        </p:spPr>
        <p:txBody>
          <a:bodyPr wrap="square" lIns="0" tIns="0" rIns="0" bIns="0" rtlCol="0" anchor="ctr"/>
          <a:lstStyle/>
          <a:p>
            <a:pPr marL="0" indent="0" algn="ctr">
              <a:buNone/>
            </a:pPr>
            <a:r>
              <a:rPr lang="en-US" sz="1100" b="1" dirty="0">
                <a:solidFill>
                  <a:schemeClr val="bg1"/>
                </a:solidFill>
              </a:rPr>
              <a:t>BOOSTING</a:t>
            </a:r>
            <a:endParaRPr lang="en-US" sz="1100" dirty="0"/>
          </a:p>
        </p:txBody>
      </p:sp>
      <p:sp>
        <p:nvSpPr>
          <p:cNvPr id="18" name="text-340"/>
          <p:cNvSpPr txBox="1"/>
          <p:nvPr/>
        </p:nvSpPr>
        <p:spPr>
          <a:xfrm>
            <a:off x="731520" y="37033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XGBoost</a:t>
            </a:r>
            <a:endParaRPr lang="en-US" sz="1500" dirty="0"/>
          </a:p>
        </p:txBody>
      </p:sp>
      <p:sp>
        <p:nvSpPr>
          <p:cNvPr id="19" name="text-341"/>
          <p:cNvSpPr txBox="1"/>
          <p:nvPr/>
        </p:nvSpPr>
        <p:spPr>
          <a:xfrm>
            <a:off x="731520" y="4069080"/>
            <a:ext cx="1676095" cy="411480"/>
          </a:xfrm>
          <a:prstGeom prst="rect">
            <a:avLst/>
          </a:prstGeom>
          <a:noFill/>
          <a:ln/>
        </p:spPr>
        <p:txBody>
          <a:bodyPr wrap="square" lIns="0" tIns="0" rIns="0" bIns="0" rtlCol="0" anchor="t"/>
          <a:lstStyle/>
          <a:p>
            <a:pPr marL="0" indent="0">
              <a:buNone/>
            </a:pPr>
            <a:r>
              <a:rPr lang="en-US" sz="1300" dirty="0">
                <a:solidFill>
                  <a:schemeClr val="tx1"/>
                </a:solidFill>
              </a:rPr>
              <a:t>100 trees, lr 0.1, depth 5</a:t>
            </a:r>
            <a:endParaRPr lang="en-US" sz="1300" dirty="0"/>
          </a:p>
        </p:txBody>
      </p:sp>
      <p:sp>
        <p:nvSpPr>
          <p:cNvPr id="20" name="card-342"/>
          <p:cNvSpPr/>
          <p:nvPr/>
        </p:nvSpPr>
        <p:spPr>
          <a:xfrm>
            <a:off x="2727655" y="3154680"/>
            <a:ext cx="1950415" cy="1417320"/>
          </a:xfrm>
          <a:prstGeom prst="roundRect">
            <a:avLst>
              <a:gd name="adj" fmla="val 6452"/>
            </a:avLst>
          </a:prstGeom>
          <a:solidFill>
            <a:schemeClr val="bg2"/>
          </a:solidFill>
          <a:ln/>
        </p:spPr>
        <p:txBody>
          <a:bodyPr/>
          <a:lstStyle/>
          <a:p>
            <a:endParaRPr lang="en-IN"/>
          </a:p>
        </p:txBody>
      </p:sp>
      <p:sp>
        <p:nvSpPr>
          <p:cNvPr id="21" name="pill-343"/>
          <p:cNvSpPr txBox="1"/>
          <p:nvPr/>
        </p:nvSpPr>
        <p:spPr>
          <a:xfrm>
            <a:off x="2910535" y="3337560"/>
            <a:ext cx="1188720" cy="274320"/>
          </a:xfrm>
          <a:prstGeom prst="roundRect">
            <a:avLst>
              <a:gd name="adj" fmla="val 50000"/>
            </a:avLst>
          </a:prstGeom>
          <a:solidFill>
            <a:schemeClr val="accent6"/>
          </a:solidFill>
          <a:ln/>
        </p:spPr>
        <p:txBody>
          <a:bodyPr wrap="square" lIns="0" tIns="0" rIns="0" bIns="0" rtlCol="0" anchor="ctr"/>
          <a:lstStyle/>
          <a:p>
            <a:pPr marL="0" indent="0" algn="ctr">
              <a:buNone/>
            </a:pPr>
            <a:r>
              <a:rPr lang="en-US" sz="1100" b="1" dirty="0">
                <a:solidFill>
                  <a:schemeClr val="bg1"/>
                </a:solidFill>
              </a:rPr>
              <a:t>KERNEL</a:t>
            </a:r>
            <a:endParaRPr lang="en-US" sz="1100" dirty="0"/>
          </a:p>
        </p:txBody>
      </p:sp>
      <p:sp>
        <p:nvSpPr>
          <p:cNvPr id="22" name="text-344"/>
          <p:cNvSpPr txBox="1"/>
          <p:nvPr/>
        </p:nvSpPr>
        <p:spPr>
          <a:xfrm>
            <a:off x="2910535" y="37033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SVM (RBF)</a:t>
            </a:r>
            <a:endParaRPr lang="en-US" sz="1500" dirty="0"/>
          </a:p>
        </p:txBody>
      </p:sp>
      <p:sp>
        <p:nvSpPr>
          <p:cNvPr id="23" name="text-345"/>
          <p:cNvSpPr txBox="1"/>
          <p:nvPr/>
        </p:nvSpPr>
        <p:spPr>
          <a:xfrm>
            <a:off x="2910535" y="4069080"/>
            <a:ext cx="1676095" cy="411480"/>
          </a:xfrm>
          <a:prstGeom prst="rect">
            <a:avLst/>
          </a:prstGeom>
          <a:noFill/>
          <a:ln/>
        </p:spPr>
        <p:txBody>
          <a:bodyPr wrap="square" lIns="0" tIns="0" rIns="0" bIns="0" rtlCol="0" anchor="t"/>
          <a:lstStyle/>
          <a:p>
            <a:pPr marL="0" indent="0">
              <a:buNone/>
            </a:pPr>
            <a:r>
              <a:rPr lang="en-US" sz="1300" dirty="0">
                <a:solidFill>
                  <a:schemeClr val="tx1"/>
                </a:solidFill>
              </a:rPr>
              <a:t>C = 1, Platt probabilities</a:t>
            </a:r>
            <a:endParaRPr lang="en-US" sz="1300" dirty="0"/>
          </a:p>
        </p:txBody>
      </p:sp>
      <p:sp>
        <p:nvSpPr>
          <p:cNvPr id="24" name="card-346"/>
          <p:cNvSpPr/>
          <p:nvPr/>
        </p:nvSpPr>
        <p:spPr>
          <a:xfrm>
            <a:off x="4906670" y="3154680"/>
            <a:ext cx="1950415" cy="1417320"/>
          </a:xfrm>
          <a:prstGeom prst="roundRect">
            <a:avLst>
              <a:gd name="adj" fmla="val 6452"/>
            </a:avLst>
          </a:prstGeom>
          <a:solidFill>
            <a:schemeClr val="bg2"/>
          </a:solidFill>
          <a:ln/>
        </p:spPr>
        <p:txBody>
          <a:bodyPr/>
          <a:lstStyle/>
          <a:p>
            <a:endParaRPr lang="en-IN"/>
          </a:p>
        </p:txBody>
      </p:sp>
      <p:sp>
        <p:nvSpPr>
          <p:cNvPr id="25" name="pill-347"/>
          <p:cNvSpPr txBox="1"/>
          <p:nvPr/>
        </p:nvSpPr>
        <p:spPr>
          <a:xfrm>
            <a:off x="5089550" y="3337560"/>
            <a:ext cx="1188720" cy="274320"/>
          </a:xfrm>
          <a:prstGeom prst="roundRect">
            <a:avLst>
              <a:gd name="adj" fmla="val 50000"/>
            </a:avLst>
          </a:prstGeom>
          <a:solidFill>
            <a:schemeClr val="accent3"/>
          </a:solidFill>
          <a:ln/>
        </p:spPr>
        <p:txBody>
          <a:bodyPr wrap="square" lIns="0" tIns="0" rIns="0" bIns="0" rtlCol="0" anchor="ctr"/>
          <a:lstStyle/>
          <a:p>
            <a:pPr marL="0" indent="0" algn="ctr">
              <a:buNone/>
            </a:pPr>
            <a:r>
              <a:rPr lang="en-US" sz="1100" b="1" dirty="0">
                <a:solidFill>
                  <a:schemeClr val="tx2"/>
                </a:solidFill>
              </a:rPr>
              <a:t>NEIGHBOURS</a:t>
            </a:r>
            <a:endParaRPr lang="en-US" sz="1100" dirty="0"/>
          </a:p>
        </p:txBody>
      </p:sp>
      <p:sp>
        <p:nvSpPr>
          <p:cNvPr id="26" name="text-348"/>
          <p:cNvSpPr txBox="1"/>
          <p:nvPr/>
        </p:nvSpPr>
        <p:spPr>
          <a:xfrm>
            <a:off x="5089550" y="3703320"/>
            <a:ext cx="1676095" cy="365760"/>
          </a:xfrm>
          <a:prstGeom prst="rect">
            <a:avLst/>
          </a:prstGeom>
          <a:noFill/>
          <a:ln/>
        </p:spPr>
        <p:txBody>
          <a:bodyPr wrap="square" lIns="0" tIns="0" rIns="0" bIns="0" rtlCol="0" anchor="t"/>
          <a:lstStyle/>
          <a:p>
            <a:pPr marL="0" indent="0">
              <a:buNone/>
            </a:pPr>
            <a:r>
              <a:rPr lang="en-US" sz="1500" b="1" dirty="0">
                <a:solidFill>
                  <a:schemeClr val="tx2"/>
                </a:solidFill>
              </a:rPr>
              <a:t>KNN</a:t>
            </a:r>
            <a:endParaRPr lang="en-US" sz="1500" dirty="0"/>
          </a:p>
        </p:txBody>
      </p:sp>
      <p:sp>
        <p:nvSpPr>
          <p:cNvPr id="27" name="text-349"/>
          <p:cNvSpPr txBox="1"/>
          <p:nvPr/>
        </p:nvSpPr>
        <p:spPr>
          <a:xfrm>
            <a:off x="5089550" y="4069080"/>
            <a:ext cx="1676095" cy="411480"/>
          </a:xfrm>
          <a:prstGeom prst="rect">
            <a:avLst/>
          </a:prstGeom>
          <a:noFill/>
          <a:ln/>
        </p:spPr>
        <p:txBody>
          <a:bodyPr wrap="square" lIns="0" tIns="0" rIns="0" bIns="0" rtlCol="0" anchor="t"/>
          <a:lstStyle/>
          <a:p>
            <a:pPr marL="0" indent="0">
              <a:buNone/>
            </a:pPr>
            <a:r>
              <a:rPr lang="en-US" sz="1300" dirty="0">
                <a:solidFill>
                  <a:schemeClr val="tx1"/>
                </a:solidFill>
              </a:rPr>
              <a:t>k = 5, distance-weighted</a:t>
            </a:r>
            <a:endParaRPr lang="en-US" sz="1300" dirty="0"/>
          </a:p>
        </p:txBody>
      </p:sp>
      <p:sp>
        <p:nvSpPr>
          <p:cNvPr id="28" name="icon-circle-350"/>
          <p:cNvSpPr/>
          <p:nvPr/>
        </p:nvSpPr>
        <p:spPr>
          <a:xfrm>
            <a:off x="548640" y="4956048"/>
            <a:ext cx="502920" cy="502920"/>
          </a:xfrm>
          <a:prstGeom prst="ellipse">
            <a:avLst/>
          </a:prstGeom>
          <a:solidFill>
            <a:schemeClr val="tx2"/>
          </a:solidFill>
          <a:ln/>
        </p:spPr>
        <p:txBody>
          <a:bodyPr/>
          <a:lstStyle/>
          <a:p>
            <a:endParaRPr lang="en-IN"/>
          </a:p>
        </p:txBody>
      </p:sp>
      <p:pic>
        <p:nvPicPr>
          <p:cNvPr id="29" name="icon-351" descr="FaGears"/>
          <p:cNvPicPr>
            <a:picLocks noChangeAspect="1"/>
          </p:cNvPicPr>
          <p:nvPr/>
        </p:nvPicPr>
        <p:blipFill>
          <a:blip r:embed="rId3"/>
          <a:stretch>
            <a:fillRect/>
          </a:stretch>
        </p:blipFill>
        <p:spPr>
          <a:xfrm>
            <a:off x="669341" y="5076749"/>
            <a:ext cx="261518" cy="261518"/>
          </a:xfrm>
          <a:prstGeom prst="rect">
            <a:avLst/>
          </a:prstGeom>
        </p:spPr>
      </p:pic>
      <p:sp>
        <p:nvSpPr>
          <p:cNvPr id="30" name="text-352"/>
          <p:cNvSpPr txBox="1"/>
          <p:nvPr/>
        </p:nvSpPr>
        <p:spPr>
          <a:xfrm>
            <a:off x="1234440" y="4800600"/>
            <a:ext cx="5623560" cy="822960"/>
          </a:xfrm>
          <a:prstGeom prst="rect">
            <a:avLst/>
          </a:prstGeom>
          <a:noFill/>
          <a:ln/>
        </p:spPr>
        <p:txBody>
          <a:bodyPr wrap="square" lIns="0" tIns="0" rIns="0" bIns="0" rtlCol="0" anchor="ctr"/>
          <a:lstStyle/>
          <a:p>
            <a:pPr marL="0" indent="0">
              <a:buNone/>
            </a:pPr>
            <a:r>
              <a:rPr lang="en-US" sz="1400" dirty="0">
                <a:solidFill>
                  <a:schemeClr val="tx1"/>
                </a:solidFill>
              </a:rPr>
              <a:t>One factory function returns fresh, unfitted models, so every walk-forward fold starts clean and nothing learned in one fold leaks into the next.</a:t>
            </a:r>
            <a:endParaRPr lang="en-US" sz="1400" dirty="0"/>
          </a:p>
        </p:txBody>
      </p:sp>
      <p:sp>
        <p:nvSpPr>
          <p:cNvPr id="31" name="card-353"/>
          <p:cNvSpPr/>
          <p:nvPr/>
        </p:nvSpPr>
        <p:spPr>
          <a:xfrm>
            <a:off x="7178040" y="1554480"/>
            <a:ext cx="4462272" cy="4617720"/>
          </a:xfrm>
          <a:prstGeom prst="roundRect">
            <a:avLst>
              <a:gd name="adj" fmla="val 2049"/>
            </a:avLst>
          </a:prstGeom>
          <a:solidFill>
            <a:schemeClr val="bg2"/>
          </a:solidFill>
          <a:ln/>
        </p:spPr>
        <p:txBody>
          <a:bodyPr/>
          <a:lstStyle/>
          <a:p>
            <a:endParaRPr lang="en-IN"/>
          </a:p>
        </p:txBody>
      </p:sp>
      <p:sp>
        <p:nvSpPr>
          <p:cNvPr id="32" name="text-354"/>
          <p:cNvSpPr txBox="1"/>
          <p:nvPr/>
        </p:nvSpPr>
        <p:spPr>
          <a:xfrm>
            <a:off x="7452360" y="1719072"/>
            <a:ext cx="3977640" cy="365760"/>
          </a:xfrm>
          <a:prstGeom prst="rect">
            <a:avLst/>
          </a:prstGeom>
          <a:noFill/>
          <a:ln/>
        </p:spPr>
        <p:txBody>
          <a:bodyPr wrap="square" lIns="0" tIns="0" rIns="0" bIns="0" rtlCol="0" anchor="t"/>
          <a:lstStyle/>
          <a:p>
            <a:pPr marL="0" indent="0">
              <a:buNone/>
            </a:pPr>
            <a:r>
              <a:rPr lang="en-US" sz="1700" b="1" dirty="0">
                <a:solidFill>
                  <a:schemeClr val="tx2"/>
                </a:solidFill>
              </a:rPr>
              <a:t>Feature selection  ·  STEP 6</a:t>
            </a:r>
            <a:endParaRPr lang="en-US" sz="1700" dirty="0"/>
          </a:p>
        </p:txBody>
      </p:sp>
      <p:sp>
        <p:nvSpPr>
          <p:cNvPr id="33" name="text-355"/>
          <p:cNvSpPr txBox="1"/>
          <p:nvPr/>
        </p:nvSpPr>
        <p:spPr>
          <a:xfrm>
            <a:off x="7452360" y="2103120"/>
            <a:ext cx="3977640" cy="548640"/>
          </a:xfrm>
          <a:prstGeom prst="rect">
            <a:avLst/>
          </a:prstGeom>
          <a:noFill/>
          <a:ln/>
        </p:spPr>
        <p:txBody>
          <a:bodyPr wrap="square" lIns="0" tIns="0" rIns="0" bIns="0" rtlCol="0" anchor="t"/>
          <a:lstStyle/>
          <a:p>
            <a:pPr marL="0" indent="0">
              <a:buNone/>
            </a:pPr>
            <a:r>
              <a:rPr lang="en-US" sz="1200" i="1" dirty="0">
                <a:solidFill>
                  <a:schemeClr val="accent6"/>
                </a:solidFill>
              </a:rPr>
              <a:t>Selectors fitted on training rows only; winner picked by mean walk-forward F1 of the six classical models</a:t>
            </a:r>
            <a:endParaRPr lang="en-US" sz="1200" dirty="0"/>
          </a:p>
        </p:txBody>
      </p:sp>
      <p:sp>
        <p:nvSpPr>
          <p:cNvPr id="34" name="text-356"/>
          <p:cNvSpPr txBox="1"/>
          <p:nvPr/>
        </p:nvSpPr>
        <p:spPr>
          <a:xfrm>
            <a:off x="7452360" y="2743200"/>
            <a:ext cx="1463040" cy="548640"/>
          </a:xfrm>
          <a:prstGeom prst="rect">
            <a:avLst/>
          </a:prstGeom>
          <a:noFill/>
          <a:ln/>
        </p:spPr>
        <p:txBody>
          <a:bodyPr wrap="square" lIns="0" tIns="0" rIns="0" bIns="0" rtlCol="0" anchor="ctr"/>
          <a:lstStyle/>
          <a:p>
            <a:pPr marL="0" indent="0">
              <a:buNone/>
            </a:pPr>
            <a:r>
              <a:rPr lang="en-US" sz="2600" b="1" dirty="0">
                <a:solidFill>
                  <a:schemeClr val="accent1"/>
                </a:solidFill>
                <a:latin typeface="+mj-lt" pitchFamily="34" charset="0"/>
                <a:ea typeface="+mj-lt" pitchFamily="34" charset="-122"/>
                <a:cs typeface="+mj-lt" pitchFamily="34" charset="-120"/>
              </a:rPr>
              <a:t>0.5607</a:t>
            </a:r>
            <a:endParaRPr lang="en-US" sz="2600" dirty="0"/>
          </a:p>
        </p:txBody>
      </p:sp>
      <p:sp>
        <p:nvSpPr>
          <p:cNvPr id="35" name="text-357"/>
          <p:cNvSpPr txBox="1"/>
          <p:nvPr/>
        </p:nvSpPr>
        <p:spPr>
          <a:xfrm>
            <a:off x="9006840" y="2743200"/>
            <a:ext cx="2468880" cy="548640"/>
          </a:xfrm>
          <a:prstGeom prst="rect">
            <a:avLst/>
          </a:prstGeom>
          <a:noFill/>
          <a:ln/>
        </p:spPr>
        <p:txBody>
          <a:bodyPr wrap="square" lIns="0" tIns="0" rIns="0" bIns="0" rtlCol="0" anchor="ctr"/>
          <a:lstStyle/>
          <a:p>
            <a:pPr marL="0" indent="0">
              <a:buNone/>
            </a:pPr>
            <a:r>
              <a:rPr lang="en-US" sz="1400" dirty="0">
                <a:solidFill>
                  <a:schemeClr val="tx1"/>
                </a:solidFill>
              </a:rPr>
              <a:t>MI Top-20 (preferred)</a:t>
            </a:r>
            <a:endParaRPr lang="en-US" sz="1400" dirty="0"/>
          </a:p>
        </p:txBody>
      </p:sp>
      <p:sp>
        <p:nvSpPr>
          <p:cNvPr id="36" name="text-358"/>
          <p:cNvSpPr txBox="1"/>
          <p:nvPr/>
        </p:nvSpPr>
        <p:spPr>
          <a:xfrm>
            <a:off x="7452360" y="3383280"/>
            <a:ext cx="1463040" cy="548640"/>
          </a:xfrm>
          <a:prstGeom prst="rect">
            <a:avLst/>
          </a:prstGeom>
          <a:noFill/>
          <a:ln/>
        </p:spPr>
        <p:txBody>
          <a:bodyPr wrap="square" lIns="0" tIns="0" rIns="0" bIns="0" rtlCol="0" anchor="ctr"/>
          <a:lstStyle/>
          <a:p>
            <a:pPr marL="0" indent="0">
              <a:buNone/>
            </a:pPr>
            <a:r>
              <a:rPr lang="en-US" sz="2600" b="1" dirty="0">
                <a:solidFill>
                  <a:schemeClr val="tx2"/>
                </a:solidFill>
                <a:latin typeface="+mj-lt" pitchFamily="34" charset="0"/>
                <a:ea typeface="+mj-lt" pitchFamily="34" charset="-122"/>
                <a:cs typeface="+mj-lt" pitchFamily="34" charset="-120"/>
              </a:rPr>
              <a:t>0.5592</a:t>
            </a:r>
            <a:endParaRPr lang="en-US" sz="2600" dirty="0"/>
          </a:p>
        </p:txBody>
      </p:sp>
      <p:sp>
        <p:nvSpPr>
          <p:cNvPr id="37" name="text-359"/>
          <p:cNvSpPr txBox="1"/>
          <p:nvPr/>
        </p:nvSpPr>
        <p:spPr>
          <a:xfrm>
            <a:off x="9006840" y="3383280"/>
            <a:ext cx="2468880" cy="548640"/>
          </a:xfrm>
          <a:prstGeom prst="rect">
            <a:avLst/>
          </a:prstGeom>
          <a:noFill/>
          <a:ln/>
        </p:spPr>
        <p:txBody>
          <a:bodyPr wrap="square" lIns="0" tIns="0" rIns="0" bIns="0" rtlCol="0" anchor="ctr"/>
          <a:lstStyle/>
          <a:p>
            <a:pPr marL="0" indent="0">
              <a:buNone/>
            </a:pPr>
            <a:r>
              <a:rPr lang="en-US" sz="1400" dirty="0">
                <a:solidFill>
                  <a:schemeClr val="tx1"/>
                </a:solidFill>
              </a:rPr>
              <a:t>Tree-importance Top-20</a:t>
            </a:r>
            <a:endParaRPr lang="en-US" sz="1400" dirty="0"/>
          </a:p>
        </p:txBody>
      </p:sp>
      <p:sp>
        <p:nvSpPr>
          <p:cNvPr id="38" name="text-360"/>
          <p:cNvSpPr txBox="1"/>
          <p:nvPr/>
        </p:nvSpPr>
        <p:spPr>
          <a:xfrm>
            <a:off x="7452360" y="4023360"/>
            <a:ext cx="1463040" cy="548640"/>
          </a:xfrm>
          <a:prstGeom prst="rect">
            <a:avLst/>
          </a:prstGeom>
          <a:noFill/>
          <a:ln/>
        </p:spPr>
        <p:txBody>
          <a:bodyPr wrap="square" lIns="0" tIns="0" rIns="0" bIns="0" rtlCol="0" anchor="ctr"/>
          <a:lstStyle/>
          <a:p>
            <a:pPr marL="0" indent="0">
              <a:buNone/>
            </a:pPr>
            <a:r>
              <a:rPr lang="en-US" sz="2600" b="1" dirty="0">
                <a:solidFill>
                  <a:schemeClr val="tx2"/>
                </a:solidFill>
                <a:latin typeface="+mj-lt" pitchFamily="34" charset="0"/>
                <a:ea typeface="+mj-lt" pitchFamily="34" charset="-122"/>
                <a:cs typeface="+mj-lt" pitchFamily="34" charset="-120"/>
              </a:rPr>
              <a:t>0.5562</a:t>
            </a:r>
            <a:endParaRPr lang="en-US" sz="2600" dirty="0"/>
          </a:p>
        </p:txBody>
      </p:sp>
      <p:sp>
        <p:nvSpPr>
          <p:cNvPr id="39" name="text-361"/>
          <p:cNvSpPr txBox="1"/>
          <p:nvPr/>
        </p:nvSpPr>
        <p:spPr>
          <a:xfrm>
            <a:off x="9006840" y="4023360"/>
            <a:ext cx="2468880" cy="548640"/>
          </a:xfrm>
          <a:prstGeom prst="rect">
            <a:avLst/>
          </a:prstGeom>
          <a:noFill/>
          <a:ln/>
        </p:spPr>
        <p:txBody>
          <a:bodyPr wrap="square" lIns="0" tIns="0" rIns="0" bIns="0" rtlCol="0" anchor="ctr"/>
          <a:lstStyle/>
          <a:p>
            <a:pPr marL="0" indent="0">
              <a:buNone/>
            </a:pPr>
            <a:r>
              <a:rPr lang="en-US" sz="1400" dirty="0">
                <a:solidFill>
                  <a:schemeClr val="tx1"/>
                </a:solidFill>
              </a:rPr>
              <a:t>All 37 features</a:t>
            </a:r>
            <a:endParaRPr lang="en-US" sz="1400" dirty="0"/>
          </a:p>
        </p:txBody>
      </p:sp>
      <p:sp>
        <p:nvSpPr>
          <p:cNvPr id="40" name="text-362"/>
          <p:cNvSpPr txBox="1"/>
          <p:nvPr/>
        </p:nvSpPr>
        <p:spPr>
          <a:xfrm>
            <a:off x="7452360" y="4754880"/>
            <a:ext cx="3977640" cy="1234440"/>
          </a:xfrm>
          <a:prstGeom prst="rect">
            <a:avLst/>
          </a:prstGeom>
          <a:noFill/>
          <a:ln/>
        </p:spPr>
        <p:txBody>
          <a:bodyPr wrap="square" lIns="0" tIns="0" rIns="0" bIns="0" rtlCol="0" anchor="t"/>
          <a:lstStyle/>
          <a:p>
            <a:pPr marL="0" indent="0">
              <a:buNone/>
            </a:pPr>
            <a:r>
              <a:rPr lang="en-US" sz="1300" dirty="0">
                <a:solidFill>
                  <a:schemeClr val="tx1"/>
                </a:solidFill>
              </a:rPr>
              <a:t>On the test period the effect was mixed: Random Forest gained 2.8 points with MI Top-20, but Gradient Boosting fell from 53.6% to 50.4%.</a:t>
            </a:r>
            <a:endParaRPr lang="en-US" sz="1300" dirty="0"/>
          </a:p>
        </p:txBody>
      </p:sp>
      <p:sp>
        <p:nvSpPr>
          <p:cNvPr id="4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04 · MODELS &amp; ENSEMBLES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LSTM on 20-day windows</a:t>
            </a:r>
            <a:endParaRPr lang="en-US" sz="3200" dirty="0"/>
          </a:p>
        </p:txBody>
      </p:sp>
      <p:sp>
        <p:nvSpPr>
          <p:cNvPr id="4" name="lstm-block-363"/>
          <p:cNvSpPr txBox="1"/>
          <p:nvPr/>
        </p:nvSpPr>
        <p:spPr>
          <a:xfrm>
            <a:off x="548640" y="1554480"/>
            <a:ext cx="1604772" cy="914400"/>
          </a:xfrm>
          <a:prstGeom prst="roundRect">
            <a:avLst>
              <a:gd name="adj" fmla="val 10000"/>
            </a:avLst>
          </a:prstGeom>
          <a:solidFill>
            <a:schemeClr val="bg2"/>
          </a:solidFill>
          <a:ln/>
        </p:spPr>
        <p:txBody>
          <a:bodyPr wrap="square" lIns="0" tIns="0" rIns="0" bIns="0" rtlCol="0" anchor="ctr"/>
          <a:lstStyle/>
          <a:p>
            <a:pPr marL="0" indent="0" algn="ctr">
              <a:buNone/>
            </a:pPr>
            <a:r>
              <a:rPr lang="en-US" sz="1500" b="1" dirty="0">
                <a:solidFill>
                  <a:schemeClr val="tx2"/>
                </a:solidFill>
              </a:rPr>
              <a:t>Input window</a:t>
            </a:r>
            <a:endParaRPr lang="en-US" sz="1500" dirty="0"/>
          </a:p>
          <a:p>
            <a:pPr marL="0" indent="0" algn="ctr">
              <a:buNone/>
            </a:pPr>
            <a:r>
              <a:rPr lang="en-US" sz="1300" dirty="0">
                <a:solidFill>
                  <a:schemeClr val="tx2"/>
                </a:solidFill>
              </a:rPr>
              <a:t>20 days × 37 features</a:t>
            </a:r>
            <a:endParaRPr lang="en-US" sz="1500" dirty="0"/>
          </a:p>
        </p:txBody>
      </p:sp>
      <p:sp>
        <p:nvSpPr>
          <p:cNvPr id="5" name="arrow-364"/>
          <p:cNvSpPr/>
          <p:nvPr/>
        </p:nvSpPr>
        <p:spPr>
          <a:xfrm>
            <a:off x="2199132" y="2011680"/>
            <a:ext cx="201168" cy="0"/>
          </a:xfrm>
          <a:prstGeom prst="line">
            <a:avLst/>
          </a:prstGeom>
          <a:noFill/>
          <a:ln w="22225">
            <a:solidFill>
              <a:schemeClr val="accent6"/>
            </a:solidFill>
            <a:prstDash val="solid"/>
            <a:tailEnd type="triangle"/>
          </a:ln>
        </p:spPr>
        <p:txBody>
          <a:bodyPr/>
          <a:lstStyle/>
          <a:p>
            <a:endParaRPr lang="en-IN"/>
          </a:p>
        </p:txBody>
      </p:sp>
      <p:sp>
        <p:nvSpPr>
          <p:cNvPr id="6" name="lstm-block-365"/>
          <p:cNvSpPr txBox="1"/>
          <p:nvPr/>
        </p:nvSpPr>
        <p:spPr>
          <a:xfrm>
            <a:off x="2446020" y="1554480"/>
            <a:ext cx="1604772" cy="914400"/>
          </a:xfrm>
          <a:prstGeom prst="roundRect">
            <a:avLst>
              <a:gd name="adj" fmla="val 10000"/>
            </a:avLst>
          </a:prstGeom>
          <a:solidFill>
            <a:schemeClr val="accent5"/>
          </a:solidFill>
          <a:ln/>
        </p:spPr>
        <p:txBody>
          <a:bodyPr wrap="square" lIns="0" tIns="0" rIns="0" bIns="0" rtlCol="0" anchor="ctr"/>
          <a:lstStyle/>
          <a:p>
            <a:pPr marL="0" indent="0" algn="ctr">
              <a:buNone/>
            </a:pPr>
            <a:r>
              <a:rPr lang="en-US" sz="1500" b="1" dirty="0">
                <a:solidFill>
                  <a:schemeClr val="bg1"/>
                </a:solidFill>
              </a:rPr>
              <a:t>LSTM layer</a:t>
            </a:r>
            <a:endParaRPr lang="en-US" sz="1500" dirty="0"/>
          </a:p>
          <a:p>
            <a:pPr marL="0" indent="0" algn="ctr">
              <a:buNone/>
            </a:pPr>
            <a:r>
              <a:rPr lang="en-US" sz="1300" dirty="0">
                <a:solidFill>
                  <a:schemeClr val="bg1"/>
                </a:solidFill>
              </a:rPr>
              <a:t>64 units</a:t>
            </a:r>
            <a:endParaRPr lang="en-US" sz="1500" dirty="0"/>
          </a:p>
        </p:txBody>
      </p:sp>
      <p:sp>
        <p:nvSpPr>
          <p:cNvPr id="7" name="arrow-366"/>
          <p:cNvSpPr/>
          <p:nvPr/>
        </p:nvSpPr>
        <p:spPr>
          <a:xfrm>
            <a:off x="4096512" y="2011680"/>
            <a:ext cx="201168" cy="0"/>
          </a:xfrm>
          <a:prstGeom prst="line">
            <a:avLst/>
          </a:prstGeom>
          <a:noFill/>
          <a:ln w="22225">
            <a:solidFill>
              <a:schemeClr val="accent6"/>
            </a:solidFill>
            <a:prstDash val="solid"/>
            <a:tailEnd type="triangle"/>
          </a:ln>
        </p:spPr>
        <p:txBody>
          <a:bodyPr/>
          <a:lstStyle/>
          <a:p>
            <a:endParaRPr lang="en-IN"/>
          </a:p>
        </p:txBody>
      </p:sp>
      <p:sp>
        <p:nvSpPr>
          <p:cNvPr id="8" name="lstm-block-367"/>
          <p:cNvSpPr txBox="1"/>
          <p:nvPr/>
        </p:nvSpPr>
        <p:spPr>
          <a:xfrm>
            <a:off x="4343400" y="1554480"/>
            <a:ext cx="1604772" cy="914400"/>
          </a:xfrm>
          <a:prstGeom prst="roundRect">
            <a:avLst>
              <a:gd name="adj" fmla="val 10000"/>
            </a:avLst>
          </a:prstGeom>
          <a:solidFill>
            <a:schemeClr val="bg2"/>
          </a:solidFill>
          <a:ln/>
        </p:spPr>
        <p:txBody>
          <a:bodyPr wrap="square" lIns="0" tIns="0" rIns="0" bIns="0" rtlCol="0" anchor="ctr"/>
          <a:lstStyle/>
          <a:p>
            <a:pPr marL="0" indent="0" algn="ctr">
              <a:buNone/>
            </a:pPr>
            <a:r>
              <a:rPr lang="en-US" sz="1500" b="1" dirty="0">
                <a:solidFill>
                  <a:schemeClr val="tx2"/>
                </a:solidFill>
              </a:rPr>
              <a:t>Dropout</a:t>
            </a:r>
            <a:endParaRPr lang="en-US" sz="1500" dirty="0"/>
          </a:p>
          <a:p>
            <a:pPr marL="0" indent="0" algn="ctr">
              <a:buNone/>
            </a:pPr>
            <a:r>
              <a:rPr lang="en-US" sz="1300" dirty="0">
                <a:solidFill>
                  <a:schemeClr val="tx2"/>
                </a:solidFill>
              </a:rPr>
              <a:t>rate 0.2</a:t>
            </a:r>
            <a:endParaRPr lang="en-US" sz="1500" dirty="0"/>
          </a:p>
        </p:txBody>
      </p:sp>
      <p:sp>
        <p:nvSpPr>
          <p:cNvPr id="9" name="arrow-368"/>
          <p:cNvSpPr/>
          <p:nvPr/>
        </p:nvSpPr>
        <p:spPr>
          <a:xfrm>
            <a:off x="5993892" y="2011680"/>
            <a:ext cx="201168" cy="0"/>
          </a:xfrm>
          <a:prstGeom prst="line">
            <a:avLst/>
          </a:prstGeom>
          <a:noFill/>
          <a:ln w="22225">
            <a:solidFill>
              <a:schemeClr val="accent6"/>
            </a:solidFill>
            <a:prstDash val="solid"/>
            <a:tailEnd type="triangle"/>
          </a:ln>
        </p:spPr>
        <p:txBody>
          <a:bodyPr/>
          <a:lstStyle/>
          <a:p>
            <a:endParaRPr lang="en-IN"/>
          </a:p>
        </p:txBody>
      </p:sp>
      <p:sp>
        <p:nvSpPr>
          <p:cNvPr id="10" name="lstm-block-369"/>
          <p:cNvSpPr txBox="1"/>
          <p:nvPr/>
        </p:nvSpPr>
        <p:spPr>
          <a:xfrm>
            <a:off x="6240780" y="1554480"/>
            <a:ext cx="1604772" cy="914400"/>
          </a:xfrm>
          <a:prstGeom prst="roundRect">
            <a:avLst>
              <a:gd name="adj" fmla="val 10000"/>
            </a:avLst>
          </a:prstGeom>
          <a:solidFill>
            <a:schemeClr val="bg2"/>
          </a:solidFill>
          <a:ln/>
        </p:spPr>
        <p:txBody>
          <a:bodyPr wrap="square" lIns="0" tIns="0" rIns="0" bIns="0" rtlCol="0" anchor="ctr"/>
          <a:lstStyle/>
          <a:p>
            <a:pPr marL="0" indent="0" algn="ctr">
              <a:buNone/>
            </a:pPr>
            <a:r>
              <a:rPr lang="en-US" sz="1500" b="1" dirty="0">
                <a:solidFill>
                  <a:schemeClr val="tx2"/>
                </a:solidFill>
              </a:rPr>
              <a:t>Dense</a:t>
            </a:r>
            <a:endParaRPr lang="en-US" sz="1500" dirty="0"/>
          </a:p>
          <a:p>
            <a:pPr marL="0" indent="0" algn="ctr">
              <a:buNone/>
            </a:pPr>
            <a:r>
              <a:rPr lang="en-US" sz="1300" dirty="0">
                <a:solidFill>
                  <a:schemeClr val="tx2"/>
                </a:solidFill>
              </a:rPr>
              <a:t>32 units · ReLU</a:t>
            </a:r>
            <a:endParaRPr lang="en-US" sz="1500" dirty="0"/>
          </a:p>
        </p:txBody>
      </p:sp>
      <p:sp>
        <p:nvSpPr>
          <p:cNvPr id="11" name="arrow-370"/>
          <p:cNvSpPr/>
          <p:nvPr/>
        </p:nvSpPr>
        <p:spPr>
          <a:xfrm>
            <a:off x="7891272" y="2011680"/>
            <a:ext cx="201168" cy="0"/>
          </a:xfrm>
          <a:prstGeom prst="line">
            <a:avLst/>
          </a:prstGeom>
          <a:noFill/>
          <a:ln w="22225">
            <a:solidFill>
              <a:schemeClr val="accent6"/>
            </a:solidFill>
            <a:prstDash val="solid"/>
            <a:tailEnd type="triangle"/>
          </a:ln>
        </p:spPr>
        <p:txBody>
          <a:bodyPr/>
          <a:lstStyle/>
          <a:p>
            <a:endParaRPr lang="en-IN"/>
          </a:p>
        </p:txBody>
      </p:sp>
      <p:sp>
        <p:nvSpPr>
          <p:cNvPr id="12" name="lstm-block-371"/>
          <p:cNvSpPr txBox="1"/>
          <p:nvPr/>
        </p:nvSpPr>
        <p:spPr>
          <a:xfrm>
            <a:off x="8138160" y="1554480"/>
            <a:ext cx="1604772" cy="914400"/>
          </a:xfrm>
          <a:prstGeom prst="roundRect">
            <a:avLst>
              <a:gd name="adj" fmla="val 10000"/>
            </a:avLst>
          </a:prstGeom>
          <a:solidFill>
            <a:schemeClr val="bg2"/>
          </a:solidFill>
          <a:ln/>
        </p:spPr>
        <p:txBody>
          <a:bodyPr wrap="square" lIns="0" tIns="0" rIns="0" bIns="0" rtlCol="0" anchor="ctr"/>
          <a:lstStyle/>
          <a:p>
            <a:pPr marL="0" indent="0" algn="ctr">
              <a:buNone/>
            </a:pPr>
            <a:r>
              <a:rPr lang="en-US" sz="1500" b="1" dirty="0">
                <a:solidFill>
                  <a:schemeClr val="tx2"/>
                </a:solidFill>
              </a:rPr>
              <a:t>Dense</a:t>
            </a:r>
            <a:endParaRPr lang="en-US" sz="1500" dirty="0"/>
          </a:p>
          <a:p>
            <a:pPr marL="0" indent="0" algn="ctr">
              <a:buNone/>
            </a:pPr>
            <a:r>
              <a:rPr lang="en-US" sz="1300" dirty="0">
                <a:solidFill>
                  <a:schemeClr val="tx2"/>
                </a:solidFill>
              </a:rPr>
              <a:t>1 unit · sigmoid</a:t>
            </a:r>
            <a:endParaRPr lang="en-US" sz="1500" dirty="0"/>
          </a:p>
        </p:txBody>
      </p:sp>
      <p:sp>
        <p:nvSpPr>
          <p:cNvPr id="13" name="arrow-372"/>
          <p:cNvSpPr/>
          <p:nvPr/>
        </p:nvSpPr>
        <p:spPr>
          <a:xfrm>
            <a:off x="9788652" y="2011680"/>
            <a:ext cx="201168" cy="0"/>
          </a:xfrm>
          <a:prstGeom prst="line">
            <a:avLst/>
          </a:prstGeom>
          <a:noFill/>
          <a:ln w="22225">
            <a:solidFill>
              <a:schemeClr val="accent6"/>
            </a:solidFill>
            <a:prstDash val="solid"/>
            <a:tailEnd type="triangle"/>
          </a:ln>
        </p:spPr>
        <p:txBody>
          <a:bodyPr/>
          <a:lstStyle/>
          <a:p>
            <a:endParaRPr lang="en-IN"/>
          </a:p>
        </p:txBody>
      </p:sp>
      <p:sp>
        <p:nvSpPr>
          <p:cNvPr id="14" name="lstm-block-373"/>
          <p:cNvSpPr txBox="1"/>
          <p:nvPr/>
        </p:nvSpPr>
        <p:spPr>
          <a:xfrm>
            <a:off x="10035540" y="1554480"/>
            <a:ext cx="1604772" cy="914400"/>
          </a:xfrm>
          <a:prstGeom prst="roundRect">
            <a:avLst>
              <a:gd name="adj" fmla="val 10000"/>
            </a:avLst>
          </a:prstGeom>
          <a:solidFill>
            <a:schemeClr val="accent3"/>
          </a:solidFill>
          <a:ln/>
        </p:spPr>
        <p:txBody>
          <a:bodyPr wrap="square" lIns="0" tIns="0" rIns="0" bIns="0" rtlCol="0" anchor="ctr"/>
          <a:lstStyle/>
          <a:p>
            <a:pPr marL="0" indent="0" algn="ctr">
              <a:buNone/>
            </a:pPr>
            <a:r>
              <a:rPr lang="en-US" sz="1500" b="1" dirty="0">
                <a:solidFill>
                  <a:schemeClr val="tx2"/>
                </a:solidFill>
              </a:rPr>
              <a:t>P(UP)</a:t>
            </a:r>
            <a:endParaRPr lang="en-US" sz="1500" dirty="0"/>
          </a:p>
          <a:p>
            <a:pPr marL="0" indent="0" algn="ctr">
              <a:buNone/>
            </a:pPr>
            <a:r>
              <a:rPr lang="en-US" sz="1300" dirty="0">
                <a:solidFill>
                  <a:schemeClr val="tx2"/>
                </a:solidFill>
              </a:rPr>
              <a:t>UP if ≥ 0.5</a:t>
            </a:r>
            <a:endParaRPr lang="en-US" sz="1500" dirty="0"/>
          </a:p>
        </p:txBody>
      </p:sp>
      <p:sp>
        <p:nvSpPr>
          <p:cNvPr id="15" name="card-374"/>
          <p:cNvSpPr/>
          <p:nvPr/>
        </p:nvSpPr>
        <p:spPr>
          <a:xfrm>
            <a:off x="548640" y="2697480"/>
            <a:ext cx="11091672" cy="530352"/>
          </a:xfrm>
          <a:prstGeom prst="roundRect">
            <a:avLst>
              <a:gd name="adj" fmla="val 17241"/>
            </a:avLst>
          </a:prstGeom>
          <a:solidFill>
            <a:schemeClr val="bg2"/>
          </a:solidFill>
          <a:ln/>
        </p:spPr>
        <p:txBody>
          <a:bodyPr/>
          <a:lstStyle/>
          <a:p>
            <a:endParaRPr lang="en-IN"/>
          </a:p>
        </p:txBody>
      </p:sp>
      <p:pic>
        <p:nvPicPr>
          <p:cNvPr id="16" name="icon-375" descr="shield"/>
          <p:cNvPicPr>
            <a:picLocks noChangeAspect="1"/>
          </p:cNvPicPr>
          <p:nvPr/>
        </p:nvPicPr>
        <p:blipFill>
          <a:blip r:embed="rId3"/>
          <a:stretch>
            <a:fillRect/>
          </a:stretch>
        </p:blipFill>
        <p:spPr>
          <a:xfrm>
            <a:off x="731520" y="2807208"/>
            <a:ext cx="310896" cy="310896"/>
          </a:xfrm>
          <a:prstGeom prst="rect">
            <a:avLst/>
          </a:prstGeom>
        </p:spPr>
      </p:pic>
      <p:sp>
        <p:nvSpPr>
          <p:cNvPr id="17" name="text-376"/>
          <p:cNvSpPr txBox="1"/>
          <p:nvPr/>
        </p:nvSpPr>
        <p:spPr>
          <a:xfrm>
            <a:off x="1188720" y="2697480"/>
            <a:ext cx="10332720" cy="530352"/>
          </a:xfrm>
          <a:prstGeom prst="rect">
            <a:avLst/>
          </a:prstGeom>
          <a:noFill/>
          <a:ln/>
        </p:spPr>
        <p:txBody>
          <a:bodyPr wrap="square" lIns="0" tIns="0" rIns="0" bIns="0" rtlCol="0" anchor="ctr"/>
          <a:lstStyle/>
          <a:p>
            <a:pPr marL="0" indent="0">
              <a:buNone/>
            </a:pPr>
            <a:r>
              <a:rPr lang="en-US" sz="1400" b="1" dirty="0">
                <a:solidFill>
                  <a:schemeClr val="tx2"/>
                </a:solidFill>
              </a:rPr>
              <a:t>Alignment: </a:t>
            </a:r>
            <a:r>
              <a:rPr lang="en-US" sz="1400" dirty="0">
                <a:solidFill>
                  <a:schemeClr val="tx1"/>
                </a:solidFill>
              </a:rPr>
              <a:t>window X[i−19 : i+1] predicts y[i]: today's features are inside the window, tomorrow's price never is.</a:t>
            </a:r>
            <a:endParaRPr lang="en-US" sz="1400" dirty="0"/>
          </a:p>
        </p:txBody>
      </p:sp>
      <p:graphicFrame>
        <p:nvGraphicFramePr>
          <p:cNvPr id="18" name="chart-377"/>
          <p:cNvGraphicFramePr/>
          <p:nvPr/>
        </p:nvGraphicFramePr>
        <p:xfrm>
          <a:off x="548640" y="3383280"/>
          <a:ext cx="6766560" cy="2834640"/>
        </p:xfrm>
        <a:graphic>
          <a:graphicData uri="http://schemas.openxmlformats.org/drawingml/2006/chart">
            <c:chart xmlns:c="http://schemas.openxmlformats.org/drawingml/2006/chart" xmlns:r="http://schemas.openxmlformats.org/officeDocument/2006/relationships" r:id="rId4"/>
          </a:graphicData>
        </a:graphic>
      </p:graphicFrame>
      <p:sp>
        <p:nvSpPr>
          <p:cNvPr id="19" name="card-378"/>
          <p:cNvSpPr/>
          <p:nvPr/>
        </p:nvSpPr>
        <p:spPr>
          <a:xfrm>
            <a:off x="7589520" y="3429000"/>
            <a:ext cx="4050792" cy="841248"/>
          </a:xfrm>
          <a:prstGeom prst="roundRect">
            <a:avLst>
              <a:gd name="adj" fmla="val 10870"/>
            </a:avLst>
          </a:prstGeom>
          <a:solidFill>
            <a:schemeClr val="bg2"/>
          </a:solidFill>
          <a:ln/>
        </p:spPr>
        <p:txBody>
          <a:bodyPr/>
          <a:lstStyle/>
          <a:p>
            <a:endParaRPr lang="en-IN"/>
          </a:p>
        </p:txBody>
      </p:sp>
      <p:sp>
        <p:nvSpPr>
          <p:cNvPr id="20" name="text-379"/>
          <p:cNvSpPr txBox="1"/>
          <p:nvPr/>
        </p:nvSpPr>
        <p:spPr>
          <a:xfrm>
            <a:off x="7772400" y="3520440"/>
            <a:ext cx="1508760" cy="658368"/>
          </a:xfrm>
          <a:prstGeom prst="rect">
            <a:avLst/>
          </a:prstGeom>
          <a:noFill/>
          <a:ln/>
        </p:spPr>
        <p:txBody>
          <a:bodyPr wrap="square" lIns="0" tIns="0" rIns="0" bIns="0" rtlCol="0" anchor="ctr"/>
          <a:lstStyle/>
          <a:p>
            <a:pPr marL="0" indent="0">
              <a:buNone/>
            </a:pPr>
            <a:r>
              <a:rPr lang="en-US" sz="2400" b="1" dirty="0">
                <a:solidFill>
                  <a:schemeClr val="tx2"/>
                </a:solidFill>
                <a:latin typeface="+mj-lt" pitchFamily="34" charset="0"/>
                <a:ea typeface="+mj-lt" pitchFamily="34" charset="-122"/>
                <a:cs typeface="+mj-lt" pitchFamily="34" charset="-120"/>
              </a:rPr>
              <a:t>28,481</a:t>
            </a:r>
            <a:endParaRPr lang="en-US" sz="2400" dirty="0"/>
          </a:p>
        </p:txBody>
      </p:sp>
      <p:sp>
        <p:nvSpPr>
          <p:cNvPr id="21" name="text-380"/>
          <p:cNvSpPr txBox="1"/>
          <p:nvPr/>
        </p:nvSpPr>
        <p:spPr>
          <a:xfrm>
            <a:off x="9372600" y="3502152"/>
            <a:ext cx="2148840" cy="694944"/>
          </a:xfrm>
          <a:prstGeom prst="rect">
            <a:avLst/>
          </a:prstGeom>
          <a:noFill/>
          <a:ln/>
        </p:spPr>
        <p:txBody>
          <a:bodyPr wrap="square" lIns="0" tIns="0" rIns="0" bIns="0" rtlCol="0" anchor="ctr"/>
          <a:lstStyle/>
          <a:p>
            <a:pPr marL="0" indent="0">
              <a:buNone/>
            </a:pPr>
            <a:r>
              <a:rPr lang="en-US" sz="1300" dirty="0">
                <a:solidFill>
                  <a:schemeClr val="tx1"/>
                </a:solidFill>
              </a:rPr>
              <a:t>trainable parameters</a:t>
            </a:r>
            <a:endParaRPr lang="en-US" sz="1300" dirty="0"/>
          </a:p>
        </p:txBody>
      </p:sp>
      <p:sp>
        <p:nvSpPr>
          <p:cNvPr id="22" name="card-381"/>
          <p:cNvSpPr/>
          <p:nvPr/>
        </p:nvSpPr>
        <p:spPr>
          <a:xfrm>
            <a:off x="7589520" y="4379976"/>
            <a:ext cx="4050792" cy="841248"/>
          </a:xfrm>
          <a:prstGeom prst="roundRect">
            <a:avLst>
              <a:gd name="adj" fmla="val 10870"/>
            </a:avLst>
          </a:prstGeom>
          <a:solidFill>
            <a:schemeClr val="bg2"/>
          </a:solidFill>
          <a:ln/>
        </p:spPr>
        <p:txBody>
          <a:bodyPr/>
          <a:lstStyle/>
          <a:p>
            <a:endParaRPr lang="en-IN"/>
          </a:p>
        </p:txBody>
      </p:sp>
      <p:sp>
        <p:nvSpPr>
          <p:cNvPr id="23" name="text-382"/>
          <p:cNvSpPr txBox="1"/>
          <p:nvPr/>
        </p:nvSpPr>
        <p:spPr>
          <a:xfrm>
            <a:off x="7772400" y="4471416"/>
            <a:ext cx="1508760" cy="658368"/>
          </a:xfrm>
          <a:prstGeom prst="rect">
            <a:avLst/>
          </a:prstGeom>
          <a:noFill/>
          <a:ln/>
        </p:spPr>
        <p:txBody>
          <a:bodyPr wrap="square" lIns="0" tIns="0" rIns="0" bIns="0" rtlCol="0" anchor="ctr"/>
          <a:lstStyle/>
          <a:p>
            <a:pPr marL="0" indent="0">
              <a:buNone/>
            </a:pPr>
            <a:r>
              <a:rPr lang="en-US" sz="2400" b="1" dirty="0">
                <a:solidFill>
                  <a:schemeClr val="tx2"/>
                </a:solidFill>
                <a:latin typeface="+mj-lt" pitchFamily="34" charset="0"/>
                <a:ea typeface="+mj-lt" pitchFamily="34" charset="-122"/>
                <a:cs typeface="+mj-lt" pitchFamily="34" charset="-120"/>
              </a:rPr>
              <a:t>Epoch 5</a:t>
            </a:r>
            <a:endParaRPr lang="en-US" sz="2400" dirty="0"/>
          </a:p>
        </p:txBody>
      </p:sp>
      <p:sp>
        <p:nvSpPr>
          <p:cNvPr id="24" name="text-383"/>
          <p:cNvSpPr txBox="1"/>
          <p:nvPr/>
        </p:nvSpPr>
        <p:spPr>
          <a:xfrm>
            <a:off x="9372600" y="4453128"/>
            <a:ext cx="2148840" cy="694944"/>
          </a:xfrm>
          <a:prstGeom prst="rect">
            <a:avLst/>
          </a:prstGeom>
          <a:noFill/>
          <a:ln/>
        </p:spPr>
        <p:txBody>
          <a:bodyPr wrap="square" lIns="0" tIns="0" rIns="0" bIns="0" rtlCol="0" anchor="ctr"/>
          <a:lstStyle/>
          <a:p>
            <a:pPr marL="0" indent="0">
              <a:buNone/>
            </a:pPr>
            <a:r>
              <a:rPr lang="en-US" sz="1300" dirty="0">
                <a:solidFill>
                  <a:schemeClr val="tx1"/>
                </a:solidFill>
              </a:rPr>
              <a:t>lowest validation loss; early stop at epoch 13</a:t>
            </a:r>
            <a:endParaRPr lang="en-US" sz="1300" dirty="0"/>
          </a:p>
        </p:txBody>
      </p:sp>
      <p:sp>
        <p:nvSpPr>
          <p:cNvPr id="25" name="card-384"/>
          <p:cNvSpPr/>
          <p:nvPr/>
        </p:nvSpPr>
        <p:spPr>
          <a:xfrm>
            <a:off x="7589520" y="5330952"/>
            <a:ext cx="4050792" cy="841248"/>
          </a:xfrm>
          <a:prstGeom prst="roundRect">
            <a:avLst>
              <a:gd name="adj" fmla="val 10870"/>
            </a:avLst>
          </a:prstGeom>
          <a:solidFill>
            <a:schemeClr val="bg2"/>
          </a:solidFill>
          <a:ln/>
        </p:spPr>
        <p:txBody>
          <a:bodyPr/>
          <a:lstStyle/>
          <a:p>
            <a:endParaRPr lang="en-IN"/>
          </a:p>
        </p:txBody>
      </p:sp>
      <p:sp>
        <p:nvSpPr>
          <p:cNvPr id="26" name="text-385"/>
          <p:cNvSpPr txBox="1"/>
          <p:nvPr/>
        </p:nvSpPr>
        <p:spPr>
          <a:xfrm>
            <a:off x="7772400" y="5422392"/>
            <a:ext cx="1508760" cy="658368"/>
          </a:xfrm>
          <a:prstGeom prst="rect">
            <a:avLst/>
          </a:prstGeom>
          <a:noFill/>
          <a:ln/>
        </p:spPr>
        <p:txBody>
          <a:bodyPr wrap="square" lIns="0" tIns="0" rIns="0" bIns="0" rtlCol="0" anchor="ctr"/>
          <a:lstStyle/>
          <a:p>
            <a:pPr marL="0" indent="0">
              <a:buNone/>
            </a:pPr>
            <a:r>
              <a:rPr lang="en-US" sz="2400" b="1" dirty="0">
                <a:solidFill>
                  <a:schemeClr val="tx2"/>
                </a:solidFill>
                <a:latin typeface="+mj-lt" pitchFamily="34" charset="0"/>
                <a:ea typeface="+mj-lt" pitchFamily="34" charset="-122"/>
                <a:cs typeface="+mj-lt" pitchFamily="34" charset="-120"/>
              </a:rPr>
              <a:t>48.9%</a:t>
            </a:r>
            <a:endParaRPr lang="en-US" sz="2400" dirty="0"/>
          </a:p>
        </p:txBody>
      </p:sp>
      <p:sp>
        <p:nvSpPr>
          <p:cNvPr id="27" name="text-386"/>
          <p:cNvSpPr txBox="1"/>
          <p:nvPr/>
        </p:nvSpPr>
        <p:spPr>
          <a:xfrm>
            <a:off x="9372600" y="5404104"/>
            <a:ext cx="2148840" cy="694944"/>
          </a:xfrm>
          <a:prstGeom prst="rect">
            <a:avLst/>
          </a:prstGeom>
          <a:noFill/>
          <a:ln/>
        </p:spPr>
        <p:txBody>
          <a:bodyPr wrap="square" lIns="0" tIns="0" rIns="0" bIns="0" rtlCol="0" anchor="ctr"/>
          <a:lstStyle/>
          <a:p>
            <a:pPr marL="0" indent="0">
              <a:buNone/>
            </a:pPr>
            <a:r>
              <a:rPr lang="en-US" sz="1300" dirty="0">
                <a:solidFill>
                  <a:schemeClr val="tx1"/>
                </a:solidFill>
              </a:rPr>
              <a:t>test accuracy; predicted UP on only 38% of days</a:t>
            </a:r>
            <a:endParaRPr lang="en-US" sz="1300" dirty="0"/>
          </a:p>
        </p:txBody>
      </p:sp>
      <p:sp>
        <p:nvSpPr>
          <p:cNvPr id="28"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04 · MODELS &amp; ENSEMBLES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A Vision Transformer for feature matrices</a:t>
            </a:r>
            <a:endParaRPr lang="en-US" sz="3200" dirty="0"/>
          </a:p>
        </p:txBody>
      </p:sp>
      <p:sp>
        <p:nvSpPr>
          <p:cNvPr id="4" name="patch-387"/>
          <p:cNvSpPr txBox="1"/>
          <p:nvPr/>
        </p:nvSpPr>
        <p:spPr>
          <a:xfrm>
            <a:off x="868680" y="1600200"/>
            <a:ext cx="1463040" cy="768096"/>
          </a:xfrm>
          <a:prstGeom prst="rect">
            <a:avLst/>
          </a:prstGeom>
          <a:solidFill>
            <a:schemeClr val="accent4">
              <a:alpha val="40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P1</a:t>
            </a:r>
            <a:endParaRPr lang="en-US" sz="1600" dirty="0"/>
          </a:p>
        </p:txBody>
      </p:sp>
      <p:sp>
        <p:nvSpPr>
          <p:cNvPr id="5" name="patch-388"/>
          <p:cNvSpPr txBox="1"/>
          <p:nvPr/>
        </p:nvSpPr>
        <p:spPr>
          <a:xfrm>
            <a:off x="2331720" y="1600200"/>
            <a:ext cx="1463040" cy="768096"/>
          </a:xfrm>
          <a:prstGeom prst="rect">
            <a:avLst/>
          </a:prstGeom>
          <a:solidFill>
            <a:schemeClr val="accent1">
              <a:alpha val="40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P2</a:t>
            </a:r>
            <a:endParaRPr lang="en-US" sz="1600" dirty="0"/>
          </a:p>
        </p:txBody>
      </p:sp>
      <p:sp>
        <p:nvSpPr>
          <p:cNvPr id="6" name="patch-389"/>
          <p:cNvSpPr txBox="1"/>
          <p:nvPr/>
        </p:nvSpPr>
        <p:spPr>
          <a:xfrm>
            <a:off x="868680" y="2368296"/>
            <a:ext cx="1463040" cy="768096"/>
          </a:xfrm>
          <a:prstGeom prst="rect">
            <a:avLst/>
          </a:prstGeom>
          <a:solidFill>
            <a:schemeClr val="accent5">
              <a:alpha val="40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P3</a:t>
            </a:r>
            <a:endParaRPr lang="en-US" sz="1600" dirty="0"/>
          </a:p>
        </p:txBody>
      </p:sp>
      <p:sp>
        <p:nvSpPr>
          <p:cNvPr id="7" name="patch-390"/>
          <p:cNvSpPr txBox="1"/>
          <p:nvPr/>
        </p:nvSpPr>
        <p:spPr>
          <a:xfrm>
            <a:off x="2331720" y="2368296"/>
            <a:ext cx="1463040" cy="768096"/>
          </a:xfrm>
          <a:prstGeom prst="rect">
            <a:avLst/>
          </a:prstGeom>
          <a:solidFill>
            <a:schemeClr val="accent3">
              <a:alpha val="55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P4</a:t>
            </a:r>
            <a:endParaRPr lang="en-US" sz="1600" dirty="0"/>
          </a:p>
        </p:txBody>
      </p:sp>
      <p:sp>
        <p:nvSpPr>
          <p:cNvPr id="8" name="patch-391"/>
          <p:cNvSpPr txBox="1"/>
          <p:nvPr/>
        </p:nvSpPr>
        <p:spPr>
          <a:xfrm>
            <a:off x="868680" y="3136392"/>
            <a:ext cx="1463040" cy="768096"/>
          </a:xfrm>
          <a:prstGeom prst="rect">
            <a:avLst/>
          </a:prstGeom>
          <a:solidFill>
            <a:schemeClr val="accent6">
              <a:alpha val="40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P5</a:t>
            </a:r>
            <a:endParaRPr lang="en-US" sz="1600" dirty="0"/>
          </a:p>
        </p:txBody>
      </p:sp>
      <p:sp>
        <p:nvSpPr>
          <p:cNvPr id="9" name="patch-392"/>
          <p:cNvSpPr txBox="1"/>
          <p:nvPr/>
        </p:nvSpPr>
        <p:spPr>
          <a:xfrm>
            <a:off x="2331720" y="3136392"/>
            <a:ext cx="1463040" cy="768096"/>
          </a:xfrm>
          <a:prstGeom prst="rect">
            <a:avLst/>
          </a:prstGeom>
          <a:solidFill>
            <a:schemeClr val="accent2">
              <a:alpha val="40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P6</a:t>
            </a:r>
            <a:endParaRPr lang="en-US" sz="1600" dirty="0"/>
          </a:p>
        </p:txBody>
      </p:sp>
      <p:sp>
        <p:nvSpPr>
          <p:cNvPr id="10" name="patch-393"/>
          <p:cNvSpPr txBox="1"/>
          <p:nvPr/>
        </p:nvSpPr>
        <p:spPr>
          <a:xfrm>
            <a:off x="868680" y="3904488"/>
            <a:ext cx="1463040" cy="768096"/>
          </a:xfrm>
          <a:prstGeom prst="rect">
            <a:avLst/>
          </a:prstGeom>
          <a:solidFill>
            <a:schemeClr val="tx2">
              <a:alpha val="28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P7</a:t>
            </a:r>
            <a:endParaRPr lang="en-US" sz="1600" dirty="0"/>
          </a:p>
        </p:txBody>
      </p:sp>
      <p:sp>
        <p:nvSpPr>
          <p:cNvPr id="11" name="patch-394"/>
          <p:cNvSpPr txBox="1"/>
          <p:nvPr/>
        </p:nvSpPr>
        <p:spPr>
          <a:xfrm>
            <a:off x="2331720" y="3904488"/>
            <a:ext cx="1463040" cy="768096"/>
          </a:xfrm>
          <a:prstGeom prst="rect">
            <a:avLst/>
          </a:prstGeom>
          <a:solidFill>
            <a:schemeClr val="accent4">
              <a:alpha val="22000"/>
            </a:schemeClr>
          </a:solidFill>
          <a:ln w="25400">
            <a:solidFill>
              <a:schemeClr val="bg1"/>
            </a:solidFill>
          </a:ln>
        </p:spPr>
        <p:txBody>
          <a:bodyPr wrap="square" lIns="0" tIns="0" rIns="0" bIns="0" rtlCol="0" anchor="ctr"/>
          <a:lstStyle/>
          <a:p>
            <a:pPr marL="0" indent="0" algn="ctr">
              <a:buNone/>
            </a:pPr>
            <a:r>
              <a:rPr lang="en-US" sz="1600" b="1" dirty="0">
                <a:solidFill>
                  <a:schemeClr val="tx2"/>
                </a:solidFill>
              </a:rPr>
              <a:t>P8</a:t>
            </a:r>
            <a:endParaRPr lang="en-US" sz="1600" dirty="0"/>
          </a:p>
        </p:txBody>
      </p:sp>
      <p:sp>
        <p:nvSpPr>
          <p:cNvPr id="12" name="text-395"/>
          <p:cNvSpPr txBox="1"/>
          <p:nvPr/>
        </p:nvSpPr>
        <p:spPr>
          <a:xfrm>
            <a:off x="502920" y="1600200"/>
            <a:ext cx="320040" cy="3072384"/>
          </a:xfrm>
          <a:prstGeom prst="rect">
            <a:avLst/>
          </a:prstGeom>
          <a:noFill/>
          <a:ln/>
        </p:spPr>
        <p:txBody>
          <a:bodyPr vert="vert270" wrap="square" lIns="0" tIns="0" rIns="0" bIns="0" rtlCol="0" anchor="ctr"/>
          <a:lstStyle/>
          <a:p>
            <a:pPr marL="0" indent="0" algn="ctr">
              <a:buNone/>
            </a:pPr>
            <a:r>
              <a:rPr lang="en-US" sz="1200" dirty="0">
                <a:solidFill>
                  <a:schemeClr val="accent6"/>
                </a:solidFill>
              </a:rPr>
              <a:t>20 trading days · 5 per patch</a:t>
            </a:r>
            <a:endParaRPr lang="en-US" sz="1200" dirty="0"/>
          </a:p>
        </p:txBody>
      </p:sp>
      <p:sp>
        <p:nvSpPr>
          <p:cNvPr id="13" name="text-396"/>
          <p:cNvSpPr txBox="1"/>
          <p:nvPr/>
        </p:nvSpPr>
        <p:spPr>
          <a:xfrm>
            <a:off x="731520" y="4754880"/>
            <a:ext cx="3200400" cy="457200"/>
          </a:xfrm>
          <a:prstGeom prst="rect">
            <a:avLst/>
          </a:prstGeom>
          <a:noFill/>
          <a:ln/>
        </p:spPr>
        <p:txBody>
          <a:bodyPr wrap="square" lIns="0" tIns="0" rIns="0" bIns="0" rtlCol="0" anchor="t"/>
          <a:lstStyle/>
          <a:p>
            <a:pPr marL="0" indent="0" algn="ctr">
              <a:buNone/>
            </a:pPr>
            <a:r>
              <a:rPr lang="en-US" sz="1200" dirty="0">
                <a:solidFill>
                  <a:schemeClr val="accent6"/>
                </a:solidFill>
              </a:rPr>
              <a:t>37 features + 1 zero-padded column · 19 per patch</a:t>
            </a:r>
            <a:endParaRPr lang="en-US" sz="1200" dirty="0"/>
          </a:p>
        </p:txBody>
      </p:sp>
      <p:sp>
        <p:nvSpPr>
          <p:cNvPr id="14" name="arrow-397"/>
          <p:cNvSpPr/>
          <p:nvPr/>
        </p:nvSpPr>
        <p:spPr>
          <a:xfrm>
            <a:off x="3931920" y="3136392"/>
            <a:ext cx="502920" cy="0"/>
          </a:xfrm>
          <a:prstGeom prst="line">
            <a:avLst/>
          </a:prstGeom>
          <a:noFill/>
          <a:ln w="22225">
            <a:solidFill>
              <a:schemeClr val="accent6"/>
            </a:solidFill>
            <a:prstDash val="solid"/>
            <a:tailEnd type="triangle"/>
          </a:ln>
        </p:spPr>
        <p:txBody>
          <a:bodyPr/>
          <a:lstStyle/>
          <a:p>
            <a:endParaRPr lang="en-IN"/>
          </a:p>
        </p:txBody>
      </p:sp>
      <p:sp>
        <p:nvSpPr>
          <p:cNvPr id="15" name="token-398"/>
          <p:cNvSpPr txBox="1"/>
          <p:nvPr/>
        </p:nvSpPr>
        <p:spPr>
          <a:xfrm>
            <a:off x="4572000" y="1600200"/>
            <a:ext cx="2103120" cy="310896"/>
          </a:xfrm>
          <a:prstGeom prst="roundRect">
            <a:avLst>
              <a:gd name="adj" fmla="val 23529"/>
            </a:avLst>
          </a:prstGeom>
          <a:solidFill>
            <a:schemeClr val="accent4">
              <a:alpha val="40000"/>
            </a:schemeClr>
          </a:solidFill>
          <a:ln/>
        </p:spPr>
        <p:txBody>
          <a:bodyPr wrap="square" lIns="0" tIns="0" rIns="0" bIns="0" rtlCol="0" anchor="ctr"/>
          <a:lstStyle/>
          <a:p>
            <a:pPr marL="0" indent="0" algn="ctr">
              <a:buNone/>
            </a:pPr>
            <a:r>
              <a:rPr lang="en-US" sz="1200" b="1" dirty="0">
                <a:solidFill>
                  <a:schemeClr val="tx2"/>
                </a:solidFill>
              </a:rPr>
              <a:t>P1  ·  95 → 64-d</a:t>
            </a:r>
            <a:endParaRPr lang="en-US" sz="1200" dirty="0"/>
          </a:p>
        </p:txBody>
      </p:sp>
      <p:sp>
        <p:nvSpPr>
          <p:cNvPr id="16" name="token-399"/>
          <p:cNvSpPr txBox="1"/>
          <p:nvPr/>
        </p:nvSpPr>
        <p:spPr>
          <a:xfrm>
            <a:off x="4572000" y="1988820"/>
            <a:ext cx="2103120" cy="310896"/>
          </a:xfrm>
          <a:prstGeom prst="roundRect">
            <a:avLst>
              <a:gd name="adj" fmla="val 23529"/>
            </a:avLst>
          </a:prstGeom>
          <a:solidFill>
            <a:schemeClr val="accent1">
              <a:alpha val="40000"/>
            </a:schemeClr>
          </a:solidFill>
          <a:ln/>
        </p:spPr>
        <p:txBody>
          <a:bodyPr wrap="square" lIns="0" tIns="0" rIns="0" bIns="0" rtlCol="0" anchor="ctr"/>
          <a:lstStyle/>
          <a:p>
            <a:pPr marL="0" indent="0" algn="ctr">
              <a:buNone/>
            </a:pPr>
            <a:r>
              <a:rPr lang="en-US" sz="1200" b="1" dirty="0">
                <a:solidFill>
                  <a:schemeClr val="tx2"/>
                </a:solidFill>
              </a:rPr>
              <a:t>P2  ·  95 → 64-d</a:t>
            </a:r>
            <a:endParaRPr lang="en-US" sz="1200" dirty="0"/>
          </a:p>
        </p:txBody>
      </p:sp>
      <p:sp>
        <p:nvSpPr>
          <p:cNvPr id="17" name="token-400"/>
          <p:cNvSpPr txBox="1"/>
          <p:nvPr/>
        </p:nvSpPr>
        <p:spPr>
          <a:xfrm>
            <a:off x="4572000" y="2377440"/>
            <a:ext cx="2103120" cy="310896"/>
          </a:xfrm>
          <a:prstGeom prst="roundRect">
            <a:avLst>
              <a:gd name="adj" fmla="val 23529"/>
            </a:avLst>
          </a:prstGeom>
          <a:solidFill>
            <a:schemeClr val="accent5">
              <a:alpha val="40000"/>
            </a:schemeClr>
          </a:solidFill>
          <a:ln/>
        </p:spPr>
        <p:txBody>
          <a:bodyPr wrap="square" lIns="0" tIns="0" rIns="0" bIns="0" rtlCol="0" anchor="ctr"/>
          <a:lstStyle/>
          <a:p>
            <a:pPr marL="0" indent="0" algn="ctr">
              <a:buNone/>
            </a:pPr>
            <a:r>
              <a:rPr lang="en-US" sz="1200" b="1" dirty="0">
                <a:solidFill>
                  <a:schemeClr val="tx2"/>
                </a:solidFill>
              </a:rPr>
              <a:t>P3  ·  95 → 64-d</a:t>
            </a:r>
            <a:endParaRPr lang="en-US" sz="1200" dirty="0"/>
          </a:p>
        </p:txBody>
      </p:sp>
      <p:sp>
        <p:nvSpPr>
          <p:cNvPr id="18" name="token-401"/>
          <p:cNvSpPr txBox="1"/>
          <p:nvPr/>
        </p:nvSpPr>
        <p:spPr>
          <a:xfrm>
            <a:off x="4572000" y="2766060"/>
            <a:ext cx="2103120" cy="310896"/>
          </a:xfrm>
          <a:prstGeom prst="roundRect">
            <a:avLst>
              <a:gd name="adj" fmla="val 23529"/>
            </a:avLst>
          </a:prstGeom>
          <a:solidFill>
            <a:schemeClr val="accent3">
              <a:alpha val="55000"/>
            </a:schemeClr>
          </a:solidFill>
          <a:ln/>
        </p:spPr>
        <p:txBody>
          <a:bodyPr wrap="square" lIns="0" tIns="0" rIns="0" bIns="0" rtlCol="0" anchor="ctr"/>
          <a:lstStyle/>
          <a:p>
            <a:pPr marL="0" indent="0" algn="ctr">
              <a:buNone/>
            </a:pPr>
            <a:r>
              <a:rPr lang="en-US" sz="1200" b="1" dirty="0">
                <a:solidFill>
                  <a:schemeClr val="tx2"/>
                </a:solidFill>
              </a:rPr>
              <a:t>P4  ·  95 → 64-d</a:t>
            </a:r>
            <a:endParaRPr lang="en-US" sz="1200" dirty="0"/>
          </a:p>
        </p:txBody>
      </p:sp>
      <p:sp>
        <p:nvSpPr>
          <p:cNvPr id="19" name="token-402"/>
          <p:cNvSpPr txBox="1"/>
          <p:nvPr/>
        </p:nvSpPr>
        <p:spPr>
          <a:xfrm>
            <a:off x="4572000" y="3154680"/>
            <a:ext cx="2103120" cy="310896"/>
          </a:xfrm>
          <a:prstGeom prst="roundRect">
            <a:avLst>
              <a:gd name="adj" fmla="val 23529"/>
            </a:avLst>
          </a:prstGeom>
          <a:solidFill>
            <a:schemeClr val="accent6">
              <a:alpha val="40000"/>
            </a:schemeClr>
          </a:solidFill>
          <a:ln/>
        </p:spPr>
        <p:txBody>
          <a:bodyPr wrap="square" lIns="0" tIns="0" rIns="0" bIns="0" rtlCol="0" anchor="ctr"/>
          <a:lstStyle/>
          <a:p>
            <a:pPr marL="0" indent="0" algn="ctr">
              <a:buNone/>
            </a:pPr>
            <a:r>
              <a:rPr lang="en-US" sz="1200" b="1" dirty="0">
                <a:solidFill>
                  <a:schemeClr val="tx2"/>
                </a:solidFill>
              </a:rPr>
              <a:t>P5  ·  95 → 64-d</a:t>
            </a:r>
            <a:endParaRPr lang="en-US" sz="1200" dirty="0"/>
          </a:p>
        </p:txBody>
      </p:sp>
      <p:sp>
        <p:nvSpPr>
          <p:cNvPr id="20" name="token-403"/>
          <p:cNvSpPr txBox="1"/>
          <p:nvPr/>
        </p:nvSpPr>
        <p:spPr>
          <a:xfrm>
            <a:off x="4572000" y="3543300"/>
            <a:ext cx="2103120" cy="310896"/>
          </a:xfrm>
          <a:prstGeom prst="roundRect">
            <a:avLst>
              <a:gd name="adj" fmla="val 23529"/>
            </a:avLst>
          </a:prstGeom>
          <a:solidFill>
            <a:schemeClr val="accent2">
              <a:alpha val="40000"/>
            </a:schemeClr>
          </a:solidFill>
          <a:ln/>
        </p:spPr>
        <p:txBody>
          <a:bodyPr wrap="square" lIns="0" tIns="0" rIns="0" bIns="0" rtlCol="0" anchor="ctr"/>
          <a:lstStyle/>
          <a:p>
            <a:pPr marL="0" indent="0" algn="ctr">
              <a:buNone/>
            </a:pPr>
            <a:r>
              <a:rPr lang="en-US" sz="1200" b="1" dirty="0">
                <a:solidFill>
                  <a:schemeClr val="tx2"/>
                </a:solidFill>
              </a:rPr>
              <a:t>P6  ·  95 → 64-d</a:t>
            </a:r>
            <a:endParaRPr lang="en-US" sz="1200" dirty="0"/>
          </a:p>
        </p:txBody>
      </p:sp>
      <p:sp>
        <p:nvSpPr>
          <p:cNvPr id="21" name="token-404"/>
          <p:cNvSpPr txBox="1"/>
          <p:nvPr/>
        </p:nvSpPr>
        <p:spPr>
          <a:xfrm>
            <a:off x="4572000" y="3931920"/>
            <a:ext cx="2103120" cy="310896"/>
          </a:xfrm>
          <a:prstGeom prst="roundRect">
            <a:avLst>
              <a:gd name="adj" fmla="val 23529"/>
            </a:avLst>
          </a:prstGeom>
          <a:solidFill>
            <a:schemeClr val="tx2">
              <a:alpha val="28000"/>
            </a:schemeClr>
          </a:solidFill>
          <a:ln/>
        </p:spPr>
        <p:txBody>
          <a:bodyPr wrap="square" lIns="0" tIns="0" rIns="0" bIns="0" rtlCol="0" anchor="ctr"/>
          <a:lstStyle/>
          <a:p>
            <a:pPr marL="0" indent="0" algn="ctr">
              <a:buNone/>
            </a:pPr>
            <a:r>
              <a:rPr lang="en-US" sz="1200" b="1" dirty="0">
                <a:solidFill>
                  <a:schemeClr val="tx2"/>
                </a:solidFill>
              </a:rPr>
              <a:t>P7  ·  95 → 64-d</a:t>
            </a:r>
            <a:endParaRPr lang="en-US" sz="1200" dirty="0"/>
          </a:p>
        </p:txBody>
      </p:sp>
      <p:sp>
        <p:nvSpPr>
          <p:cNvPr id="22" name="token-405"/>
          <p:cNvSpPr txBox="1"/>
          <p:nvPr/>
        </p:nvSpPr>
        <p:spPr>
          <a:xfrm>
            <a:off x="4572000" y="4320540"/>
            <a:ext cx="2103120" cy="310896"/>
          </a:xfrm>
          <a:prstGeom prst="roundRect">
            <a:avLst>
              <a:gd name="adj" fmla="val 23529"/>
            </a:avLst>
          </a:prstGeom>
          <a:solidFill>
            <a:schemeClr val="accent4">
              <a:alpha val="22000"/>
            </a:schemeClr>
          </a:solidFill>
          <a:ln/>
        </p:spPr>
        <p:txBody>
          <a:bodyPr wrap="square" lIns="0" tIns="0" rIns="0" bIns="0" rtlCol="0" anchor="ctr"/>
          <a:lstStyle/>
          <a:p>
            <a:pPr marL="0" indent="0" algn="ctr">
              <a:buNone/>
            </a:pPr>
            <a:r>
              <a:rPr lang="en-US" sz="1200" b="1" dirty="0">
                <a:solidFill>
                  <a:schemeClr val="tx2"/>
                </a:solidFill>
              </a:rPr>
              <a:t>P8  ·  95 → 64-d</a:t>
            </a:r>
            <a:endParaRPr lang="en-US" sz="1200" dirty="0"/>
          </a:p>
        </p:txBody>
      </p:sp>
      <p:sp>
        <p:nvSpPr>
          <p:cNvPr id="23" name="text-406"/>
          <p:cNvSpPr txBox="1"/>
          <p:nvPr/>
        </p:nvSpPr>
        <p:spPr>
          <a:xfrm>
            <a:off x="4480560" y="4754880"/>
            <a:ext cx="2286000" cy="457200"/>
          </a:xfrm>
          <a:prstGeom prst="rect">
            <a:avLst/>
          </a:prstGeom>
          <a:noFill/>
          <a:ln/>
        </p:spPr>
        <p:txBody>
          <a:bodyPr wrap="square" lIns="0" tIns="0" rIns="0" bIns="0" rtlCol="0" anchor="t"/>
          <a:lstStyle/>
          <a:p>
            <a:pPr marL="0" indent="0" algn="ctr">
              <a:buNone/>
            </a:pPr>
            <a:r>
              <a:rPr lang="en-US" sz="1200" dirty="0">
                <a:solidFill>
                  <a:schemeClr val="accent6"/>
                </a:solidFill>
              </a:rPr>
              <a:t>8 tokens + positional embedding</a:t>
            </a:r>
            <a:endParaRPr lang="en-US" sz="1200" dirty="0"/>
          </a:p>
        </p:txBody>
      </p:sp>
      <p:sp>
        <p:nvSpPr>
          <p:cNvPr id="24" name="arrow-407"/>
          <p:cNvSpPr/>
          <p:nvPr/>
        </p:nvSpPr>
        <p:spPr>
          <a:xfrm>
            <a:off x="6812280" y="3136392"/>
            <a:ext cx="457200" cy="0"/>
          </a:xfrm>
          <a:prstGeom prst="line">
            <a:avLst/>
          </a:prstGeom>
          <a:noFill/>
          <a:ln w="22225">
            <a:solidFill>
              <a:schemeClr val="accent6"/>
            </a:solidFill>
            <a:prstDash val="solid"/>
            <a:tailEnd type="triangle"/>
          </a:ln>
        </p:spPr>
        <p:txBody>
          <a:bodyPr/>
          <a:lstStyle/>
          <a:p>
            <a:endParaRPr lang="en-IN"/>
          </a:p>
        </p:txBody>
      </p:sp>
      <p:sp>
        <p:nvSpPr>
          <p:cNvPr id="25" name="vit-block-408"/>
          <p:cNvSpPr txBox="1"/>
          <p:nvPr/>
        </p:nvSpPr>
        <p:spPr>
          <a:xfrm>
            <a:off x="7406640" y="1600200"/>
            <a:ext cx="4233672" cy="566928"/>
          </a:xfrm>
          <a:prstGeom prst="roundRect">
            <a:avLst>
              <a:gd name="adj" fmla="val 16129"/>
            </a:avLst>
          </a:prstGeom>
          <a:solidFill>
            <a:schemeClr val="bg2"/>
          </a:solidFill>
          <a:ln/>
        </p:spPr>
        <p:txBody>
          <a:bodyPr wrap="square" lIns="50800" tIns="50800" rIns="50800" bIns="50800" rtlCol="0" anchor="ctr"/>
          <a:lstStyle/>
          <a:p>
            <a:pPr marL="0" indent="0" algn="ctr">
              <a:buNone/>
            </a:pPr>
            <a:r>
              <a:rPr lang="en-US" sz="1400" dirty="0">
                <a:solidFill>
                  <a:schemeClr val="tx2"/>
                </a:solidFill>
              </a:rPr>
              <a:t>Linear patch embedding  95 → 64</a:t>
            </a:r>
            <a:endParaRPr lang="en-US" sz="1400" dirty="0"/>
          </a:p>
        </p:txBody>
      </p:sp>
      <p:sp>
        <p:nvSpPr>
          <p:cNvPr id="26" name="vit-block-409"/>
          <p:cNvSpPr txBox="1"/>
          <p:nvPr/>
        </p:nvSpPr>
        <p:spPr>
          <a:xfrm>
            <a:off x="7406640" y="2286000"/>
            <a:ext cx="4233672" cy="566928"/>
          </a:xfrm>
          <a:prstGeom prst="roundRect">
            <a:avLst>
              <a:gd name="adj" fmla="val 16129"/>
            </a:avLst>
          </a:prstGeom>
          <a:solidFill>
            <a:schemeClr val="bg2"/>
          </a:solidFill>
          <a:ln/>
        </p:spPr>
        <p:txBody>
          <a:bodyPr wrap="square" lIns="50800" tIns="50800" rIns="50800" bIns="50800" rtlCol="0" anchor="ctr"/>
          <a:lstStyle/>
          <a:p>
            <a:pPr marL="0" indent="0" algn="ctr">
              <a:buNone/>
            </a:pPr>
            <a:r>
              <a:rPr lang="en-US" sz="1400" dirty="0">
                <a:solidFill>
                  <a:schemeClr val="tx2"/>
                </a:solidFill>
              </a:rPr>
              <a:t>+ learnable positional embedding (8 × 64)</a:t>
            </a:r>
            <a:endParaRPr lang="en-US" sz="1400" dirty="0"/>
          </a:p>
        </p:txBody>
      </p:sp>
      <p:sp>
        <p:nvSpPr>
          <p:cNvPr id="27" name="vit-block-410"/>
          <p:cNvSpPr txBox="1"/>
          <p:nvPr/>
        </p:nvSpPr>
        <p:spPr>
          <a:xfrm>
            <a:off x="7406640" y="2971800"/>
            <a:ext cx="4233672" cy="1024128"/>
          </a:xfrm>
          <a:prstGeom prst="roundRect">
            <a:avLst>
              <a:gd name="adj" fmla="val 8929"/>
            </a:avLst>
          </a:prstGeom>
          <a:solidFill>
            <a:schemeClr val="accent5"/>
          </a:solidFill>
          <a:ln/>
        </p:spPr>
        <p:txBody>
          <a:bodyPr wrap="square" lIns="50800" tIns="50800" rIns="50800" bIns="50800" rtlCol="0" anchor="ctr"/>
          <a:lstStyle/>
          <a:p>
            <a:pPr marL="0" indent="0" algn="ctr">
              <a:buNone/>
            </a:pPr>
            <a:r>
              <a:rPr lang="en-US" sz="1500" b="1" dirty="0">
                <a:solidFill>
                  <a:schemeClr val="bg1"/>
                </a:solidFill>
              </a:rPr>
              <a:t>Transformer encoder × 2</a:t>
            </a:r>
            <a:endParaRPr lang="en-US" sz="1400" dirty="0"/>
          </a:p>
          <a:p>
            <a:pPr marL="0" indent="0" algn="ctr">
              <a:buNone/>
            </a:pPr>
            <a:r>
              <a:rPr lang="en-US" sz="1300" dirty="0">
                <a:solidFill>
                  <a:schemeClr val="bg1"/>
                </a:solidFill>
              </a:rPr>
              <a:t>4-head self-attention · GELU MLP (128) · pre-norm · residuals</a:t>
            </a:r>
            <a:endParaRPr lang="en-US" sz="1400" dirty="0"/>
          </a:p>
        </p:txBody>
      </p:sp>
      <p:sp>
        <p:nvSpPr>
          <p:cNvPr id="28" name="vit-block-411"/>
          <p:cNvSpPr txBox="1"/>
          <p:nvPr/>
        </p:nvSpPr>
        <p:spPr>
          <a:xfrm>
            <a:off x="7406640" y="4114800"/>
            <a:ext cx="4233672" cy="566928"/>
          </a:xfrm>
          <a:prstGeom prst="roundRect">
            <a:avLst>
              <a:gd name="adj" fmla="val 16129"/>
            </a:avLst>
          </a:prstGeom>
          <a:solidFill>
            <a:schemeClr val="accent3"/>
          </a:solidFill>
          <a:ln/>
        </p:spPr>
        <p:txBody>
          <a:bodyPr wrap="square" lIns="50800" tIns="50800" rIns="50800" bIns="50800" rtlCol="0" anchor="ctr"/>
          <a:lstStyle/>
          <a:p>
            <a:pPr marL="0" indent="0" algn="ctr">
              <a:buNone/>
            </a:pPr>
            <a:r>
              <a:rPr lang="en-US" sz="1400" dirty="0">
                <a:solidFill>
                  <a:schemeClr val="tx2"/>
                </a:solidFill>
              </a:rPr>
              <a:t>Mean-pool → Dense 32 → sigmoid → P(UP)</a:t>
            </a:r>
            <a:endParaRPr lang="en-US" sz="1400" dirty="0"/>
          </a:p>
        </p:txBody>
      </p:sp>
      <p:sp>
        <p:nvSpPr>
          <p:cNvPr id="29" name="card-412"/>
          <p:cNvSpPr/>
          <p:nvPr/>
        </p:nvSpPr>
        <p:spPr>
          <a:xfrm>
            <a:off x="548640" y="5285232"/>
            <a:ext cx="3514954" cy="886968"/>
          </a:xfrm>
          <a:prstGeom prst="roundRect">
            <a:avLst>
              <a:gd name="adj" fmla="val 10309"/>
            </a:avLst>
          </a:prstGeom>
          <a:solidFill>
            <a:schemeClr val="bg2"/>
          </a:solidFill>
          <a:ln/>
        </p:spPr>
        <p:txBody>
          <a:bodyPr/>
          <a:lstStyle/>
          <a:p>
            <a:endParaRPr lang="en-IN"/>
          </a:p>
        </p:txBody>
      </p:sp>
      <p:sp>
        <p:nvSpPr>
          <p:cNvPr id="30" name="text-413"/>
          <p:cNvSpPr txBox="1"/>
          <p:nvPr/>
        </p:nvSpPr>
        <p:spPr>
          <a:xfrm>
            <a:off x="777240" y="5330952"/>
            <a:ext cx="3108960" cy="795528"/>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75,841</a:t>
            </a:r>
            <a:endParaRPr lang="en-US" sz="1400" dirty="0"/>
          </a:p>
          <a:p>
            <a:pPr marL="0" indent="0">
              <a:buNone/>
            </a:pPr>
            <a:r>
              <a:rPr lang="en-US" sz="1300" dirty="0">
                <a:solidFill>
                  <a:schemeClr val="tx1"/>
                </a:solidFill>
              </a:rPr>
              <a:t>trainable parameters, 2.7× the LSTM</a:t>
            </a:r>
            <a:endParaRPr lang="en-US" sz="1400" dirty="0"/>
          </a:p>
        </p:txBody>
      </p:sp>
      <p:sp>
        <p:nvSpPr>
          <p:cNvPr id="31" name="card-414"/>
          <p:cNvSpPr/>
          <p:nvPr/>
        </p:nvSpPr>
        <p:spPr>
          <a:xfrm>
            <a:off x="4337914" y="5285232"/>
            <a:ext cx="3514954" cy="886968"/>
          </a:xfrm>
          <a:prstGeom prst="roundRect">
            <a:avLst>
              <a:gd name="adj" fmla="val 10309"/>
            </a:avLst>
          </a:prstGeom>
          <a:solidFill>
            <a:schemeClr val="bg2"/>
          </a:solidFill>
          <a:ln/>
        </p:spPr>
        <p:txBody>
          <a:bodyPr/>
          <a:lstStyle/>
          <a:p>
            <a:endParaRPr lang="en-IN"/>
          </a:p>
        </p:txBody>
      </p:sp>
      <p:sp>
        <p:nvSpPr>
          <p:cNvPr id="32" name="text-415"/>
          <p:cNvSpPr txBox="1"/>
          <p:nvPr/>
        </p:nvSpPr>
        <p:spPr>
          <a:xfrm>
            <a:off x="4566514" y="5330952"/>
            <a:ext cx="3108960" cy="795528"/>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Same inputs</a:t>
            </a:r>
            <a:endParaRPr lang="en-US" sz="1400" dirty="0"/>
          </a:p>
          <a:p>
            <a:pPr marL="0" indent="0">
              <a:buNone/>
            </a:pPr>
            <a:r>
              <a:rPr lang="en-US" sz="1300" dirty="0">
                <a:solidFill>
                  <a:schemeClr val="tx1"/>
                </a:solidFill>
              </a:rPr>
              <a:t>windows, split and scaler as the LSTM</a:t>
            </a:r>
            <a:endParaRPr lang="en-US" sz="1400" dirty="0"/>
          </a:p>
        </p:txBody>
      </p:sp>
      <p:sp>
        <p:nvSpPr>
          <p:cNvPr id="33" name="card-416"/>
          <p:cNvSpPr/>
          <p:nvPr/>
        </p:nvSpPr>
        <p:spPr>
          <a:xfrm>
            <a:off x="8127187" y="5285232"/>
            <a:ext cx="3514954" cy="886968"/>
          </a:xfrm>
          <a:prstGeom prst="roundRect">
            <a:avLst>
              <a:gd name="adj" fmla="val 10309"/>
            </a:avLst>
          </a:prstGeom>
          <a:solidFill>
            <a:schemeClr val="bg2"/>
          </a:solidFill>
          <a:ln/>
        </p:spPr>
        <p:txBody>
          <a:bodyPr/>
          <a:lstStyle/>
          <a:p>
            <a:endParaRPr lang="en-IN"/>
          </a:p>
        </p:txBody>
      </p:sp>
      <p:sp>
        <p:nvSpPr>
          <p:cNvPr id="34" name="text-417"/>
          <p:cNvSpPr txBox="1"/>
          <p:nvPr/>
        </p:nvSpPr>
        <p:spPr>
          <a:xfrm>
            <a:off x="8355787" y="5330952"/>
            <a:ext cx="3108960" cy="795528"/>
          </a:xfrm>
          <a:prstGeom prst="rect">
            <a:avLst/>
          </a:prstGeom>
          <a:noFill/>
          <a:ln/>
        </p:spPr>
        <p:txBody>
          <a:bodyPr wrap="square" lIns="0" tIns="0" rIns="0" bIns="0" rtlCol="0" anchor="ctr"/>
          <a:lstStyle/>
          <a:p>
            <a:pPr marL="0" indent="0">
              <a:buNone/>
            </a:pPr>
            <a:r>
              <a:rPr lang="en-US" sz="1800" b="1" dirty="0">
                <a:solidFill>
                  <a:schemeClr val="tx2"/>
                </a:solidFill>
                <a:latin typeface="+mj-lt" pitchFamily="34" charset="0"/>
                <a:ea typeface="+mj-lt" pitchFamily="34" charset="-122"/>
                <a:cs typeface="+mj-lt" pitchFamily="34" charset="-120"/>
              </a:rPr>
              <a:t>50.1% · recall 0.85</a:t>
            </a:r>
            <a:endParaRPr lang="en-US" sz="1400" dirty="0"/>
          </a:p>
          <a:p>
            <a:pPr marL="0" indent="0">
              <a:buNone/>
            </a:pPr>
            <a:r>
              <a:rPr lang="en-US" sz="1300" dirty="0">
                <a:solidFill>
                  <a:schemeClr val="tx1"/>
                </a:solidFill>
              </a:rPr>
              <a:t>accuracy; predicted UP on 86% of days</a:t>
            </a:r>
            <a:endParaRPr lang="en-US" sz="1400" dirty="0"/>
          </a:p>
        </p:txBody>
      </p:sp>
      <p:sp>
        <p:nvSpPr>
          <p:cNvPr id="3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04 · MODELS &amp; ENSEMBLES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Five ways to combine the models</a:t>
            </a:r>
            <a:endParaRPr lang="en-US" sz="3200" dirty="0"/>
          </a:p>
        </p:txBody>
      </p:sp>
      <p:sp>
        <p:nvSpPr>
          <p:cNvPr id="4" name="pill-418"/>
          <p:cNvSpPr txBox="1"/>
          <p:nvPr/>
        </p:nvSpPr>
        <p:spPr>
          <a:xfrm>
            <a:off x="548640" y="1554480"/>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Logistic Regression</a:t>
            </a:r>
            <a:endParaRPr lang="en-US" sz="1300" dirty="0"/>
          </a:p>
        </p:txBody>
      </p:sp>
      <p:sp>
        <p:nvSpPr>
          <p:cNvPr id="5" name="pill-419"/>
          <p:cNvSpPr txBox="1"/>
          <p:nvPr/>
        </p:nvSpPr>
        <p:spPr>
          <a:xfrm>
            <a:off x="548640" y="2121408"/>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Random Forest</a:t>
            </a:r>
            <a:endParaRPr lang="en-US" sz="1300" dirty="0"/>
          </a:p>
        </p:txBody>
      </p:sp>
      <p:sp>
        <p:nvSpPr>
          <p:cNvPr id="6" name="pill-420"/>
          <p:cNvSpPr txBox="1"/>
          <p:nvPr/>
        </p:nvSpPr>
        <p:spPr>
          <a:xfrm>
            <a:off x="548640" y="2688336"/>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Gradient Boosting</a:t>
            </a:r>
            <a:endParaRPr lang="en-US" sz="1300" dirty="0"/>
          </a:p>
        </p:txBody>
      </p:sp>
      <p:sp>
        <p:nvSpPr>
          <p:cNvPr id="7" name="pill-421"/>
          <p:cNvSpPr txBox="1"/>
          <p:nvPr/>
        </p:nvSpPr>
        <p:spPr>
          <a:xfrm>
            <a:off x="548640" y="3255264"/>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XGBoost</a:t>
            </a:r>
            <a:endParaRPr lang="en-US" sz="1300" dirty="0"/>
          </a:p>
        </p:txBody>
      </p:sp>
      <p:sp>
        <p:nvSpPr>
          <p:cNvPr id="8" name="pill-422"/>
          <p:cNvSpPr txBox="1"/>
          <p:nvPr/>
        </p:nvSpPr>
        <p:spPr>
          <a:xfrm>
            <a:off x="548640" y="3822192"/>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SVM</a:t>
            </a:r>
            <a:endParaRPr lang="en-US" sz="1300" dirty="0"/>
          </a:p>
        </p:txBody>
      </p:sp>
      <p:sp>
        <p:nvSpPr>
          <p:cNvPr id="9" name="pill-423"/>
          <p:cNvSpPr txBox="1"/>
          <p:nvPr/>
        </p:nvSpPr>
        <p:spPr>
          <a:xfrm>
            <a:off x="548640" y="4389120"/>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KNN</a:t>
            </a:r>
            <a:endParaRPr lang="en-US" sz="1300" dirty="0"/>
          </a:p>
        </p:txBody>
      </p:sp>
      <p:sp>
        <p:nvSpPr>
          <p:cNvPr id="10" name="pill-424"/>
          <p:cNvSpPr txBox="1"/>
          <p:nvPr/>
        </p:nvSpPr>
        <p:spPr>
          <a:xfrm>
            <a:off x="548640" y="4956048"/>
            <a:ext cx="2377440" cy="457200"/>
          </a:xfrm>
          <a:prstGeom prst="roundRect">
            <a:avLst>
              <a:gd name="adj" fmla="val 24000"/>
            </a:avLst>
          </a:prstGeom>
          <a:solidFill>
            <a:schemeClr val="bg2"/>
          </a:solidFill>
          <a:ln/>
        </p:spPr>
        <p:txBody>
          <a:bodyPr wrap="square" lIns="0" tIns="0" rIns="0" bIns="0" rtlCol="0" anchor="ctr"/>
          <a:lstStyle/>
          <a:p>
            <a:pPr marL="0" indent="0" algn="ctr">
              <a:buNone/>
            </a:pPr>
            <a:r>
              <a:rPr lang="en-US" sz="1300" dirty="0">
                <a:solidFill>
                  <a:schemeClr val="tx2"/>
                </a:solidFill>
              </a:rPr>
              <a:t>LSTM</a:t>
            </a:r>
            <a:endParaRPr lang="en-US" sz="1300" dirty="0"/>
          </a:p>
        </p:txBody>
      </p:sp>
      <p:sp>
        <p:nvSpPr>
          <p:cNvPr id="11" name="pill-425"/>
          <p:cNvSpPr txBox="1"/>
          <p:nvPr/>
        </p:nvSpPr>
        <p:spPr>
          <a:xfrm>
            <a:off x="548640" y="5522976"/>
            <a:ext cx="2377440" cy="457200"/>
          </a:xfrm>
          <a:prstGeom prst="roundRect">
            <a:avLst>
              <a:gd name="adj" fmla="val 24000"/>
            </a:avLst>
          </a:prstGeom>
          <a:solidFill>
            <a:schemeClr val="bg1"/>
          </a:solidFill>
          <a:ln w="15875">
            <a:solidFill>
              <a:schemeClr val="accent5"/>
            </a:solidFill>
            <a:prstDash val="dash"/>
          </a:ln>
        </p:spPr>
        <p:txBody>
          <a:bodyPr wrap="square" lIns="0" tIns="0" rIns="0" bIns="0" rtlCol="0" anchor="ctr"/>
          <a:lstStyle/>
          <a:p>
            <a:pPr marL="0" indent="0" algn="ctr">
              <a:buNone/>
            </a:pPr>
            <a:r>
              <a:rPr lang="en-US" sz="1300" dirty="0">
                <a:solidFill>
                  <a:schemeClr val="accent5"/>
                </a:solidFill>
              </a:rPr>
              <a:t>ViT (8-model only)</a:t>
            </a:r>
            <a:endParaRPr lang="en-US" sz="1300" dirty="0"/>
          </a:p>
        </p:txBody>
      </p:sp>
      <p:sp>
        <p:nvSpPr>
          <p:cNvPr id="12" name="text-426"/>
          <p:cNvSpPr txBox="1"/>
          <p:nvPr/>
        </p:nvSpPr>
        <p:spPr>
          <a:xfrm>
            <a:off x="3017520" y="2697480"/>
            <a:ext cx="868680" cy="914400"/>
          </a:xfrm>
          <a:prstGeom prst="rect">
            <a:avLst/>
          </a:prstGeom>
          <a:noFill/>
          <a:ln/>
        </p:spPr>
        <p:txBody>
          <a:bodyPr wrap="square" lIns="0" tIns="0" rIns="0" bIns="0" rtlCol="0" anchor="b"/>
          <a:lstStyle/>
          <a:p>
            <a:pPr marL="0" indent="0" algn="ctr">
              <a:buNone/>
            </a:pPr>
            <a:r>
              <a:rPr lang="en-US" sz="1100" i="1" dirty="0">
                <a:solidFill>
                  <a:schemeClr val="accent6"/>
                </a:solidFill>
              </a:rPr>
              <a:t>P(UP) and a label per model, per day</a:t>
            </a:r>
            <a:endParaRPr lang="en-US" sz="1100" dirty="0"/>
          </a:p>
        </p:txBody>
      </p:sp>
      <p:sp>
        <p:nvSpPr>
          <p:cNvPr id="13" name="arrow-427"/>
          <p:cNvSpPr/>
          <p:nvPr/>
        </p:nvSpPr>
        <p:spPr>
          <a:xfrm>
            <a:off x="3108960" y="3703320"/>
            <a:ext cx="640080" cy="548640"/>
          </a:xfrm>
          <a:prstGeom prst="rightArrow">
            <a:avLst/>
          </a:prstGeom>
          <a:solidFill>
            <a:schemeClr val="accent6"/>
          </a:solidFill>
          <a:ln/>
        </p:spPr>
        <p:txBody>
          <a:bodyPr/>
          <a:lstStyle/>
          <a:p>
            <a:endParaRPr lang="en-IN"/>
          </a:p>
        </p:txBody>
      </p:sp>
      <p:sp>
        <p:nvSpPr>
          <p:cNvPr id="14" name="card-428"/>
          <p:cNvSpPr/>
          <p:nvPr/>
        </p:nvSpPr>
        <p:spPr>
          <a:xfrm>
            <a:off x="3931920" y="1554480"/>
            <a:ext cx="7708392" cy="786384"/>
          </a:xfrm>
          <a:prstGeom prst="roundRect">
            <a:avLst>
              <a:gd name="adj" fmla="val 11628"/>
            </a:avLst>
          </a:prstGeom>
          <a:solidFill>
            <a:schemeClr val="bg2"/>
          </a:solidFill>
          <a:ln/>
        </p:spPr>
        <p:txBody>
          <a:bodyPr/>
          <a:lstStyle/>
          <a:p>
            <a:endParaRPr lang="en-IN"/>
          </a:p>
        </p:txBody>
      </p:sp>
      <p:sp>
        <p:nvSpPr>
          <p:cNvPr id="15" name="icon-circle-429"/>
          <p:cNvSpPr/>
          <p:nvPr/>
        </p:nvSpPr>
        <p:spPr>
          <a:xfrm>
            <a:off x="4114800" y="1691640"/>
            <a:ext cx="512064" cy="512064"/>
          </a:xfrm>
          <a:prstGeom prst="ellipse">
            <a:avLst/>
          </a:prstGeom>
          <a:solidFill>
            <a:schemeClr val="accent6"/>
          </a:solidFill>
          <a:ln/>
        </p:spPr>
        <p:txBody>
          <a:bodyPr/>
          <a:lstStyle/>
          <a:p>
            <a:endParaRPr lang="en-IN"/>
          </a:p>
        </p:txBody>
      </p:sp>
      <p:pic>
        <p:nvPicPr>
          <p:cNvPr id="16" name="icon-430" descr="FaUsers"/>
          <p:cNvPicPr>
            <a:picLocks noChangeAspect="1"/>
          </p:cNvPicPr>
          <p:nvPr/>
        </p:nvPicPr>
        <p:blipFill>
          <a:blip r:embed="rId3"/>
          <a:stretch>
            <a:fillRect/>
          </a:stretch>
        </p:blipFill>
        <p:spPr>
          <a:xfrm>
            <a:off x="4237695" y="1814535"/>
            <a:ext cx="266273" cy="266273"/>
          </a:xfrm>
          <a:prstGeom prst="rect">
            <a:avLst/>
          </a:prstGeom>
        </p:spPr>
      </p:pic>
      <p:sp>
        <p:nvSpPr>
          <p:cNvPr id="17" name="text-431"/>
          <p:cNvSpPr txBox="1"/>
          <p:nvPr/>
        </p:nvSpPr>
        <p:spPr>
          <a:xfrm>
            <a:off x="4800600" y="1554480"/>
            <a:ext cx="2194560" cy="786384"/>
          </a:xfrm>
          <a:prstGeom prst="rect">
            <a:avLst/>
          </a:prstGeom>
          <a:noFill/>
          <a:ln/>
        </p:spPr>
        <p:txBody>
          <a:bodyPr wrap="square" lIns="0" tIns="0" rIns="0" bIns="0" rtlCol="0" anchor="ctr"/>
          <a:lstStyle/>
          <a:p>
            <a:pPr marL="0" indent="0">
              <a:buNone/>
            </a:pPr>
            <a:r>
              <a:rPr lang="en-US" sz="1600" b="1" dirty="0">
                <a:solidFill>
                  <a:schemeClr val="tx2"/>
                </a:solidFill>
              </a:rPr>
              <a:t>Majority voting</a:t>
            </a:r>
            <a:endParaRPr lang="en-US" sz="1600" dirty="0"/>
          </a:p>
        </p:txBody>
      </p:sp>
      <p:sp>
        <p:nvSpPr>
          <p:cNvPr id="18" name="text-432"/>
          <p:cNvSpPr txBox="1"/>
          <p:nvPr/>
        </p:nvSpPr>
        <p:spPr>
          <a:xfrm>
            <a:off x="7040880" y="1554480"/>
            <a:ext cx="4480560" cy="786384"/>
          </a:xfrm>
          <a:prstGeom prst="rect">
            <a:avLst/>
          </a:prstGeom>
          <a:noFill/>
          <a:ln/>
        </p:spPr>
        <p:txBody>
          <a:bodyPr wrap="square" lIns="0" tIns="0" rIns="0" bIns="0" rtlCol="0" anchor="ctr"/>
          <a:lstStyle/>
          <a:p>
            <a:pPr marL="0" indent="0">
              <a:buNone/>
            </a:pPr>
            <a:r>
              <a:rPr lang="en-US" sz="1500" dirty="0">
                <a:solidFill>
                  <a:schemeClr val="tx1"/>
                </a:solidFill>
              </a:rPr>
              <a:t>UP when more than half of the M models vote UP</a:t>
            </a:r>
            <a:endParaRPr lang="en-US" sz="1500" dirty="0"/>
          </a:p>
        </p:txBody>
      </p:sp>
      <p:sp>
        <p:nvSpPr>
          <p:cNvPr id="19" name="card-433"/>
          <p:cNvSpPr/>
          <p:nvPr/>
        </p:nvSpPr>
        <p:spPr>
          <a:xfrm>
            <a:off x="3931920" y="2468880"/>
            <a:ext cx="7708392" cy="786384"/>
          </a:xfrm>
          <a:prstGeom prst="roundRect">
            <a:avLst>
              <a:gd name="adj" fmla="val 11628"/>
            </a:avLst>
          </a:prstGeom>
          <a:solidFill>
            <a:schemeClr val="bg2"/>
          </a:solidFill>
          <a:ln/>
        </p:spPr>
        <p:txBody>
          <a:bodyPr/>
          <a:lstStyle/>
          <a:p>
            <a:endParaRPr lang="en-IN"/>
          </a:p>
        </p:txBody>
      </p:sp>
      <p:sp>
        <p:nvSpPr>
          <p:cNvPr id="20" name="icon-circle-434"/>
          <p:cNvSpPr/>
          <p:nvPr/>
        </p:nvSpPr>
        <p:spPr>
          <a:xfrm>
            <a:off x="4114800" y="2606040"/>
            <a:ext cx="512064" cy="512064"/>
          </a:xfrm>
          <a:prstGeom prst="ellipse">
            <a:avLst/>
          </a:prstGeom>
          <a:solidFill>
            <a:schemeClr val="accent4"/>
          </a:solidFill>
          <a:ln/>
        </p:spPr>
        <p:txBody>
          <a:bodyPr/>
          <a:lstStyle/>
          <a:p>
            <a:endParaRPr lang="en-IN"/>
          </a:p>
        </p:txBody>
      </p:sp>
      <p:pic>
        <p:nvPicPr>
          <p:cNvPr id="21" name="icon-435" descr="FaCalculator"/>
          <p:cNvPicPr>
            <a:picLocks noChangeAspect="1"/>
          </p:cNvPicPr>
          <p:nvPr/>
        </p:nvPicPr>
        <p:blipFill>
          <a:blip r:embed="rId4"/>
          <a:stretch>
            <a:fillRect/>
          </a:stretch>
        </p:blipFill>
        <p:spPr>
          <a:xfrm>
            <a:off x="4237695" y="2728935"/>
            <a:ext cx="266273" cy="266273"/>
          </a:xfrm>
          <a:prstGeom prst="rect">
            <a:avLst/>
          </a:prstGeom>
        </p:spPr>
      </p:pic>
      <p:sp>
        <p:nvSpPr>
          <p:cNvPr id="22" name="text-436"/>
          <p:cNvSpPr txBox="1"/>
          <p:nvPr/>
        </p:nvSpPr>
        <p:spPr>
          <a:xfrm>
            <a:off x="4800600" y="2468880"/>
            <a:ext cx="2194560" cy="786384"/>
          </a:xfrm>
          <a:prstGeom prst="rect">
            <a:avLst/>
          </a:prstGeom>
          <a:noFill/>
          <a:ln/>
        </p:spPr>
        <p:txBody>
          <a:bodyPr wrap="square" lIns="0" tIns="0" rIns="0" bIns="0" rtlCol="0" anchor="ctr"/>
          <a:lstStyle/>
          <a:p>
            <a:pPr marL="0" indent="0">
              <a:buNone/>
            </a:pPr>
            <a:r>
              <a:rPr lang="en-US" sz="1600" b="1" dirty="0">
                <a:solidFill>
                  <a:schemeClr val="tx2"/>
                </a:solidFill>
              </a:rPr>
              <a:t>Soft voting</a:t>
            </a:r>
            <a:endParaRPr lang="en-US" sz="1600" dirty="0"/>
          </a:p>
        </p:txBody>
      </p:sp>
      <p:sp>
        <p:nvSpPr>
          <p:cNvPr id="23" name="text-437"/>
          <p:cNvSpPr txBox="1"/>
          <p:nvPr/>
        </p:nvSpPr>
        <p:spPr>
          <a:xfrm>
            <a:off x="7040880" y="2468880"/>
            <a:ext cx="4480560" cy="786384"/>
          </a:xfrm>
          <a:prstGeom prst="rect">
            <a:avLst/>
          </a:prstGeom>
          <a:noFill/>
          <a:ln/>
        </p:spPr>
        <p:txBody>
          <a:bodyPr wrap="square" lIns="0" tIns="0" rIns="0" bIns="0" rtlCol="0" anchor="ctr"/>
          <a:lstStyle/>
          <a:p>
            <a:pPr marL="0" indent="0">
              <a:buNone/>
            </a:pPr>
            <a:r>
              <a:rPr lang="en-US" sz="1500" dirty="0">
                <a:solidFill>
                  <a:schemeClr val="tx1"/>
                </a:solidFill>
                <a:latin typeface="Cambria Math" pitchFamily="34" charset="0"/>
                <a:ea typeface="Cambria Math" pitchFamily="34" charset="-122"/>
                <a:cs typeface="Cambria Math" pitchFamily="34" charset="-120"/>
              </a:rPr>
              <a:t>P = (1/M) Σ pᵢ ;  UP if P ≥ 0.5</a:t>
            </a:r>
            <a:endParaRPr lang="en-US" sz="1500" dirty="0"/>
          </a:p>
        </p:txBody>
      </p:sp>
      <p:sp>
        <p:nvSpPr>
          <p:cNvPr id="24" name="card-438"/>
          <p:cNvSpPr/>
          <p:nvPr/>
        </p:nvSpPr>
        <p:spPr>
          <a:xfrm>
            <a:off x="3931920" y="3383280"/>
            <a:ext cx="7708392" cy="786384"/>
          </a:xfrm>
          <a:prstGeom prst="roundRect">
            <a:avLst>
              <a:gd name="adj" fmla="val 11628"/>
            </a:avLst>
          </a:prstGeom>
          <a:solidFill>
            <a:schemeClr val="bg2"/>
          </a:solidFill>
          <a:ln/>
        </p:spPr>
        <p:txBody>
          <a:bodyPr/>
          <a:lstStyle/>
          <a:p>
            <a:endParaRPr lang="en-IN"/>
          </a:p>
        </p:txBody>
      </p:sp>
      <p:sp>
        <p:nvSpPr>
          <p:cNvPr id="25" name="icon-circle-439"/>
          <p:cNvSpPr/>
          <p:nvPr/>
        </p:nvSpPr>
        <p:spPr>
          <a:xfrm>
            <a:off x="4114800" y="3520440"/>
            <a:ext cx="512064" cy="512064"/>
          </a:xfrm>
          <a:prstGeom prst="ellipse">
            <a:avLst/>
          </a:prstGeom>
          <a:solidFill>
            <a:schemeClr val="accent1"/>
          </a:solidFill>
          <a:ln/>
        </p:spPr>
        <p:txBody>
          <a:bodyPr/>
          <a:lstStyle/>
          <a:p>
            <a:endParaRPr lang="en-IN"/>
          </a:p>
        </p:txBody>
      </p:sp>
      <p:pic>
        <p:nvPicPr>
          <p:cNvPr id="26" name="icon-440" descr="FaScaleBalanced"/>
          <p:cNvPicPr>
            <a:picLocks noChangeAspect="1"/>
          </p:cNvPicPr>
          <p:nvPr/>
        </p:nvPicPr>
        <p:blipFill>
          <a:blip r:embed="rId5"/>
          <a:stretch>
            <a:fillRect/>
          </a:stretch>
        </p:blipFill>
        <p:spPr>
          <a:xfrm>
            <a:off x="4237695" y="3643335"/>
            <a:ext cx="266273" cy="266273"/>
          </a:xfrm>
          <a:prstGeom prst="rect">
            <a:avLst/>
          </a:prstGeom>
        </p:spPr>
      </p:pic>
      <p:sp>
        <p:nvSpPr>
          <p:cNvPr id="27" name="text-441"/>
          <p:cNvSpPr txBox="1"/>
          <p:nvPr/>
        </p:nvSpPr>
        <p:spPr>
          <a:xfrm>
            <a:off x="4800600" y="3383280"/>
            <a:ext cx="2194560" cy="786384"/>
          </a:xfrm>
          <a:prstGeom prst="rect">
            <a:avLst/>
          </a:prstGeom>
          <a:noFill/>
          <a:ln/>
        </p:spPr>
        <p:txBody>
          <a:bodyPr wrap="square" lIns="0" tIns="0" rIns="0" bIns="0" rtlCol="0" anchor="ctr"/>
          <a:lstStyle/>
          <a:p>
            <a:pPr marL="0" indent="0">
              <a:buNone/>
            </a:pPr>
            <a:r>
              <a:rPr lang="en-US" sz="1600" b="1" dirty="0">
                <a:solidFill>
                  <a:schemeClr val="tx2"/>
                </a:solidFill>
              </a:rPr>
              <a:t>Static weighted</a:t>
            </a:r>
            <a:endParaRPr lang="en-US" sz="1600" dirty="0"/>
          </a:p>
        </p:txBody>
      </p:sp>
      <p:sp>
        <p:nvSpPr>
          <p:cNvPr id="28" name="text-442"/>
          <p:cNvSpPr txBox="1"/>
          <p:nvPr/>
        </p:nvSpPr>
        <p:spPr>
          <a:xfrm>
            <a:off x="7040880" y="3383280"/>
            <a:ext cx="4480560" cy="786384"/>
          </a:xfrm>
          <a:prstGeom prst="rect">
            <a:avLst/>
          </a:prstGeom>
          <a:noFill/>
          <a:ln/>
        </p:spPr>
        <p:txBody>
          <a:bodyPr wrap="square" lIns="0" tIns="0" rIns="0" bIns="0" rtlCol="0" anchor="ctr"/>
          <a:lstStyle/>
          <a:p>
            <a:pPr marL="0" indent="0">
              <a:buNone/>
            </a:pPr>
            <a:r>
              <a:rPr lang="en-US" sz="1500" dirty="0">
                <a:solidFill>
                  <a:schemeClr val="tx1"/>
                </a:solidFill>
                <a:latin typeface="Cambria Math" pitchFamily="34" charset="0"/>
                <a:ea typeface="Cambria Math" pitchFamily="34" charset="-122"/>
                <a:cs typeface="Cambria Math" pitchFamily="34" charset="-120"/>
              </a:rPr>
              <a:t>wᵢ = F1ᵢ / Σⱼ F1ⱼ ;  P = Σ wᵢ pᵢ</a:t>
            </a:r>
            <a:r>
              <a:rPr lang="en-US" sz="1300" dirty="0">
                <a:solidFill>
                  <a:schemeClr val="accent6"/>
                </a:solidFill>
              </a:rPr>
              <a:t>   (walk-forward F1)</a:t>
            </a:r>
            <a:endParaRPr lang="en-US" sz="1500" dirty="0"/>
          </a:p>
        </p:txBody>
      </p:sp>
      <p:sp>
        <p:nvSpPr>
          <p:cNvPr id="29" name="card-443"/>
          <p:cNvSpPr/>
          <p:nvPr/>
        </p:nvSpPr>
        <p:spPr>
          <a:xfrm>
            <a:off x="3931920" y="4297680"/>
            <a:ext cx="7708392" cy="786384"/>
          </a:xfrm>
          <a:prstGeom prst="roundRect">
            <a:avLst>
              <a:gd name="adj" fmla="val 11628"/>
            </a:avLst>
          </a:prstGeom>
          <a:solidFill>
            <a:schemeClr val="bg2"/>
          </a:solidFill>
          <a:ln/>
        </p:spPr>
        <p:txBody>
          <a:bodyPr/>
          <a:lstStyle/>
          <a:p>
            <a:endParaRPr lang="en-IN"/>
          </a:p>
        </p:txBody>
      </p:sp>
      <p:sp>
        <p:nvSpPr>
          <p:cNvPr id="30" name="icon-circle-444"/>
          <p:cNvSpPr/>
          <p:nvPr/>
        </p:nvSpPr>
        <p:spPr>
          <a:xfrm>
            <a:off x="4114800" y="4434840"/>
            <a:ext cx="512064" cy="512064"/>
          </a:xfrm>
          <a:prstGeom prst="ellipse">
            <a:avLst/>
          </a:prstGeom>
          <a:solidFill>
            <a:schemeClr val="accent3"/>
          </a:solidFill>
          <a:ln/>
        </p:spPr>
        <p:txBody>
          <a:bodyPr/>
          <a:lstStyle/>
          <a:p>
            <a:endParaRPr lang="en-IN"/>
          </a:p>
        </p:txBody>
      </p:sp>
      <p:pic>
        <p:nvPicPr>
          <p:cNvPr id="31" name="icon-445" descr="FaArrowsRotate"/>
          <p:cNvPicPr>
            <a:picLocks noChangeAspect="1"/>
          </p:cNvPicPr>
          <p:nvPr/>
        </p:nvPicPr>
        <p:blipFill>
          <a:blip r:embed="rId6"/>
          <a:stretch>
            <a:fillRect/>
          </a:stretch>
        </p:blipFill>
        <p:spPr>
          <a:xfrm>
            <a:off x="4237695" y="4557735"/>
            <a:ext cx="266273" cy="266273"/>
          </a:xfrm>
          <a:prstGeom prst="rect">
            <a:avLst/>
          </a:prstGeom>
        </p:spPr>
      </p:pic>
      <p:sp>
        <p:nvSpPr>
          <p:cNvPr id="32" name="text-446"/>
          <p:cNvSpPr txBox="1"/>
          <p:nvPr/>
        </p:nvSpPr>
        <p:spPr>
          <a:xfrm>
            <a:off x="4800600" y="4297680"/>
            <a:ext cx="2194560" cy="786384"/>
          </a:xfrm>
          <a:prstGeom prst="rect">
            <a:avLst/>
          </a:prstGeom>
          <a:noFill/>
          <a:ln/>
        </p:spPr>
        <p:txBody>
          <a:bodyPr wrap="square" lIns="0" tIns="0" rIns="0" bIns="0" rtlCol="0" anchor="ctr"/>
          <a:lstStyle/>
          <a:p>
            <a:pPr marL="0" indent="0">
              <a:buNone/>
            </a:pPr>
            <a:r>
              <a:rPr lang="en-US" sz="1600" b="1" dirty="0">
                <a:solidFill>
                  <a:schemeClr val="tx2"/>
                </a:solidFill>
              </a:rPr>
              <a:t>Adaptive weighted</a:t>
            </a:r>
            <a:endParaRPr lang="en-US" sz="1600" dirty="0"/>
          </a:p>
        </p:txBody>
      </p:sp>
      <p:sp>
        <p:nvSpPr>
          <p:cNvPr id="33" name="text-447"/>
          <p:cNvSpPr txBox="1"/>
          <p:nvPr/>
        </p:nvSpPr>
        <p:spPr>
          <a:xfrm>
            <a:off x="7040880" y="4297680"/>
            <a:ext cx="4480560" cy="786384"/>
          </a:xfrm>
          <a:prstGeom prst="rect">
            <a:avLst/>
          </a:prstGeom>
          <a:noFill/>
          <a:ln/>
        </p:spPr>
        <p:txBody>
          <a:bodyPr wrap="square" lIns="0" tIns="0" rIns="0" bIns="0" rtlCol="0" anchor="ctr"/>
          <a:lstStyle/>
          <a:p>
            <a:pPr marL="0" indent="0">
              <a:buNone/>
            </a:pPr>
            <a:r>
              <a:rPr lang="en-US" sz="1500" dirty="0">
                <a:solidFill>
                  <a:schemeClr val="tx1"/>
                </a:solidFill>
                <a:latin typeface="Cambria Math" pitchFamily="34" charset="0"/>
                <a:ea typeface="Cambria Math" pitchFamily="34" charset="-122"/>
                <a:cs typeface="Cambria Math" pitchFamily="34" charset="-120"/>
              </a:rPr>
              <a:t>wᵢ(t) = softmax(β·(aᵢ(t) − 0.5))</a:t>
            </a:r>
            <a:r>
              <a:rPr lang="en-US" sz="1300" dirty="0">
                <a:solidFill>
                  <a:schemeClr val="accent6"/>
                </a:solidFill>
              </a:rPr>
              <a:t>   recomputed every day</a:t>
            </a:r>
            <a:endParaRPr lang="en-US" sz="1500" dirty="0"/>
          </a:p>
        </p:txBody>
      </p:sp>
      <p:sp>
        <p:nvSpPr>
          <p:cNvPr id="34" name="card-448"/>
          <p:cNvSpPr/>
          <p:nvPr/>
        </p:nvSpPr>
        <p:spPr>
          <a:xfrm>
            <a:off x="3931920" y="5212080"/>
            <a:ext cx="7708392" cy="786384"/>
          </a:xfrm>
          <a:prstGeom prst="roundRect">
            <a:avLst>
              <a:gd name="adj" fmla="val 11628"/>
            </a:avLst>
          </a:prstGeom>
          <a:solidFill>
            <a:schemeClr val="bg2"/>
          </a:solidFill>
          <a:ln/>
        </p:spPr>
        <p:txBody>
          <a:bodyPr/>
          <a:lstStyle/>
          <a:p>
            <a:endParaRPr lang="en-IN"/>
          </a:p>
        </p:txBody>
      </p:sp>
      <p:sp>
        <p:nvSpPr>
          <p:cNvPr id="35" name="icon-circle-449"/>
          <p:cNvSpPr/>
          <p:nvPr/>
        </p:nvSpPr>
        <p:spPr>
          <a:xfrm>
            <a:off x="4114800" y="5349240"/>
            <a:ext cx="512064" cy="512064"/>
          </a:xfrm>
          <a:prstGeom prst="ellipse">
            <a:avLst/>
          </a:prstGeom>
          <a:solidFill>
            <a:schemeClr val="accent5"/>
          </a:solidFill>
          <a:ln/>
        </p:spPr>
        <p:txBody>
          <a:bodyPr/>
          <a:lstStyle/>
          <a:p>
            <a:endParaRPr lang="en-IN"/>
          </a:p>
        </p:txBody>
      </p:sp>
      <p:pic>
        <p:nvPicPr>
          <p:cNvPr id="36" name="icon-450" descr="FaLayerGroup"/>
          <p:cNvPicPr>
            <a:picLocks noChangeAspect="1"/>
          </p:cNvPicPr>
          <p:nvPr/>
        </p:nvPicPr>
        <p:blipFill>
          <a:blip r:embed="rId7"/>
          <a:stretch>
            <a:fillRect/>
          </a:stretch>
        </p:blipFill>
        <p:spPr>
          <a:xfrm>
            <a:off x="4237695" y="5472135"/>
            <a:ext cx="266273" cy="266273"/>
          </a:xfrm>
          <a:prstGeom prst="rect">
            <a:avLst/>
          </a:prstGeom>
        </p:spPr>
      </p:pic>
      <p:sp>
        <p:nvSpPr>
          <p:cNvPr id="37" name="text-451"/>
          <p:cNvSpPr txBox="1"/>
          <p:nvPr/>
        </p:nvSpPr>
        <p:spPr>
          <a:xfrm>
            <a:off x="4800600" y="5212080"/>
            <a:ext cx="2194560" cy="786384"/>
          </a:xfrm>
          <a:prstGeom prst="rect">
            <a:avLst/>
          </a:prstGeom>
          <a:noFill/>
          <a:ln/>
        </p:spPr>
        <p:txBody>
          <a:bodyPr wrap="square" lIns="0" tIns="0" rIns="0" bIns="0" rtlCol="0" anchor="ctr"/>
          <a:lstStyle/>
          <a:p>
            <a:pPr marL="0" indent="0">
              <a:buNone/>
            </a:pPr>
            <a:r>
              <a:rPr lang="en-US" sz="1600" b="1" dirty="0">
                <a:solidFill>
                  <a:schemeClr val="tx2"/>
                </a:solidFill>
              </a:rPr>
              <a:t>Stacking</a:t>
            </a:r>
            <a:endParaRPr lang="en-US" sz="1600" dirty="0"/>
          </a:p>
        </p:txBody>
      </p:sp>
      <p:sp>
        <p:nvSpPr>
          <p:cNvPr id="38" name="text-452"/>
          <p:cNvSpPr txBox="1"/>
          <p:nvPr/>
        </p:nvSpPr>
        <p:spPr>
          <a:xfrm>
            <a:off x="7040880" y="5212080"/>
            <a:ext cx="4480560" cy="786384"/>
          </a:xfrm>
          <a:prstGeom prst="rect">
            <a:avLst/>
          </a:prstGeom>
          <a:noFill/>
          <a:ln/>
        </p:spPr>
        <p:txBody>
          <a:bodyPr wrap="square" lIns="0" tIns="0" rIns="0" bIns="0" rtlCol="0" anchor="ctr"/>
          <a:lstStyle/>
          <a:p>
            <a:pPr marL="0" indent="0">
              <a:buNone/>
            </a:pPr>
            <a:r>
              <a:rPr lang="en-US" sz="1500" dirty="0">
                <a:solidFill>
                  <a:schemeClr val="tx1"/>
                </a:solidFill>
              </a:rPr>
              <a:t>logistic meta-model trained on out-of-fold probabilities</a:t>
            </a:r>
            <a:endParaRPr lang="en-US" sz="1500" dirty="0"/>
          </a:p>
        </p:txBody>
      </p:sp>
      <p:sp>
        <p:nvSpPr>
          <p:cNvPr id="39" name="text-453"/>
          <p:cNvSpPr txBox="1"/>
          <p:nvPr/>
        </p:nvSpPr>
        <p:spPr>
          <a:xfrm>
            <a:off x="3931920" y="6144768"/>
            <a:ext cx="7708392" cy="274320"/>
          </a:xfrm>
          <a:prstGeom prst="rect">
            <a:avLst/>
          </a:prstGeom>
          <a:noFill/>
          <a:ln/>
        </p:spPr>
        <p:txBody>
          <a:bodyPr wrap="square" lIns="0" tIns="0" rIns="0" bIns="0" rtlCol="0" anchor="t"/>
          <a:lstStyle/>
          <a:p>
            <a:pPr marL="0" indent="0">
              <a:buNone/>
            </a:pPr>
            <a:r>
              <a:rPr lang="en-US" sz="1200" i="1" dirty="0">
                <a:solidFill>
                  <a:schemeClr val="accent6"/>
                </a:solidFill>
              </a:rPr>
              <a:t>Each rule is built for 7 models (6 classical + LSTM) and, as an experiment, for 8 models (+ ViT).</a:t>
            </a:r>
            <a:endParaRPr lang="en-US" sz="1200" dirty="0"/>
          </a:p>
        </p:txBody>
      </p:sp>
      <p:sp>
        <p:nvSpPr>
          <p:cNvPr id="40"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04 · MODELS &amp; ENSEMBLES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Adaptive weighted voting</a:t>
            </a:r>
            <a:endParaRPr lang="en-US" sz="3200" dirty="0"/>
          </a:p>
        </p:txBody>
      </p:sp>
      <p:sp>
        <p:nvSpPr>
          <p:cNvPr id="4" name="card-454"/>
          <p:cNvSpPr/>
          <p:nvPr/>
        </p:nvSpPr>
        <p:spPr>
          <a:xfrm>
            <a:off x="548640" y="1508760"/>
            <a:ext cx="6492240" cy="1600200"/>
          </a:xfrm>
          <a:prstGeom prst="roundRect">
            <a:avLst>
              <a:gd name="adj" fmla="val 5714"/>
            </a:avLst>
          </a:prstGeom>
          <a:solidFill>
            <a:schemeClr val="bg2"/>
          </a:solidFill>
          <a:ln/>
        </p:spPr>
        <p:txBody>
          <a:bodyPr/>
          <a:lstStyle/>
          <a:p>
            <a:endParaRPr lang="en-IN"/>
          </a:p>
        </p:txBody>
      </p:sp>
      <p:sp>
        <p:nvSpPr>
          <p:cNvPr id="5" name="text-455"/>
          <p:cNvSpPr txBox="1"/>
          <p:nvPr/>
        </p:nvSpPr>
        <p:spPr>
          <a:xfrm>
            <a:off x="822960" y="1645920"/>
            <a:ext cx="5943600" cy="274320"/>
          </a:xfrm>
          <a:prstGeom prst="rect">
            <a:avLst/>
          </a:prstGeom>
          <a:noFill/>
          <a:ln/>
        </p:spPr>
        <p:txBody>
          <a:bodyPr wrap="square" lIns="0" tIns="0" rIns="0" bIns="0" rtlCol="0" anchor="t"/>
          <a:lstStyle/>
          <a:p>
            <a:pPr marL="0" indent="0">
              <a:buNone/>
            </a:pPr>
            <a:r>
              <a:rPr lang="en-US" sz="1100" b="1" kern="0" spc="200" dirty="0">
                <a:solidFill>
                  <a:schemeClr val="accent1"/>
                </a:solidFill>
              </a:rPr>
              <a:t>DAILY WEIGHTS</a:t>
            </a:r>
            <a:endParaRPr lang="en-US" sz="1100" dirty="0"/>
          </a:p>
        </p:txBody>
      </p:sp>
      <p:sp>
        <p:nvSpPr>
          <p:cNvPr id="6" name="text-456"/>
          <p:cNvSpPr txBox="1"/>
          <p:nvPr/>
        </p:nvSpPr>
        <p:spPr>
          <a:xfrm>
            <a:off x="822960" y="1938528"/>
            <a:ext cx="6080760" cy="548640"/>
          </a:xfrm>
          <a:prstGeom prst="rect">
            <a:avLst/>
          </a:prstGeom>
          <a:noFill/>
          <a:ln/>
        </p:spPr>
        <p:txBody>
          <a:bodyPr wrap="square" lIns="0" tIns="0" rIns="0" bIns="0" rtlCol="0" anchor="ctr"/>
          <a:lstStyle/>
          <a:p>
            <a:pPr marL="0" indent="0">
              <a:buNone/>
            </a:pPr>
            <a:r>
              <a:rPr lang="en-US" sz="1900" dirty="0">
                <a:solidFill>
                  <a:schemeClr val="tx2"/>
                </a:solidFill>
                <a:latin typeface="Cambria Math" pitchFamily="34" charset="0"/>
                <a:ea typeface="Cambria Math" pitchFamily="34" charset="-122"/>
                <a:cs typeface="Cambria Math" pitchFamily="34" charset="-120"/>
              </a:rPr>
              <a:t>wᵢ(t) = exp(β·(aᵢ(t) − 0.5)) / Σⱼ exp(β·(aⱼ(t) − 0.5))</a:t>
            </a:r>
            <a:endParaRPr lang="en-US" sz="1900" dirty="0"/>
          </a:p>
        </p:txBody>
      </p:sp>
      <p:sp>
        <p:nvSpPr>
          <p:cNvPr id="7" name="text-457"/>
          <p:cNvSpPr txBox="1"/>
          <p:nvPr/>
        </p:nvSpPr>
        <p:spPr>
          <a:xfrm>
            <a:off x="822960" y="2560320"/>
            <a:ext cx="6035040" cy="411480"/>
          </a:xfrm>
          <a:prstGeom prst="rect">
            <a:avLst/>
          </a:prstGeom>
          <a:noFill/>
          <a:ln/>
        </p:spPr>
        <p:txBody>
          <a:bodyPr wrap="square" lIns="0" tIns="0" rIns="0" bIns="0" rtlCol="0" anchor="t"/>
          <a:lstStyle/>
          <a:p>
            <a:pPr marL="0" indent="0">
              <a:buNone/>
            </a:pPr>
            <a:r>
              <a:rPr lang="en-US" sz="1400" dirty="0">
                <a:solidFill>
                  <a:schemeClr val="tx1"/>
                </a:solidFill>
              </a:rPr>
              <a:t>aᵢ(t) = accuracy of model i over the last W days whose outcome is already known</a:t>
            </a:r>
            <a:endParaRPr lang="en-US" sz="1400" dirty="0"/>
          </a:p>
        </p:txBody>
      </p:sp>
      <p:sp>
        <p:nvSpPr>
          <p:cNvPr id="8" name="text-458"/>
          <p:cNvSpPr txBox="1"/>
          <p:nvPr/>
        </p:nvSpPr>
        <p:spPr>
          <a:xfrm>
            <a:off x="548640" y="3291840"/>
            <a:ext cx="6492240" cy="320040"/>
          </a:xfrm>
          <a:prstGeom prst="rect">
            <a:avLst/>
          </a:prstGeom>
          <a:noFill/>
          <a:ln/>
        </p:spPr>
        <p:txBody>
          <a:bodyPr wrap="square" lIns="0" tIns="0" rIns="0" bIns="0" rtlCol="0" anchor="t"/>
          <a:lstStyle/>
          <a:p>
            <a:pPr marL="0" indent="0">
              <a:buNone/>
            </a:pPr>
            <a:r>
              <a:rPr lang="en-US" sz="1400" b="1" dirty="0">
                <a:solidFill>
                  <a:schemeClr val="tx2"/>
                </a:solidFill>
              </a:rPr>
              <a:t>What is known when the vote for day t is cast</a:t>
            </a:r>
            <a:endParaRPr lang="en-US" sz="1400" dirty="0"/>
          </a:p>
        </p:txBody>
      </p:sp>
      <p:sp>
        <p:nvSpPr>
          <p:cNvPr id="9" name="day-459"/>
          <p:cNvSpPr txBox="1"/>
          <p:nvPr/>
        </p:nvSpPr>
        <p:spPr>
          <a:xfrm>
            <a:off x="548640" y="3675888"/>
            <a:ext cx="777240"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400" b="1" dirty="0">
                <a:solidFill>
                  <a:schemeClr val="bg1"/>
                </a:solidFill>
              </a:rPr>
              <a:t>t − W</a:t>
            </a:r>
            <a:endParaRPr lang="en-US" sz="1400" dirty="0"/>
          </a:p>
        </p:txBody>
      </p:sp>
      <p:sp>
        <p:nvSpPr>
          <p:cNvPr id="10" name="day-460"/>
          <p:cNvSpPr txBox="1"/>
          <p:nvPr/>
        </p:nvSpPr>
        <p:spPr>
          <a:xfrm>
            <a:off x="1417320" y="3675888"/>
            <a:ext cx="777240"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400" b="1" dirty="0">
                <a:solidFill>
                  <a:schemeClr val="bg1"/>
                </a:solidFill>
              </a:rPr>
              <a:t>…</a:t>
            </a:r>
            <a:endParaRPr lang="en-US" sz="1400" dirty="0"/>
          </a:p>
        </p:txBody>
      </p:sp>
      <p:sp>
        <p:nvSpPr>
          <p:cNvPr id="11" name="day-461"/>
          <p:cNvSpPr txBox="1"/>
          <p:nvPr/>
        </p:nvSpPr>
        <p:spPr>
          <a:xfrm>
            <a:off x="2286000" y="3675888"/>
            <a:ext cx="777240"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400" b="1" dirty="0">
                <a:solidFill>
                  <a:schemeClr val="bg1"/>
                </a:solidFill>
              </a:rPr>
              <a:t>t − 3</a:t>
            </a:r>
            <a:endParaRPr lang="en-US" sz="1400" dirty="0"/>
          </a:p>
        </p:txBody>
      </p:sp>
      <p:sp>
        <p:nvSpPr>
          <p:cNvPr id="12" name="day-462"/>
          <p:cNvSpPr txBox="1"/>
          <p:nvPr/>
        </p:nvSpPr>
        <p:spPr>
          <a:xfrm>
            <a:off x="3154680" y="3675888"/>
            <a:ext cx="777240"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400" b="1" dirty="0">
                <a:solidFill>
                  <a:schemeClr val="bg1"/>
                </a:solidFill>
              </a:rPr>
              <a:t>t − 2</a:t>
            </a:r>
            <a:endParaRPr lang="en-US" sz="1400" dirty="0"/>
          </a:p>
        </p:txBody>
      </p:sp>
      <p:sp>
        <p:nvSpPr>
          <p:cNvPr id="13" name="day-463"/>
          <p:cNvSpPr txBox="1"/>
          <p:nvPr/>
        </p:nvSpPr>
        <p:spPr>
          <a:xfrm>
            <a:off x="4023360" y="3675888"/>
            <a:ext cx="777240" cy="502920"/>
          </a:xfrm>
          <a:prstGeom prst="roundRect">
            <a:avLst>
              <a:gd name="adj" fmla="val 14545"/>
            </a:avLst>
          </a:prstGeom>
          <a:solidFill>
            <a:schemeClr val="accent1"/>
          </a:solidFill>
          <a:ln/>
        </p:spPr>
        <p:txBody>
          <a:bodyPr wrap="square" lIns="0" tIns="0" rIns="0" bIns="0" rtlCol="0" anchor="ctr"/>
          <a:lstStyle/>
          <a:p>
            <a:pPr marL="0" indent="0" algn="ctr">
              <a:buNone/>
            </a:pPr>
            <a:r>
              <a:rPr lang="en-US" sz="1400" b="1" dirty="0">
                <a:solidFill>
                  <a:schemeClr val="bg1"/>
                </a:solidFill>
              </a:rPr>
              <a:t>t − 1</a:t>
            </a:r>
            <a:endParaRPr lang="en-US" sz="1400" dirty="0"/>
          </a:p>
        </p:txBody>
      </p:sp>
      <p:sp>
        <p:nvSpPr>
          <p:cNvPr id="14" name="day-464"/>
          <p:cNvSpPr txBox="1"/>
          <p:nvPr/>
        </p:nvSpPr>
        <p:spPr>
          <a:xfrm>
            <a:off x="4892040" y="3675888"/>
            <a:ext cx="777240" cy="502920"/>
          </a:xfrm>
          <a:prstGeom prst="roundRect">
            <a:avLst>
              <a:gd name="adj" fmla="val 14545"/>
            </a:avLst>
          </a:prstGeom>
          <a:solidFill>
            <a:schemeClr val="accent4"/>
          </a:solidFill>
          <a:ln/>
        </p:spPr>
        <p:txBody>
          <a:bodyPr wrap="square" lIns="0" tIns="0" rIns="0" bIns="0" rtlCol="0" anchor="ctr"/>
          <a:lstStyle/>
          <a:p>
            <a:pPr marL="0" indent="0" algn="ctr">
              <a:buNone/>
            </a:pPr>
            <a:r>
              <a:rPr lang="en-US" sz="1400" b="1" dirty="0">
                <a:solidFill>
                  <a:schemeClr val="bg1"/>
                </a:solidFill>
              </a:rPr>
              <a:t>t</a:t>
            </a:r>
            <a:endParaRPr lang="en-US" sz="1400" dirty="0"/>
          </a:p>
        </p:txBody>
      </p:sp>
      <p:sp>
        <p:nvSpPr>
          <p:cNvPr id="15" name="day-465"/>
          <p:cNvSpPr txBox="1"/>
          <p:nvPr/>
        </p:nvSpPr>
        <p:spPr>
          <a:xfrm>
            <a:off x="5760720" y="3675888"/>
            <a:ext cx="777240" cy="502920"/>
          </a:xfrm>
          <a:prstGeom prst="roundRect">
            <a:avLst>
              <a:gd name="adj" fmla="val 14545"/>
            </a:avLst>
          </a:prstGeom>
          <a:solidFill>
            <a:schemeClr val="bg2"/>
          </a:solidFill>
          <a:ln/>
        </p:spPr>
        <p:txBody>
          <a:bodyPr wrap="square" lIns="0" tIns="0" rIns="0" bIns="0" rtlCol="0" anchor="ctr"/>
          <a:lstStyle/>
          <a:p>
            <a:pPr marL="0" indent="0" algn="ctr">
              <a:buNone/>
            </a:pPr>
            <a:r>
              <a:rPr lang="en-US" sz="1400" b="1" dirty="0">
                <a:solidFill>
                  <a:schemeClr val="accent6"/>
                </a:solidFill>
              </a:rPr>
              <a:t>t + 1</a:t>
            </a:r>
            <a:endParaRPr lang="en-US" sz="1400" dirty="0"/>
          </a:p>
        </p:txBody>
      </p:sp>
      <p:sp>
        <p:nvSpPr>
          <p:cNvPr id="16" name="text-466"/>
          <p:cNvSpPr txBox="1"/>
          <p:nvPr/>
        </p:nvSpPr>
        <p:spPr>
          <a:xfrm>
            <a:off x="548640" y="4251960"/>
            <a:ext cx="4206240" cy="320040"/>
          </a:xfrm>
          <a:prstGeom prst="rect">
            <a:avLst/>
          </a:prstGeom>
          <a:noFill/>
          <a:ln/>
        </p:spPr>
        <p:txBody>
          <a:bodyPr wrap="square" lIns="0" tIns="0" rIns="0" bIns="0" rtlCol="0" anchor="t"/>
          <a:lstStyle/>
          <a:p>
            <a:pPr marL="0" indent="0" algn="ctr">
              <a:buNone/>
            </a:pPr>
            <a:r>
              <a:rPr lang="en-US" sz="1200" dirty="0">
                <a:solidFill>
                  <a:schemeClr val="accent1"/>
                </a:solidFill>
              </a:rPr>
              <a:t>labels already known → aᵢ(t)</a:t>
            </a:r>
            <a:endParaRPr lang="en-US" sz="1200" dirty="0"/>
          </a:p>
        </p:txBody>
      </p:sp>
      <p:sp>
        <p:nvSpPr>
          <p:cNvPr id="17" name="text-467"/>
          <p:cNvSpPr txBox="1"/>
          <p:nvPr/>
        </p:nvSpPr>
        <p:spPr>
          <a:xfrm>
            <a:off x="4800600" y="4251960"/>
            <a:ext cx="960120" cy="502920"/>
          </a:xfrm>
          <a:prstGeom prst="rect">
            <a:avLst/>
          </a:prstGeom>
          <a:noFill/>
          <a:ln/>
        </p:spPr>
        <p:txBody>
          <a:bodyPr wrap="square" lIns="0" tIns="0" rIns="0" bIns="0" rtlCol="0" anchor="t"/>
          <a:lstStyle/>
          <a:p>
            <a:pPr marL="0" indent="0" algn="ctr">
              <a:buNone/>
            </a:pPr>
            <a:r>
              <a:rPr lang="en-US" sz="1200" dirty="0">
                <a:solidFill>
                  <a:schemeClr val="accent4"/>
                </a:solidFill>
              </a:rPr>
              <a:t>vote after the close</a:t>
            </a:r>
            <a:endParaRPr lang="en-US" sz="1200" dirty="0"/>
          </a:p>
        </p:txBody>
      </p:sp>
      <p:sp>
        <p:nvSpPr>
          <p:cNvPr id="18" name="text-468"/>
          <p:cNvSpPr txBox="1"/>
          <p:nvPr/>
        </p:nvSpPr>
        <p:spPr>
          <a:xfrm>
            <a:off x="5760720" y="4251960"/>
            <a:ext cx="914400" cy="502920"/>
          </a:xfrm>
          <a:prstGeom prst="rect">
            <a:avLst/>
          </a:prstGeom>
          <a:noFill/>
          <a:ln/>
        </p:spPr>
        <p:txBody>
          <a:bodyPr wrap="square" lIns="0" tIns="0" rIns="0" bIns="0" rtlCol="0" anchor="t"/>
          <a:lstStyle/>
          <a:p>
            <a:pPr marL="0" indent="0" algn="ctr">
              <a:buNone/>
            </a:pPr>
            <a:r>
              <a:rPr lang="en-US" sz="1200" dirty="0">
                <a:solidFill>
                  <a:schemeClr val="accent6"/>
                </a:solidFill>
              </a:rPr>
              <a:t>y[t] still unknown</a:t>
            </a:r>
            <a:endParaRPr lang="en-US" sz="1200" dirty="0"/>
          </a:p>
        </p:txBody>
      </p:sp>
      <p:sp>
        <p:nvSpPr>
          <p:cNvPr id="19" name="icon-circle-469"/>
          <p:cNvSpPr/>
          <p:nvPr/>
        </p:nvSpPr>
        <p:spPr>
          <a:xfrm>
            <a:off x="548640" y="5010912"/>
            <a:ext cx="411480" cy="411480"/>
          </a:xfrm>
          <a:prstGeom prst="ellipse">
            <a:avLst/>
          </a:prstGeom>
          <a:solidFill>
            <a:schemeClr val="accent3"/>
          </a:solidFill>
          <a:ln/>
        </p:spPr>
        <p:txBody>
          <a:bodyPr/>
          <a:lstStyle/>
          <a:p>
            <a:endParaRPr lang="en-IN"/>
          </a:p>
        </p:txBody>
      </p:sp>
      <p:pic>
        <p:nvPicPr>
          <p:cNvPr id="20" name="icon-470" descr="FaBolt"/>
          <p:cNvPicPr>
            <a:picLocks noChangeAspect="1"/>
          </p:cNvPicPr>
          <p:nvPr/>
        </p:nvPicPr>
        <p:blipFill>
          <a:blip r:embed="rId3"/>
          <a:stretch>
            <a:fillRect/>
          </a:stretch>
        </p:blipFill>
        <p:spPr>
          <a:xfrm>
            <a:off x="647395" y="5109667"/>
            <a:ext cx="213970" cy="213970"/>
          </a:xfrm>
          <a:prstGeom prst="rect">
            <a:avLst/>
          </a:prstGeom>
        </p:spPr>
      </p:pic>
      <p:sp>
        <p:nvSpPr>
          <p:cNvPr id="21" name="text-471"/>
          <p:cNvSpPr txBox="1"/>
          <p:nvPr/>
        </p:nvSpPr>
        <p:spPr>
          <a:xfrm>
            <a:off x="1097280" y="4965192"/>
            <a:ext cx="5943600" cy="502920"/>
          </a:xfrm>
          <a:prstGeom prst="rect">
            <a:avLst/>
          </a:prstGeom>
          <a:noFill/>
          <a:ln/>
        </p:spPr>
        <p:txBody>
          <a:bodyPr wrap="square" lIns="0" tIns="0" rIns="0" bIns="0" rtlCol="0" anchor="ctr"/>
          <a:lstStyle/>
          <a:p>
            <a:pPr marL="0" indent="0">
              <a:buNone/>
            </a:pPr>
            <a:r>
              <a:rPr lang="en-US" sz="1400" dirty="0">
                <a:solidFill>
                  <a:schemeClr val="tx1"/>
                </a:solidFill>
              </a:rPr>
              <a:t>β = 20: a model at 60% recent accuracy gets about 7.4× the weight of one at 50%.</a:t>
            </a:r>
            <a:endParaRPr lang="en-US" sz="1400" dirty="0"/>
          </a:p>
        </p:txBody>
      </p:sp>
      <p:sp>
        <p:nvSpPr>
          <p:cNvPr id="22" name="icon-circle-472"/>
          <p:cNvSpPr/>
          <p:nvPr/>
        </p:nvSpPr>
        <p:spPr>
          <a:xfrm>
            <a:off x="548640" y="5614416"/>
            <a:ext cx="411480" cy="411480"/>
          </a:xfrm>
          <a:prstGeom prst="ellipse">
            <a:avLst/>
          </a:prstGeom>
          <a:solidFill>
            <a:schemeClr val="accent5"/>
          </a:solidFill>
          <a:ln/>
        </p:spPr>
        <p:txBody>
          <a:bodyPr/>
          <a:lstStyle/>
          <a:p>
            <a:endParaRPr lang="en-IN"/>
          </a:p>
        </p:txBody>
      </p:sp>
      <p:pic>
        <p:nvPicPr>
          <p:cNvPr id="23" name="icon-473" descr="FaClock"/>
          <p:cNvPicPr>
            <a:picLocks noChangeAspect="1"/>
          </p:cNvPicPr>
          <p:nvPr/>
        </p:nvPicPr>
        <p:blipFill>
          <a:blip r:embed="rId4"/>
          <a:stretch>
            <a:fillRect/>
          </a:stretch>
        </p:blipFill>
        <p:spPr>
          <a:xfrm>
            <a:off x="647395" y="5713171"/>
            <a:ext cx="213970" cy="213970"/>
          </a:xfrm>
          <a:prstGeom prst="rect">
            <a:avLst/>
          </a:prstGeom>
        </p:spPr>
      </p:pic>
      <p:sp>
        <p:nvSpPr>
          <p:cNvPr id="24" name="text-474"/>
          <p:cNvSpPr txBox="1"/>
          <p:nvPr/>
        </p:nvSpPr>
        <p:spPr>
          <a:xfrm>
            <a:off x="1097280" y="5550408"/>
            <a:ext cx="5943600" cy="548640"/>
          </a:xfrm>
          <a:prstGeom prst="rect">
            <a:avLst/>
          </a:prstGeom>
          <a:noFill/>
          <a:ln/>
        </p:spPr>
        <p:txBody>
          <a:bodyPr wrap="square" lIns="0" tIns="0" rIns="0" bIns="0" rtlCol="0" anchor="ctr"/>
          <a:lstStyle/>
          <a:p>
            <a:pPr marL="0" indent="0">
              <a:buNone/>
            </a:pPr>
            <a:r>
              <a:rPr lang="en-US" sz="1400" dirty="0">
                <a:solidFill>
                  <a:schemeClr val="tx1"/>
                </a:solidFill>
              </a:rPr>
              <a:t>History = OOF predictions + past test days, so day 1 of the test already has 250 known outcomes.</a:t>
            </a:r>
            <a:endParaRPr lang="en-US" sz="1400" dirty="0"/>
          </a:p>
        </p:txBody>
      </p:sp>
      <p:sp>
        <p:nvSpPr>
          <p:cNvPr id="25" name="text-475"/>
          <p:cNvSpPr txBox="1"/>
          <p:nvPr/>
        </p:nvSpPr>
        <p:spPr>
          <a:xfrm>
            <a:off x="7406640" y="1508760"/>
            <a:ext cx="4233672" cy="365760"/>
          </a:xfrm>
          <a:prstGeom prst="rect">
            <a:avLst/>
          </a:prstGeom>
          <a:noFill/>
          <a:ln/>
        </p:spPr>
        <p:txBody>
          <a:bodyPr wrap="square" lIns="0" tIns="0" rIns="0" bIns="0" rtlCol="0" anchor="t"/>
          <a:lstStyle/>
          <a:p>
            <a:pPr marL="0" indent="0">
              <a:buNone/>
            </a:pPr>
            <a:r>
              <a:rPr lang="en-US" sz="1500" b="1" dirty="0">
                <a:solidFill>
                  <a:schemeClr val="tx2"/>
                </a:solidFill>
              </a:rPr>
              <a:t>Tuned on OOF data only (7 models)</a:t>
            </a:r>
            <a:endParaRPr lang="en-US" sz="1500" dirty="0"/>
          </a:p>
        </p:txBody>
      </p:sp>
      <p:sp>
        <p:nvSpPr>
          <p:cNvPr id="26" name="text-476"/>
          <p:cNvSpPr txBox="1"/>
          <p:nvPr/>
        </p:nvSpPr>
        <p:spPr>
          <a:xfrm>
            <a:off x="7406640" y="1874520"/>
            <a:ext cx="4233672" cy="320040"/>
          </a:xfrm>
          <a:prstGeom prst="rect">
            <a:avLst/>
          </a:prstGeom>
          <a:noFill/>
          <a:ln/>
        </p:spPr>
        <p:txBody>
          <a:bodyPr wrap="square" lIns="0" tIns="0" rIns="0" bIns="0" rtlCol="0" anchor="t"/>
          <a:lstStyle/>
          <a:p>
            <a:pPr marL="0" indent="0">
              <a:buNone/>
            </a:pPr>
            <a:r>
              <a:rPr lang="en-US" sz="1200" i="1" dirty="0">
                <a:solidFill>
                  <a:schemeClr val="accent6"/>
                </a:solidFill>
              </a:rPr>
              <a:t>accuracy of the adaptive vote on the OOF period</a:t>
            </a:r>
            <a:endParaRPr lang="en-US" sz="1200" dirty="0"/>
          </a:p>
        </p:txBody>
      </p:sp>
      <p:graphicFrame>
        <p:nvGraphicFramePr>
          <p:cNvPr id="27" name="adaptive-grid"/>
          <p:cNvGraphicFramePr>
            <a:graphicFrameLocks noGrp="1"/>
          </p:cNvGraphicFramePr>
          <p:nvPr>
            <p:extLst>
              <p:ext uri="{D42A27DB-BD31-4B8C-83A1-F6EECF244321}">
                <p14:modId xmlns:p14="http://schemas.microsoft.com/office/powerpoint/2010/main" val="1579011935"/>
              </p:ext>
            </p:extLst>
          </p:nvPr>
        </p:nvGraphicFramePr>
        <p:xfrm>
          <a:off x="7406640" y="2286000"/>
          <a:ext cx="4233672" cy="2286000"/>
        </p:xfrm>
        <a:graphic>
          <a:graphicData uri="http://schemas.openxmlformats.org/drawingml/2006/table">
            <a:tbl>
              <a:tblPr/>
              <a:tblGrid>
                <a:gridCol w="758952">
                  <a:extLst>
                    <a:ext uri="{9D8B030D-6E8A-4147-A177-3AD203B41FA5}">
                      <a16:colId xmlns:a16="http://schemas.microsoft.com/office/drawing/2014/main" val="20000"/>
                    </a:ext>
                  </a:extLst>
                </a:gridCol>
                <a:gridCol w="868680">
                  <a:extLst>
                    <a:ext uri="{9D8B030D-6E8A-4147-A177-3AD203B41FA5}">
                      <a16:colId xmlns:a16="http://schemas.microsoft.com/office/drawing/2014/main" val="20001"/>
                    </a:ext>
                  </a:extLst>
                </a:gridCol>
                <a:gridCol w="868680">
                  <a:extLst>
                    <a:ext uri="{9D8B030D-6E8A-4147-A177-3AD203B41FA5}">
                      <a16:colId xmlns:a16="http://schemas.microsoft.com/office/drawing/2014/main" val="20002"/>
                    </a:ext>
                  </a:extLst>
                </a:gridCol>
                <a:gridCol w="868680">
                  <a:extLst>
                    <a:ext uri="{9D8B030D-6E8A-4147-A177-3AD203B41FA5}">
                      <a16:colId xmlns:a16="http://schemas.microsoft.com/office/drawing/2014/main" val="20003"/>
                    </a:ext>
                  </a:extLst>
                </a:gridCol>
                <a:gridCol w="868680">
                  <a:extLst>
                    <a:ext uri="{9D8B030D-6E8A-4147-A177-3AD203B41FA5}">
                      <a16:colId xmlns:a16="http://schemas.microsoft.com/office/drawing/2014/main" val="20004"/>
                    </a:ext>
                  </a:extLst>
                </a:gridCol>
              </a:tblGrid>
              <a:tr h="457200">
                <a:tc>
                  <a:txBody>
                    <a:bodyPr/>
                    <a:lstStyle/>
                    <a:p>
                      <a:pPr marL="0" indent="0" algn="ctr">
                        <a:buNone/>
                      </a:pPr>
                      <a:r>
                        <a:rPr lang="en-US" sz="1400" b="1" dirty="0">
                          <a:solidFill>
                            <a:schemeClr val="bg1"/>
                          </a:solidFill>
                        </a:rPr>
                        <a:t>β \ W</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20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60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120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tc>
                  <a:txBody>
                    <a:bodyPr/>
                    <a:lstStyle/>
                    <a:p>
                      <a:pPr marL="0" indent="0" algn="ctr">
                        <a:buNone/>
                      </a:pPr>
                      <a:r>
                        <a:rPr lang="en-US" sz="1400" b="1" dirty="0">
                          <a:solidFill>
                            <a:schemeClr val="bg1"/>
                          </a:solidFill>
                        </a:rPr>
                        <a:t>250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457200">
                <a:tc>
                  <a:txBody>
                    <a:bodyPr/>
                    <a:lstStyle/>
                    <a:p>
                      <a:pPr marL="0" indent="0" algn="ctr">
                        <a:buNone/>
                      </a:pPr>
                      <a:r>
                        <a:rPr lang="en-US" sz="1400" b="1" dirty="0">
                          <a:solidFill>
                            <a:schemeClr val="tx2"/>
                          </a:solidFill>
                        </a:rPr>
                        <a:t>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bg1"/>
                          </a:solidFill>
                        </a:rPr>
                        <a:t>0.5157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A578"/>
                    </a:solidFill>
                  </a:tcPr>
                </a:tc>
                <a:tc>
                  <a:txBody>
                    <a:bodyPr/>
                    <a:lstStyle/>
                    <a:p>
                      <a:pPr marL="0" indent="0" algn="ctr">
                        <a:buNone/>
                      </a:pPr>
                      <a:r>
                        <a:rPr lang="en-US" sz="1400" dirty="0">
                          <a:solidFill>
                            <a:schemeClr val="bg1"/>
                          </a:solidFill>
                        </a:rPr>
                        <a:t>0.5157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A578"/>
                    </a:solidFill>
                  </a:tcPr>
                </a:tc>
                <a:tc>
                  <a:txBody>
                    <a:bodyPr/>
                    <a:lstStyle/>
                    <a:p>
                      <a:pPr marL="0" indent="0" algn="ctr">
                        <a:buNone/>
                      </a:pPr>
                      <a:r>
                        <a:rPr lang="en-US" sz="1400" dirty="0">
                          <a:solidFill>
                            <a:schemeClr val="bg1"/>
                          </a:solidFill>
                        </a:rPr>
                        <a:t>0.5157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A578"/>
                    </a:solidFill>
                  </a:tcPr>
                </a:tc>
                <a:tc>
                  <a:txBody>
                    <a:bodyPr/>
                    <a:lstStyle/>
                    <a:p>
                      <a:pPr marL="0" indent="0" algn="ctr">
                        <a:buNone/>
                      </a:pPr>
                      <a:r>
                        <a:rPr lang="en-US" sz="1400" dirty="0">
                          <a:solidFill>
                            <a:schemeClr val="bg1"/>
                          </a:solidFill>
                        </a:rPr>
                        <a:t>0.5157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EA578"/>
                    </a:solidFill>
                  </a:tcPr>
                </a:tc>
                <a:extLst>
                  <a:ext uri="{0D108BD9-81ED-4DB2-BD59-A6C34878D82A}">
                    <a16:rowId xmlns:a16="http://schemas.microsoft.com/office/drawing/2014/main" val="10001"/>
                  </a:ext>
                </a:extLst>
              </a:tr>
              <a:tr h="457200">
                <a:tc>
                  <a:txBody>
                    <a:bodyPr/>
                    <a:lstStyle/>
                    <a:p>
                      <a:pPr marL="0" indent="0" algn="ctr">
                        <a:buNone/>
                      </a:pPr>
                      <a:r>
                        <a:rPr lang="en-US" sz="1400" b="1" dirty="0">
                          <a:solidFill>
                            <a:schemeClr val="tx2"/>
                          </a:solidFill>
                        </a:rPr>
                        <a:t>5</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0.5076</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2CDB4"/>
                    </a:solidFill>
                  </a:tcPr>
                </a:tc>
                <a:tc>
                  <a:txBody>
                    <a:bodyPr/>
                    <a:lstStyle/>
                    <a:p>
                      <a:pPr marL="0" indent="0" algn="ctr">
                        <a:buNone/>
                      </a:pPr>
                      <a:r>
                        <a:rPr lang="en-US" sz="1400" dirty="0">
                          <a:solidFill>
                            <a:schemeClr val="tx1"/>
                          </a:solidFill>
                        </a:rPr>
                        <a:t>0.5043</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ABDECC"/>
                    </a:solidFill>
                  </a:tcPr>
                </a:tc>
                <a:tc>
                  <a:txBody>
                    <a:bodyPr/>
                    <a:lstStyle/>
                    <a:p>
                      <a:pPr marL="0" indent="0" algn="ctr">
                        <a:buNone/>
                      </a:pPr>
                      <a:r>
                        <a:rPr lang="en-US" sz="1400" dirty="0">
                          <a:solidFill>
                            <a:schemeClr val="bg1"/>
                          </a:solidFill>
                        </a:rPr>
                        <a:t>0.5124</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47B690"/>
                    </a:solidFill>
                  </a:tcPr>
                </a:tc>
                <a:tc>
                  <a:txBody>
                    <a:bodyPr/>
                    <a:lstStyle/>
                    <a:p>
                      <a:pPr marL="0" indent="0" algn="ctr">
                        <a:buNone/>
                      </a:pPr>
                      <a:r>
                        <a:rPr lang="en-US" sz="1400" dirty="0">
                          <a:solidFill>
                            <a:schemeClr val="tx1"/>
                          </a:solidFill>
                        </a:rPr>
                        <a:t>0.5092</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EC5A8"/>
                    </a:solidFill>
                  </a:tcPr>
                </a:tc>
                <a:extLst>
                  <a:ext uri="{0D108BD9-81ED-4DB2-BD59-A6C34878D82A}">
                    <a16:rowId xmlns:a16="http://schemas.microsoft.com/office/drawing/2014/main" val="10002"/>
                  </a:ext>
                </a:extLst>
              </a:tr>
              <a:tr h="457200">
                <a:tc>
                  <a:txBody>
                    <a:bodyPr/>
                    <a:lstStyle/>
                    <a:p>
                      <a:pPr marL="0" indent="0" algn="ctr">
                        <a:buNone/>
                      </a:pPr>
                      <a:r>
                        <a:rPr lang="en-US" sz="1400" b="1" dirty="0">
                          <a:solidFill>
                            <a:schemeClr val="tx2"/>
                          </a:solidFill>
                        </a:rPr>
                        <a:t>10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0.5059</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7D6C1"/>
                    </a:solidFill>
                  </a:tcPr>
                </a:tc>
                <a:tc>
                  <a:txBody>
                    <a:bodyPr/>
                    <a:lstStyle/>
                    <a:p>
                      <a:pPr marL="0" indent="0" algn="ctr">
                        <a:buNone/>
                      </a:pPr>
                      <a:r>
                        <a:rPr lang="en-US" sz="1400" dirty="0">
                          <a:solidFill>
                            <a:schemeClr val="tx1"/>
                          </a:solidFill>
                        </a:rPr>
                        <a:t>0.5070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8AD0B8"/>
                    </a:solidFill>
                  </a:tcPr>
                </a:tc>
                <a:tc>
                  <a:txBody>
                    <a:bodyPr/>
                    <a:lstStyle/>
                    <a:p>
                      <a:pPr marL="0" indent="0" algn="ctr">
                        <a:buNone/>
                      </a:pPr>
                      <a:r>
                        <a:rPr lang="en-US" sz="1400" dirty="0">
                          <a:solidFill>
                            <a:schemeClr val="bg1"/>
                          </a:solidFill>
                        </a:rPr>
                        <a:t>0.5097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8C3A4"/>
                    </a:solidFill>
                  </a:tcPr>
                </a:tc>
                <a:tc>
                  <a:txBody>
                    <a:bodyPr/>
                    <a:lstStyle/>
                    <a:p>
                      <a:pPr marL="0" indent="0" algn="ctr">
                        <a:buNone/>
                      </a:pPr>
                      <a:r>
                        <a:rPr lang="en-US" sz="1400" dirty="0">
                          <a:solidFill>
                            <a:schemeClr val="tx1"/>
                          </a:solidFill>
                        </a:rPr>
                        <a:t>0.5059</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97D6C1"/>
                    </a:solidFill>
                  </a:tcPr>
                </a:tc>
                <a:extLst>
                  <a:ext uri="{0D108BD9-81ED-4DB2-BD59-A6C34878D82A}">
                    <a16:rowId xmlns:a16="http://schemas.microsoft.com/office/drawing/2014/main" val="10003"/>
                  </a:ext>
                </a:extLst>
              </a:tr>
              <a:tr h="457200">
                <a:tc>
                  <a:txBody>
                    <a:bodyPr/>
                    <a:lstStyle/>
                    <a:p>
                      <a:pPr marL="0" indent="0" algn="ctr">
                        <a:buNone/>
                      </a:pPr>
                      <a:r>
                        <a:rPr lang="en-US" sz="1400" b="1" dirty="0">
                          <a:solidFill>
                            <a:schemeClr val="tx2"/>
                          </a:solidFill>
                        </a:rPr>
                        <a:t>20</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chemeClr val="bg2"/>
                    </a:solidFill>
                  </a:tcPr>
                </a:tc>
                <a:tc>
                  <a:txBody>
                    <a:bodyPr/>
                    <a:lstStyle/>
                    <a:p>
                      <a:pPr marL="0" indent="0" algn="ctr">
                        <a:buNone/>
                      </a:pPr>
                      <a:r>
                        <a:rPr lang="en-US" sz="1400" dirty="0">
                          <a:solidFill>
                            <a:schemeClr val="tx1"/>
                          </a:solidFill>
                        </a:rPr>
                        <a:t>0.4978</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BFEFD"/>
                    </a:solidFill>
                  </a:tcPr>
                </a:tc>
                <a:tc>
                  <a:txBody>
                    <a:bodyPr/>
                    <a:lstStyle/>
                    <a:p>
                      <a:pPr marL="0" indent="0" algn="ctr">
                        <a:buNone/>
                      </a:pPr>
                      <a:r>
                        <a:rPr lang="en-US" sz="1400" dirty="0">
                          <a:solidFill>
                            <a:schemeClr val="tx1"/>
                          </a:solidFill>
                        </a:rPr>
                        <a:t>0.5038</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B1E0D0"/>
                    </a:solidFill>
                  </a:tcPr>
                </a:tc>
                <a:tc>
                  <a:txBody>
                    <a:bodyPr/>
                    <a:lstStyle/>
                    <a:p>
                      <a:pPr marL="0" indent="0" algn="ctr">
                        <a:buNone/>
                      </a:pPr>
                      <a:r>
                        <a:rPr lang="en-US" sz="1400" dirty="0">
                          <a:solidFill>
                            <a:schemeClr val="bg1"/>
                          </a:solidFill>
                        </a:rPr>
                        <a:t>0.5097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68C3A4"/>
                    </a:solidFill>
                  </a:tcPr>
                </a:tc>
                <a:tc>
                  <a:txBody>
                    <a:bodyPr/>
                    <a:lstStyle/>
                    <a:p>
                      <a:pPr marL="0" indent="0" algn="ctr">
                        <a:buNone/>
                      </a:pPr>
                      <a:r>
                        <a:rPr lang="en-US" sz="1400" b="1" dirty="0">
                          <a:solidFill>
                            <a:schemeClr val="bg1"/>
                          </a:solidFill>
                        </a:rPr>
                        <a:t>0.5167</a:t>
                      </a:r>
                      <a:endParaRPr lang="en-US" sz="1400" dirty="0"/>
                    </a:p>
                  </a:txBody>
                  <a:tcPr marL="25400" marR="25400" marT="25400" marB="2540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12A070"/>
                    </a:solidFill>
                  </a:tcPr>
                </a:tc>
                <a:extLst>
                  <a:ext uri="{0D108BD9-81ED-4DB2-BD59-A6C34878D82A}">
                    <a16:rowId xmlns:a16="http://schemas.microsoft.com/office/drawing/2014/main" val="10004"/>
                  </a:ext>
                </a:extLst>
              </a:tr>
            </a:tbl>
          </a:graphicData>
        </a:graphic>
      </p:graphicFrame>
      <p:sp>
        <p:nvSpPr>
          <p:cNvPr id="28" name="text-477"/>
          <p:cNvSpPr txBox="1"/>
          <p:nvPr/>
        </p:nvSpPr>
        <p:spPr>
          <a:xfrm>
            <a:off x="7406640" y="4754880"/>
            <a:ext cx="4233672" cy="1417320"/>
          </a:xfrm>
          <a:prstGeom prst="rect">
            <a:avLst/>
          </a:prstGeom>
          <a:noFill/>
          <a:ln/>
        </p:spPr>
        <p:txBody>
          <a:bodyPr wrap="square" lIns="0" tIns="0" rIns="0" bIns="0" rtlCol="0" anchor="t"/>
          <a:lstStyle/>
          <a:p>
            <a:pPr marL="0" indent="0">
              <a:buNone/>
            </a:pPr>
            <a:r>
              <a:rPr lang="en-US" sz="1300" b="1" dirty="0">
                <a:solidFill>
                  <a:schemeClr val="tx2"/>
                </a:solidFill>
              </a:rPr>
              <a:t>Chosen: W = 250 days, β = 20</a:t>
            </a:r>
            <a:endParaRPr lang="en-US" sz="1300" dirty="0"/>
          </a:p>
          <a:p>
            <a:pPr marL="0" indent="0">
              <a:buNone/>
            </a:pPr>
            <a:r>
              <a:rPr lang="en-US" sz="1300" dirty="0">
                <a:solidFill>
                  <a:schemeClr val="tx1"/>
                </a:solidFill>
              </a:rPr>
              <a:t>0.5167 vs 0.5157 for equal weights (β = 0). Short windows hurt: W = 20, β = 20 fell to 0.4978. Ties go to β = 0, so adaptation is used only when it helps.</a:t>
            </a:r>
            <a:endParaRPr lang="en-US" sz="1300" dirty="0"/>
          </a:p>
        </p:txBody>
      </p:sp>
      <p:sp>
        <p:nvSpPr>
          <p:cNvPr id="29"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05 · RESULTS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Gradient Boosting led the individual models</a:t>
            </a:r>
            <a:endParaRPr lang="en-US" sz="3200" dirty="0"/>
          </a:p>
        </p:txBody>
      </p:sp>
      <p:graphicFrame>
        <p:nvGraphicFramePr>
          <p:cNvPr id="4" name="chart-478"/>
          <p:cNvGraphicFramePr/>
          <p:nvPr/>
        </p:nvGraphicFramePr>
        <p:xfrm>
          <a:off x="548640" y="1417320"/>
          <a:ext cx="6949440" cy="480060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0" name="individual-table"/>
          <p:cNvGraphicFramePr>
            <a:graphicFrameLocks noGrp="1"/>
          </p:cNvGraphicFramePr>
          <p:nvPr>
            <p:extLst>
              <p:ext uri="{D42A27DB-BD31-4B8C-83A1-F6EECF244321}">
                <p14:modId xmlns:p14="http://schemas.microsoft.com/office/powerpoint/2010/main" val="1579011935"/>
              </p:ext>
            </p:extLst>
          </p:nvPr>
        </p:nvGraphicFramePr>
        <p:xfrm>
          <a:off x="7772400" y="1463040"/>
          <a:ext cx="3867912" cy="2468880"/>
        </p:xfrm>
        <a:graphic>
          <a:graphicData uri="http://schemas.openxmlformats.org/drawingml/2006/table">
            <a:tbl>
              <a:tblPr/>
              <a:tblGrid>
                <a:gridCol w="1673352">
                  <a:extLst>
                    <a:ext uri="{9D8B030D-6E8A-4147-A177-3AD203B41FA5}">
                      <a16:colId xmlns:a16="http://schemas.microsoft.com/office/drawing/2014/main" val="20000"/>
                    </a:ext>
                  </a:extLst>
                </a:gridCol>
                <a:gridCol w="731520">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731520">
                  <a:extLst>
                    <a:ext uri="{9D8B030D-6E8A-4147-A177-3AD203B41FA5}">
                      <a16:colId xmlns:a16="http://schemas.microsoft.com/office/drawing/2014/main" val="20003"/>
                    </a:ext>
                  </a:extLst>
                </a:gridCol>
              </a:tblGrid>
              <a:tr h="0">
                <a:tc>
                  <a:txBody>
                    <a:bodyPr/>
                    <a:lstStyle/>
                    <a:p>
                      <a:pPr marL="0" indent="0" algn="ctr">
                        <a:buNone/>
                      </a:pPr>
                      <a:r>
                        <a:rPr lang="en-US" sz="1300" b="1" dirty="0">
                          <a:solidFill>
                            <a:schemeClr val="bg1"/>
                          </a:solidFill>
                        </a:rPr>
                        <a:t>Model</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Acc.</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F1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AUC</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lgn="l">
                        <a:buNone/>
                      </a:pPr>
                      <a:r>
                        <a:rPr lang="en-US" sz="1300" b="1" dirty="0">
                          <a:solidFill>
                            <a:schemeClr val="tx2"/>
                          </a:solidFill>
                        </a:rPr>
                        <a:t>Gradient Boosting</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chemeClr val="tx1"/>
                          </a:solidFill>
                        </a:rPr>
                        <a:t>53.6%</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chemeClr val="tx1"/>
                          </a:solidFill>
                        </a:rPr>
                        <a:t>0.563</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chemeClr val="tx1"/>
                          </a:solidFill>
                        </a:rPr>
                        <a:t>0.535</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extLst>
                  <a:ext uri="{0D108BD9-81ED-4DB2-BD59-A6C34878D82A}">
                    <a16:rowId xmlns:a16="http://schemas.microsoft.com/office/drawing/2014/main" val="10001"/>
                  </a:ext>
                </a:extLst>
              </a:tr>
              <a:tr h="0">
                <a:tc>
                  <a:txBody>
                    <a:bodyPr/>
                    <a:lstStyle/>
                    <a:p>
                      <a:pPr marL="0" indent="0" algn="l">
                        <a:buNone/>
                      </a:pPr>
                      <a:r>
                        <a:rPr lang="en-US" sz="1300" dirty="0">
                          <a:solidFill>
                            <a:schemeClr val="tx2"/>
                          </a:solidFill>
                        </a:rPr>
                        <a:t>KNN</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51.9%</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0.531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0.523</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lgn="l">
                        <a:buNone/>
                      </a:pPr>
                      <a:r>
                        <a:rPr lang="en-US" sz="1300" dirty="0">
                          <a:solidFill>
                            <a:schemeClr val="tx2"/>
                          </a:solidFill>
                        </a:rPr>
                        <a:t>XGBoost</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50.7%</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0.544</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0.521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3"/>
                  </a:ext>
                </a:extLst>
              </a:tr>
              <a:tr h="0">
                <a:tc>
                  <a:txBody>
                    <a:bodyPr/>
                    <a:lstStyle/>
                    <a:p>
                      <a:pPr marL="0" indent="0" algn="l">
                        <a:buNone/>
                      </a:pPr>
                      <a:r>
                        <a:rPr lang="en-US" sz="1300" dirty="0">
                          <a:solidFill>
                            <a:schemeClr val="tx2"/>
                          </a:solidFill>
                        </a:rPr>
                        <a:t>Random Forest</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50.2%</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0.554</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0.512</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4"/>
                  </a:ext>
                </a:extLst>
              </a:tr>
              <a:tr h="0">
                <a:tc>
                  <a:txBody>
                    <a:bodyPr/>
                    <a:lstStyle/>
                    <a:p>
                      <a:pPr marL="0" indent="0" algn="l">
                        <a:buNone/>
                      </a:pPr>
                      <a:r>
                        <a:rPr lang="en-US" sz="1300" dirty="0">
                          <a:solidFill>
                            <a:schemeClr val="tx2"/>
                          </a:solidFill>
                        </a:rPr>
                        <a:t>SVM</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50.2%</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0.554</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0.503</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5"/>
                  </a:ext>
                </a:extLst>
              </a:tr>
              <a:tr h="0">
                <a:tc>
                  <a:txBody>
                    <a:bodyPr/>
                    <a:lstStyle/>
                    <a:p>
                      <a:pPr marL="0" indent="0" algn="l">
                        <a:buNone/>
                      </a:pPr>
                      <a:r>
                        <a:rPr lang="en-US" sz="1300" dirty="0">
                          <a:solidFill>
                            <a:schemeClr val="tx2"/>
                          </a:solidFill>
                        </a:rPr>
                        <a:t>Vision Transformer</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50.1%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0.638</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0.485</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6"/>
                  </a:ext>
                </a:extLst>
              </a:tr>
              <a:tr h="0">
                <a:tc>
                  <a:txBody>
                    <a:bodyPr/>
                    <a:lstStyle/>
                    <a:p>
                      <a:pPr marL="0" indent="0" algn="l">
                        <a:buNone/>
                      </a:pPr>
                      <a:r>
                        <a:rPr lang="en-US" sz="1300" dirty="0">
                          <a:solidFill>
                            <a:schemeClr val="tx2"/>
                          </a:solidFill>
                        </a:rPr>
                        <a:t>Logistic Regression</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49.6%</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0.556</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chemeClr val="tx1"/>
                          </a:solidFill>
                        </a:rPr>
                        <a:t>0.488</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7"/>
                  </a:ext>
                </a:extLst>
              </a:tr>
              <a:tr h="0">
                <a:tc>
                  <a:txBody>
                    <a:bodyPr/>
                    <a:lstStyle/>
                    <a:p>
                      <a:pPr marL="0" indent="0" algn="l">
                        <a:buNone/>
                      </a:pPr>
                      <a:r>
                        <a:rPr lang="en-US" sz="1300" dirty="0">
                          <a:solidFill>
                            <a:schemeClr val="tx2"/>
                          </a:solidFill>
                        </a:rPr>
                        <a:t>LSTM</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49.0%</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0.434</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chemeClr val="tx1"/>
                          </a:solidFill>
                        </a:rPr>
                        <a:t>0.491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8"/>
                  </a:ext>
                </a:extLst>
              </a:tr>
            </a:tbl>
          </a:graphicData>
        </a:graphic>
      </p:graphicFrame>
      <p:sp>
        <p:nvSpPr>
          <p:cNvPr id="6" name="text-479"/>
          <p:cNvSpPr txBox="1"/>
          <p:nvPr/>
        </p:nvSpPr>
        <p:spPr>
          <a:xfrm>
            <a:off x="7772400" y="4526280"/>
            <a:ext cx="3867912" cy="1097280"/>
          </a:xfrm>
          <a:prstGeom prst="rect">
            <a:avLst/>
          </a:prstGeom>
          <a:noFill/>
          <a:ln/>
        </p:spPr>
        <p:txBody>
          <a:bodyPr wrap="square" lIns="0" tIns="0" rIns="0" bIns="0" rtlCol="0" anchor="t"/>
          <a:lstStyle/>
          <a:p>
            <a:pPr marL="0" indent="0">
              <a:buNone/>
            </a:pPr>
            <a:r>
              <a:rPr lang="en-US" sz="1400" dirty="0">
                <a:solidFill>
                  <a:schemeClr val="tx1"/>
                </a:solidFill>
              </a:rPr>
              <a:t>ViT's top F1 (0.638) comes from predicting UP on 86% of days, and is still below the 0.683 F1 of simply always saying UP.</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05 · RESULTS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Ensembles were steadier, not stronger</a:t>
            </a:r>
            <a:endParaRPr lang="en-US" sz="3200" dirty="0"/>
          </a:p>
        </p:txBody>
      </p:sp>
      <p:graphicFrame>
        <p:nvGraphicFramePr>
          <p:cNvPr id="4" name="chart-480"/>
          <p:cNvGraphicFramePr/>
          <p:nvPr/>
        </p:nvGraphicFramePr>
        <p:xfrm>
          <a:off x="548640" y="1417320"/>
          <a:ext cx="7086600" cy="48006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481"/>
          <p:cNvSpPr/>
          <p:nvPr/>
        </p:nvSpPr>
        <p:spPr>
          <a:xfrm>
            <a:off x="7909560" y="1508760"/>
            <a:ext cx="3730752" cy="1143000"/>
          </a:xfrm>
          <a:prstGeom prst="roundRect">
            <a:avLst>
              <a:gd name="adj" fmla="val 8000"/>
            </a:avLst>
          </a:prstGeom>
          <a:solidFill>
            <a:schemeClr val="bg2"/>
          </a:solidFill>
          <a:ln/>
        </p:spPr>
        <p:txBody>
          <a:bodyPr/>
          <a:lstStyle/>
          <a:p>
            <a:endParaRPr lang="en-IN"/>
          </a:p>
        </p:txBody>
      </p:sp>
      <p:sp>
        <p:nvSpPr>
          <p:cNvPr id="6" name="text-482"/>
          <p:cNvSpPr txBox="1"/>
          <p:nvPr/>
        </p:nvSpPr>
        <p:spPr>
          <a:xfrm>
            <a:off x="8138160" y="1618488"/>
            <a:ext cx="3291840" cy="457200"/>
          </a:xfrm>
          <a:prstGeom prst="rect">
            <a:avLst/>
          </a:prstGeom>
          <a:noFill/>
          <a:ln/>
        </p:spPr>
        <p:txBody>
          <a:bodyPr wrap="square" lIns="0" tIns="0" rIns="0" bIns="0" rtlCol="0" anchor="t"/>
          <a:lstStyle/>
          <a:p>
            <a:pPr marL="0" indent="0">
              <a:buNone/>
            </a:pPr>
            <a:r>
              <a:rPr lang="en-US" sz="2400" b="1" dirty="0">
                <a:solidFill>
                  <a:schemeClr val="tx2"/>
                </a:solidFill>
                <a:latin typeface="+mj-lt" pitchFamily="34" charset="0"/>
                <a:ea typeface="+mj-lt" pitchFamily="34" charset="-122"/>
                <a:cs typeface="+mj-lt" pitchFamily="34" charset="-120"/>
              </a:rPr>
              <a:t>52.4%</a:t>
            </a:r>
            <a:endParaRPr lang="en-US" sz="2400" dirty="0"/>
          </a:p>
        </p:txBody>
      </p:sp>
      <p:sp>
        <p:nvSpPr>
          <p:cNvPr id="7" name="text-483"/>
          <p:cNvSpPr txBox="1"/>
          <p:nvPr/>
        </p:nvSpPr>
        <p:spPr>
          <a:xfrm>
            <a:off x="8138160" y="2075688"/>
            <a:ext cx="3337560" cy="530352"/>
          </a:xfrm>
          <a:prstGeom prst="rect">
            <a:avLst/>
          </a:prstGeom>
          <a:noFill/>
          <a:ln/>
        </p:spPr>
        <p:txBody>
          <a:bodyPr wrap="square" lIns="0" tIns="0" rIns="0" bIns="0" rtlCol="0" anchor="t"/>
          <a:lstStyle/>
          <a:p>
            <a:pPr marL="0" indent="0">
              <a:buNone/>
            </a:pPr>
            <a:r>
              <a:rPr lang="en-US" sz="1300" dirty="0">
                <a:solidFill>
                  <a:schemeClr val="tx1"/>
                </a:solidFill>
              </a:rPr>
              <a:t>best ensemble (8-model stacking), still 1.2 points below Gradient Boosting</a:t>
            </a:r>
            <a:endParaRPr lang="en-US" sz="1300" dirty="0"/>
          </a:p>
        </p:txBody>
      </p:sp>
      <p:sp>
        <p:nvSpPr>
          <p:cNvPr id="8" name="card-484"/>
          <p:cNvSpPr/>
          <p:nvPr/>
        </p:nvSpPr>
        <p:spPr>
          <a:xfrm>
            <a:off x="7909560" y="2788920"/>
            <a:ext cx="3730752" cy="1143000"/>
          </a:xfrm>
          <a:prstGeom prst="roundRect">
            <a:avLst>
              <a:gd name="adj" fmla="val 8000"/>
            </a:avLst>
          </a:prstGeom>
          <a:solidFill>
            <a:schemeClr val="bg2"/>
          </a:solidFill>
          <a:ln/>
        </p:spPr>
        <p:txBody>
          <a:bodyPr/>
          <a:lstStyle/>
          <a:p>
            <a:endParaRPr lang="en-IN"/>
          </a:p>
        </p:txBody>
      </p:sp>
      <p:sp>
        <p:nvSpPr>
          <p:cNvPr id="9" name="text-485"/>
          <p:cNvSpPr txBox="1"/>
          <p:nvPr/>
        </p:nvSpPr>
        <p:spPr>
          <a:xfrm>
            <a:off x="8138160" y="2898648"/>
            <a:ext cx="3291840" cy="457200"/>
          </a:xfrm>
          <a:prstGeom prst="rect">
            <a:avLst/>
          </a:prstGeom>
          <a:noFill/>
          <a:ln/>
        </p:spPr>
        <p:txBody>
          <a:bodyPr wrap="square" lIns="0" tIns="0" rIns="0" bIns="0" rtlCol="0" anchor="t"/>
          <a:lstStyle/>
          <a:p>
            <a:pPr marL="0" indent="0">
              <a:buNone/>
            </a:pPr>
            <a:r>
              <a:rPr lang="en-US" sz="2400" b="1" dirty="0">
                <a:solidFill>
                  <a:schemeClr val="tx2"/>
                </a:solidFill>
                <a:latin typeface="+mj-lt" pitchFamily="34" charset="0"/>
                <a:ea typeface="+mj-lt" pitchFamily="34" charset="-122"/>
                <a:cs typeface="+mj-lt" pitchFamily="34" charset="-120"/>
              </a:rPr>
              <a:t>1.6 vs 4.7</a:t>
            </a:r>
            <a:endParaRPr lang="en-US" sz="2400" dirty="0"/>
          </a:p>
        </p:txBody>
      </p:sp>
      <p:sp>
        <p:nvSpPr>
          <p:cNvPr id="10" name="text-486"/>
          <p:cNvSpPr txBox="1"/>
          <p:nvPr/>
        </p:nvSpPr>
        <p:spPr>
          <a:xfrm>
            <a:off x="8138160" y="3355848"/>
            <a:ext cx="3337560" cy="530352"/>
          </a:xfrm>
          <a:prstGeom prst="rect">
            <a:avLst/>
          </a:prstGeom>
          <a:noFill/>
          <a:ln/>
        </p:spPr>
        <p:txBody>
          <a:bodyPr wrap="square" lIns="0" tIns="0" rIns="0" bIns="0" rtlCol="0" anchor="t"/>
          <a:lstStyle/>
          <a:p>
            <a:pPr marL="0" indent="0">
              <a:buNone/>
            </a:pPr>
            <a:r>
              <a:rPr lang="en-US" sz="1300" dirty="0">
                <a:solidFill>
                  <a:schemeClr val="tx1"/>
                </a:solidFill>
              </a:rPr>
              <a:t>points of spread: 15 ensembles vs 8 single models</a:t>
            </a:r>
            <a:endParaRPr lang="en-US" sz="1300" dirty="0"/>
          </a:p>
        </p:txBody>
      </p:sp>
      <p:sp>
        <p:nvSpPr>
          <p:cNvPr id="11" name="card-487"/>
          <p:cNvSpPr/>
          <p:nvPr/>
        </p:nvSpPr>
        <p:spPr>
          <a:xfrm>
            <a:off x="7909560" y="4069080"/>
            <a:ext cx="3730752" cy="1143000"/>
          </a:xfrm>
          <a:prstGeom prst="roundRect">
            <a:avLst>
              <a:gd name="adj" fmla="val 8000"/>
            </a:avLst>
          </a:prstGeom>
          <a:solidFill>
            <a:schemeClr val="bg2"/>
          </a:solidFill>
          <a:ln/>
        </p:spPr>
        <p:txBody>
          <a:bodyPr/>
          <a:lstStyle/>
          <a:p>
            <a:endParaRPr lang="en-IN"/>
          </a:p>
        </p:txBody>
      </p:sp>
      <p:sp>
        <p:nvSpPr>
          <p:cNvPr id="12" name="text-488"/>
          <p:cNvSpPr txBox="1"/>
          <p:nvPr/>
        </p:nvSpPr>
        <p:spPr>
          <a:xfrm>
            <a:off x="8138160" y="4178808"/>
            <a:ext cx="3291840" cy="457200"/>
          </a:xfrm>
          <a:prstGeom prst="rect">
            <a:avLst/>
          </a:prstGeom>
          <a:noFill/>
          <a:ln/>
        </p:spPr>
        <p:txBody>
          <a:bodyPr wrap="square" lIns="0" tIns="0" rIns="0" bIns="0" rtlCol="0" anchor="t"/>
          <a:lstStyle/>
          <a:p>
            <a:pPr marL="0" indent="0">
              <a:buNone/>
            </a:pPr>
            <a:r>
              <a:rPr lang="en-US" sz="2400" b="1" dirty="0">
                <a:solidFill>
                  <a:schemeClr val="tx2"/>
                </a:solidFill>
                <a:latin typeface="+mj-lt" pitchFamily="34" charset="0"/>
                <a:ea typeface="+mj-lt" pitchFamily="34" charset="-122"/>
                <a:cs typeface="+mj-lt" pitchFamily="34" charset="-120"/>
              </a:rPr>
              <a:t>51.4% vs 50.7%</a:t>
            </a:r>
            <a:endParaRPr lang="en-US" sz="2400" dirty="0"/>
          </a:p>
        </p:txBody>
      </p:sp>
      <p:sp>
        <p:nvSpPr>
          <p:cNvPr id="13" name="text-489"/>
          <p:cNvSpPr txBox="1"/>
          <p:nvPr/>
        </p:nvSpPr>
        <p:spPr>
          <a:xfrm>
            <a:off x="8138160" y="4636008"/>
            <a:ext cx="3337560" cy="530352"/>
          </a:xfrm>
          <a:prstGeom prst="rect">
            <a:avLst/>
          </a:prstGeom>
          <a:noFill/>
          <a:ln/>
        </p:spPr>
        <p:txBody>
          <a:bodyPr wrap="square" lIns="0" tIns="0" rIns="0" bIns="0" rtlCol="0" anchor="t"/>
          <a:lstStyle/>
          <a:p>
            <a:pPr marL="0" indent="0">
              <a:buNone/>
            </a:pPr>
            <a:r>
              <a:rPr lang="en-US" sz="1300" dirty="0">
                <a:solidFill>
                  <a:schemeClr val="tx1"/>
                </a:solidFill>
              </a:rPr>
              <a:t>average ensemble vs average single model</a:t>
            </a:r>
            <a:endParaRPr lang="en-US" sz="1300" dirty="0"/>
          </a:p>
        </p:txBody>
      </p:sp>
      <p:sp>
        <p:nvSpPr>
          <p:cNvPr id="14" name="text-490"/>
          <p:cNvSpPr txBox="1"/>
          <p:nvPr/>
        </p:nvSpPr>
        <p:spPr>
          <a:xfrm>
            <a:off x="7909560" y="5440680"/>
            <a:ext cx="3730752" cy="731520"/>
          </a:xfrm>
          <a:prstGeom prst="rect">
            <a:avLst/>
          </a:prstGeom>
          <a:noFill/>
          <a:ln/>
        </p:spPr>
        <p:txBody>
          <a:bodyPr wrap="square" lIns="0" tIns="0" rIns="0" bIns="0" rtlCol="0" anchor="t"/>
          <a:lstStyle/>
          <a:p>
            <a:pPr marL="0" indent="0">
              <a:buNone/>
            </a:pPr>
            <a:r>
              <a:rPr lang="en-US" sz="1400" b="1" dirty="0">
                <a:solidFill>
                  <a:schemeClr val="accent1"/>
                </a:solidFill>
              </a:rPr>
              <a:t>Probability rules beat label rules in every pair: keeping each model's confidence helps.</a:t>
            </a:r>
            <a:endParaRPr lang="en-US" sz="14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05 · RESULTS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Adaptive weighting beat majority voting</a:t>
            </a:r>
            <a:endParaRPr lang="en-US" sz="3200" dirty="0"/>
          </a:p>
        </p:txBody>
      </p:sp>
      <p:graphicFrame>
        <p:nvGraphicFramePr>
          <p:cNvPr id="4" name="chart-491"/>
          <p:cNvGraphicFramePr/>
          <p:nvPr/>
        </p:nvGraphicFramePr>
        <p:xfrm>
          <a:off x="548640" y="1417320"/>
          <a:ext cx="4572000" cy="29260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22" name="voting-table"/>
          <p:cNvGraphicFramePr>
            <a:graphicFrameLocks noGrp="1"/>
          </p:cNvGraphicFramePr>
          <p:nvPr>
            <p:extLst>
              <p:ext uri="{D42A27DB-BD31-4B8C-83A1-F6EECF244321}">
                <p14:modId xmlns:p14="http://schemas.microsoft.com/office/powerpoint/2010/main" val="1579011935"/>
              </p:ext>
            </p:extLst>
          </p:nvPr>
        </p:nvGraphicFramePr>
        <p:xfrm>
          <a:off x="548640" y="4480560"/>
          <a:ext cx="4572000" cy="1097280"/>
        </p:xfrm>
        <a:graphic>
          <a:graphicData uri="http://schemas.openxmlformats.org/drawingml/2006/table">
            <a:tbl>
              <a:tblPr/>
              <a:tblGrid>
                <a:gridCol w="2103120">
                  <a:extLst>
                    <a:ext uri="{9D8B030D-6E8A-4147-A177-3AD203B41FA5}">
                      <a16:colId xmlns:a16="http://schemas.microsoft.com/office/drawing/2014/main" val="20000"/>
                    </a:ext>
                  </a:extLst>
                </a:gridCol>
                <a:gridCol w="822960">
                  <a:extLst>
                    <a:ext uri="{9D8B030D-6E8A-4147-A177-3AD203B41FA5}">
                      <a16:colId xmlns:a16="http://schemas.microsoft.com/office/drawing/2014/main" val="20001"/>
                    </a:ext>
                  </a:extLst>
                </a:gridCol>
                <a:gridCol w="82296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0">
                <a:tc>
                  <a:txBody>
                    <a:bodyPr/>
                    <a:lstStyle/>
                    <a:p>
                      <a:pPr marL="0" indent="0" algn="ctr">
                        <a:buNone/>
                      </a:pPr>
                      <a:r>
                        <a:rPr lang="en-US" sz="1300" b="1" dirty="0">
                          <a:solidFill>
                            <a:schemeClr val="bg1"/>
                          </a:solidFill>
                        </a:rPr>
                        <a:t>Method</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Acc.</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F1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lgn="ctr">
                        <a:buNone/>
                      </a:pPr>
                      <a:r>
                        <a:rPr lang="en-US" sz="1300" b="1" dirty="0">
                          <a:solidFill>
                            <a:schemeClr val="bg1"/>
                          </a:solidFill>
                        </a:rPr>
                        <a:t>AUC</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lgn="l">
                        <a:buNone/>
                      </a:pPr>
                      <a:r>
                        <a:rPr lang="en-US" sz="1300" dirty="0">
                          <a:solidFill>
                            <a:schemeClr val="tx2"/>
                          </a:solidFill>
                        </a:rPr>
                        <a:t>Majority</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rPr>
                        <a:t>50.86%</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rPr>
                        <a:t>0.548</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300" dirty="0">
                          <a:solidFill>
                            <a:srgbClr val="000000"/>
                          </a:solidFill>
                        </a:rPr>
                        <a:t>0.511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1"/>
                  </a:ext>
                </a:extLst>
              </a:tr>
              <a:tr h="0">
                <a:tc>
                  <a:txBody>
                    <a:bodyPr/>
                    <a:lstStyle/>
                    <a:p>
                      <a:pPr marL="0" indent="0" algn="l">
                        <a:buNone/>
                      </a:pPr>
                      <a:r>
                        <a:rPr lang="en-US" sz="1300" dirty="0">
                          <a:solidFill>
                            <a:schemeClr val="tx2"/>
                          </a:solidFill>
                        </a:rPr>
                        <a:t>Static weighted (prob.)</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rPr>
                        <a:t>51.52%</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rPr>
                        <a:t>0.550</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300" dirty="0">
                          <a:solidFill>
                            <a:srgbClr val="000000"/>
                          </a:solidFill>
                        </a:rPr>
                        <a:t>0.527</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2"/>
                  </a:ext>
                </a:extLst>
              </a:tr>
              <a:tr h="0">
                <a:tc>
                  <a:txBody>
                    <a:bodyPr/>
                    <a:lstStyle/>
                    <a:p>
                      <a:pPr marL="0" indent="0" algn="l">
                        <a:buNone/>
                      </a:pPr>
                      <a:r>
                        <a:rPr lang="en-US" sz="1300" b="1" dirty="0">
                          <a:solidFill>
                            <a:schemeClr val="tx2"/>
                          </a:solidFill>
                        </a:rPr>
                        <a:t>Adaptive weighted (prob.)</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rgbClr val="000000"/>
                          </a:solidFill>
                        </a:rPr>
                        <a:t>52.09%</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rgbClr val="000000"/>
                          </a:solidFill>
                        </a:rPr>
                        <a:t>0.551</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tc>
                  <a:txBody>
                    <a:bodyPr/>
                    <a:lstStyle/>
                    <a:p>
                      <a:pPr marL="0" indent="0" algn="ctr">
                        <a:buNone/>
                      </a:pPr>
                      <a:r>
                        <a:rPr lang="en-US" sz="1300" b="1" dirty="0">
                          <a:solidFill>
                            <a:srgbClr val="000000"/>
                          </a:solidFill>
                        </a:rPr>
                        <a:t>0.529</a:t>
                      </a:r>
                      <a:endParaRPr lang="en-US" sz="1300" dirty="0"/>
                    </a:p>
                  </a:txBody>
                  <a:tcPr marL="63500" marR="635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rgbClr val="FDF3D7"/>
                    </a:solidFill>
                  </a:tcPr>
                </a:tc>
                <a:extLst>
                  <a:ext uri="{0D108BD9-81ED-4DB2-BD59-A6C34878D82A}">
                    <a16:rowId xmlns:a16="http://schemas.microsoft.com/office/drawing/2014/main" val="10003"/>
                  </a:ext>
                </a:extLst>
              </a:tr>
            </a:tbl>
          </a:graphicData>
        </a:graphic>
      </p:graphicFrame>
      <p:sp>
        <p:nvSpPr>
          <p:cNvPr id="6" name="text-492"/>
          <p:cNvSpPr txBox="1"/>
          <p:nvPr/>
        </p:nvSpPr>
        <p:spPr>
          <a:xfrm>
            <a:off x="548640" y="5779008"/>
            <a:ext cx="4572000" cy="457200"/>
          </a:xfrm>
          <a:prstGeom prst="rect">
            <a:avLst/>
          </a:prstGeom>
          <a:noFill/>
          <a:ln/>
        </p:spPr>
        <p:txBody>
          <a:bodyPr wrap="square" lIns="0" tIns="0" rIns="0" bIns="0" rtlCol="0" anchor="t"/>
          <a:lstStyle/>
          <a:p>
            <a:pPr marL="0" indent="0">
              <a:buNone/>
            </a:pPr>
            <a:r>
              <a:rPr lang="en-US" sz="1200" b="1" dirty="0">
                <a:solidFill>
                  <a:schemeClr val="accent1"/>
                </a:solidFill>
              </a:rPr>
              <a:t>+1.24 points = 13 more correct days of 1,052, inside the ±3-point noise band</a:t>
            </a:r>
            <a:endParaRPr lang="en-US" sz="1200" dirty="0"/>
          </a:p>
        </p:txBody>
      </p:sp>
      <p:graphicFrame>
        <p:nvGraphicFramePr>
          <p:cNvPr id="7" name="chart-493"/>
          <p:cNvGraphicFramePr/>
          <p:nvPr/>
        </p:nvGraphicFramePr>
        <p:xfrm>
          <a:off x="5440680" y="1417320"/>
          <a:ext cx="6199632" cy="4114800"/>
        </p:xfrm>
        <a:graphic>
          <a:graphicData uri="http://schemas.openxmlformats.org/drawingml/2006/chart">
            <c:chart xmlns:c="http://schemas.openxmlformats.org/drawingml/2006/chart" xmlns:r="http://schemas.openxmlformats.org/officeDocument/2006/relationships" r:id="rId4"/>
          </a:graphicData>
        </a:graphic>
      </p:graphicFrame>
      <p:sp>
        <p:nvSpPr>
          <p:cNvPr id="8" name="text-494"/>
          <p:cNvSpPr txBox="1"/>
          <p:nvPr/>
        </p:nvSpPr>
        <p:spPr>
          <a:xfrm>
            <a:off x="5440680" y="5596128"/>
            <a:ext cx="6199632" cy="640080"/>
          </a:xfrm>
          <a:prstGeom prst="rect">
            <a:avLst/>
          </a:prstGeom>
          <a:noFill/>
          <a:ln/>
        </p:spPr>
        <p:txBody>
          <a:bodyPr wrap="square" lIns="0" tIns="0" rIns="0" bIns="0" rtlCol="0" anchor="t"/>
          <a:lstStyle/>
          <a:p>
            <a:pPr marL="0" indent="0">
              <a:buNone/>
            </a:pPr>
            <a:r>
              <a:rPr lang="en-US" sz="1300" dirty="0">
                <a:solidFill>
                  <a:schemeClr val="tx1"/>
                </a:solidFill>
              </a:rPr>
              <a:t>Weight moved from the LSTM (static 0.159 → average 0.092) to Gradient Boosting (0.253) and KNN (0.218), the two best test models, using past outcomes only.</a:t>
            </a:r>
            <a:endParaRPr lang="en-US" sz="1300" dirty="0"/>
          </a:p>
        </p:txBody>
      </p:sp>
      <p:sp>
        <p:nvSpPr>
          <p:cNvPr id="25"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05 · RESULTS</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Can these results be trusted?</a:t>
            </a:r>
            <a:endParaRPr lang="en-US" sz="3200" dirty="0"/>
          </a:p>
        </p:txBody>
      </p:sp>
      <p:sp>
        <p:nvSpPr>
          <p:cNvPr id="4" name="text-495"/>
          <p:cNvSpPr txBox="1"/>
          <p:nvPr/>
        </p:nvSpPr>
        <p:spPr>
          <a:xfrm>
            <a:off x="548640" y="1417320"/>
            <a:ext cx="2148840" cy="822960"/>
          </a:xfrm>
          <a:prstGeom prst="rect">
            <a:avLst/>
          </a:prstGeom>
          <a:noFill/>
          <a:ln/>
        </p:spPr>
        <p:txBody>
          <a:bodyPr wrap="square" lIns="0" tIns="0" rIns="0" bIns="0" rtlCol="0" anchor="ctr"/>
          <a:lstStyle/>
          <a:p>
            <a:pPr marL="0" indent="0">
              <a:buNone/>
            </a:pPr>
            <a:r>
              <a:rPr lang="en-US" sz="4000" b="1" dirty="0">
                <a:solidFill>
                  <a:schemeClr val="accent1"/>
                </a:solidFill>
                <a:latin typeface="+mj-lt" pitchFamily="34" charset="0"/>
                <a:ea typeface="+mj-lt" pitchFamily="34" charset="-122"/>
                <a:cs typeface="+mj-lt" pitchFamily="34" charset="-120"/>
              </a:rPr>
              <a:t>18 / 18</a:t>
            </a:r>
            <a:endParaRPr lang="en-US" sz="4000" dirty="0"/>
          </a:p>
        </p:txBody>
      </p:sp>
      <p:sp>
        <p:nvSpPr>
          <p:cNvPr id="5" name="text-496"/>
          <p:cNvSpPr txBox="1"/>
          <p:nvPr/>
        </p:nvSpPr>
        <p:spPr>
          <a:xfrm>
            <a:off x="2743200" y="1463040"/>
            <a:ext cx="4526280" cy="731520"/>
          </a:xfrm>
          <a:prstGeom prst="rect">
            <a:avLst/>
          </a:prstGeom>
          <a:noFill/>
          <a:ln/>
        </p:spPr>
        <p:txBody>
          <a:bodyPr wrap="square" lIns="0" tIns="0" rIns="0" bIns="0" rtlCol="0" anchor="ctr"/>
          <a:lstStyle/>
          <a:p>
            <a:pPr marL="0" indent="0">
              <a:buNone/>
            </a:pPr>
            <a:r>
              <a:rPr lang="en-US" sz="1400" dirty="0">
                <a:solidFill>
                  <a:schemeClr val="tx1"/>
                </a:solidFill>
              </a:rPr>
              <a:t>automated leakage and integrity checks passed in STEP 17; any FAIL would invalidate the results</a:t>
            </a:r>
            <a:endParaRPr lang="en-US" sz="1400" dirty="0"/>
          </a:p>
        </p:txBody>
      </p:sp>
      <p:pic>
        <p:nvPicPr>
          <p:cNvPr id="6" name="check-497" descr="pass"/>
          <p:cNvPicPr>
            <a:picLocks noChangeAspect="1"/>
          </p:cNvPicPr>
          <p:nvPr/>
        </p:nvPicPr>
        <p:blipFill>
          <a:blip r:embed="rId3"/>
          <a:stretch>
            <a:fillRect/>
          </a:stretch>
        </p:blipFill>
        <p:spPr>
          <a:xfrm>
            <a:off x="548640" y="2487168"/>
            <a:ext cx="237744" cy="237744"/>
          </a:xfrm>
          <a:prstGeom prst="rect">
            <a:avLst/>
          </a:prstGeom>
        </p:spPr>
      </p:pic>
      <p:sp>
        <p:nvSpPr>
          <p:cNvPr id="7" name="text-498"/>
          <p:cNvSpPr txBox="1"/>
          <p:nvPr/>
        </p:nvSpPr>
        <p:spPr>
          <a:xfrm>
            <a:off x="877824" y="2423160"/>
            <a:ext cx="3154680" cy="365760"/>
          </a:xfrm>
          <a:prstGeom prst="rect">
            <a:avLst/>
          </a:prstGeom>
          <a:noFill/>
          <a:ln/>
        </p:spPr>
        <p:txBody>
          <a:bodyPr wrap="square" lIns="0" tIns="0" rIns="0" bIns="0" rtlCol="0" anchor="ctr"/>
          <a:lstStyle/>
          <a:p>
            <a:pPr marL="0" indent="0">
              <a:buNone/>
            </a:pPr>
            <a:r>
              <a:rPr lang="en-US" sz="1200" dirty="0">
                <a:solidFill>
                  <a:schemeClr val="tx1"/>
                </a:solidFill>
              </a:rPr>
              <a:t>Chronological split, never shuffled</a:t>
            </a:r>
            <a:endParaRPr lang="en-US" sz="1200" dirty="0"/>
          </a:p>
        </p:txBody>
      </p:sp>
      <p:pic>
        <p:nvPicPr>
          <p:cNvPr id="8" name="check-499" descr="pass"/>
          <p:cNvPicPr>
            <a:picLocks noChangeAspect="1"/>
          </p:cNvPicPr>
          <p:nvPr/>
        </p:nvPicPr>
        <p:blipFill>
          <a:blip r:embed="rId3"/>
          <a:stretch>
            <a:fillRect/>
          </a:stretch>
        </p:blipFill>
        <p:spPr>
          <a:xfrm>
            <a:off x="548640" y="2898648"/>
            <a:ext cx="237744" cy="237744"/>
          </a:xfrm>
          <a:prstGeom prst="rect">
            <a:avLst/>
          </a:prstGeom>
        </p:spPr>
      </p:pic>
      <p:sp>
        <p:nvSpPr>
          <p:cNvPr id="9" name="text-500"/>
          <p:cNvSpPr txBox="1"/>
          <p:nvPr/>
        </p:nvSpPr>
        <p:spPr>
          <a:xfrm>
            <a:off x="877824" y="2834640"/>
            <a:ext cx="3154680" cy="365760"/>
          </a:xfrm>
          <a:prstGeom prst="rect">
            <a:avLst/>
          </a:prstGeom>
          <a:noFill/>
          <a:ln/>
        </p:spPr>
        <p:txBody>
          <a:bodyPr wrap="square" lIns="0" tIns="0" rIns="0" bIns="0" rtlCol="0" anchor="ctr"/>
          <a:lstStyle/>
          <a:p>
            <a:pPr marL="0" indent="0">
              <a:buNone/>
            </a:pPr>
            <a:r>
              <a:rPr lang="en-US" sz="1200" dirty="0">
                <a:solidFill>
                  <a:schemeClr val="tx1"/>
                </a:solidFill>
              </a:rPr>
              <a:t>Main scaler fitted on training rows only</a:t>
            </a:r>
            <a:endParaRPr lang="en-US" sz="1200" dirty="0"/>
          </a:p>
        </p:txBody>
      </p:sp>
      <p:pic>
        <p:nvPicPr>
          <p:cNvPr id="10" name="check-501" descr="pass"/>
          <p:cNvPicPr>
            <a:picLocks noChangeAspect="1"/>
          </p:cNvPicPr>
          <p:nvPr/>
        </p:nvPicPr>
        <p:blipFill>
          <a:blip r:embed="rId3"/>
          <a:stretch>
            <a:fillRect/>
          </a:stretch>
        </p:blipFill>
        <p:spPr>
          <a:xfrm>
            <a:off x="548640" y="3310128"/>
            <a:ext cx="237744" cy="237744"/>
          </a:xfrm>
          <a:prstGeom prst="rect">
            <a:avLst/>
          </a:prstGeom>
        </p:spPr>
      </p:pic>
      <p:sp>
        <p:nvSpPr>
          <p:cNvPr id="11" name="text-502"/>
          <p:cNvSpPr txBox="1"/>
          <p:nvPr/>
        </p:nvSpPr>
        <p:spPr>
          <a:xfrm>
            <a:off x="877824" y="3246120"/>
            <a:ext cx="3154680" cy="365760"/>
          </a:xfrm>
          <a:prstGeom prst="rect">
            <a:avLst/>
          </a:prstGeom>
          <a:noFill/>
          <a:ln/>
        </p:spPr>
        <p:txBody>
          <a:bodyPr wrap="square" lIns="0" tIns="0" rIns="0" bIns="0" rtlCol="0" anchor="ctr"/>
          <a:lstStyle/>
          <a:p>
            <a:pPr marL="0" indent="0">
              <a:buNone/>
            </a:pPr>
            <a:r>
              <a:rPr lang="en-US" sz="1200" dirty="0">
                <a:solidFill>
                  <a:schemeClr val="tx1"/>
                </a:solidFill>
              </a:rPr>
              <a:t>Selected-feature scaler: train rows only</a:t>
            </a:r>
            <a:endParaRPr lang="en-US" sz="1200" dirty="0"/>
          </a:p>
        </p:txBody>
      </p:sp>
      <p:pic>
        <p:nvPicPr>
          <p:cNvPr id="12" name="check-503" descr="pass"/>
          <p:cNvPicPr>
            <a:picLocks noChangeAspect="1"/>
          </p:cNvPicPr>
          <p:nvPr/>
        </p:nvPicPr>
        <p:blipFill>
          <a:blip r:embed="rId3"/>
          <a:stretch>
            <a:fillRect/>
          </a:stretch>
        </p:blipFill>
        <p:spPr>
          <a:xfrm>
            <a:off x="548640" y="3721608"/>
            <a:ext cx="237744" cy="237744"/>
          </a:xfrm>
          <a:prstGeom prst="rect">
            <a:avLst/>
          </a:prstGeom>
        </p:spPr>
      </p:pic>
      <p:sp>
        <p:nvSpPr>
          <p:cNvPr id="13" name="text-504"/>
          <p:cNvSpPr txBox="1"/>
          <p:nvPr/>
        </p:nvSpPr>
        <p:spPr>
          <a:xfrm>
            <a:off x="877824" y="3657600"/>
            <a:ext cx="3154680" cy="365760"/>
          </a:xfrm>
          <a:prstGeom prst="rect">
            <a:avLst/>
          </a:prstGeom>
          <a:noFill/>
          <a:ln/>
        </p:spPr>
        <p:txBody>
          <a:bodyPr wrap="square" lIns="0" tIns="0" rIns="0" bIns="0" rtlCol="0" anchor="ctr"/>
          <a:lstStyle/>
          <a:p>
            <a:pPr marL="0" indent="0">
              <a:buNone/>
            </a:pPr>
            <a:r>
              <a:rPr lang="en-US" sz="1200" dirty="0">
                <a:solidFill>
                  <a:schemeClr val="tx1"/>
                </a:solidFill>
              </a:rPr>
              <a:t>MI selector fitted on training rows only</a:t>
            </a:r>
            <a:endParaRPr lang="en-US" sz="1200" dirty="0"/>
          </a:p>
        </p:txBody>
      </p:sp>
      <p:pic>
        <p:nvPicPr>
          <p:cNvPr id="14" name="check-505" descr="pass"/>
          <p:cNvPicPr>
            <a:picLocks noChangeAspect="1"/>
          </p:cNvPicPr>
          <p:nvPr/>
        </p:nvPicPr>
        <p:blipFill>
          <a:blip r:embed="rId3"/>
          <a:stretch>
            <a:fillRect/>
          </a:stretch>
        </p:blipFill>
        <p:spPr>
          <a:xfrm>
            <a:off x="548640" y="4133088"/>
            <a:ext cx="237744" cy="237744"/>
          </a:xfrm>
          <a:prstGeom prst="rect">
            <a:avLst/>
          </a:prstGeom>
        </p:spPr>
      </p:pic>
      <p:sp>
        <p:nvSpPr>
          <p:cNvPr id="15" name="text-506"/>
          <p:cNvSpPr txBox="1"/>
          <p:nvPr/>
        </p:nvSpPr>
        <p:spPr>
          <a:xfrm>
            <a:off x="877824" y="4069080"/>
            <a:ext cx="3154680" cy="365760"/>
          </a:xfrm>
          <a:prstGeom prst="rect">
            <a:avLst/>
          </a:prstGeom>
          <a:noFill/>
          <a:ln/>
        </p:spPr>
        <p:txBody>
          <a:bodyPr wrap="square" lIns="0" tIns="0" rIns="0" bIns="0" rtlCol="0" anchor="ctr"/>
          <a:lstStyle/>
          <a:p>
            <a:pPr marL="0" indent="0">
              <a:buNone/>
            </a:pPr>
            <a:r>
              <a:rPr lang="en-US" sz="1200" dirty="0">
                <a:solidFill>
                  <a:schemeClr val="tx1"/>
                </a:solidFill>
              </a:rPr>
              <a:t>Tree selector fitted on training rows only</a:t>
            </a:r>
            <a:endParaRPr lang="en-US" sz="1200" dirty="0"/>
          </a:p>
        </p:txBody>
      </p:sp>
      <p:pic>
        <p:nvPicPr>
          <p:cNvPr id="16" name="check-507" descr="pass"/>
          <p:cNvPicPr>
            <a:picLocks noChangeAspect="1"/>
          </p:cNvPicPr>
          <p:nvPr/>
        </p:nvPicPr>
        <p:blipFill>
          <a:blip r:embed="rId3"/>
          <a:stretch>
            <a:fillRect/>
          </a:stretch>
        </p:blipFill>
        <p:spPr>
          <a:xfrm>
            <a:off x="548640" y="4544568"/>
            <a:ext cx="237744" cy="237744"/>
          </a:xfrm>
          <a:prstGeom prst="rect">
            <a:avLst/>
          </a:prstGeom>
        </p:spPr>
      </p:pic>
      <p:sp>
        <p:nvSpPr>
          <p:cNvPr id="17" name="text-508"/>
          <p:cNvSpPr txBox="1"/>
          <p:nvPr/>
        </p:nvSpPr>
        <p:spPr>
          <a:xfrm>
            <a:off x="877824" y="4480560"/>
            <a:ext cx="3154680" cy="365760"/>
          </a:xfrm>
          <a:prstGeom prst="rect">
            <a:avLst/>
          </a:prstGeom>
          <a:noFill/>
          <a:ln/>
        </p:spPr>
        <p:txBody>
          <a:bodyPr wrap="square" lIns="0" tIns="0" rIns="0" bIns="0" rtlCol="0" anchor="ctr"/>
          <a:lstStyle/>
          <a:p>
            <a:pPr marL="0" indent="0">
              <a:buNone/>
            </a:pPr>
            <a:r>
              <a:rPr lang="en-US" sz="1200" dirty="0">
                <a:solidFill>
                  <a:schemeClr val="tx1"/>
                </a:solidFill>
              </a:rPr>
              <a:t>All walk-forward folds end before the test</a:t>
            </a:r>
            <a:endParaRPr lang="en-US" sz="1200" dirty="0"/>
          </a:p>
        </p:txBody>
      </p:sp>
      <p:pic>
        <p:nvPicPr>
          <p:cNvPr id="18" name="check-509" descr="pass"/>
          <p:cNvPicPr>
            <a:picLocks noChangeAspect="1"/>
          </p:cNvPicPr>
          <p:nvPr/>
        </p:nvPicPr>
        <p:blipFill>
          <a:blip r:embed="rId3"/>
          <a:stretch>
            <a:fillRect/>
          </a:stretch>
        </p:blipFill>
        <p:spPr>
          <a:xfrm>
            <a:off x="548640" y="4956048"/>
            <a:ext cx="237744" cy="237744"/>
          </a:xfrm>
          <a:prstGeom prst="rect">
            <a:avLst/>
          </a:prstGeom>
        </p:spPr>
      </p:pic>
      <p:sp>
        <p:nvSpPr>
          <p:cNvPr id="19" name="text-510"/>
          <p:cNvSpPr txBox="1"/>
          <p:nvPr/>
        </p:nvSpPr>
        <p:spPr>
          <a:xfrm>
            <a:off x="877824" y="4892040"/>
            <a:ext cx="3154680" cy="365760"/>
          </a:xfrm>
          <a:prstGeom prst="rect">
            <a:avLst/>
          </a:prstGeom>
          <a:noFill/>
          <a:ln/>
        </p:spPr>
        <p:txBody>
          <a:bodyPr wrap="square" lIns="0" tIns="0" rIns="0" bIns="0" rtlCol="0" anchor="ctr"/>
          <a:lstStyle/>
          <a:p>
            <a:pPr marL="0" indent="0">
              <a:buNone/>
            </a:pPr>
            <a:r>
              <a:rPr lang="en-US" sz="1200" dirty="0">
                <a:solidFill>
                  <a:schemeClr val="tx1"/>
                </a:solidFill>
              </a:rPr>
              <a:t>Out-of-fold window inside training period</a:t>
            </a:r>
            <a:endParaRPr lang="en-US" sz="1200" dirty="0"/>
          </a:p>
        </p:txBody>
      </p:sp>
      <p:pic>
        <p:nvPicPr>
          <p:cNvPr id="20" name="check-511" descr="pass"/>
          <p:cNvPicPr>
            <a:picLocks noChangeAspect="1"/>
          </p:cNvPicPr>
          <p:nvPr/>
        </p:nvPicPr>
        <p:blipFill>
          <a:blip r:embed="rId3"/>
          <a:stretch>
            <a:fillRect/>
          </a:stretch>
        </p:blipFill>
        <p:spPr>
          <a:xfrm>
            <a:off x="548640" y="5367528"/>
            <a:ext cx="237744" cy="237744"/>
          </a:xfrm>
          <a:prstGeom prst="rect">
            <a:avLst/>
          </a:prstGeom>
        </p:spPr>
      </p:pic>
      <p:sp>
        <p:nvSpPr>
          <p:cNvPr id="21" name="text-512"/>
          <p:cNvSpPr txBox="1"/>
          <p:nvPr/>
        </p:nvSpPr>
        <p:spPr>
          <a:xfrm>
            <a:off x="877824" y="5303520"/>
            <a:ext cx="3154680" cy="365760"/>
          </a:xfrm>
          <a:prstGeom prst="rect">
            <a:avLst/>
          </a:prstGeom>
          <a:noFill/>
          <a:ln/>
        </p:spPr>
        <p:txBody>
          <a:bodyPr wrap="square" lIns="0" tIns="0" rIns="0" bIns="0" rtlCol="0" anchor="ctr"/>
          <a:lstStyle/>
          <a:p>
            <a:pPr marL="0" indent="0">
              <a:buNone/>
            </a:pPr>
            <a:r>
              <a:rPr lang="en-US" sz="1200" dirty="0">
                <a:solidFill>
                  <a:schemeClr val="tx1"/>
                </a:solidFill>
              </a:rPr>
              <a:t>Weights from validation F1, not test data</a:t>
            </a:r>
            <a:endParaRPr lang="en-US" sz="1200" dirty="0"/>
          </a:p>
        </p:txBody>
      </p:sp>
      <p:pic>
        <p:nvPicPr>
          <p:cNvPr id="22" name="check-513" descr="pass"/>
          <p:cNvPicPr>
            <a:picLocks noChangeAspect="1"/>
          </p:cNvPicPr>
          <p:nvPr/>
        </p:nvPicPr>
        <p:blipFill>
          <a:blip r:embed="rId3"/>
          <a:stretch>
            <a:fillRect/>
          </a:stretch>
        </p:blipFill>
        <p:spPr>
          <a:xfrm>
            <a:off x="548640" y="5779008"/>
            <a:ext cx="237744" cy="237744"/>
          </a:xfrm>
          <a:prstGeom prst="rect">
            <a:avLst/>
          </a:prstGeom>
        </p:spPr>
      </p:pic>
      <p:sp>
        <p:nvSpPr>
          <p:cNvPr id="23" name="text-514"/>
          <p:cNvSpPr txBox="1"/>
          <p:nvPr/>
        </p:nvSpPr>
        <p:spPr>
          <a:xfrm>
            <a:off x="877824" y="5715000"/>
            <a:ext cx="3154680" cy="365760"/>
          </a:xfrm>
          <a:prstGeom prst="rect">
            <a:avLst/>
          </a:prstGeom>
          <a:noFill/>
          <a:ln/>
        </p:spPr>
        <p:txBody>
          <a:bodyPr wrap="square" lIns="0" tIns="0" rIns="0" bIns="0" rtlCol="0" anchor="ctr"/>
          <a:lstStyle/>
          <a:p>
            <a:pPr marL="0" indent="0">
              <a:buNone/>
            </a:pPr>
            <a:r>
              <a:rPr lang="en-US" sz="1200" dirty="0">
                <a:solidFill>
                  <a:schemeClr val="tx1"/>
                </a:solidFill>
              </a:rPr>
              <a:t>7-model weights sum to 1</a:t>
            </a:r>
            <a:endParaRPr lang="en-US" sz="1200" dirty="0"/>
          </a:p>
        </p:txBody>
      </p:sp>
      <p:pic>
        <p:nvPicPr>
          <p:cNvPr id="24" name="check-515" descr="pass"/>
          <p:cNvPicPr>
            <a:picLocks noChangeAspect="1"/>
          </p:cNvPicPr>
          <p:nvPr/>
        </p:nvPicPr>
        <p:blipFill>
          <a:blip r:embed="rId3"/>
          <a:stretch>
            <a:fillRect/>
          </a:stretch>
        </p:blipFill>
        <p:spPr>
          <a:xfrm>
            <a:off x="4069080" y="2487168"/>
            <a:ext cx="237744" cy="237744"/>
          </a:xfrm>
          <a:prstGeom prst="rect">
            <a:avLst/>
          </a:prstGeom>
        </p:spPr>
      </p:pic>
      <p:sp>
        <p:nvSpPr>
          <p:cNvPr id="25" name="text-516"/>
          <p:cNvSpPr txBox="1"/>
          <p:nvPr/>
        </p:nvSpPr>
        <p:spPr>
          <a:xfrm>
            <a:off x="4398264" y="2423160"/>
            <a:ext cx="3154680" cy="365760"/>
          </a:xfrm>
          <a:prstGeom prst="rect">
            <a:avLst/>
          </a:prstGeom>
          <a:noFill/>
          <a:ln/>
        </p:spPr>
        <p:txBody>
          <a:bodyPr wrap="square" lIns="0" tIns="0" rIns="0" bIns="0" rtlCol="0" anchor="ctr"/>
          <a:lstStyle/>
          <a:p>
            <a:pPr marL="0" indent="0">
              <a:buNone/>
            </a:pPr>
            <a:r>
              <a:rPr lang="en-US" sz="1200" dirty="0">
                <a:solidFill>
                  <a:schemeClr val="tx1"/>
                </a:solidFill>
              </a:rPr>
              <a:t>Stacking trained on out-of-fold data only</a:t>
            </a:r>
            <a:endParaRPr lang="en-US" sz="1200" dirty="0"/>
          </a:p>
        </p:txBody>
      </p:sp>
      <p:pic>
        <p:nvPicPr>
          <p:cNvPr id="26" name="check-517" descr="pass"/>
          <p:cNvPicPr>
            <a:picLocks noChangeAspect="1"/>
          </p:cNvPicPr>
          <p:nvPr/>
        </p:nvPicPr>
        <p:blipFill>
          <a:blip r:embed="rId3"/>
          <a:stretch>
            <a:fillRect/>
          </a:stretch>
        </p:blipFill>
        <p:spPr>
          <a:xfrm>
            <a:off x="4069080" y="2898648"/>
            <a:ext cx="237744" cy="237744"/>
          </a:xfrm>
          <a:prstGeom prst="rect">
            <a:avLst/>
          </a:prstGeom>
        </p:spPr>
      </p:pic>
      <p:sp>
        <p:nvSpPr>
          <p:cNvPr id="27" name="text-518"/>
          <p:cNvSpPr txBox="1"/>
          <p:nvPr/>
        </p:nvSpPr>
        <p:spPr>
          <a:xfrm>
            <a:off x="4398264" y="2834640"/>
            <a:ext cx="3154680" cy="365760"/>
          </a:xfrm>
          <a:prstGeom prst="rect">
            <a:avLst/>
          </a:prstGeom>
          <a:noFill/>
          <a:ln/>
        </p:spPr>
        <p:txBody>
          <a:bodyPr wrap="square" lIns="0" tIns="0" rIns="0" bIns="0" rtlCol="0" anchor="ctr"/>
          <a:lstStyle/>
          <a:p>
            <a:pPr marL="0" indent="0">
              <a:buNone/>
            </a:pPr>
            <a:r>
              <a:rPr lang="en-US" sz="1200" dirty="0">
                <a:solidFill>
                  <a:schemeClr val="tx1"/>
                </a:solidFill>
              </a:rPr>
              <a:t>LSTM alignment X[i−19 : i+1] → y[i] kept</a:t>
            </a:r>
            <a:endParaRPr lang="en-US" sz="1200" dirty="0"/>
          </a:p>
        </p:txBody>
      </p:sp>
      <p:pic>
        <p:nvPicPr>
          <p:cNvPr id="28" name="check-519" descr="pass"/>
          <p:cNvPicPr>
            <a:picLocks noChangeAspect="1"/>
          </p:cNvPicPr>
          <p:nvPr/>
        </p:nvPicPr>
        <p:blipFill>
          <a:blip r:embed="rId3"/>
          <a:stretch>
            <a:fillRect/>
          </a:stretch>
        </p:blipFill>
        <p:spPr>
          <a:xfrm>
            <a:off x="4069080" y="3310128"/>
            <a:ext cx="237744" cy="237744"/>
          </a:xfrm>
          <a:prstGeom prst="rect">
            <a:avLst/>
          </a:prstGeom>
        </p:spPr>
      </p:pic>
      <p:sp>
        <p:nvSpPr>
          <p:cNvPr id="29" name="text-520"/>
          <p:cNvSpPr txBox="1"/>
          <p:nvPr/>
        </p:nvSpPr>
        <p:spPr>
          <a:xfrm>
            <a:off x="4398264" y="3246120"/>
            <a:ext cx="3154680" cy="365760"/>
          </a:xfrm>
          <a:prstGeom prst="rect">
            <a:avLst/>
          </a:prstGeom>
          <a:noFill/>
          <a:ln/>
        </p:spPr>
        <p:txBody>
          <a:bodyPr wrap="square" lIns="0" tIns="0" rIns="0" bIns="0" rtlCol="0" anchor="ctr"/>
          <a:lstStyle/>
          <a:p>
            <a:pPr marL="0" indent="0">
              <a:buNone/>
            </a:pPr>
            <a:r>
              <a:rPr lang="en-US" sz="1200" dirty="0">
                <a:solidFill>
                  <a:schemeClr val="tx1"/>
                </a:solidFill>
              </a:rPr>
              <a:t>ViT consumes 20 × 37 feature matrices</a:t>
            </a:r>
            <a:endParaRPr lang="en-US" sz="1200" dirty="0"/>
          </a:p>
        </p:txBody>
      </p:sp>
      <p:pic>
        <p:nvPicPr>
          <p:cNvPr id="30" name="check-521" descr="pass"/>
          <p:cNvPicPr>
            <a:picLocks noChangeAspect="1"/>
          </p:cNvPicPr>
          <p:nvPr/>
        </p:nvPicPr>
        <p:blipFill>
          <a:blip r:embed="rId3"/>
          <a:stretch>
            <a:fillRect/>
          </a:stretch>
        </p:blipFill>
        <p:spPr>
          <a:xfrm>
            <a:off x="4069080" y="3721608"/>
            <a:ext cx="237744" cy="237744"/>
          </a:xfrm>
          <a:prstGeom prst="rect">
            <a:avLst/>
          </a:prstGeom>
        </p:spPr>
      </p:pic>
      <p:sp>
        <p:nvSpPr>
          <p:cNvPr id="31" name="text-522"/>
          <p:cNvSpPr txBox="1"/>
          <p:nvPr/>
        </p:nvSpPr>
        <p:spPr>
          <a:xfrm>
            <a:off x="4398264" y="3657600"/>
            <a:ext cx="3154680" cy="365760"/>
          </a:xfrm>
          <a:prstGeom prst="rect">
            <a:avLst/>
          </a:prstGeom>
          <a:noFill/>
          <a:ln/>
        </p:spPr>
        <p:txBody>
          <a:bodyPr wrap="square" lIns="0" tIns="0" rIns="0" bIns="0" rtlCol="0" anchor="ctr"/>
          <a:lstStyle/>
          <a:p>
            <a:pPr marL="0" indent="0">
              <a:buNone/>
            </a:pPr>
            <a:r>
              <a:rPr lang="en-US" sz="1200" dirty="0">
                <a:solidFill>
                  <a:schemeClr val="tx1"/>
                </a:solidFill>
              </a:rPr>
              <a:t>All models scored on identical test days</a:t>
            </a:r>
            <a:endParaRPr lang="en-US" sz="1200" dirty="0"/>
          </a:p>
        </p:txBody>
      </p:sp>
      <p:pic>
        <p:nvPicPr>
          <p:cNvPr id="32" name="check-523" descr="pass"/>
          <p:cNvPicPr>
            <a:picLocks noChangeAspect="1"/>
          </p:cNvPicPr>
          <p:nvPr/>
        </p:nvPicPr>
        <p:blipFill>
          <a:blip r:embed="rId3"/>
          <a:stretch>
            <a:fillRect/>
          </a:stretch>
        </p:blipFill>
        <p:spPr>
          <a:xfrm>
            <a:off x="4069080" y="4133088"/>
            <a:ext cx="237744" cy="237744"/>
          </a:xfrm>
          <a:prstGeom prst="rect">
            <a:avLst/>
          </a:prstGeom>
        </p:spPr>
      </p:pic>
      <p:sp>
        <p:nvSpPr>
          <p:cNvPr id="33" name="text-524"/>
          <p:cNvSpPr txBox="1"/>
          <p:nvPr/>
        </p:nvSpPr>
        <p:spPr>
          <a:xfrm>
            <a:off x="4398264" y="4069080"/>
            <a:ext cx="3154680" cy="365760"/>
          </a:xfrm>
          <a:prstGeom prst="rect">
            <a:avLst/>
          </a:prstGeom>
          <a:noFill/>
          <a:ln/>
        </p:spPr>
        <p:txBody>
          <a:bodyPr wrap="square" lIns="0" tIns="0" rIns="0" bIns="0" rtlCol="0" anchor="ctr"/>
          <a:lstStyle/>
          <a:p>
            <a:pPr marL="0" indent="0">
              <a:buNone/>
            </a:pPr>
            <a:r>
              <a:rPr lang="en-US" sz="1200" dirty="0">
                <a:solidFill>
                  <a:schemeClr val="tx1"/>
                </a:solidFill>
              </a:rPr>
              <a:t>All models predict the same UP/DOWN target</a:t>
            </a:r>
            <a:endParaRPr lang="en-US" sz="1200" dirty="0"/>
          </a:p>
        </p:txBody>
      </p:sp>
      <p:pic>
        <p:nvPicPr>
          <p:cNvPr id="34" name="check-525" descr="pass"/>
          <p:cNvPicPr>
            <a:picLocks noChangeAspect="1"/>
          </p:cNvPicPr>
          <p:nvPr/>
        </p:nvPicPr>
        <p:blipFill>
          <a:blip r:embed="rId3"/>
          <a:stretch>
            <a:fillRect/>
          </a:stretch>
        </p:blipFill>
        <p:spPr>
          <a:xfrm>
            <a:off x="4069080" y="4544568"/>
            <a:ext cx="237744" cy="237744"/>
          </a:xfrm>
          <a:prstGeom prst="rect">
            <a:avLst/>
          </a:prstGeom>
        </p:spPr>
      </p:pic>
      <p:sp>
        <p:nvSpPr>
          <p:cNvPr id="35" name="text-526"/>
          <p:cNvSpPr txBox="1"/>
          <p:nvPr/>
        </p:nvSpPr>
        <p:spPr>
          <a:xfrm>
            <a:off x="4398264" y="4480560"/>
            <a:ext cx="3154680" cy="365760"/>
          </a:xfrm>
          <a:prstGeom prst="rect">
            <a:avLst/>
          </a:prstGeom>
          <a:noFill/>
          <a:ln/>
        </p:spPr>
        <p:txBody>
          <a:bodyPr wrap="square" lIns="0" tIns="0" rIns="0" bIns="0" rtlCol="0" anchor="ctr"/>
          <a:lstStyle/>
          <a:p>
            <a:pPr marL="0" indent="0">
              <a:buNone/>
            </a:pPr>
            <a:r>
              <a:rPr lang="en-US" sz="1200" dirty="0">
                <a:solidFill>
                  <a:schemeClr val="tx1"/>
                </a:solidFill>
              </a:rPr>
              <a:t>Latest row excluded from train and test</a:t>
            </a:r>
            <a:endParaRPr lang="en-US" sz="1200" dirty="0"/>
          </a:p>
        </p:txBody>
      </p:sp>
      <p:pic>
        <p:nvPicPr>
          <p:cNvPr id="36" name="check-527" descr="pass"/>
          <p:cNvPicPr>
            <a:picLocks noChangeAspect="1"/>
          </p:cNvPicPr>
          <p:nvPr/>
        </p:nvPicPr>
        <p:blipFill>
          <a:blip r:embed="rId3"/>
          <a:stretch>
            <a:fillRect/>
          </a:stretch>
        </p:blipFill>
        <p:spPr>
          <a:xfrm>
            <a:off x="4069080" y="4956048"/>
            <a:ext cx="237744" cy="237744"/>
          </a:xfrm>
          <a:prstGeom prst="rect">
            <a:avLst/>
          </a:prstGeom>
        </p:spPr>
      </p:pic>
      <p:sp>
        <p:nvSpPr>
          <p:cNvPr id="37" name="text-528"/>
          <p:cNvSpPr txBox="1"/>
          <p:nvPr/>
        </p:nvSpPr>
        <p:spPr>
          <a:xfrm>
            <a:off x="4398264" y="4892040"/>
            <a:ext cx="3154680" cy="365760"/>
          </a:xfrm>
          <a:prstGeom prst="rect">
            <a:avLst/>
          </a:prstGeom>
          <a:noFill/>
          <a:ln/>
        </p:spPr>
        <p:txBody>
          <a:bodyPr wrap="square" lIns="0" tIns="0" rIns="0" bIns="0" rtlCol="0" anchor="ctr"/>
          <a:lstStyle/>
          <a:p>
            <a:pPr marL="0" indent="0">
              <a:buNone/>
            </a:pPr>
            <a:r>
              <a:rPr lang="en-US" sz="1200" dirty="0">
                <a:solidFill>
                  <a:schemeClr val="tx1"/>
                </a:solidFill>
              </a:rPr>
              <a:t>Adaptive W, β chosen on OOF data only</a:t>
            </a:r>
            <a:endParaRPr lang="en-US" sz="1200" dirty="0"/>
          </a:p>
        </p:txBody>
      </p:sp>
      <p:pic>
        <p:nvPicPr>
          <p:cNvPr id="38" name="check-529" descr="pass"/>
          <p:cNvPicPr>
            <a:picLocks noChangeAspect="1"/>
          </p:cNvPicPr>
          <p:nvPr/>
        </p:nvPicPr>
        <p:blipFill>
          <a:blip r:embed="rId3"/>
          <a:stretch>
            <a:fillRect/>
          </a:stretch>
        </p:blipFill>
        <p:spPr>
          <a:xfrm>
            <a:off x="4069080" y="5367528"/>
            <a:ext cx="237744" cy="237744"/>
          </a:xfrm>
          <a:prstGeom prst="rect">
            <a:avLst/>
          </a:prstGeom>
        </p:spPr>
      </p:pic>
      <p:sp>
        <p:nvSpPr>
          <p:cNvPr id="39" name="text-530"/>
          <p:cNvSpPr txBox="1"/>
          <p:nvPr/>
        </p:nvSpPr>
        <p:spPr>
          <a:xfrm>
            <a:off x="4398264" y="5303520"/>
            <a:ext cx="3154680" cy="365760"/>
          </a:xfrm>
          <a:prstGeom prst="rect">
            <a:avLst/>
          </a:prstGeom>
          <a:noFill/>
          <a:ln/>
        </p:spPr>
        <p:txBody>
          <a:bodyPr wrap="square" lIns="0" tIns="0" rIns="0" bIns="0" rtlCol="0" anchor="ctr"/>
          <a:lstStyle/>
          <a:p>
            <a:pPr marL="0" indent="0">
              <a:buNone/>
            </a:pPr>
            <a:r>
              <a:rPr lang="en-US" sz="1200" dirty="0">
                <a:solidFill>
                  <a:schemeClr val="tx1"/>
                </a:solidFill>
              </a:rPr>
              <a:t>Adaptive weights never see day t's label</a:t>
            </a:r>
            <a:endParaRPr lang="en-US" sz="1200" dirty="0"/>
          </a:p>
        </p:txBody>
      </p:sp>
      <p:pic>
        <p:nvPicPr>
          <p:cNvPr id="40" name="check-531" descr="pass"/>
          <p:cNvPicPr>
            <a:picLocks noChangeAspect="1"/>
          </p:cNvPicPr>
          <p:nvPr/>
        </p:nvPicPr>
        <p:blipFill>
          <a:blip r:embed="rId3"/>
          <a:stretch>
            <a:fillRect/>
          </a:stretch>
        </p:blipFill>
        <p:spPr>
          <a:xfrm>
            <a:off x="4069080" y="5779008"/>
            <a:ext cx="237744" cy="237744"/>
          </a:xfrm>
          <a:prstGeom prst="rect">
            <a:avLst/>
          </a:prstGeom>
        </p:spPr>
      </p:pic>
      <p:sp>
        <p:nvSpPr>
          <p:cNvPr id="41" name="text-532"/>
          <p:cNvSpPr txBox="1"/>
          <p:nvPr/>
        </p:nvSpPr>
        <p:spPr>
          <a:xfrm>
            <a:off x="4398264" y="5715000"/>
            <a:ext cx="3154680" cy="365760"/>
          </a:xfrm>
          <a:prstGeom prst="rect">
            <a:avLst/>
          </a:prstGeom>
          <a:noFill/>
          <a:ln/>
        </p:spPr>
        <p:txBody>
          <a:bodyPr wrap="square" lIns="0" tIns="0" rIns="0" bIns="0" rtlCol="0" anchor="ctr"/>
          <a:lstStyle/>
          <a:p>
            <a:pPr marL="0" indent="0">
              <a:buNone/>
            </a:pPr>
            <a:r>
              <a:rPr lang="en-US" sz="1200" dirty="0">
                <a:solidFill>
                  <a:schemeClr val="tx1"/>
                </a:solidFill>
              </a:rPr>
              <a:t>Adaptive weights sum to 1 every test day</a:t>
            </a:r>
            <a:endParaRPr lang="en-US" sz="1200" dirty="0"/>
          </a:p>
        </p:txBody>
      </p:sp>
      <p:sp>
        <p:nvSpPr>
          <p:cNvPr id="42" name="card-533"/>
          <p:cNvSpPr/>
          <p:nvPr/>
        </p:nvSpPr>
        <p:spPr>
          <a:xfrm>
            <a:off x="7863840" y="1508760"/>
            <a:ext cx="3776472" cy="4663440"/>
          </a:xfrm>
          <a:prstGeom prst="roundRect">
            <a:avLst>
              <a:gd name="adj" fmla="val 2421"/>
            </a:avLst>
          </a:prstGeom>
          <a:solidFill>
            <a:schemeClr val="bg2"/>
          </a:solidFill>
          <a:ln/>
        </p:spPr>
        <p:txBody>
          <a:bodyPr/>
          <a:lstStyle/>
          <a:p>
            <a:endParaRPr lang="en-IN"/>
          </a:p>
        </p:txBody>
      </p:sp>
      <p:sp>
        <p:nvSpPr>
          <p:cNvPr id="43" name="text-534"/>
          <p:cNvSpPr txBox="1"/>
          <p:nvPr/>
        </p:nvSpPr>
        <p:spPr>
          <a:xfrm>
            <a:off x="8092440" y="1691640"/>
            <a:ext cx="3383280" cy="384048"/>
          </a:xfrm>
          <a:prstGeom prst="rect">
            <a:avLst/>
          </a:prstGeom>
          <a:noFill/>
          <a:ln/>
        </p:spPr>
        <p:txBody>
          <a:bodyPr wrap="square" lIns="0" tIns="0" rIns="0" bIns="0" rtlCol="0" anchor="t"/>
          <a:lstStyle/>
          <a:p>
            <a:pPr marL="0" indent="0">
              <a:buNone/>
            </a:pPr>
            <a:r>
              <a:rPr lang="en-US" sz="1700" b="1" dirty="0">
                <a:solidFill>
                  <a:schemeClr val="tx2"/>
                </a:solidFill>
              </a:rPr>
              <a:t>Is it more than luck?</a:t>
            </a:r>
            <a:endParaRPr lang="en-US" sz="1700" dirty="0"/>
          </a:p>
        </p:txBody>
      </p:sp>
      <p:sp>
        <p:nvSpPr>
          <p:cNvPr id="44" name="text-535"/>
          <p:cNvSpPr txBox="1"/>
          <p:nvPr/>
        </p:nvSpPr>
        <p:spPr>
          <a:xfrm>
            <a:off x="8092440" y="2075688"/>
            <a:ext cx="3383280" cy="320040"/>
          </a:xfrm>
          <a:prstGeom prst="rect">
            <a:avLst/>
          </a:prstGeom>
          <a:noFill/>
          <a:ln/>
        </p:spPr>
        <p:txBody>
          <a:bodyPr wrap="square" lIns="0" tIns="0" rIns="0" bIns="0" rtlCol="0" anchor="t"/>
          <a:lstStyle/>
          <a:p>
            <a:pPr marL="0" indent="0">
              <a:buNone/>
            </a:pPr>
            <a:r>
              <a:rPr lang="en-US" sz="1200" i="1" dirty="0">
                <a:solidFill>
                  <a:schemeClr val="accent6"/>
                </a:solidFill>
              </a:rPr>
              <a:t>binomial z-test on 1,052 test days</a:t>
            </a:r>
            <a:endParaRPr lang="en-US" sz="1200" dirty="0"/>
          </a:p>
        </p:txBody>
      </p:sp>
      <p:graphicFrame>
        <p:nvGraphicFramePr>
          <p:cNvPr id="45" name="significance-table"/>
          <p:cNvGraphicFramePr>
            <a:graphicFrameLocks noGrp="1"/>
          </p:cNvGraphicFramePr>
          <p:nvPr>
            <p:extLst>
              <p:ext uri="{D42A27DB-BD31-4B8C-83A1-F6EECF244321}">
                <p14:modId xmlns:p14="http://schemas.microsoft.com/office/powerpoint/2010/main" val="1579011935"/>
              </p:ext>
            </p:extLst>
          </p:nvPr>
        </p:nvGraphicFramePr>
        <p:xfrm>
          <a:off x="8001000" y="2514600"/>
          <a:ext cx="3520440" cy="1295400"/>
        </p:xfrm>
        <a:graphic>
          <a:graphicData uri="http://schemas.openxmlformats.org/drawingml/2006/table">
            <a:tbl>
              <a:tblPr/>
              <a:tblGrid>
                <a:gridCol w="1298448">
                  <a:extLst>
                    <a:ext uri="{9D8B030D-6E8A-4147-A177-3AD203B41FA5}">
                      <a16:colId xmlns:a16="http://schemas.microsoft.com/office/drawing/2014/main" val="20000"/>
                    </a:ext>
                  </a:extLst>
                </a:gridCol>
                <a:gridCol w="667512">
                  <a:extLst>
                    <a:ext uri="{9D8B030D-6E8A-4147-A177-3AD203B41FA5}">
                      <a16:colId xmlns:a16="http://schemas.microsoft.com/office/drawing/2014/main" val="20001"/>
                    </a:ext>
                  </a:extLst>
                </a:gridCol>
                <a:gridCol w="731520">
                  <a:extLst>
                    <a:ext uri="{9D8B030D-6E8A-4147-A177-3AD203B41FA5}">
                      <a16:colId xmlns:a16="http://schemas.microsoft.com/office/drawing/2014/main" val="20002"/>
                    </a:ext>
                  </a:extLst>
                </a:gridCol>
                <a:gridCol w="822960">
                  <a:extLst>
                    <a:ext uri="{9D8B030D-6E8A-4147-A177-3AD203B41FA5}">
                      <a16:colId xmlns:a16="http://schemas.microsoft.com/office/drawing/2014/main" val="20003"/>
                    </a:ext>
                  </a:extLst>
                </a:gridCol>
              </a:tblGrid>
              <a:tr h="0">
                <a:tc>
                  <a:txBody>
                    <a:bodyPr/>
                    <a:lstStyle/>
                    <a:p>
                      <a:pPr marL="0" indent="0">
                        <a:buNone/>
                      </a:pPr>
                      <a:r>
                        <a:rPr lang="en-US" sz="1200" b="1" dirty="0">
                          <a:solidFill>
                            <a:schemeClr val="bg1"/>
                          </a:solidFill>
                        </a:rPr>
                        <a:t>Method</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Correct</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 vs 50%</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tc>
                  <a:txBody>
                    <a:bodyPr/>
                    <a:lstStyle/>
                    <a:p>
                      <a:pPr marL="0" indent="0">
                        <a:buNone/>
                      </a:pPr>
                      <a:r>
                        <a:rPr lang="en-US" sz="1200" b="1" dirty="0">
                          <a:solidFill>
                            <a:schemeClr val="bg1"/>
                          </a:solidFill>
                        </a:rPr>
                        <a:t>p vs 51.9%</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tx2"/>
                    </a:solidFill>
                  </a:tcPr>
                </a:tc>
                <a:extLst>
                  <a:ext uri="{0D108BD9-81ED-4DB2-BD59-A6C34878D82A}">
                    <a16:rowId xmlns:a16="http://schemas.microsoft.com/office/drawing/2014/main" val="10000"/>
                  </a:ext>
                </a:extLst>
              </a:tr>
              <a:tr h="0">
                <a:tc>
                  <a:txBody>
                    <a:bodyPr/>
                    <a:lstStyle/>
                    <a:p>
                      <a:pPr marL="0" indent="0" algn="l">
                        <a:buNone/>
                      </a:pPr>
                      <a:r>
                        <a:rPr lang="en-US" sz="1200" dirty="0">
                          <a:solidFill>
                            <a:schemeClr val="tx2"/>
                          </a:solidFill>
                        </a:rPr>
                        <a:t>Gradient Boosting</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564</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b="1" dirty="0">
                          <a:solidFill>
                            <a:schemeClr val="tx1"/>
                          </a:solidFill>
                        </a:rPr>
                        <a:t>0.019</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0.267</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1"/>
                  </a:ext>
                </a:extLst>
              </a:tr>
              <a:tr h="0">
                <a:tc>
                  <a:txBody>
                    <a:bodyPr/>
                    <a:lstStyle/>
                    <a:p>
                      <a:pPr marL="0" indent="0" algn="l">
                        <a:buNone/>
                      </a:pPr>
                      <a:r>
                        <a:rPr lang="en-US" sz="1200" dirty="0">
                          <a:solidFill>
                            <a:schemeClr val="tx2"/>
                          </a:solidFill>
                        </a:rPr>
                        <a:t>Stacking (8)</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551</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0.123</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0.758</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2"/>
                  </a:ext>
                </a:extLst>
              </a:tr>
              <a:tr h="0">
                <a:tc>
                  <a:txBody>
                    <a:bodyPr/>
                    <a:lstStyle/>
                    <a:p>
                      <a:pPr marL="0" indent="0" algn="l">
                        <a:buNone/>
                      </a:pPr>
                      <a:r>
                        <a:rPr lang="en-US" sz="1200" dirty="0">
                          <a:solidFill>
                            <a:schemeClr val="tx2"/>
                          </a:solidFill>
                        </a:rPr>
                        <a:t>Adaptive (7)</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548</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0.175</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tc>
                  <a:txBody>
                    <a:bodyPr/>
                    <a:lstStyle/>
                    <a:p>
                      <a:pPr marL="0" indent="0" algn="ctr">
                        <a:buNone/>
                      </a:pPr>
                      <a:r>
                        <a:rPr lang="en-US" sz="1200" dirty="0">
                          <a:solidFill>
                            <a:schemeClr val="tx1"/>
                          </a:solidFill>
                        </a:rPr>
                        <a:t>0.902</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1"/>
                    </a:solidFill>
                  </a:tcPr>
                </a:tc>
                <a:extLst>
                  <a:ext uri="{0D108BD9-81ED-4DB2-BD59-A6C34878D82A}">
                    <a16:rowId xmlns:a16="http://schemas.microsoft.com/office/drawing/2014/main" val="10003"/>
                  </a:ext>
                </a:extLst>
              </a:tr>
              <a:tr h="0">
                <a:tc>
                  <a:txBody>
                    <a:bodyPr/>
                    <a:lstStyle/>
                    <a:p>
                      <a:pPr marL="0" indent="0" algn="l">
                        <a:buNone/>
                      </a:pPr>
                      <a:r>
                        <a:rPr lang="en-US" sz="1200" dirty="0">
                          <a:solidFill>
                            <a:schemeClr val="tx2"/>
                          </a:solidFill>
                        </a:rPr>
                        <a:t>Majority (7)</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535</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0.579</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tc>
                  <a:txBody>
                    <a:bodyPr/>
                    <a:lstStyle/>
                    <a:p>
                      <a:pPr marL="0" indent="0" algn="ctr">
                        <a:buNone/>
                      </a:pPr>
                      <a:r>
                        <a:rPr lang="en-US" sz="1200" dirty="0">
                          <a:solidFill>
                            <a:schemeClr val="tx1"/>
                          </a:solidFill>
                        </a:rPr>
                        <a:t>0.497</a:t>
                      </a:r>
                      <a:endParaRPr lang="en-US" sz="1200" dirty="0"/>
                    </a:p>
                  </a:txBody>
                  <a:tcPr marL="38100" marR="38100" marT="38100" marB="38100" anchor="ctr">
                    <a:lnL w="9525" cap="flat" cmpd="sng" algn="ctr">
                      <a:solidFill>
                        <a:srgbClr val="D5DEE5"/>
                      </a:solidFill>
                      <a:prstDash val="solid"/>
                      <a:round/>
                      <a:headEnd type="none" w="med" len="med"/>
                      <a:tailEnd type="none" w="med" len="med"/>
                    </a:lnL>
                    <a:lnR w="9525" cap="flat" cmpd="sng" algn="ctr">
                      <a:solidFill>
                        <a:srgbClr val="D5DEE5"/>
                      </a:solidFill>
                      <a:prstDash val="solid"/>
                      <a:round/>
                      <a:headEnd type="none" w="med" len="med"/>
                      <a:tailEnd type="none" w="med" len="med"/>
                    </a:lnR>
                    <a:lnT w="9525" cap="flat" cmpd="sng" algn="ctr">
                      <a:solidFill>
                        <a:srgbClr val="D5DEE5"/>
                      </a:solidFill>
                      <a:prstDash val="solid"/>
                      <a:round/>
                      <a:headEnd type="none" w="med" len="med"/>
                      <a:tailEnd type="none" w="med" len="med"/>
                    </a:lnT>
                    <a:lnB w="9525" cap="flat" cmpd="sng" algn="ctr">
                      <a:solidFill>
                        <a:srgbClr val="D5DEE5"/>
                      </a:solidFill>
                      <a:prstDash val="solid"/>
                      <a:round/>
                      <a:headEnd type="none" w="med" len="med"/>
                      <a:tailEnd type="none" w="med" len="med"/>
                    </a:lnB>
                    <a:solidFill>
                      <a:schemeClr val="bg2"/>
                    </a:solidFill>
                  </a:tcPr>
                </a:tc>
                <a:extLst>
                  <a:ext uri="{0D108BD9-81ED-4DB2-BD59-A6C34878D82A}">
                    <a16:rowId xmlns:a16="http://schemas.microsoft.com/office/drawing/2014/main" val="10004"/>
                  </a:ext>
                </a:extLst>
              </a:tr>
            </a:tbl>
          </a:graphicData>
        </a:graphic>
      </p:graphicFrame>
      <p:sp>
        <p:nvSpPr>
          <p:cNvPr id="46" name="text-536"/>
          <p:cNvSpPr txBox="1"/>
          <p:nvPr/>
        </p:nvSpPr>
        <p:spPr>
          <a:xfrm>
            <a:off x="8092440" y="4251960"/>
            <a:ext cx="3337560" cy="1645920"/>
          </a:xfrm>
          <a:prstGeom prst="rect">
            <a:avLst/>
          </a:prstGeom>
          <a:noFill/>
          <a:ln/>
        </p:spPr>
        <p:txBody>
          <a:bodyPr wrap="square" lIns="0" tIns="0" rIns="0" bIns="0" rtlCol="0" anchor="t"/>
          <a:lstStyle/>
          <a:p>
            <a:pPr marL="0" indent="0">
              <a:buNone/>
            </a:pPr>
            <a:r>
              <a:rPr lang="en-US" sz="1400" dirty="0">
                <a:solidFill>
                  <a:schemeClr val="tx1"/>
                </a:solidFill>
              </a:rPr>
              <a:t>±3.0 points is the 95% noise band for 1,052 days. Only Gradient Boosting beats a coin flip at the 5% level, and no method beats the 51.9% majority-class rate significantly.</a:t>
            </a:r>
            <a:endParaRPr lang="en-US" sz="1400" dirty="0"/>
          </a:p>
        </p:txBody>
      </p:sp>
      <p:sp>
        <p:nvSpPr>
          <p:cNvPr id="47"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06 · DEMO</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Live run: the day after 30 April 2021</a:t>
            </a:r>
            <a:endParaRPr lang="en-US" sz="3200" dirty="0"/>
          </a:p>
        </p:txBody>
      </p:sp>
      <p:graphicFrame>
        <p:nvGraphicFramePr>
          <p:cNvPr id="4" name="chart-537"/>
          <p:cNvGraphicFramePr/>
          <p:nvPr/>
        </p:nvGraphicFramePr>
        <p:xfrm>
          <a:off x="548640" y="1417320"/>
          <a:ext cx="6309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card-538"/>
          <p:cNvSpPr/>
          <p:nvPr/>
        </p:nvSpPr>
        <p:spPr>
          <a:xfrm>
            <a:off x="548640" y="5641848"/>
            <a:ext cx="6309360" cy="530352"/>
          </a:xfrm>
          <a:prstGeom prst="roundRect">
            <a:avLst>
              <a:gd name="adj" fmla="val 17241"/>
            </a:avLst>
          </a:prstGeom>
          <a:solidFill>
            <a:schemeClr val="tx2"/>
          </a:solidFill>
          <a:ln/>
        </p:spPr>
        <p:txBody>
          <a:bodyPr/>
          <a:lstStyle/>
          <a:p>
            <a:endParaRPr lang="en-IN"/>
          </a:p>
        </p:txBody>
      </p:sp>
      <p:pic>
        <p:nvPicPr>
          <p:cNvPr id="6" name="icon-539" descr="terminal"/>
          <p:cNvPicPr>
            <a:picLocks noChangeAspect="1"/>
          </p:cNvPicPr>
          <p:nvPr/>
        </p:nvPicPr>
        <p:blipFill>
          <a:blip r:embed="rId4"/>
          <a:stretch>
            <a:fillRect/>
          </a:stretch>
        </p:blipFill>
        <p:spPr>
          <a:xfrm>
            <a:off x="713232" y="5751576"/>
            <a:ext cx="310896" cy="310896"/>
          </a:xfrm>
          <a:prstGeom prst="rect">
            <a:avLst/>
          </a:prstGeom>
        </p:spPr>
      </p:pic>
      <p:sp>
        <p:nvSpPr>
          <p:cNvPr id="7" name="text-540"/>
          <p:cNvSpPr txBox="1"/>
          <p:nvPr/>
        </p:nvSpPr>
        <p:spPr>
          <a:xfrm>
            <a:off x="1188720" y="5641848"/>
            <a:ext cx="5577840" cy="530352"/>
          </a:xfrm>
          <a:prstGeom prst="rect">
            <a:avLst/>
          </a:prstGeom>
          <a:noFill/>
          <a:ln/>
        </p:spPr>
        <p:txBody>
          <a:bodyPr wrap="square" lIns="0" tIns="0" rIns="0" bIns="0" rtlCol="0" anchor="ctr"/>
          <a:lstStyle/>
          <a:p>
            <a:pPr marL="0" indent="0">
              <a:buNone/>
            </a:pPr>
            <a:r>
              <a:rPr lang="en-US" sz="1200" dirty="0">
                <a:solidFill>
                  <a:schemeClr val="bg1"/>
                </a:solidFill>
                <a:latin typeface="Courier New" pitchFamily="34" charset="0"/>
                <a:ea typeface="Courier New" pitchFamily="34" charset="-122"/>
                <a:cs typeface="Courier New" pitchFamily="34" charset="-120"/>
              </a:rPr>
              <a:t>py Quantpredict.py → outputs/: 10 figures, 2 CSVs (~4 min)</a:t>
            </a:r>
            <a:endParaRPr lang="en-US" sz="1200" dirty="0"/>
          </a:p>
        </p:txBody>
      </p:sp>
      <p:sp>
        <p:nvSpPr>
          <p:cNvPr id="8" name="text-541"/>
          <p:cNvSpPr txBox="1"/>
          <p:nvPr/>
        </p:nvSpPr>
        <p:spPr>
          <a:xfrm>
            <a:off x="7178040" y="1417320"/>
            <a:ext cx="4462272" cy="384048"/>
          </a:xfrm>
          <a:prstGeom prst="rect">
            <a:avLst/>
          </a:prstGeom>
          <a:noFill/>
          <a:ln/>
        </p:spPr>
        <p:txBody>
          <a:bodyPr wrap="square" lIns="0" tIns="0" rIns="0" bIns="0" rtlCol="0" anchor="t"/>
          <a:lstStyle/>
          <a:p>
            <a:pPr marL="0" indent="0">
              <a:buNone/>
            </a:pPr>
            <a:r>
              <a:rPr lang="en-US" sz="1700" b="1" dirty="0">
                <a:solidFill>
                  <a:schemeClr val="tx2"/>
                </a:solidFill>
              </a:rPr>
              <a:t>Ensemble decisions</a:t>
            </a:r>
            <a:endParaRPr lang="en-US" sz="1700" dirty="0"/>
          </a:p>
        </p:txBody>
      </p:sp>
      <p:sp>
        <p:nvSpPr>
          <p:cNvPr id="9" name="card-542"/>
          <p:cNvSpPr/>
          <p:nvPr/>
        </p:nvSpPr>
        <p:spPr>
          <a:xfrm>
            <a:off x="7178040" y="1901952"/>
            <a:ext cx="4462272" cy="475488"/>
          </a:xfrm>
          <a:prstGeom prst="roundRect">
            <a:avLst>
              <a:gd name="adj" fmla="val 15385"/>
            </a:avLst>
          </a:prstGeom>
          <a:solidFill>
            <a:schemeClr val="bg2"/>
          </a:solidFill>
          <a:ln/>
        </p:spPr>
        <p:txBody>
          <a:bodyPr/>
          <a:lstStyle/>
          <a:p>
            <a:endParaRPr lang="en-IN"/>
          </a:p>
        </p:txBody>
      </p:sp>
      <p:sp>
        <p:nvSpPr>
          <p:cNvPr id="10" name="text-543"/>
          <p:cNvSpPr txBox="1"/>
          <p:nvPr/>
        </p:nvSpPr>
        <p:spPr>
          <a:xfrm>
            <a:off x="7360920" y="1901952"/>
            <a:ext cx="2377440" cy="475488"/>
          </a:xfrm>
          <a:prstGeom prst="rect">
            <a:avLst/>
          </a:prstGeom>
          <a:noFill/>
          <a:ln/>
        </p:spPr>
        <p:txBody>
          <a:bodyPr wrap="square" lIns="0" tIns="0" rIns="0" bIns="0" rtlCol="0" anchor="ctr"/>
          <a:lstStyle/>
          <a:p>
            <a:pPr marL="0" indent="0">
              <a:buNone/>
            </a:pPr>
            <a:r>
              <a:rPr lang="en-US" sz="1400" dirty="0">
                <a:solidFill>
                  <a:schemeClr val="tx2"/>
                </a:solidFill>
              </a:rPr>
              <a:t>Majority (7 models)</a:t>
            </a:r>
            <a:endParaRPr lang="en-US" sz="1400" dirty="0"/>
          </a:p>
        </p:txBody>
      </p:sp>
      <p:sp>
        <p:nvSpPr>
          <p:cNvPr id="11" name="pill-544"/>
          <p:cNvSpPr txBox="1"/>
          <p:nvPr/>
        </p:nvSpPr>
        <p:spPr>
          <a:xfrm>
            <a:off x="9710928" y="1984248"/>
            <a:ext cx="86868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bg1"/>
                </a:solidFill>
              </a:rPr>
              <a:t>UP</a:t>
            </a:r>
            <a:endParaRPr lang="en-US" sz="1200" dirty="0"/>
          </a:p>
        </p:txBody>
      </p:sp>
      <p:sp>
        <p:nvSpPr>
          <p:cNvPr id="12" name="text-545"/>
          <p:cNvSpPr txBox="1"/>
          <p:nvPr/>
        </p:nvSpPr>
        <p:spPr>
          <a:xfrm>
            <a:off x="10671048" y="1901952"/>
            <a:ext cx="914400" cy="475488"/>
          </a:xfrm>
          <a:prstGeom prst="rect">
            <a:avLst/>
          </a:prstGeom>
          <a:noFill/>
          <a:ln/>
        </p:spPr>
        <p:txBody>
          <a:bodyPr wrap="square" lIns="0" tIns="0" rIns="0" bIns="0" rtlCol="0" anchor="ctr"/>
          <a:lstStyle/>
          <a:p>
            <a:pPr marL="0" indent="0">
              <a:buNone/>
            </a:pPr>
            <a:r>
              <a:rPr lang="en-US" sz="1200" dirty="0">
                <a:solidFill>
                  <a:schemeClr val="accent6"/>
                </a:solidFill>
              </a:rPr>
              <a:t>4 of 7 votes</a:t>
            </a:r>
            <a:endParaRPr lang="en-US" sz="1200" dirty="0"/>
          </a:p>
        </p:txBody>
      </p:sp>
      <p:sp>
        <p:nvSpPr>
          <p:cNvPr id="13" name="card-546"/>
          <p:cNvSpPr/>
          <p:nvPr/>
        </p:nvSpPr>
        <p:spPr>
          <a:xfrm>
            <a:off x="7178040" y="2468880"/>
            <a:ext cx="4462272" cy="475488"/>
          </a:xfrm>
          <a:prstGeom prst="roundRect">
            <a:avLst>
              <a:gd name="adj" fmla="val 15385"/>
            </a:avLst>
          </a:prstGeom>
          <a:solidFill>
            <a:schemeClr val="bg2"/>
          </a:solidFill>
          <a:ln/>
        </p:spPr>
        <p:txBody>
          <a:bodyPr/>
          <a:lstStyle/>
          <a:p>
            <a:endParaRPr lang="en-IN"/>
          </a:p>
        </p:txBody>
      </p:sp>
      <p:sp>
        <p:nvSpPr>
          <p:cNvPr id="14" name="text-547"/>
          <p:cNvSpPr txBox="1"/>
          <p:nvPr/>
        </p:nvSpPr>
        <p:spPr>
          <a:xfrm>
            <a:off x="7360920" y="2468880"/>
            <a:ext cx="2377440" cy="475488"/>
          </a:xfrm>
          <a:prstGeom prst="rect">
            <a:avLst/>
          </a:prstGeom>
          <a:noFill/>
          <a:ln/>
        </p:spPr>
        <p:txBody>
          <a:bodyPr wrap="square" lIns="0" tIns="0" rIns="0" bIns="0" rtlCol="0" anchor="ctr"/>
          <a:lstStyle/>
          <a:p>
            <a:pPr marL="0" indent="0">
              <a:buNone/>
            </a:pPr>
            <a:r>
              <a:rPr lang="en-US" sz="1400" dirty="0">
                <a:solidFill>
                  <a:schemeClr val="tx2"/>
                </a:solidFill>
              </a:rPr>
              <a:t>Weighted · labels</a:t>
            </a:r>
            <a:endParaRPr lang="en-US" sz="1400" dirty="0"/>
          </a:p>
        </p:txBody>
      </p:sp>
      <p:sp>
        <p:nvSpPr>
          <p:cNvPr id="15" name="pill-548"/>
          <p:cNvSpPr txBox="1"/>
          <p:nvPr/>
        </p:nvSpPr>
        <p:spPr>
          <a:xfrm>
            <a:off x="9710928" y="2551176"/>
            <a:ext cx="868680" cy="310896"/>
          </a:xfrm>
          <a:prstGeom prst="roundRect">
            <a:avLst>
              <a:gd name="adj" fmla="val 50000"/>
            </a:avLst>
          </a:prstGeom>
          <a:solidFill>
            <a:schemeClr val="accent1"/>
          </a:solidFill>
          <a:ln/>
        </p:spPr>
        <p:txBody>
          <a:bodyPr wrap="square" lIns="0" tIns="0" rIns="0" bIns="0" rtlCol="0" anchor="ctr"/>
          <a:lstStyle/>
          <a:p>
            <a:pPr marL="0" indent="0" algn="ctr">
              <a:buNone/>
            </a:pPr>
            <a:r>
              <a:rPr lang="en-US" sz="1200" b="1" dirty="0">
                <a:solidFill>
                  <a:schemeClr val="bg1"/>
                </a:solidFill>
              </a:rPr>
              <a:t>UP</a:t>
            </a:r>
            <a:endParaRPr lang="en-US" sz="1200" dirty="0"/>
          </a:p>
        </p:txBody>
      </p:sp>
      <p:sp>
        <p:nvSpPr>
          <p:cNvPr id="16" name="text-549"/>
          <p:cNvSpPr txBox="1"/>
          <p:nvPr/>
        </p:nvSpPr>
        <p:spPr>
          <a:xfrm>
            <a:off x="10671048" y="2468880"/>
            <a:ext cx="914400" cy="475488"/>
          </a:xfrm>
          <a:prstGeom prst="rect">
            <a:avLst/>
          </a:prstGeom>
          <a:noFill/>
          <a:ln/>
        </p:spPr>
        <p:txBody>
          <a:bodyPr wrap="square" lIns="0" tIns="0" rIns="0" bIns="0" rtlCol="0" anchor="ctr"/>
          <a:lstStyle/>
          <a:p>
            <a:pPr marL="0" indent="0">
              <a:buNone/>
            </a:pPr>
            <a:r>
              <a:rPr lang="en-US" sz="1200" dirty="0">
                <a:solidFill>
                  <a:schemeClr val="accent6"/>
                </a:solidFill>
              </a:rPr>
              <a:t>S = 0.570</a:t>
            </a:r>
            <a:endParaRPr lang="en-US" sz="1200" dirty="0"/>
          </a:p>
        </p:txBody>
      </p:sp>
      <p:sp>
        <p:nvSpPr>
          <p:cNvPr id="17" name="card-550"/>
          <p:cNvSpPr/>
          <p:nvPr/>
        </p:nvSpPr>
        <p:spPr>
          <a:xfrm>
            <a:off x="7178040" y="3035808"/>
            <a:ext cx="4462272" cy="475488"/>
          </a:xfrm>
          <a:prstGeom prst="roundRect">
            <a:avLst>
              <a:gd name="adj" fmla="val 15385"/>
            </a:avLst>
          </a:prstGeom>
          <a:solidFill>
            <a:schemeClr val="bg2"/>
          </a:solidFill>
          <a:ln/>
        </p:spPr>
        <p:txBody>
          <a:bodyPr/>
          <a:lstStyle/>
          <a:p>
            <a:endParaRPr lang="en-IN"/>
          </a:p>
        </p:txBody>
      </p:sp>
      <p:sp>
        <p:nvSpPr>
          <p:cNvPr id="18" name="text-551"/>
          <p:cNvSpPr txBox="1"/>
          <p:nvPr/>
        </p:nvSpPr>
        <p:spPr>
          <a:xfrm>
            <a:off x="7360920" y="3035808"/>
            <a:ext cx="2377440" cy="475488"/>
          </a:xfrm>
          <a:prstGeom prst="rect">
            <a:avLst/>
          </a:prstGeom>
          <a:noFill/>
          <a:ln/>
        </p:spPr>
        <p:txBody>
          <a:bodyPr wrap="square" lIns="0" tIns="0" rIns="0" bIns="0" rtlCol="0" anchor="ctr"/>
          <a:lstStyle/>
          <a:p>
            <a:pPr marL="0" indent="0">
              <a:buNone/>
            </a:pPr>
            <a:r>
              <a:rPr lang="en-US" sz="1400" dirty="0">
                <a:solidFill>
                  <a:schemeClr val="tx2"/>
                </a:solidFill>
              </a:rPr>
              <a:t>Weighted · probabilities</a:t>
            </a:r>
            <a:endParaRPr lang="en-US" sz="1400" dirty="0"/>
          </a:p>
        </p:txBody>
      </p:sp>
      <p:sp>
        <p:nvSpPr>
          <p:cNvPr id="19" name="pill-552"/>
          <p:cNvSpPr txBox="1"/>
          <p:nvPr/>
        </p:nvSpPr>
        <p:spPr>
          <a:xfrm>
            <a:off x="9710928" y="3118104"/>
            <a:ext cx="86868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DOWN</a:t>
            </a:r>
            <a:endParaRPr lang="en-US" sz="1200" dirty="0"/>
          </a:p>
        </p:txBody>
      </p:sp>
      <p:sp>
        <p:nvSpPr>
          <p:cNvPr id="20" name="text-553"/>
          <p:cNvSpPr txBox="1"/>
          <p:nvPr/>
        </p:nvSpPr>
        <p:spPr>
          <a:xfrm>
            <a:off x="10671048" y="3035808"/>
            <a:ext cx="914400" cy="475488"/>
          </a:xfrm>
          <a:prstGeom prst="rect">
            <a:avLst/>
          </a:prstGeom>
          <a:noFill/>
          <a:ln/>
        </p:spPr>
        <p:txBody>
          <a:bodyPr wrap="square" lIns="0" tIns="0" rIns="0" bIns="0" rtlCol="0" anchor="ctr"/>
          <a:lstStyle/>
          <a:p>
            <a:pPr marL="0" indent="0">
              <a:buNone/>
            </a:pPr>
            <a:r>
              <a:rPr lang="en-US" sz="1200" dirty="0">
                <a:solidFill>
                  <a:schemeClr val="accent6"/>
                </a:solidFill>
              </a:rPr>
              <a:t>P = 0.479</a:t>
            </a:r>
            <a:endParaRPr lang="en-US" sz="1200" dirty="0"/>
          </a:p>
        </p:txBody>
      </p:sp>
      <p:sp>
        <p:nvSpPr>
          <p:cNvPr id="21" name="card-554"/>
          <p:cNvSpPr/>
          <p:nvPr/>
        </p:nvSpPr>
        <p:spPr>
          <a:xfrm>
            <a:off x="7178040" y="3602736"/>
            <a:ext cx="4462272" cy="475488"/>
          </a:xfrm>
          <a:prstGeom prst="roundRect">
            <a:avLst>
              <a:gd name="adj" fmla="val 15385"/>
            </a:avLst>
          </a:prstGeom>
          <a:solidFill>
            <a:schemeClr val="bg2"/>
          </a:solidFill>
          <a:ln/>
        </p:spPr>
        <p:txBody>
          <a:bodyPr/>
          <a:lstStyle/>
          <a:p>
            <a:endParaRPr lang="en-IN"/>
          </a:p>
        </p:txBody>
      </p:sp>
      <p:sp>
        <p:nvSpPr>
          <p:cNvPr id="22" name="text-555"/>
          <p:cNvSpPr txBox="1"/>
          <p:nvPr/>
        </p:nvSpPr>
        <p:spPr>
          <a:xfrm>
            <a:off x="7360920" y="3602736"/>
            <a:ext cx="2377440" cy="475488"/>
          </a:xfrm>
          <a:prstGeom prst="rect">
            <a:avLst/>
          </a:prstGeom>
          <a:noFill/>
          <a:ln/>
        </p:spPr>
        <p:txBody>
          <a:bodyPr wrap="square" lIns="0" tIns="0" rIns="0" bIns="0" rtlCol="0" anchor="ctr"/>
          <a:lstStyle/>
          <a:p>
            <a:pPr marL="0" indent="0">
              <a:buNone/>
            </a:pPr>
            <a:r>
              <a:rPr lang="en-US" sz="1400" dirty="0">
                <a:solidFill>
                  <a:schemeClr val="tx2"/>
                </a:solidFill>
              </a:rPr>
              <a:t>Adaptive · labels</a:t>
            </a:r>
            <a:endParaRPr lang="en-US" sz="1400" dirty="0"/>
          </a:p>
        </p:txBody>
      </p:sp>
      <p:sp>
        <p:nvSpPr>
          <p:cNvPr id="23" name="pill-556"/>
          <p:cNvSpPr txBox="1"/>
          <p:nvPr/>
        </p:nvSpPr>
        <p:spPr>
          <a:xfrm>
            <a:off x="9710928" y="3685032"/>
            <a:ext cx="86868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DOWN</a:t>
            </a:r>
            <a:endParaRPr lang="en-US" sz="1200" dirty="0"/>
          </a:p>
        </p:txBody>
      </p:sp>
      <p:sp>
        <p:nvSpPr>
          <p:cNvPr id="24" name="text-557"/>
          <p:cNvSpPr txBox="1"/>
          <p:nvPr/>
        </p:nvSpPr>
        <p:spPr>
          <a:xfrm>
            <a:off x="10671048" y="3602736"/>
            <a:ext cx="914400" cy="475488"/>
          </a:xfrm>
          <a:prstGeom prst="rect">
            <a:avLst/>
          </a:prstGeom>
          <a:noFill/>
          <a:ln/>
        </p:spPr>
        <p:txBody>
          <a:bodyPr wrap="square" lIns="0" tIns="0" rIns="0" bIns="0" rtlCol="0" anchor="ctr"/>
          <a:lstStyle/>
          <a:p>
            <a:pPr marL="0" indent="0">
              <a:buNone/>
            </a:pPr>
            <a:r>
              <a:rPr lang="en-US" sz="1200" dirty="0">
                <a:solidFill>
                  <a:schemeClr val="accent6"/>
                </a:solidFill>
              </a:rPr>
              <a:t>S = 0.470</a:t>
            </a:r>
            <a:endParaRPr lang="en-US" sz="1200" dirty="0"/>
          </a:p>
        </p:txBody>
      </p:sp>
      <p:sp>
        <p:nvSpPr>
          <p:cNvPr id="25" name="card-558"/>
          <p:cNvSpPr/>
          <p:nvPr/>
        </p:nvSpPr>
        <p:spPr>
          <a:xfrm>
            <a:off x="7178040" y="4169664"/>
            <a:ext cx="4462272" cy="475488"/>
          </a:xfrm>
          <a:prstGeom prst="roundRect">
            <a:avLst>
              <a:gd name="adj" fmla="val 15385"/>
            </a:avLst>
          </a:prstGeom>
          <a:solidFill>
            <a:schemeClr val="bg2"/>
          </a:solidFill>
          <a:ln/>
        </p:spPr>
        <p:txBody>
          <a:bodyPr/>
          <a:lstStyle/>
          <a:p>
            <a:endParaRPr lang="en-IN"/>
          </a:p>
        </p:txBody>
      </p:sp>
      <p:sp>
        <p:nvSpPr>
          <p:cNvPr id="26" name="text-559"/>
          <p:cNvSpPr txBox="1"/>
          <p:nvPr/>
        </p:nvSpPr>
        <p:spPr>
          <a:xfrm>
            <a:off x="7360920" y="4169664"/>
            <a:ext cx="2377440" cy="475488"/>
          </a:xfrm>
          <a:prstGeom prst="rect">
            <a:avLst/>
          </a:prstGeom>
          <a:noFill/>
          <a:ln/>
        </p:spPr>
        <p:txBody>
          <a:bodyPr wrap="square" lIns="0" tIns="0" rIns="0" bIns="0" rtlCol="0" anchor="ctr"/>
          <a:lstStyle/>
          <a:p>
            <a:pPr marL="0" indent="0">
              <a:buNone/>
            </a:pPr>
            <a:r>
              <a:rPr lang="en-US" sz="1400" dirty="0">
                <a:solidFill>
                  <a:schemeClr val="tx2"/>
                </a:solidFill>
              </a:rPr>
              <a:t>Adaptive · probabilities</a:t>
            </a:r>
            <a:endParaRPr lang="en-US" sz="1400" dirty="0"/>
          </a:p>
        </p:txBody>
      </p:sp>
      <p:sp>
        <p:nvSpPr>
          <p:cNvPr id="27" name="pill-560"/>
          <p:cNvSpPr txBox="1"/>
          <p:nvPr/>
        </p:nvSpPr>
        <p:spPr>
          <a:xfrm>
            <a:off x="9710928" y="4251960"/>
            <a:ext cx="868680" cy="310896"/>
          </a:xfrm>
          <a:prstGeom prst="roundRect">
            <a:avLst>
              <a:gd name="adj" fmla="val 50000"/>
            </a:avLst>
          </a:prstGeom>
          <a:solidFill>
            <a:schemeClr val="accent2"/>
          </a:solidFill>
          <a:ln/>
        </p:spPr>
        <p:txBody>
          <a:bodyPr wrap="square" lIns="0" tIns="0" rIns="0" bIns="0" rtlCol="0" anchor="ctr"/>
          <a:lstStyle/>
          <a:p>
            <a:pPr marL="0" indent="0" algn="ctr">
              <a:buNone/>
            </a:pPr>
            <a:r>
              <a:rPr lang="en-US" sz="1200" b="1" dirty="0">
                <a:solidFill>
                  <a:schemeClr val="bg1"/>
                </a:solidFill>
              </a:rPr>
              <a:t>DOWN</a:t>
            </a:r>
            <a:endParaRPr lang="en-US" sz="1200" dirty="0"/>
          </a:p>
        </p:txBody>
      </p:sp>
      <p:sp>
        <p:nvSpPr>
          <p:cNvPr id="28" name="text-561"/>
          <p:cNvSpPr txBox="1"/>
          <p:nvPr/>
        </p:nvSpPr>
        <p:spPr>
          <a:xfrm>
            <a:off x="10671048" y="4169664"/>
            <a:ext cx="914400" cy="475488"/>
          </a:xfrm>
          <a:prstGeom prst="rect">
            <a:avLst/>
          </a:prstGeom>
          <a:noFill/>
          <a:ln/>
        </p:spPr>
        <p:txBody>
          <a:bodyPr wrap="square" lIns="0" tIns="0" rIns="0" bIns="0" rtlCol="0" anchor="ctr"/>
          <a:lstStyle/>
          <a:p>
            <a:pPr marL="0" indent="0">
              <a:buNone/>
            </a:pPr>
            <a:r>
              <a:rPr lang="en-US" sz="1200" dirty="0">
                <a:solidFill>
                  <a:schemeClr val="accent6"/>
                </a:solidFill>
              </a:rPr>
              <a:t>P = 0.442</a:t>
            </a:r>
            <a:endParaRPr lang="en-US" sz="1200" dirty="0"/>
          </a:p>
        </p:txBody>
      </p:sp>
      <p:sp>
        <p:nvSpPr>
          <p:cNvPr id="29" name="text-562"/>
          <p:cNvSpPr txBox="1"/>
          <p:nvPr/>
        </p:nvSpPr>
        <p:spPr>
          <a:xfrm>
            <a:off x="7178040" y="4846320"/>
            <a:ext cx="4462272" cy="1005840"/>
          </a:xfrm>
          <a:prstGeom prst="rect">
            <a:avLst/>
          </a:prstGeom>
          <a:noFill/>
          <a:ln/>
        </p:spPr>
        <p:txBody>
          <a:bodyPr wrap="square" lIns="0" tIns="0" rIns="0" bIns="0" rtlCol="0" anchor="t"/>
          <a:lstStyle/>
          <a:p>
            <a:pPr marL="0" indent="0">
              <a:buNone/>
            </a:pPr>
            <a:r>
              <a:rPr lang="en-US" sz="1300" dirty="0">
                <a:solidFill>
                  <a:schemeClr val="tx1"/>
                </a:solidFill>
              </a:rPr>
              <a:t>Label rules count five slight UP votes; probability rules also hear the confident DOWN from GB (0.39) and XGBoost (0.30). Adaptive weights favoured XGBoost (0.262) and SVM (0.176).</a:t>
            </a:r>
            <a:endParaRPr lang="en-US" sz="1300" dirty="0"/>
          </a:p>
        </p:txBody>
      </p:sp>
      <p:sp>
        <p:nvSpPr>
          <p:cNvPr id="30" name="text-563"/>
          <p:cNvSpPr txBox="1"/>
          <p:nvPr/>
        </p:nvSpPr>
        <p:spPr>
          <a:xfrm>
            <a:off x="7178040" y="5897880"/>
            <a:ext cx="4462272" cy="274320"/>
          </a:xfrm>
          <a:prstGeom prst="rect">
            <a:avLst/>
          </a:prstGeom>
          <a:noFill/>
          <a:ln/>
        </p:spPr>
        <p:txBody>
          <a:bodyPr wrap="square" lIns="0" tIns="0" rIns="0" bIns="0" rtlCol="0" anchor="t"/>
          <a:lstStyle/>
          <a:p>
            <a:pPr marL="0" indent="0">
              <a:buNone/>
            </a:pPr>
            <a:r>
              <a:rPr lang="en-US" sz="1100" i="1" dirty="0">
                <a:solidFill>
                  <a:schemeClr val="accent6"/>
                </a:solidFill>
              </a:rPr>
              <a:t>Statistical estimate for study purposes, not financial advice.</a:t>
            </a:r>
            <a:endParaRPr lang="en-US" sz="1100" dirty="0"/>
          </a:p>
        </p:txBody>
      </p:sp>
      <p:sp>
        <p:nvSpPr>
          <p:cNvPr id="31"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body" idx="100" hasCustomPrompt="1"/>
          </p:nvPr>
        </p:nvSpPr>
        <p:spPr>
          <a:xfrm>
            <a:off x="548640" y="274320"/>
            <a:ext cx="8229600" cy="292608"/>
          </a:xfrm>
          <a:prstGeom prst="rect">
            <a:avLst/>
          </a:prstGeom>
          <a:noFill/>
          <a:ln/>
        </p:spPr>
        <p:txBody>
          <a:bodyPr wrap="square" lIns="0" tIns="0" rIns="0" bIns="0" rtlCol="0" anchor="ctr"/>
          <a:lstStyle/>
          <a:p>
            <a:pPr marL="0" indent="0" algn="l">
              <a:buNone/>
            </a:pPr>
            <a:r>
              <a:rPr lang="en-US" sz="1200" b="1" kern="0" spc="200" dirty="0">
                <a:solidFill>
                  <a:schemeClr val="accent1"/>
                </a:solidFill>
              </a:rPr>
              <a:t>06 · CONCLUSION</a:t>
            </a:r>
            <a:endParaRPr lang="en-US" sz="1200" dirty="0"/>
          </a:p>
        </p:txBody>
      </p:sp>
      <p:sp>
        <p:nvSpPr>
          <p:cNvPr id="3" name="Text 0"/>
          <p:cNvSpPr>
            <a:spLocks noGrp="1"/>
          </p:cNvSpPr>
          <p:nvPr>
            <p:ph type="title" idx="101" hasCustomPrompt="1"/>
          </p:nvPr>
        </p:nvSpPr>
        <p:spPr>
          <a:xfrm>
            <a:off x="548640" y="585216"/>
            <a:ext cx="11091672" cy="640080"/>
          </a:xfrm>
          <a:prstGeom prst="rect">
            <a:avLst/>
          </a:prstGeom>
          <a:noFill/>
          <a:ln/>
        </p:spPr>
        <p:txBody>
          <a:bodyPr wrap="square" lIns="0" tIns="0" rIns="0" bIns="0" rtlCol="0" anchor="t"/>
          <a:lstStyle/>
          <a:p>
            <a:pPr marL="0" indent="0" algn="l">
              <a:buNone/>
            </a:pPr>
            <a:r>
              <a:rPr lang="en-US" sz="3200" b="1" dirty="0">
                <a:solidFill>
                  <a:schemeClr val="tx2"/>
                </a:solidFill>
              </a:rPr>
              <a:t>Conclusion and future work</a:t>
            </a:r>
            <a:endParaRPr lang="en-US" sz="3200" dirty="0"/>
          </a:p>
        </p:txBody>
      </p:sp>
      <p:sp>
        <p:nvSpPr>
          <p:cNvPr id="4" name="text-564"/>
          <p:cNvSpPr txBox="1"/>
          <p:nvPr/>
        </p:nvSpPr>
        <p:spPr>
          <a:xfrm>
            <a:off x="548640" y="1463040"/>
            <a:ext cx="5943600" cy="411480"/>
          </a:xfrm>
          <a:prstGeom prst="rect">
            <a:avLst/>
          </a:prstGeom>
          <a:noFill/>
          <a:ln/>
        </p:spPr>
        <p:txBody>
          <a:bodyPr wrap="square" lIns="0" tIns="0" rIns="0" bIns="0" rtlCol="0" anchor="t"/>
          <a:lstStyle/>
          <a:p>
            <a:pPr marL="0" indent="0">
              <a:buNone/>
            </a:pPr>
            <a:r>
              <a:rPr lang="en-US" sz="1900" b="1" dirty="0">
                <a:solidFill>
                  <a:schemeClr val="tx2"/>
                </a:solidFill>
              </a:rPr>
              <a:t>Key findings</a:t>
            </a:r>
            <a:endParaRPr lang="en-US" sz="1900" dirty="0"/>
          </a:p>
        </p:txBody>
      </p:sp>
      <p:sp>
        <p:nvSpPr>
          <p:cNvPr id="5" name="pill-565"/>
          <p:cNvSpPr txBox="1"/>
          <p:nvPr/>
        </p:nvSpPr>
        <p:spPr>
          <a:xfrm>
            <a:off x="548640" y="2121408"/>
            <a:ext cx="685800" cy="365760"/>
          </a:xfrm>
          <a:prstGeom prst="roundRect">
            <a:avLst>
              <a:gd name="adj" fmla="val 50000"/>
            </a:avLst>
          </a:prstGeom>
          <a:solidFill>
            <a:schemeClr val="accent1"/>
          </a:solidFill>
          <a:ln/>
        </p:spPr>
        <p:txBody>
          <a:bodyPr wrap="square" lIns="0" tIns="0" rIns="0" bIns="0" rtlCol="0" anchor="ctr"/>
          <a:lstStyle/>
          <a:p>
            <a:pPr marL="0" indent="0" algn="ctr">
              <a:buNone/>
            </a:pPr>
            <a:r>
              <a:rPr lang="en-US" sz="1300" b="1" dirty="0">
                <a:solidFill>
                  <a:schemeClr val="bg1"/>
                </a:solidFill>
              </a:rPr>
              <a:t>RQ1</a:t>
            </a:r>
            <a:endParaRPr lang="en-US" sz="1300" dirty="0"/>
          </a:p>
        </p:txBody>
      </p:sp>
      <p:sp>
        <p:nvSpPr>
          <p:cNvPr id="6" name="text-566"/>
          <p:cNvSpPr txBox="1"/>
          <p:nvPr/>
        </p:nvSpPr>
        <p:spPr>
          <a:xfrm>
            <a:off x="1417320" y="1965960"/>
            <a:ext cx="5074920" cy="685800"/>
          </a:xfrm>
          <a:prstGeom prst="rect">
            <a:avLst/>
          </a:prstGeom>
          <a:noFill/>
          <a:ln/>
        </p:spPr>
        <p:txBody>
          <a:bodyPr wrap="square" lIns="0" tIns="0" rIns="0" bIns="0" rtlCol="0" anchor="ctr"/>
          <a:lstStyle/>
          <a:p>
            <a:pPr marL="0" indent="0">
              <a:buNone/>
            </a:pPr>
            <a:r>
              <a:rPr lang="en-US" sz="1400" dirty="0">
                <a:solidFill>
                  <a:schemeClr val="tx1"/>
                </a:solidFill>
              </a:rPr>
              <a:t>Gradient Boosting was best (53.6%) and the only model clearly above the 51.9% majority-class rate.</a:t>
            </a:r>
            <a:endParaRPr lang="en-US" sz="1400" dirty="0"/>
          </a:p>
        </p:txBody>
      </p:sp>
      <p:sp>
        <p:nvSpPr>
          <p:cNvPr id="7" name="pill-567"/>
          <p:cNvSpPr txBox="1"/>
          <p:nvPr/>
        </p:nvSpPr>
        <p:spPr>
          <a:xfrm>
            <a:off x="548640" y="2898648"/>
            <a:ext cx="685800" cy="365760"/>
          </a:xfrm>
          <a:prstGeom prst="roundRect">
            <a:avLst>
              <a:gd name="adj" fmla="val 50000"/>
            </a:avLst>
          </a:prstGeom>
          <a:solidFill>
            <a:schemeClr val="accent5"/>
          </a:solidFill>
          <a:ln/>
        </p:spPr>
        <p:txBody>
          <a:bodyPr wrap="square" lIns="0" tIns="0" rIns="0" bIns="0" rtlCol="0" anchor="ctr"/>
          <a:lstStyle/>
          <a:p>
            <a:pPr marL="0" indent="0" algn="ctr">
              <a:buNone/>
            </a:pPr>
            <a:r>
              <a:rPr lang="en-US" sz="1300" b="1" dirty="0">
                <a:solidFill>
                  <a:schemeClr val="bg1"/>
                </a:solidFill>
              </a:rPr>
              <a:t>RQ2</a:t>
            </a:r>
            <a:endParaRPr lang="en-US" sz="1300" dirty="0"/>
          </a:p>
        </p:txBody>
      </p:sp>
      <p:sp>
        <p:nvSpPr>
          <p:cNvPr id="8" name="text-568"/>
          <p:cNvSpPr txBox="1"/>
          <p:nvPr/>
        </p:nvSpPr>
        <p:spPr>
          <a:xfrm>
            <a:off x="1417320" y="2743200"/>
            <a:ext cx="5074920" cy="685800"/>
          </a:xfrm>
          <a:prstGeom prst="rect">
            <a:avLst/>
          </a:prstGeom>
          <a:noFill/>
          <a:ln/>
        </p:spPr>
        <p:txBody>
          <a:bodyPr wrap="square" lIns="0" tIns="0" rIns="0" bIns="0" rtlCol="0" anchor="ctr"/>
          <a:lstStyle/>
          <a:p>
            <a:pPr marL="0" indent="0">
              <a:buNone/>
            </a:pPr>
            <a:r>
              <a:rPr lang="en-US" sz="1400" dirty="0">
                <a:solidFill>
                  <a:schemeClr val="tx1"/>
                </a:solidFill>
              </a:rPr>
              <a:t>The ViT (50.1%) leaned heavily to UP; adding it moved ensembles by less than one point.</a:t>
            </a:r>
            <a:endParaRPr lang="en-US" sz="1400" dirty="0"/>
          </a:p>
        </p:txBody>
      </p:sp>
      <p:sp>
        <p:nvSpPr>
          <p:cNvPr id="9" name="pill-569"/>
          <p:cNvSpPr txBox="1"/>
          <p:nvPr/>
        </p:nvSpPr>
        <p:spPr>
          <a:xfrm>
            <a:off x="548640" y="3675888"/>
            <a:ext cx="685800" cy="365760"/>
          </a:xfrm>
          <a:prstGeom prst="roundRect">
            <a:avLst>
              <a:gd name="adj" fmla="val 50000"/>
            </a:avLst>
          </a:prstGeom>
          <a:solidFill>
            <a:schemeClr val="accent3"/>
          </a:solidFill>
          <a:ln/>
        </p:spPr>
        <p:txBody>
          <a:bodyPr wrap="square" lIns="0" tIns="0" rIns="0" bIns="0" rtlCol="0" anchor="ctr"/>
          <a:lstStyle/>
          <a:p>
            <a:pPr marL="0" indent="0" algn="ctr">
              <a:buNone/>
            </a:pPr>
            <a:r>
              <a:rPr lang="en-US" sz="1300" b="1" dirty="0">
                <a:solidFill>
                  <a:schemeClr val="tx2"/>
                </a:solidFill>
              </a:rPr>
              <a:t>RQ3</a:t>
            </a:r>
            <a:endParaRPr lang="en-US" sz="1300" dirty="0"/>
          </a:p>
        </p:txBody>
      </p:sp>
      <p:sp>
        <p:nvSpPr>
          <p:cNvPr id="10" name="text-570"/>
          <p:cNvSpPr txBox="1"/>
          <p:nvPr/>
        </p:nvSpPr>
        <p:spPr>
          <a:xfrm>
            <a:off x="1417320" y="3520440"/>
            <a:ext cx="5074920" cy="685800"/>
          </a:xfrm>
          <a:prstGeom prst="rect">
            <a:avLst/>
          </a:prstGeom>
          <a:noFill/>
          <a:ln/>
        </p:spPr>
        <p:txBody>
          <a:bodyPr wrap="square" lIns="0" tIns="0" rIns="0" bIns="0" rtlCol="0" anchor="ctr"/>
          <a:lstStyle/>
          <a:p>
            <a:pPr marL="0" indent="0">
              <a:buNone/>
            </a:pPr>
            <a:r>
              <a:rPr lang="en-US" sz="1400" dirty="0">
                <a:solidFill>
                  <a:schemeClr val="tx1"/>
                </a:solidFill>
              </a:rPr>
              <a:t>No ensemble beat Gradient Boosting, but ensembles were far steadier; adaptive &gt; static &gt; majority voting.</a:t>
            </a:r>
            <a:endParaRPr lang="en-US" sz="1400" dirty="0"/>
          </a:p>
        </p:txBody>
      </p:sp>
      <p:sp>
        <p:nvSpPr>
          <p:cNvPr id="11" name="pill-571"/>
          <p:cNvSpPr txBox="1"/>
          <p:nvPr/>
        </p:nvSpPr>
        <p:spPr>
          <a:xfrm>
            <a:off x="548640" y="4453128"/>
            <a:ext cx="685800" cy="365760"/>
          </a:xfrm>
          <a:prstGeom prst="roundRect">
            <a:avLst>
              <a:gd name="adj" fmla="val 50000"/>
            </a:avLst>
          </a:prstGeom>
          <a:solidFill>
            <a:schemeClr val="accent4"/>
          </a:solidFill>
          <a:ln/>
        </p:spPr>
        <p:txBody>
          <a:bodyPr wrap="square" lIns="0" tIns="0" rIns="0" bIns="0" rtlCol="0" anchor="ctr"/>
          <a:lstStyle/>
          <a:p>
            <a:pPr marL="0" indent="0" algn="ctr">
              <a:buNone/>
            </a:pPr>
            <a:r>
              <a:rPr lang="en-US" sz="1300" b="1" dirty="0">
                <a:solidFill>
                  <a:schemeClr val="bg1"/>
                </a:solidFill>
              </a:rPr>
              <a:t>RQ4</a:t>
            </a:r>
            <a:endParaRPr lang="en-US" sz="1300" dirty="0"/>
          </a:p>
        </p:txBody>
      </p:sp>
      <p:sp>
        <p:nvSpPr>
          <p:cNvPr id="12" name="text-572"/>
          <p:cNvSpPr txBox="1"/>
          <p:nvPr/>
        </p:nvSpPr>
        <p:spPr>
          <a:xfrm>
            <a:off x="1417320" y="4297680"/>
            <a:ext cx="5074920" cy="685800"/>
          </a:xfrm>
          <a:prstGeom prst="rect">
            <a:avLst/>
          </a:prstGeom>
          <a:noFill/>
          <a:ln/>
        </p:spPr>
        <p:txBody>
          <a:bodyPr wrap="square" lIns="0" tIns="0" rIns="0" bIns="0" rtlCol="0" anchor="ctr"/>
          <a:lstStyle/>
          <a:p>
            <a:pPr marL="0" indent="0">
              <a:buNone/>
            </a:pPr>
            <a:r>
              <a:rPr lang="en-US" sz="1400" dirty="0">
                <a:solidFill>
                  <a:schemeClr val="tx1"/>
                </a:solidFill>
              </a:rPr>
              <a:t>Feature selection helped the weaker models and hurt the strongest one.</a:t>
            </a:r>
            <a:endParaRPr lang="en-US" sz="1400" dirty="0"/>
          </a:p>
        </p:txBody>
      </p:sp>
      <p:sp>
        <p:nvSpPr>
          <p:cNvPr id="13" name="card-573"/>
          <p:cNvSpPr/>
          <p:nvPr/>
        </p:nvSpPr>
        <p:spPr>
          <a:xfrm>
            <a:off x="548640" y="5166360"/>
            <a:ext cx="5989320" cy="1005840"/>
          </a:xfrm>
          <a:prstGeom prst="roundRect">
            <a:avLst>
              <a:gd name="adj" fmla="val 9091"/>
            </a:avLst>
          </a:prstGeom>
          <a:solidFill>
            <a:schemeClr val="tx2"/>
          </a:solidFill>
          <a:ln/>
        </p:spPr>
        <p:txBody>
          <a:bodyPr/>
          <a:lstStyle/>
          <a:p>
            <a:endParaRPr lang="en-IN"/>
          </a:p>
        </p:txBody>
      </p:sp>
      <p:sp>
        <p:nvSpPr>
          <p:cNvPr id="14" name="text-574"/>
          <p:cNvSpPr txBox="1"/>
          <p:nvPr/>
        </p:nvSpPr>
        <p:spPr>
          <a:xfrm>
            <a:off x="777240" y="5166360"/>
            <a:ext cx="5577840" cy="1005840"/>
          </a:xfrm>
          <a:prstGeom prst="rect">
            <a:avLst/>
          </a:prstGeom>
          <a:noFill/>
          <a:ln/>
        </p:spPr>
        <p:txBody>
          <a:bodyPr wrap="square" lIns="0" tIns="0" rIns="0" bIns="0" rtlCol="0" anchor="ctr"/>
          <a:lstStyle/>
          <a:p>
            <a:pPr marL="0" indent="0">
              <a:buNone/>
            </a:pPr>
            <a:r>
              <a:rPr lang="en-US" sz="1500" b="1" dirty="0">
                <a:solidFill>
                  <a:schemeClr val="accent3"/>
                </a:solidFill>
              </a:rPr>
              <a:t>Contribution: </a:t>
            </a:r>
            <a:r>
              <a:rPr lang="en-US" sz="1500" dirty="0">
                <a:solidFill>
                  <a:schemeClr val="bg1"/>
                </a:solidFill>
              </a:rPr>
              <a:t>a reproducible, leakage-checked framework in which claims like “the ensemble is better” can actually be tested.</a:t>
            </a:r>
            <a:endParaRPr lang="en-US" sz="1500" dirty="0"/>
          </a:p>
        </p:txBody>
      </p:sp>
      <p:sp>
        <p:nvSpPr>
          <p:cNvPr id="15" name="text-575"/>
          <p:cNvSpPr txBox="1"/>
          <p:nvPr/>
        </p:nvSpPr>
        <p:spPr>
          <a:xfrm>
            <a:off x="6949440" y="1463040"/>
            <a:ext cx="4690872" cy="411480"/>
          </a:xfrm>
          <a:prstGeom prst="rect">
            <a:avLst/>
          </a:prstGeom>
          <a:noFill/>
          <a:ln/>
        </p:spPr>
        <p:txBody>
          <a:bodyPr wrap="square" lIns="0" tIns="0" rIns="0" bIns="0" rtlCol="0" anchor="t"/>
          <a:lstStyle/>
          <a:p>
            <a:pPr marL="0" indent="0">
              <a:buNone/>
            </a:pPr>
            <a:r>
              <a:rPr lang="en-US" sz="1900" b="1" dirty="0">
                <a:solidFill>
                  <a:schemeClr val="tx2"/>
                </a:solidFill>
              </a:rPr>
              <a:t>Future work</a:t>
            </a:r>
            <a:endParaRPr lang="en-US" sz="1900" dirty="0"/>
          </a:p>
        </p:txBody>
      </p:sp>
      <p:sp>
        <p:nvSpPr>
          <p:cNvPr id="16" name="icon-circle-576"/>
          <p:cNvSpPr/>
          <p:nvPr/>
        </p:nvSpPr>
        <p:spPr>
          <a:xfrm>
            <a:off x="6949440" y="2057400"/>
            <a:ext cx="512064" cy="512064"/>
          </a:xfrm>
          <a:prstGeom prst="ellipse">
            <a:avLst/>
          </a:prstGeom>
          <a:solidFill>
            <a:schemeClr val="accent4"/>
          </a:solidFill>
          <a:ln/>
        </p:spPr>
        <p:txBody>
          <a:bodyPr/>
          <a:lstStyle/>
          <a:p>
            <a:endParaRPr lang="en-IN"/>
          </a:p>
        </p:txBody>
      </p:sp>
      <p:pic>
        <p:nvPicPr>
          <p:cNvPr id="17" name="icon-577" descr="FaEarthAsia"/>
          <p:cNvPicPr>
            <a:picLocks noChangeAspect="1"/>
          </p:cNvPicPr>
          <p:nvPr/>
        </p:nvPicPr>
        <p:blipFill>
          <a:blip r:embed="rId3"/>
          <a:stretch>
            <a:fillRect/>
          </a:stretch>
        </p:blipFill>
        <p:spPr>
          <a:xfrm>
            <a:off x="7072335" y="2180295"/>
            <a:ext cx="266273" cy="266273"/>
          </a:xfrm>
          <a:prstGeom prst="rect">
            <a:avLst/>
          </a:prstGeom>
        </p:spPr>
      </p:pic>
      <p:sp>
        <p:nvSpPr>
          <p:cNvPr id="18" name="text-578"/>
          <p:cNvSpPr txBox="1"/>
          <p:nvPr/>
        </p:nvSpPr>
        <p:spPr>
          <a:xfrm>
            <a:off x="7635240" y="1965960"/>
            <a:ext cx="4005072" cy="347472"/>
          </a:xfrm>
          <a:prstGeom prst="rect">
            <a:avLst/>
          </a:prstGeom>
          <a:noFill/>
          <a:ln/>
        </p:spPr>
        <p:txBody>
          <a:bodyPr wrap="square" lIns="0" tIns="0" rIns="0" bIns="0" rtlCol="0" anchor="t"/>
          <a:lstStyle/>
          <a:p>
            <a:pPr marL="0" indent="0">
              <a:buNone/>
            </a:pPr>
            <a:r>
              <a:rPr lang="en-US" sz="1500" b="1" dirty="0">
                <a:solidFill>
                  <a:schemeClr val="tx2"/>
                </a:solidFill>
              </a:rPr>
              <a:t>Run all 49 NIFTY-50 stocks</a:t>
            </a:r>
            <a:endParaRPr lang="en-US" sz="1500" dirty="0"/>
          </a:p>
        </p:txBody>
      </p:sp>
      <p:sp>
        <p:nvSpPr>
          <p:cNvPr id="19" name="text-579"/>
          <p:cNvSpPr txBox="1"/>
          <p:nvPr/>
        </p:nvSpPr>
        <p:spPr>
          <a:xfrm>
            <a:off x="7635240" y="2313432"/>
            <a:ext cx="4005072" cy="365760"/>
          </a:xfrm>
          <a:prstGeom prst="rect">
            <a:avLst/>
          </a:prstGeom>
          <a:noFill/>
          <a:ln/>
        </p:spPr>
        <p:txBody>
          <a:bodyPr wrap="square" lIns="0" tIns="0" rIns="0" bIns="0" rtlCol="0" anchor="t"/>
          <a:lstStyle/>
          <a:p>
            <a:pPr marL="0" indent="0">
              <a:buNone/>
            </a:pPr>
            <a:r>
              <a:rPr lang="en-US" sz="1300" dirty="0">
                <a:solidFill>
                  <a:schemeClr val="tx1"/>
                </a:solidFill>
              </a:rPr>
              <a:t>turns one noisy comparison into 49 paired ones</a:t>
            </a:r>
            <a:endParaRPr lang="en-US" sz="1300" dirty="0"/>
          </a:p>
        </p:txBody>
      </p:sp>
      <p:sp>
        <p:nvSpPr>
          <p:cNvPr id="20" name="icon-circle-580"/>
          <p:cNvSpPr/>
          <p:nvPr/>
        </p:nvSpPr>
        <p:spPr>
          <a:xfrm>
            <a:off x="6949440" y="2880360"/>
            <a:ext cx="512064" cy="512064"/>
          </a:xfrm>
          <a:prstGeom prst="ellipse">
            <a:avLst/>
          </a:prstGeom>
          <a:solidFill>
            <a:schemeClr val="accent5"/>
          </a:solidFill>
          <a:ln/>
        </p:spPr>
        <p:txBody>
          <a:bodyPr/>
          <a:lstStyle/>
          <a:p>
            <a:endParaRPr lang="en-IN"/>
          </a:p>
        </p:txBody>
      </p:sp>
      <p:pic>
        <p:nvPicPr>
          <p:cNvPr id="21" name="icon-581" descr="FaArrowsRotate"/>
          <p:cNvPicPr>
            <a:picLocks noChangeAspect="1"/>
          </p:cNvPicPr>
          <p:nvPr/>
        </p:nvPicPr>
        <p:blipFill>
          <a:blip r:embed="rId4"/>
          <a:stretch>
            <a:fillRect/>
          </a:stretch>
        </p:blipFill>
        <p:spPr>
          <a:xfrm>
            <a:off x="7072335" y="3003255"/>
            <a:ext cx="266273" cy="266273"/>
          </a:xfrm>
          <a:prstGeom prst="rect">
            <a:avLst/>
          </a:prstGeom>
        </p:spPr>
      </p:pic>
      <p:sp>
        <p:nvSpPr>
          <p:cNvPr id="22" name="text-582"/>
          <p:cNvSpPr txBox="1"/>
          <p:nvPr/>
        </p:nvSpPr>
        <p:spPr>
          <a:xfrm>
            <a:off x="7635240" y="2788920"/>
            <a:ext cx="4005072" cy="347472"/>
          </a:xfrm>
          <a:prstGeom prst="rect">
            <a:avLst/>
          </a:prstGeom>
          <a:noFill/>
          <a:ln/>
        </p:spPr>
        <p:txBody>
          <a:bodyPr wrap="square" lIns="0" tIns="0" rIns="0" bIns="0" rtlCol="0" anchor="t"/>
          <a:lstStyle/>
          <a:p>
            <a:pPr marL="0" indent="0">
              <a:buNone/>
            </a:pPr>
            <a:r>
              <a:rPr lang="en-US" sz="1500" b="1" dirty="0">
                <a:solidFill>
                  <a:schemeClr val="tx2"/>
                </a:solidFill>
              </a:rPr>
              <a:t>Rolling-origin testing</a:t>
            </a:r>
            <a:endParaRPr lang="en-US" sz="1500" dirty="0"/>
          </a:p>
        </p:txBody>
      </p:sp>
      <p:sp>
        <p:nvSpPr>
          <p:cNvPr id="23" name="text-583"/>
          <p:cNvSpPr txBox="1"/>
          <p:nvPr/>
        </p:nvSpPr>
        <p:spPr>
          <a:xfrm>
            <a:off x="7635240" y="3136392"/>
            <a:ext cx="4005072" cy="365760"/>
          </a:xfrm>
          <a:prstGeom prst="rect">
            <a:avLst/>
          </a:prstGeom>
          <a:noFill/>
          <a:ln/>
        </p:spPr>
        <p:txBody>
          <a:bodyPr wrap="square" lIns="0" tIns="0" rIns="0" bIns="0" rtlCol="0" anchor="t"/>
          <a:lstStyle/>
          <a:p>
            <a:pPr marL="0" indent="0">
              <a:buNone/>
            </a:pPr>
            <a:r>
              <a:rPr lang="en-US" sz="1300" dirty="0">
                <a:solidFill>
                  <a:schemeClr val="tx1"/>
                </a:solidFill>
              </a:rPr>
              <a:t>repeat the split at several dates to test stability</a:t>
            </a:r>
            <a:endParaRPr lang="en-US" sz="1300" dirty="0"/>
          </a:p>
        </p:txBody>
      </p:sp>
      <p:sp>
        <p:nvSpPr>
          <p:cNvPr id="24" name="icon-circle-584"/>
          <p:cNvSpPr/>
          <p:nvPr/>
        </p:nvSpPr>
        <p:spPr>
          <a:xfrm>
            <a:off x="6949440" y="3703320"/>
            <a:ext cx="512064" cy="512064"/>
          </a:xfrm>
          <a:prstGeom prst="ellipse">
            <a:avLst/>
          </a:prstGeom>
          <a:solidFill>
            <a:schemeClr val="accent1"/>
          </a:solidFill>
          <a:ln/>
        </p:spPr>
        <p:txBody>
          <a:bodyPr/>
          <a:lstStyle/>
          <a:p>
            <a:endParaRPr lang="en-IN"/>
          </a:p>
        </p:txBody>
      </p:sp>
      <p:pic>
        <p:nvPicPr>
          <p:cNvPr id="25" name="icon-585" descr="FaScaleBalanced"/>
          <p:cNvPicPr>
            <a:picLocks noChangeAspect="1"/>
          </p:cNvPicPr>
          <p:nvPr/>
        </p:nvPicPr>
        <p:blipFill>
          <a:blip r:embed="rId5"/>
          <a:stretch>
            <a:fillRect/>
          </a:stretch>
        </p:blipFill>
        <p:spPr>
          <a:xfrm>
            <a:off x="7072335" y="3826215"/>
            <a:ext cx="266273" cy="266273"/>
          </a:xfrm>
          <a:prstGeom prst="rect">
            <a:avLst/>
          </a:prstGeom>
        </p:spPr>
      </p:pic>
      <p:sp>
        <p:nvSpPr>
          <p:cNvPr id="26" name="text-586"/>
          <p:cNvSpPr txBox="1"/>
          <p:nvPr/>
        </p:nvSpPr>
        <p:spPr>
          <a:xfrm>
            <a:off x="7635240" y="3611880"/>
            <a:ext cx="4005072" cy="347472"/>
          </a:xfrm>
          <a:prstGeom prst="rect">
            <a:avLst/>
          </a:prstGeom>
          <a:noFill/>
          <a:ln/>
        </p:spPr>
        <p:txBody>
          <a:bodyPr wrap="square" lIns="0" tIns="0" rIns="0" bIns="0" rtlCol="0" anchor="t"/>
          <a:lstStyle/>
          <a:p>
            <a:pPr marL="0" indent="0">
              <a:buNone/>
            </a:pPr>
            <a:r>
              <a:rPr lang="en-US" sz="1500" b="1" dirty="0">
                <a:solidFill>
                  <a:schemeClr val="tx2"/>
                </a:solidFill>
              </a:rPr>
              <a:t>A better weighting metric</a:t>
            </a:r>
            <a:endParaRPr lang="en-US" sz="1500" dirty="0"/>
          </a:p>
        </p:txBody>
      </p:sp>
      <p:sp>
        <p:nvSpPr>
          <p:cNvPr id="27" name="text-587"/>
          <p:cNvSpPr txBox="1"/>
          <p:nvPr/>
        </p:nvSpPr>
        <p:spPr>
          <a:xfrm>
            <a:off x="7635240" y="3959352"/>
            <a:ext cx="4005072" cy="365760"/>
          </a:xfrm>
          <a:prstGeom prst="rect">
            <a:avLst/>
          </a:prstGeom>
          <a:noFill/>
          <a:ln/>
        </p:spPr>
        <p:txBody>
          <a:bodyPr wrap="square" lIns="0" tIns="0" rIns="0" bIns="0" rtlCol="0" anchor="t"/>
          <a:lstStyle/>
          <a:p>
            <a:pPr marL="0" indent="0">
              <a:buNone/>
            </a:pPr>
            <a:r>
              <a:rPr lang="en-US" sz="1300" dirty="0">
                <a:solidFill>
                  <a:schemeClr val="tx1"/>
                </a:solidFill>
              </a:rPr>
              <a:t>balanced accuracy or log-loss instead of F1</a:t>
            </a:r>
            <a:endParaRPr lang="en-US" sz="1300" dirty="0"/>
          </a:p>
        </p:txBody>
      </p:sp>
      <p:sp>
        <p:nvSpPr>
          <p:cNvPr id="28" name="icon-circle-588"/>
          <p:cNvSpPr/>
          <p:nvPr/>
        </p:nvSpPr>
        <p:spPr>
          <a:xfrm>
            <a:off x="6949440" y="4526280"/>
            <a:ext cx="512064" cy="512064"/>
          </a:xfrm>
          <a:prstGeom prst="ellipse">
            <a:avLst/>
          </a:prstGeom>
          <a:solidFill>
            <a:schemeClr val="accent3"/>
          </a:solidFill>
          <a:ln/>
        </p:spPr>
        <p:txBody>
          <a:bodyPr/>
          <a:lstStyle/>
          <a:p>
            <a:endParaRPr lang="en-IN"/>
          </a:p>
        </p:txBody>
      </p:sp>
      <p:pic>
        <p:nvPicPr>
          <p:cNvPr id="29" name="icon-589" descr="FaCoins"/>
          <p:cNvPicPr>
            <a:picLocks noChangeAspect="1"/>
          </p:cNvPicPr>
          <p:nvPr/>
        </p:nvPicPr>
        <p:blipFill>
          <a:blip r:embed="rId6"/>
          <a:stretch>
            <a:fillRect/>
          </a:stretch>
        </p:blipFill>
        <p:spPr>
          <a:xfrm>
            <a:off x="7072335" y="4649175"/>
            <a:ext cx="266273" cy="266273"/>
          </a:xfrm>
          <a:prstGeom prst="rect">
            <a:avLst/>
          </a:prstGeom>
        </p:spPr>
      </p:pic>
      <p:sp>
        <p:nvSpPr>
          <p:cNvPr id="30" name="text-590"/>
          <p:cNvSpPr txBox="1"/>
          <p:nvPr/>
        </p:nvSpPr>
        <p:spPr>
          <a:xfrm>
            <a:off x="7635240" y="4434840"/>
            <a:ext cx="4005072" cy="347472"/>
          </a:xfrm>
          <a:prstGeom prst="rect">
            <a:avLst/>
          </a:prstGeom>
          <a:noFill/>
          <a:ln/>
        </p:spPr>
        <p:txBody>
          <a:bodyPr wrap="square" lIns="0" tIns="0" rIns="0" bIns="0" rtlCol="0" anchor="t"/>
          <a:lstStyle/>
          <a:p>
            <a:pPr marL="0" indent="0">
              <a:buNone/>
            </a:pPr>
            <a:r>
              <a:rPr lang="en-US" sz="1500" b="1" dirty="0">
                <a:solidFill>
                  <a:schemeClr val="tx2"/>
                </a:solidFill>
              </a:rPr>
              <a:t>Add a trading layer</a:t>
            </a:r>
            <a:endParaRPr lang="en-US" sz="1500" dirty="0"/>
          </a:p>
        </p:txBody>
      </p:sp>
      <p:sp>
        <p:nvSpPr>
          <p:cNvPr id="31" name="text-591"/>
          <p:cNvSpPr txBox="1"/>
          <p:nvPr/>
        </p:nvSpPr>
        <p:spPr>
          <a:xfrm>
            <a:off x="7635240" y="4782312"/>
            <a:ext cx="4005072" cy="365760"/>
          </a:xfrm>
          <a:prstGeom prst="rect">
            <a:avLst/>
          </a:prstGeom>
          <a:noFill/>
          <a:ln/>
        </p:spPr>
        <p:txBody>
          <a:bodyPr wrap="square" lIns="0" tIns="0" rIns="0" bIns="0" rtlCol="0" anchor="t"/>
          <a:lstStyle/>
          <a:p>
            <a:pPr marL="0" indent="0">
              <a:buNone/>
            </a:pPr>
            <a:r>
              <a:rPr lang="en-US" sz="1300" dirty="0">
                <a:solidFill>
                  <a:schemeClr val="tx1"/>
                </a:solidFill>
              </a:rPr>
              <a:t>calibrated probabilities, costs and a long/flat rule</a:t>
            </a:r>
            <a:endParaRPr lang="en-US" sz="1300" dirty="0"/>
          </a:p>
        </p:txBody>
      </p:sp>
      <p:sp>
        <p:nvSpPr>
          <p:cNvPr id="32" name="icon-circle-592"/>
          <p:cNvSpPr/>
          <p:nvPr/>
        </p:nvSpPr>
        <p:spPr>
          <a:xfrm>
            <a:off x="6949440" y="5349240"/>
            <a:ext cx="512064" cy="512064"/>
          </a:xfrm>
          <a:prstGeom prst="ellipse">
            <a:avLst/>
          </a:prstGeom>
          <a:solidFill>
            <a:schemeClr val="tx2"/>
          </a:solidFill>
          <a:ln/>
        </p:spPr>
        <p:txBody>
          <a:bodyPr/>
          <a:lstStyle/>
          <a:p>
            <a:endParaRPr lang="en-IN"/>
          </a:p>
        </p:txBody>
      </p:sp>
      <p:pic>
        <p:nvPicPr>
          <p:cNvPr id="33" name="icon-593" descr="FaNewspaper"/>
          <p:cNvPicPr>
            <a:picLocks noChangeAspect="1"/>
          </p:cNvPicPr>
          <p:nvPr/>
        </p:nvPicPr>
        <p:blipFill>
          <a:blip r:embed="rId7"/>
          <a:stretch>
            <a:fillRect/>
          </a:stretch>
        </p:blipFill>
        <p:spPr>
          <a:xfrm>
            <a:off x="7072335" y="5472135"/>
            <a:ext cx="266273" cy="266273"/>
          </a:xfrm>
          <a:prstGeom prst="rect">
            <a:avLst/>
          </a:prstGeom>
        </p:spPr>
      </p:pic>
      <p:sp>
        <p:nvSpPr>
          <p:cNvPr id="34" name="text-594"/>
          <p:cNvSpPr txBox="1"/>
          <p:nvPr/>
        </p:nvSpPr>
        <p:spPr>
          <a:xfrm>
            <a:off x="7635240" y="5257800"/>
            <a:ext cx="4005072" cy="347472"/>
          </a:xfrm>
          <a:prstGeom prst="rect">
            <a:avLst/>
          </a:prstGeom>
          <a:noFill/>
          <a:ln/>
        </p:spPr>
        <p:txBody>
          <a:bodyPr wrap="square" lIns="0" tIns="0" rIns="0" bIns="0" rtlCol="0" anchor="t"/>
          <a:lstStyle/>
          <a:p>
            <a:pPr marL="0" indent="0">
              <a:buNone/>
            </a:pPr>
            <a:r>
              <a:rPr lang="en-US" sz="1500" b="1" dirty="0">
                <a:solidFill>
                  <a:schemeClr val="tx2"/>
                </a:solidFill>
              </a:rPr>
              <a:t>Richer inputs, more ViT data</a:t>
            </a:r>
            <a:endParaRPr lang="en-US" sz="1500" dirty="0"/>
          </a:p>
        </p:txBody>
      </p:sp>
      <p:sp>
        <p:nvSpPr>
          <p:cNvPr id="35" name="text-595"/>
          <p:cNvSpPr txBox="1"/>
          <p:nvPr/>
        </p:nvSpPr>
        <p:spPr>
          <a:xfrm>
            <a:off x="7635240" y="5605272"/>
            <a:ext cx="4005072" cy="365760"/>
          </a:xfrm>
          <a:prstGeom prst="rect">
            <a:avLst/>
          </a:prstGeom>
          <a:noFill/>
          <a:ln/>
        </p:spPr>
        <p:txBody>
          <a:bodyPr wrap="square" lIns="0" tIns="0" rIns="0" bIns="0" rtlCol="0" anchor="t"/>
          <a:lstStyle/>
          <a:p>
            <a:pPr marL="0" indent="0">
              <a:buNone/>
            </a:pPr>
            <a:r>
              <a:rPr lang="en-US" sz="1300" dirty="0">
                <a:solidFill>
                  <a:schemeClr val="tx1"/>
                </a:solidFill>
              </a:rPr>
              <a:t>news sentiment, sector features, multi-stock training</a:t>
            </a:r>
            <a:endParaRPr lang="en-US" sz="1300" dirty="0"/>
          </a:p>
        </p:txBody>
      </p:sp>
      <p:sp>
        <p:nvSpPr>
          <p:cNvPr id="36" name="Slide Number Placeholder 0"/>
          <p:cNvSpPr>
            <a:spLocks noGrp="1"/>
          </p:cNvSpPr>
          <p:nvPr>
            <p:ph type="sldNum" sz="quarter" idx="4294967295"/>
          </p:nvPr>
        </p:nvSpPr>
        <p:spPr>
          <a:xfrm>
            <a:off x="11183112" y="6419088"/>
            <a:ext cx="457200" cy="274320"/>
          </a:xfrm>
          <a:prstGeom prst="rect">
            <a:avLst/>
          </a:prstGeom>
          <a:extLst>
            <a:ext uri="{C572A759-6A51-4108-AA02-DFA0A04FC94B}">
              <ma14:wrappingTextBoxFlag xmlns:ma14="http://schemas.microsoft.com/office/mac/drawingml/2011/main" xmlns="" val="0"/>
            </a:ext>
          </a:extLst>
        </p:spPr>
        <p:txBody>
          <a:bodyPr/>
          <a:lstStyle>
            <a:lvl1pPr>
              <a:defRPr sz="1000">
                <a:solidFill>
                  <a:schemeClr val="accent6"/>
                </a:solidFill>
              </a:defRPr>
            </a:lvl1pPr>
          </a:lstStyle>
          <a:p>
            <a:pPr algn="r"/>
            <a:fld id="{F7021451-1387-4CA6-816F-3879F97B5CBC}" type="slidenum">
              <a:rPr lang="en-US" b="0"/>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price-line" descr="RELIANCE adjusted close price, 2000-2021"/>
          <p:cNvPicPr>
            <a:picLocks noChangeAspect="1"/>
          </p:cNvPicPr>
          <p:nvPr/>
        </p:nvPicPr>
        <p:blipFill>
          <a:blip r:embed="rId3"/>
          <a:stretch>
            <a:fillRect/>
          </a:stretch>
        </p:blipFill>
        <p:spPr>
          <a:xfrm>
            <a:off x="0" y="4526280"/>
            <a:ext cx="12191695" cy="2331720"/>
          </a:xfrm>
          <a:prstGeom prst="rect">
            <a:avLst/>
          </a:prstGeom>
        </p:spPr>
      </p:pic>
      <p:sp>
        <p:nvSpPr>
          <p:cNvPr id="3" name="Text 0"/>
          <p:cNvSpPr>
            <a:spLocks noGrp="1"/>
          </p:cNvSpPr>
          <p:nvPr>
            <p:ph type="title" idx="100" hasCustomPrompt="1"/>
          </p:nvPr>
        </p:nvSpPr>
        <p:spPr>
          <a:xfrm>
            <a:off x="731520" y="1097280"/>
            <a:ext cx="5120640" cy="1005840"/>
          </a:xfrm>
          <a:prstGeom prst="rect">
            <a:avLst/>
          </a:prstGeom>
          <a:noFill/>
          <a:ln/>
        </p:spPr>
        <p:txBody>
          <a:bodyPr wrap="square" lIns="0" tIns="0" rIns="0" bIns="0" rtlCol="0" anchor="b"/>
          <a:lstStyle/>
          <a:p>
            <a:pPr marL="0" indent="0" algn="l">
              <a:buNone/>
            </a:pPr>
            <a:r>
              <a:rPr lang="en-US" sz="5400" b="1" dirty="0">
                <a:solidFill>
                  <a:schemeClr val="bg1"/>
                </a:solidFill>
              </a:rPr>
              <a:t>Thank you</a:t>
            </a:r>
            <a:endParaRPr lang="en-US" sz="5400" dirty="0"/>
          </a:p>
        </p:txBody>
      </p:sp>
      <p:sp>
        <p:nvSpPr>
          <p:cNvPr id="4" name="text-596"/>
          <p:cNvSpPr txBox="1"/>
          <p:nvPr/>
        </p:nvSpPr>
        <p:spPr>
          <a:xfrm>
            <a:off x="731520" y="2194560"/>
            <a:ext cx="5120640" cy="457200"/>
          </a:xfrm>
          <a:prstGeom prst="rect">
            <a:avLst/>
          </a:prstGeom>
          <a:noFill/>
          <a:ln/>
        </p:spPr>
        <p:txBody>
          <a:bodyPr wrap="square" lIns="0" tIns="0" rIns="0" bIns="0" rtlCol="0" anchor="t"/>
          <a:lstStyle/>
          <a:p>
            <a:pPr marL="0" indent="0">
              <a:buNone/>
            </a:pPr>
            <a:r>
              <a:rPr lang="en-US" sz="2200" dirty="0">
                <a:solidFill>
                  <a:schemeClr val="bg2"/>
                </a:solidFill>
              </a:rPr>
              <a:t>Questions and discussion</a:t>
            </a:r>
            <a:endParaRPr lang="en-US" sz="2200" dirty="0"/>
          </a:p>
        </p:txBody>
      </p:sp>
      <p:sp>
        <p:nvSpPr>
          <p:cNvPr id="5" name="text-597"/>
          <p:cNvSpPr txBox="1"/>
          <p:nvPr/>
        </p:nvSpPr>
        <p:spPr>
          <a:xfrm>
            <a:off x="731520" y="2926080"/>
            <a:ext cx="5120640" cy="1188720"/>
          </a:xfrm>
          <a:prstGeom prst="rect">
            <a:avLst/>
          </a:prstGeom>
          <a:noFill/>
          <a:ln/>
        </p:spPr>
        <p:txBody>
          <a:bodyPr wrap="square" lIns="0" tIns="0" rIns="0" bIns="0" rtlCol="0" anchor="t"/>
          <a:lstStyle/>
          <a:p>
            <a:pPr marL="0" indent="0">
              <a:buNone/>
            </a:pPr>
            <a:r>
              <a:rPr lang="en-US" sz="1600" b="1" dirty="0">
                <a:solidFill>
                  <a:schemeClr val="bg1"/>
                </a:solidFill>
              </a:rPr>
              <a:t>Aditya Rai  ·  23BIT0019</a:t>
            </a:r>
            <a:endParaRPr lang="en-US" sz="1400" dirty="0"/>
          </a:p>
          <a:p>
            <a:pPr marL="0" indent="0">
              <a:buNone/>
            </a:pPr>
            <a:r>
              <a:rPr lang="en-US" sz="1400" dirty="0">
                <a:solidFill>
                  <a:schemeClr val="bg2"/>
                </a:solidFill>
              </a:rPr>
              <a:t>Guide: Dr. Brijendra Singh</a:t>
            </a:r>
            <a:endParaRPr lang="en-US" sz="1400" dirty="0"/>
          </a:p>
          <a:p>
            <a:pPr marL="0" indent="0">
              <a:buNone/>
            </a:pPr>
            <a:r>
              <a:rPr lang="en-US" sz="1300" dirty="0">
                <a:solidFill>
                  <a:schemeClr val="bg2"/>
                </a:solidFill>
              </a:rPr>
              <a:t>School of Computer Science Engineering and Information Systems</a:t>
            </a:r>
            <a:endParaRPr lang="en-US" sz="1400" dirty="0"/>
          </a:p>
          <a:p>
            <a:pPr marL="0" indent="0">
              <a:buNone/>
            </a:pPr>
            <a:r>
              <a:rPr lang="en-US" sz="1300" dirty="0">
                <a:solidFill>
                  <a:schemeClr val="bg2"/>
                </a:solidFill>
              </a:rPr>
              <a:t>VIT, Vellore</a:t>
            </a:r>
            <a:endParaRPr lang="en-US" sz="1400" dirty="0"/>
          </a:p>
        </p:txBody>
      </p:sp>
      <p:sp>
        <p:nvSpPr>
          <p:cNvPr id="6" name="references-card"/>
          <p:cNvSpPr/>
          <p:nvPr/>
        </p:nvSpPr>
        <p:spPr>
          <a:xfrm>
            <a:off x="6172200" y="548640"/>
            <a:ext cx="5468112" cy="3794760"/>
          </a:xfrm>
          <a:prstGeom prst="roundRect">
            <a:avLst>
              <a:gd name="adj" fmla="val 2410"/>
            </a:avLst>
          </a:prstGeom>
          <a:solidFill>
            <a:schemeClr val="bg1">
              <a:alpha val="9000"/>
            </a:schemeClr>
          </a:solidFill>
          <a:ln/>
        </p:spPr>
        <p:txBody>
          <a:bodyPr/>
          <a:lstStyle/>
          <a:p>
            <a:endParaRPr lang="en-IN"/>
          </a:p>
        </p:txBody>
      </p:sp>
      <p:sp>
        <p:nvSpPr>
          <p:cNvPr id="7" name="text-599"/>
          <p:cNvSpPr txBox="1"/>
          <p:nvPr/>
        </p:nvSpPr>
        <p:spPr>
          <a:xfrm>
            <a:off x="6446520" y="731520"/>
            <a:ext cx="4937760" cy="274320"/>
          </a:xfrm>
          <a:prstGeom prst="rect">
            <a:avLst/>
          </a:prstGeom>
          <a:noFill/>
          <a:ln/>
        </p:spPr>
        <p:txBody>
          <a:bodyPr wrap="square" lIns="0" tIns="0" rIns="0" bIns="0" rtlCol="0" anchor="t"/>
          <a:lstStyle/>
          <a:p>
            <a:pPr marL="0" indent="0">
              <a:buNone/>
            </a:pPr>
            <a:r>
              <a:rPr lang="en-US" sz="1100" b="1" kern="0" spc="200" dirty="0">
                <a:solidFill>
                  <a:schemeClr val="accent3"/>
                </a:solidFill>
              </a:rPr>
              <a:t>KEY REFERENCES</a:t>
            </a:r>
            <a:endParaRPr lang="en-US" sz="1100" dirty="0"/>
          </a:p>
        </p:txBody>
      </p:sp>
      <p:sp>
        <p:nvSpPr>
          <p:cNvPr id="8" name="text-600"/>
          <p:cNvSpPr txBox="1"/>
          <p:nvPr/>
        </p:nvSpPr>
        <p:spPr>
          <a:xfrm>
            <a:off x="6446520" y="1078992"/>
            <a:ext cx="4983480" cy="3154680"/>
          </a:xfrm>
          <a:prstGeom prst="rect">
            <a:avLst/>
          </a:prstGeom>
          <a:noFill/>
          <a:ln/>
        </p:spPr>
        <p:txBody>
          <a:bodyPr wrap="square" lIns="0" tIns="0" rIns="0" bIns="0" rtlCol="0" anchor="t"/>
          <a:lstStyle/>
          <a:p>
            <a:pPr marL="0" indent="0">
              <a:spcAft>
                <a:spcPts val="300"/>
              </a:spcAft>
              <a:buNone/>
            </a:pPr>
            <a:r>
              <a:rPr lang="en-US" sz="1100" dirty="0">
                <a:solidFill>
                  <a:schemeClr val="bg2"/>
                </a:solidFill>
              </a:rPr>
              <a:t>Hochreiter, S., &amp; Schmidhuber, J. (1997). Long short-term memory. Neural Computation, 9(8).</a:t>
            </a:r>
            <a:endParaRPr lang="en-US" sz="1100" dirty="0"/>
          </a:p>
          <a:p>
            <a:pPr marL="0" indent="0">
              <a:spcAft>
                <a:spcPts val="300"/>
              </a:spcAft>
              <a:buNone/>
            </a:pPr>
            <a:r>
              <a:rPr lang="en-US" sz="1100" dirty="0">
                <a:solidFill>
                  <a:schemeClr val="bg2"/>
                </a:solidFill>
              </a:rPr>
              <a:t>Dosovitskiy, A., et al. (2021). An image is worth 16x16 words: Transformers for image recognition at scale. ICLR.</a:t>
            </a:r>
            <a:endParaRPr lang="en-US" sz="1100" dirty="0"/>
          </a:p>
          <a:p>
            <a:pPr marL="0" indent="0">
              <a:spcAft>
                <a:spcPts val="300"/>
              </a:spcAft>
              <a:buNone/>
            </a:pPr>
            <a:r>
              <a:rPr lang="en-US" sz="1100" dirty="0">
                <a:solidFill>
                  <a:schemeClr val="bg2"/>
                </a:solidFill>
              </a:rPr>
              <a:t>Chen, T., &amp; Guestrin, C. (2016). XGBoost: A scalable tree boosting system. KDD.</a:t>
            </a:r>
            <a:endParaRPr lang="en-US" sz="1100" dirty="0"/>
          </a:p>
          <a:p>
            <a:pPr marL="0" indent="0">
              <a:spcAft>
                <a:spcPts val="300"/>
              </a:spcAft>
              <a:buNone/>
            </a:pPr>
            <a:r>
              <a:rPr lang="en-US" sz="1100" dirty="0">
                <a:solidFill>
                  <a:schemeClr val="bg2"/>
                </a:solidFill>
              </a:rPr>
              <a:t>Wolpert, D. H. (1992). Stacked generalization. Neural Networks, 5(2).</a:t>
            </a:r>
            <a:endParaRPr lang="en-US" sz="1100" dirty="0"/>
          </a:p>
          <a:p>
            <a:pPr marL="0" indent="0">
              <a:spcAft>
                <a:spcPts val="300"/>
              </a:spcAft>
              <a:buNone/>
            </a:pPr>
            <a:r>
              <a:rPr lang="en-US" sz="1100" dirty="0">
                <a:solidFill>
                  <a:schemeClr val="bg2"/>
                </a:solidFill>
              </a:rPr>
              <a:t>Littlestone, N., &amp; Warmuth, M. K. (1994). The weighted majority algorithm. Information and Computation, 108(2).</a:t>
            </a:r>
            <a:endParaRPr lang="en-US" sz="1100" dirty="0"/>
          </a:p>
          <a:p>
            <a:pPr marL="0" indent="0">
              <a:spcAft>
                <a:spcPts val="300"/>
              </a:spcAft>
              <a:buNone/>
            </a:pPr>
            <a:r>
              <a:rPr lang="en-US" sz="1100" dirty="0">
                <a:solidFill>
                  <a:schemeClr val="bg2"/>
                </a:solidFill>
              </a:rPr>
              <a:t>Bergmeir, C., &amp; Benítez, J. M. (2012). On the use of cross-validation for time series predictor evaluation. Information Sciences, 191.</a:t>
            </a:r>
            <a:endParaRPr lang="en-US" sz="1100" dirty="0"/>
          </a:p>
          <a:p>
            <a:pPr marL="0" indent="0">
              <a:spcAft>
                <a:spcPts val="300"/>
              </a:spcAft>
              <a:buNone/>
            </a:pPr>
            <a:r>
              <a:rPr lang="en-US" sz="1100" dirty="0">
                <a:solidFill>
                  <a:schemeClr val="bg2"/>
                </a:solidFill>
              </a:rPr>
              <a:t>Kundu, T., &amp; Pinsky, E. (2025). Predicting daily stock price directions with deep learning models. Machine Learning with Applications, 22.</a:t>
            </a:r>
            <a:endParaRPr lang="en-US" sz="1100" dirty="0"/>
          </a:p>
          <a:p>
            <a:pPr marL="0" indent="0">
              <a:spcAft>
                <a:spcPts val="300"/>
              </a:spcAft>
              <a:buNone/>
            </a:pPr>
            <a:r>
              <a:rPr lang="en-US" sz="1100" dirty="0">
                <a:solidFill>
                  <a:schemeClr val="bg2"/>
                </a:solidFill>
              </a:rPr>
              <a:t>Kulkarni, M. S., et al. (2025). A quest for context-specific stock price prediction. SN Computer Science, 6(4).</a:t>
            </a:r>
            <a:endParaRPr lang="en-US" sz="1100" dirty="0"/>
          </a:p>
          <a:p>
            <a:pPr marL="0" indent="0">
              <a:spcAft>
                <a:spcPts val="300"/>
              </a:spcAft>
              <a:buNone/>
            </a:pPr>
            <a:r>
              <a:rPr lang="en-US" sz="1100" dirty="0">
                <a:solidFill>
                  <a:schemeClr val="bg2"/>
                </a:solidFill>
              </a:rPr>
              <a:t>Rao, R. (2021). NIFTY-50 stock market data (2000–2021) [Data set]. Kaggle.</a:t>
            </a:r>
            <a:endParaRPr lang="en-US" sz="1100" dirty="0"/>
          </a:p>
        </p:txBody>
      </p:sp>
      <p:sp>
        <p:nvSpPr>
          <p:cNvPr id="9" name="text-601"/>
          <p:cNvSpPr txBox="1"/>
          <p:nvPr/>
        </p:nvSpPr>
        <p:spPr>
          <a:xfrm>
            <a:off x="6446520" y="4005072"/>
            <a:ext cx="4937760" cy="274320"/>
          </a:xfrm>
          <a:prstGeom prst="rect">
            <a:avLst/>
          </a:prstGeom>
          <a:noFill/>
          <a:ln/>
        </p:spPr>
        <p:txBody>
          <a:bodyPr wrap="square" lIns="0" tIns="0" rIns="0" bIns="0" rtlCol="0" anchor="t"/>
          <a:lstStyle/>
          <a:p>
            <a:pPr marL="0" indent="0">
              <a:buNone/>
            </a:pPr>
            <a:r>
              <a:rPr lang="en-US" sz="1100" i="1" dirty="0">
                <a:solidFill>
                  <a:schemeClr val="accent3"/>
                </a:solidFill>
              </a:rPr>
              <a:t>Full reference list (APA 7) in the project report</a:t>
            </a:r>
            <a:endParaRPr lang="en-US" sz="1100" dirty="0"/>
          </a:p>
        </p:txBody>
      </p:sp>
    </p:spTree>
  </p:cSld>
  <p:clrMapOvr>
    <a:masterClrMapping/>
  </p:clrMapOvr>
</p:sld>
</file>

<file path=ppt/theme/theme1.xml><?xml version="1.0" encoding="utf-8"?>
<a:theme xmlns:a="http://schemas.openxmlformats.org/drawingml/2006/main" name="QuantPredict Market">
  <a:themeElements>
    <a:clrScheme name="QuantPredict Market">
      <a:dk1>
        <a:srgbClr val="1B2430"/>
      </a:dk1>
      <a:lt1>
        <a:srgbClr val="FFFFFF"/>
      </a:lt1>
      <a:dk2>
        <a:srgbClr val="0F2A3D"/>
      </a:dk2>
      <a:lt2>
        <a:srgbClr val="EEF3F6"/>
      </a:lt2>
      <a:accent1>
        <a:srgbClr val="0E9F6E"/>
      </a:accent1>
      <a:accent2>
        <a:srgbClr val="E5484D"/>
      </a:accent2>
      <a:accent3>
        <a:srgbClr val="F4B740"/>
      </a:accent3>
      <a:accent4>
        <a:srgbClr val="2E6F95"/>
      </a:accent4>
      <a:accent5>
        <a:srgbClr val="7B61C9"/>
      </a:accent5>
      <a:accent6>
        <a:srgbClr val="6B7785"/>
      </a:accent6>
      <a:hlink>
        <a:srgbClr val="2E6F95"/>
      </a:hlink>
      <a:folHlink>
        <a:srgbClr val="6B7785"/>
      </a:folHlink>
    </a:clrScheme>
    <a:fontScheme name="QuantPredict Market">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TotalTime>
  <Words>5519</Words>
  <Application>Microsoft Office PowerPoint</Application>
  <PresentationFormat>Widescreen</PresentationFormat>
  <Paragraphs>687</Paragraphs>
  <Slides>25</Slides>
  <Notes>25</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25</vt:i4>
      </vt:variant>
    </vt:vector>
  </HeadingPairs>
  <TitlesOfParts>
    <vt:vector size="31" baseType="lpstr">
      <vt:lpstr>Arial</vt:lpstr>
      <vt:lpstr>Calibri</vt:lpstr>
      <vt:lpstr>Cambria</vt:lpstr>
      <vt:lpstr>Cambria Math</vt:lpstr>
      <vt:lpstr>Courier New</vt:lpstr>
      <vt:lpstr>QuantPredict Market</vt:lpstr>
      <vt:lpstr>QuantPredict</vt:lpstr>
      <vt:lpstr>What this presentation covers</vt:lpstr>
      <vt:lpstr>Predicting tomorrow's direction, not its price</vt:lpstr>
      <vt:lpstr>Why this project</vt:lpstr>
      <vt:lpstr>Project objectives</vt:lpstr>
      <vt:lpstr>What recent studies show (2024–2026)</vt:lpstr>
      <vt:lpstr>Research gap and research questions</vt:lpstr>
      <vt:lpstr>Dataset and technical stack</vt:lpstr>
      <vt:lpstr>System architecture</vt:lpstr>
      <vt:lpstr>One script, eighteen steps</vt:lpstr>
      <vt:lpstr>Removing fake crashes from the raw prices</vt:lpstr>
      <vt:lpstr>37 stationary features from 8 indicators</vt:lpstr>
      <vt:lpstr>A leakage-free evaluation design</vt:lpstr>
      <vt:lpstr>Classical baselines and feature selection</vt:lpstr>
      <vt:lpstr>LSTM on 20-day windows</vt:lpstr>
      <vt:lpstr>A Vision Transformer for feature matrices</vt:lpstr>
      <vt:lpstr>Five ways to combine the models</vt:lpstr>
      <vt:lpstr>Adaptive weighted voting</vt:lpstr>
      <vt:lpstr>Gradient Boosting led the individual models</vt:lpstr>
      <vt:lpstr>Ensembles were steadier, not stronger</vt:lpstr>
      <vt:lpstr>Adaptive weighting beat majority voting</vt:lpstr>
      <vt:lpstr>Can these results be trusted?</vt:lpstr>
      <vt:lpstr>Live run: the day after 30 April 2021</vt:lpstr>
      <vt:lpstr>Conclusion and future work</vt:lpstr>
      <vt:lpstr>Thank you</vt:lpstr>
    </vt:vector>
  </TitlesOfParts>
  <Company>VIT Vellore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QuantPredict - Next-Day Stock Direction Prediction</dc:title>
  <dc:subject>BITE497J Project I - Final Review</dc:subject>
  <dc:creator>Aditya Rai</dc:creator>
  <cp:lastModifiedBy>Aditya rai</cp:lastModifiedBy>
  <cp:revision>1</cp:revision>
  <dcterms:created xsi:type="dcterms:W3CDTF">2026-10-05T12:14:30Z</dcterms:created>
  <dcterms:modified xsi:type="dcterms:W3CDTF">2026-10-05T14:43:34Z</dcterms:modified>
</cp:coreProperties>
</file>